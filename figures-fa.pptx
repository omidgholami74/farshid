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72237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فراوانی</c:v>
                </c:pt>
              </c:strCache>
            </c:strRef>
          </c:tx>
          <c:spPr>
            <a:solidFill>
              <a:srgbClr val="9DC3E6"/>
            </a:solidFill>
            <a:ln w="6350">
              <a:solidFill>
                <a:srgbClr val="2F5597"/>
              </a:solidFill>
            </a:ln>
          </c:spPr>
          <c:cat>
            <c:strRef>
              <c:f>Sheet1!$A$2:$A$41</c:f>
              <c:strCache>
                <c:ptCount val="4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20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40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60</c:v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>80</c:v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100</c:v>
                </c:pt>
              </c:strCache>
            </c: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480</c:v>
                </c:pt>
                <c:pt idx="1">
                  <c:v>990</c:v>
                </c:pt>
                <c:pt idx="2">
                  <c:v>1385</c:v>
                </c:pt>
                <c:pt idx="3">
                  <c:v>1750</c:v>
                </c:pt>
                <c:pt idx="4">
                  <c:v>1790</c:v>
                </c:pt>
                <c:pt idx="5">
                  <c:v>1780</c:v>
                </c:pt>
                <c:pt idx="6">
                  <c:v>850</c:v>
                </c:pt>
                <c:pt idx="7">
                  <c:v>1670</c:v>
                </c:pt>
                <c:pt idx="8">
                  <c:v>1480</c:v>
                </c:pt>
                <c:pt idx="9">
                  <c:v>1300</c:v>
                </c:pt>
                <c:pt idx="10">
                  <c:v>1130</c:v>
                </c:pt>
                <c:pt idx="11">
                  <c:v>1015</c:v>
                </c:pt>
                <c:pt idx="12">
                  <c:v>440</c:v>
                </c:pt>
                <c:pt idx="13">
                  <c:v>715</c:v>
                </c:pt>
                <c:pt idx="14">
                  <c:v>635</c:v>
                </c:pt>
                <c:pt idx="15">
                  <c:v>520</c:v>
                </c:pt>
                <c:pt idx="16">
                  <c:v>430</c:v>
                </c:pt>
                <c:pt idx="17">
                  <c:v>310</c:v>
                </c:pt>
                <c:pt idx="18">
                  <c:v>205</c:v>
                </c:pt>
                <c:pt idx="19">
                  <c:v>270</c:v>
                </c:pt>
                <c:pt idx="20">
                  <c:v>170</c:v>
                </c:pt>
                <c:pt idx="21">
                  <c:v>135</c:v>
                </c:pt>
                <c:pt idx="22">
                  <c:v>95</c:v>
                </c:pt>
                <c:pt idx="23">
                  <c:v>60</c:v>
                </c:pt>
                <c:pt idx="24">
                  <c:v>50</c:v>
                </c:pt>
                <c:pt idx="25">
                  <c:v>35</c:v>
                </c:pt>
                <c:pt idx="26">
                  <c:v>30</c:v>
                </c:pt>
                <c:pt idx="27">
                  <c:v>20</c:v>
                </c:pt>
                <c:pt idx="28">
                  <c:v>15</c:v>
                </c:pt>
                <c:pt idx="29">
                  <c:v>12</c:v>
                </c:pt>
                <c:pt idx="30">
                  <c:v>8</c:v>
                </c:pt>
                <c:pt idx="31">
                  <c:v>6</c:v>
                </c:pt>
                <c:pt idx="32">
                  <c:v>5</c:v>
                </c:pt>
                <c:pt idx="33">
                  <c:v>4</c:v>
                </c:pt>
                <c:pt idx="34">
                  <c:v>3</c:v>
                </c:pt>
                <c:pt idx="35">
                  <c:v>2</c:v>
                </c:pt>
                <c:pt idx="36">
                  <c:v>2</c:v>
                </c:pt>
                <c:pt idx="37">
                  <c:v>1</c:v>
                </c:pt>
                <c:pt idx="38">
                  <c:v>1</c:v>
                </c:pt>
                <c:pt idx="39">
                  <c:v>0</c:v>
                </c:pt>
              </c:numCache>
            </c:numRef>
          </c:val>
        </c:ser>
        <c:gapWidth val="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60">
                    <a:solidFill>
                      <a:srgbClr val="404040"/>
                    </a:solidFill>
                    <a:latin typeface="B Nazanin"/>
                  </a:rPr>
                  <a:t>طول پیشوند (تعداد رویدادها)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1160">
                <a:latin typeface="B Nazani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60">
                    <a:solidFill>
                      <a:srgbClr val="404040"/>
                    </a:solidFill>
                    <a:latin typeface="B Nazanin"/>
                  </a:rPr>
                  <a:t>فراوانی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1160">
                <a:latin typeface="B Nazani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60">
          <a:latin typeface="B Nazanin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فراوانی</c:v>
                </c:pt>
              </c:strCache>
            </c:strRef>
          </c:tx>
          <c:spPr>
            <a:solidFill>
              <a:srgbClr val="5B9BD5"/>
            </a:solidFill>
            <a:ln w="6350">
              <a:solidFill>
                <a:srgbClr val="2F5597"/>
              </a:solidFill>
            </a:ln>
          </c:spPr>
          <c:cat>
            <c:strRef>
              <c:f>Sheet1!$A$2:$A$21</c:f>
              <c:strCache>
                <c:ptCount val="20"/>
                <c:pt idx="0">
                  <c:v>A20</c:v>
                </c:pt>
                <c:pt idx="1">
                  <c:v>A19</c:v>
                </c:pt>
                <c:pt idx="2">
                  <c:v>A18</c:v>
                </c:pt>
                <c:pt idx="3">
                  <c:v>A17</c:v>
                </c:pt>
                <c:pt idx="4">
                  <c:v>A16</c:v>
                </c:pt>
                <c:pt idx="5">
                  <c:v>A15</c:v>
                </c:pt>
                <c:pt idx="6">
                  <c:v>A14</c:v>
                </c:pt>
                <c:pt idx="7">
                  <c:v>A13</c:v>
                </c:pt>
                <c:pt idx="8">
                  <c:v>A12</c:v>
                </c:pt>
                <c:pt idx="9">
                  <c:v>A11</c:v>
                </c:pt>
                <c:pt idx="10">
                  <c:v>A10</c:v>
                </c:pt>
                <c:pt idx="11">
                  <c:v>A9</c:v>
                </c:pt>
                <c:pt idx="12">
                  <c:v>A8</c:v>
                </c:pt>
                <c:pt idx="13">
                  <c:v>A7</c:v>
                </c:pt>
                <c:pt idx="14">
                  <c:v>A6</c:v>
                </c:pt>
                <c:pt idx="15">
                  <c:v>A5</c:v>
                </c:pt>
                <c:pt idx="16">
                  <c:v>A4</c:v>
                </c:pt>
                <c:pt idx="17">
                  <c:v>A3</c:v>
                </c:pt>
                <c:pt idx="18">
                  <c:v>A2</c:v>
                </c:pt>
                <c:pt idx="19">
                  <c:v>A1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200</c:v>
                </c:pt>
                <c:pt idx="14">
                  <c:v>300</c:v>
                </c:pt>
                <c:pt idx="15">
                  <c:v>300</c:v>
                </c:pt>
                <c:pt idx="16">
                  <c:v>300</c:v>
                </c:pt>
                <c:pt idx="17">
                  <c:v>500</c:v>
                </c:pt>
                <c:pt idx="18">
                  <c:v>600</c:v>
                </c:pt>
                <c:pt idx="19">
                  <c:v>1200</c:v>
                </c:pt>
              </c:numCache>
            </c:numRef>
          </c:val>
        </c:ser>
        <c:dLbls>
          <c:txPr>
            <a:bodyPr/>
            <a:lstStyle/>
            <a:p>
              <a:pPr>
                <a:defRPr sz="1160">
                  <a:latin typeface="B Nazani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60">
                    <a:solidFill>
                      <a:srgbClr val="404040"/>
                    </a:solidFill>
                    <a:latin typeface="B Nazanin"/>
                  </a:rPr>
                  <a:t>فعالیت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1160">
                <a:latin typeface="B Nazani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00.0"/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60">
                    <a:solidFill>
                      <a:srgbClr val="404040"/>
                    </a:solidFill>
                    <a:latin typeface="B Nazanin"/>
                  </a:rPr>
                  <a:t>فراوانی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1160">
                <a:latin typeface="B Nazani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60">
          <a:latin typeface="B Nazanin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6023">
              <a:solidFill>
                <a:srgbClr val="1F3864"/>
              </a:solidFill>
            </a:ln>
          </c:spPr>
          <c:marker>
            <c:symbol val="none"/>
          </c:marker>
          <c:xVal>
            <c:numRef>
              <c:f>Sheet1!$A$2:$A$102</c:f>
              <c:numCache>
                <c:formatCode>General</c:formatCode>
                <c:ptCount val="10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  <c:pt idx="19">
                  <c:v>190</c:v>
                </c:pt>
                <c:pt idx="20">
                  <c:v>200</c:v>
                </c:pt>
                <c:pt idx="21">
                  <c:v>210</c:v>
                </c:pt>
                <c:pt idx="22">
                  <c:v>220</c:v>
                </c:pt>
                <c:pt idx="23">
                  <c:v>230</c:v>
                </c:pt>
                <c:pt idx="24">
                  <c:v>240</c:v>
                </c:pt>
                <c:pt idx="25">
                  <c:v>250</c:v>
                </c:pt>
                <c:pt idx="26">
                  <c:v>260</c:v>
                </c:pt>
                <c:pt idx="27">
                  <c:v>270</c:v>
                </c:pt>
                <c:pt idx="28">
                  <c:v>280</c:v>
                </c:pt>
                <c:pt idx="29">
                  <c:v>290</c:v>
                </c:pt>
                <c:pt idx="30">
                  <c:v>300</c:v>
                </c:pt>
                <c:pt idx="31">
                  <c:v>310</c:v>
                </c:pt>
                <c:pt idx="32">
                  <c:v>320</c:v>
                </c:pt>
                <c:pt idx="33">
                  <c:v>330</c:v>
                </c:pt>
                <c:pt idx="34">
                  <c:v>340</c:v>
                </c:pt>
                <c:pt idx="35">
                  <c:v>350</c:v>
                </c:pt>
                <c:pt idx="36">
                  <c:v>360</c:v>
                </c:pt>
                <c:pt idx="37">
                  <c:v>370</c:v>
                </c:pt>
                <c:pt idx="38">
                  <c:v>380</c:v>
                </c:pt>
                <c:pt idx="39">
                  <c:v>390</c:v>
                </c:pt>
                <c:pt idx="40">
                  <c:v>400</c:v>
                </c:pt>
                <c:pt idx="41">
                  <c:v>410</c:v>
                </c:pt>
                <c:pt idx="42">
                  <c:v>420</c:v>
                </c:pt>
                <c:pt idx="43">
                  <c:v>430</c:v>
                </c:pt>
                <c:pt idx="44">
                  <c:v>440</c:v>
                </c:pt>
                <c:pt idx="45">
                  <c:v>450</c:v>
                </c:pt>
                <c:pt idx="46">
                  <c:v>460</c:v>
                </c:pt>
                <c:pt idx="47">
                  <c:v>470</c:v>
                </c:pt>
                <c:pt idx="48">
                  <c:v>480</c:v>
                </c:pt>
                <c:pt idx="49">
                  <c:v>490</c:v>
                </c:pt>
                <c:pt idx="50">
                  <c:v>500</c:v>
                </c:pt>
                <c:pt idx="51">
                  <c:v>510</c:v>
                </c:pt>
                <c:pt idx="52">
                  <c:v>520</c:v>
                </c:pt>
                <c:pt idx="53">
                  <c:v>530</c:v>
                </c:pt>
                <c:pt idx="54">
                  <c:v>540</c:v>
                </c:pt>
                <c:pt idx="55">
                  <c:v>550</c:v>
                </c:pt>
                <c:pt idx="56">
                  <c:v>560</c:v>
                </c:pt>
                <c:pt idx="57">
                  <c:v>570</c:v>
                </c:pt>
                <c:pt idx="58">
                  <c:v>580</c:v>
                </c:pt>
                <c:pt idx="59">
                  <c:v>590</c:v>
                </c:pt>
                <c:pt idx="60">
                  <c:v>600</c:v>
                </c:pt>
                <c:pt idx="61">
                  <c:v>610</c:v>
                </c:pt>
                <c:pt idx="62">
                  <c:v>620</c:v>
                </c:pt>
                <c:pt idx="63">
                  <c:v>630</c:v>
                </c:pt>
                <c:pt idx="64">
                  <c:v>640</c:v>
                </c:pt>
                <c:pt idx="65">
                  <c:v>650</c:v>
                </c:pt>
                <c:pt idx="66">
                  <c:v>660</c:v>
                </c:pt>
                <c:pt idx="67">
                  <c:v>670</c:v>
                </c:pt>
                <c:pt idx="68">
                  <c:v>680</c:v>
                </c:pt>
                <c:pt idx="69">
                  <c:v>690</c:v>
                </c:pt>
                <c:pt idx="70">
                  <c:v>700</c:v>
                </c:pt>
                <c:pt idx="71">
                  <c:v>710</c:v>
                </c:pt>
                <c:pt idx="72">
                  <c:v>720</c:v>
                </c:pt>
                <c:pt idx="73">
                  <c:v>730</c:v>
                </c:pt>
                <c:pt idx="74">
                  <c:v>740</c:v>
                </c:pt>
                <c:pt idx="75">
                  <c:v>750</c:v>
                </c:pt>
                <c:pt idx="76">
                  <c:v>760</c:v>
                </c:pt>
                <c:pt idx="77">
                  <c:v>770</c:v>
                </c:pt>
                <c:pt idx="78">
                  <c:v>780</c:v>
                </c:pt>
                <c:pt idx="79">
                  <c:v>790</c:v>
                </c:pt>
                <c:pt idx="80">
                  <c:v>800</c:v>
                </c:pt>
                <c:pt idx="81">
                  <c:v>810</c:v>
                </c:pt>
                <c:pt idx="82">
                  <c:v>820</c:v>
                </c:pt>
                <c:pt idx="83">
                  <c:v>830</c:v>
                </c:pt>
                <c:pt idx="84">
                  <c:v>840</c:v>
                </c:pt>
                <c:pt idx="85">
                  <c:v>850</c:v>
                </c:pt>
                <c:pt idx="86">
                  <c:v>860</c:v>
                </c:pt>
                <c:pt idx="87">
                  <c:v>870</c:v>
                </c:pt>
                <c:pt idx="88">
                  <c:v>880</c:v>
                </c:pt>
                <c:pt idx="89">
                  <c:v>890</c:v>
                </c:pt>
                <c:pt idx="90">
                  <c:v>900</c:v>
                </c:pt>
                <c:pt idx="91">
                  <c:v>910</c:v>
                </c:pt>
                <c:pt idx="92">
                  <c:v>920</c:v>
                </c:pt>
                <c:pt idx="93">
                  <c:v>930</c:v>
                </c:pt>
                <c:pt idx="94">
                  <c:v>940</c:v>
                </c:pt>
                <c:pt idx="95">
                  <c:v>950</c:v>
                </c:pt>
                <c:pt idx="96">
                  <c:v>960</c:v>
                </c:pt>
                <c:pt idx="97">
                  <c:v>970</c:v>
                </c:pt>
                <c:pt idx="98">
                  <c:v>980</c:v>
                </c:pt>
                <c:pt idx="99">
                  <c:v>990</c:v>
                </c:pt>
                <c:pt idx="100">
                  <c:v>1000</c:v>
                </c:pt>
              </c:numCache>
            </c:numRef>
          </c:xVal>
          <c:yVal>
            <c:numRef>
              <c:f>Sheet1!$B$2:$B$102</c:f>
              <c:numCache>
                <c:formatCode>General</c:formatCode>
                <c:ptCount val="101"/>
                <c:pt idx="0">
                  <c:v>0.0</c:v>
                </c:pt>
                <c:pt idx="1">
                  <c:v>1.9999999999999998e-05</c:v>
                </c:pt>
                <c:pt idx="2">
                  <c:v>3.9999999999999996e-05</c:v>
                </c:pt>
                <c:pt idx="3">
                  <c:v>5.9999999999999995e-05</c:v>
                </c:pt>
                <c:pt idx="4">
                  <c:v>7.999999999999999e-05</c:v>
                </c:pt>
                <c:pt idx="5">
                  <c:v>9.999999999999999e-05</c:v>
                </c:pt>
                <c:pt idx="6">
                  <c:v>0.00011999999999999999</c:v>
                </c:pt>
                <c:pt idx="7">
                  <c:v>0.00014</c:v>
                </c:pt>
                <c:pt idx="8">
                  <c:v>0.00015999999999999999</c:v>
                </c:pt>
                <c:pt idx="9">
                  <c:v>0.00017999999999999998</c:v>
                </c:pt>
                <c:pt idx="10">
                  <c:v>0.00019999999999999998</c:v>
                </c:pt>
                <c:pt idx="11">
                  <c:v>0.00021999999999999995</c:v>
                </c:pt>
                <c:pt idx="12">
                  <c:v>0.00023999999999999998</c:v>
                </c:pt>
                <c:pt idx="13">
                  <c:v>0.00026</c:v>
                </c:pt>
                <c:pt idx="14">
                  <c:v>0.00028</c:v>
                </c:pt>
                <c:pt idx="15">
                  <c:v>0.0003</c:v>
                </c:pt>
                <c:pt idx="16">
                  <c:v>0.0002998975590214534</c:v>
                </c:pt>
                <c:pt idx="17">
                  <c:v>0.0002995903760078682</c:v>
                </c:pt>
                <c:pt idx="18">
                  <c:v>0.00029907887053429107</c:v>
                </c:pt>
                <c:pt idx="19">
                  <c:v>0.00029836374125567186</c:v>
                </c:pt>
                <c:pt idx="20">
                  <c:v>0.00029744596495258525</c:v>
                </c:pt>
                <c:pt idx="21">
                  <c:v>0.0002963267951970655</c:v>
                </c:pt>
                <c:pt idx="22">
                  <c:v>0.00029500776064037807</c:v>
                </c:pt>
                <c:pt idx="23">
                  <c:v>0.0002934906629250661</c:v>
                </c:pt>
                <c:pt idx="24">
                  <c:v>0.0002917775742241229</c:v>
                </c:pt>
                <c:pt idx="25">
                  <c:v>0.0002898708344106533</c:v>
                </c:pt>
                <c:pt idx="26">
                  <c:v>0.00028777304786188845</c:v>
                </c:pt>
                <c:pt idx="27">
                  <c:v>0.0002854870799019193</c:v>
                </c:pt>
                <c:pt idx="28">
                  <c:v>0.00028301605288800927</c:v>
                </c:pt>
                <c:pt idx="29">
                  <c:v>0.00028036334194582924</c:v>
                </c:pt>
                <c:pt idx="30">
                  <c:v>0.0002775325703594421</c:v>
                </c:pt>
                <c:pt idx="31">
                  <c:v>0.00027452760462233256</c:v>
                </c:pt>
                <c:pt idx="32">
                  <c:v>0.0002713525491562421</c:v>
                </c:pt>
                <c:pt idx="33">
                  <c:v>0.00026801174070502246</c:v>
                </c:pt>
                <c:pt idx="34">
                  <c:v>0.00026450974241116543</c:v>
                </c:pt>
                <c:pt idx="35">
                  <c:v>0.00026085133758309883</c:v>
                </c:pt>
                <c:pt idx="36">
                  <c:v>0.00025704152316176283</c:v>
                </c:pt>
                <c:pt idx="37">
                  <c:v>0.0002530855028953894</c:v>
                </c:pt>
                <c:pt idx="38">
                  <c:v>0.0002489886802318084</c:v>
                </c:pt>
                <c:pt idx="39">
                  <c:v>0.0002447566509379876</c:v>
                </c:pt>
                <c:pt idx="40">
                  <c:v>0.00024039519545688846</c:v>
                </c:pt>
                <c:pt idx="41">
                  <c:v>0.00023591027101207575</c:v>
                </c:pt>
                <c:pt idx="42">
                  <c:v>0.0002313080034708674</c:v>
                </c:pt>
                <c:pt idx="43">
                  <c:v>0.000226594678977136</c:v>
                </c:pt>
                <c:pt idx="44">
                  <c:v>0.00022177673536519295</c:v>
                </c:pt>
                <c:pt idx="45">
                  <c:v>0.00021686075336648075</c:v>
                </c:pt>
                <c:pt idx="46">
                  <c:v>0.0002118534476210855</c:v>
                </c:pt>
                <c:pt idx="47">
                  <c:v>0.00020676165750634654</c:v>
                </c:pt>
                <c:pt idx="48">
                  <c:v>0.0002015923377950892</c:v>
                </c:pt>
                <c:pt idx="49">
                  <c:v>0.0001963525491562421</c:v>
                </c:pt>
                <c:pt idx="50">
                  <c:v>0.00019104944851081244</c:v>
                </c:pt>
                <c:pt idx="51">
                  <c:v>0.0001856902792563928</c:v>
                </c:pt>
                <c:pt idx="52">
                  <c:v>0.00018028236137355153</c:v>
                </c:pt>
                <c:pt idx="53">
                  <c:v>0.00017483308142761947</c:v>
                </c:pt>
                <c:pt idx="54">
                  <c:v>0.00016934988247953048</c:v>
                </c:pt>
                <c:pt idx="55">
                  <c:v>0.0001638402539194953</c:v>
                </c:pt>
                <c:pt idx="56">
                  <c:v>0.00015831172123739547</c:v>
                </c:pt>
                <c:pt idx="57">
                  <c:v>0.00015277183574386946</c:v>
                </c:pt>
                <c:pt idx="58">
                  <c:v>0.00014722816425613051</c:v>
                </c:pt>
                <c:pt idx="59">
                  <c:v>0.0001416882787626045</c:v>
                </c:pt>
                <c:pt idx="60">
                  <c:v>0.0001361597460805047</c:v>
                </c:pt>
                <c:pt idx="61">
                  <c:v>0.0001306501175204695</c:v>
                </c:pt>
                <c:pt idx="62">
                  <c:v>0.0001251669185723805</c:v>
                </c:pt>
                <c:pt idx="63">
                  <c:v>0.00011971763862644848</c:v>
                </c:pt>
                <c:pt idx="64">
                  <c:v>0.00011430972074360718</c:v>
                </c:pt>
                <c:pt idx="65">
                  <c:v>0.0001089505514891876</c:v>
                </c:pt>
                <c:pt idx="66">
                  <c:v>0.0001036474508437579</c:v>
                </c:pt>
                <c:pt idx="67">
                  <c:v>9.84076622049108e-05</c:v>
                </c:pt>
                <c:pt idx="68">
                  <c:v>9.323834249365345e-05</c:v>
                </c:pt>
                <c:pt idx="69">
                  <c:v>8.814655237891449e-05</c:v>
                </c:pt>
                <c:pt idx="70">
                  <c:v>8.313924663351926e-05</c:v>
                </c:pt>
                <c:pt idx="71">
                  <c:v>7.822326463480703e-05</c:v>
                </c:pt>
                <c:pt idx="72">
                  <c:v>7.340532102286392e-05</c:v>
                </c:pt>
                <c:pt idx="73">
                  <c:v>6.869199652913258e-05</c:v>
                </c:pt>
                <c:pt idx="74">
                  <c:v>6.408972898792421e-05</c:v>
                </c:pt>
                <c:pt idx="75">
                  <c:v>5.960480454311155e-05</c:v>
                </c:pt>
                <c:pt idx="76">
                  <c:v>5.524334906201232e-05</c:v>
                </c:pt>
                <c:pt idx="77">
                  <c:v>5.101131976819159e-05</c:v>
                </c:pt>
                <c:pt idx="78">
                  <c:v>4.691449710461059e-05</c:v>
                </c:pt>
                <c:pt idx="79">
                  <c:v>4.295847683823716e-05</c:v>
                </c:pt>
                <c:pt idx="80">
                  <c:v>3.914866241690115e-05</c:v>
                </c:pt>
                <c:pt idx="81">
                  <c:v>3.549025758883458e-05</c:v>
                </c:pt>
                <c:pt idx="82">
                  <c:v>3.198825929497751e-05</c:v>
                </c:pt>
                <c:pt idx="83">
                  <c:v>2.8647450843757897e-05</c:v>
                </c:pt>
                <c:pt idx="84">
                  <c:v>2.5472395377667376e-05</c:v>
                </c:pt>
                <c:pt idx="85">
                  <c:v>2.24674296405579e-05</c:v>
                </c:pt>
                <c:pt idx="86">
                  <c:v>1.9636658054170745e-05</c:v>
                </c:pt>
                <c:pt idx="87">
                  <c:v>1.6983947111990716e-05</c:v>
                </c:pt>
                <c:pt idx="88">
                  <c:v>1.4512920098080655e-05</c:v>
                </c:pt>
                <c:pt idx="89">
                  <c:v>1.2226952138111562e-05</c:v>
                </c:pt>
                <c:pt idx="90">
                  <c:v>1.0129165589346628e-05</c:v>
                </c:pt>
                <c:pt idx="91">
                  <c:v>8.222425775877078e-06</c:v>
                </c:pt>
                <c:pt idx="92">
                  <c:v>6.509337074933873e-06</c:v>
                </c:pt>
                <c:pt idx="93">
                  <c:v>4.992239359621886e-06</c:v>
                </c:pt>
                <c:pt idx="94">
                  <c:v>3.6732048029345095e-06</c:v>
                </c:pt>
                <c:pt idx="95">
                  <c:v>2.554035047414732e-06</c:v>
                </c:pt>
                <c:pt idx="96">
                  <c:v>1.6362587443281227e-06</c:v>
                </c:pt>
                <c:pt idx="97">
                  <c:v>9.211294657089585e-07</c:v>
                </c:pt>
                <c:pt idx="98">
                  <c:v>4.0962399213179675e-07</c:v>
                </c:pt>
                <c:pt idx="99">
                  <c:v>1.0244097854656407e-07</c:v>
                </c:pt>
                <c:pt idx="100">
                  <c:v>0.0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60">
                    <a:solidFill>
                      <a:srgbClr val="404040"/>
                    </a:solidFill>
                    <a:latin typeface="B Nazanin"/>
                  </a:rPr>
                  <a:t>مرحله آموزش (Step)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1160">
                <a:latin typeface="B Nazanin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60">
                    <a:solidFill>
                      <a:srgbClr val="404040"/>
                    </a:solidFill>
                    <a:latin typeface="B Nazanin"/>
                  </a:rPr>
                  <a:t>نرخ یادگیری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1160">
                <a:latin typeface="B Nazanin"/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160">
          <a:latin typeface="B Nazanin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دقت اعتبارسنجی (قبل از SWA)</c:v>
                </c:pt>
              </c:strCache>
            </c:strRef>
          </c:tx>
          <c:spPr>
            <a:ln w="25400">
              <a:solidFill>
                <a:srgbClr val="5B9BD5"/>
              </a:solidFill>
            </a:ln>
          </c:spPr>
          <c:marker>
            <c:symbol val="none"/>
          </c:marker>
          <c:cat>
            <c:strRef>
              <c:f>Sheet1!$A$2:$A$148</c:f>
              <c:strCache>
                <c:ptCount val="1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</c:strCache>
            </c:strRef>
          </c:cat>
          <c:val>
            <c:numRef>
              <c:f>Sheet1!$B$2:$B$148</c:f>
              <c:numCache>
                <c:formatCode>General</c:formatCode>
                <c:ptCount val="147"/>
                <c:pt idx="0">
                  <c:v>50.5</c:v>
                </c:pt>
                <c:pt idx="1">
                  <c:v>52.49</c:v>
                </c:pt>
                <c:pt idx="2">
                  <c:v>53.14</c:v>
                </c:pt>
                <c:pt idx="3">
                  <c:v>53.98</c:v>
                </c:pt>
                <c:pt idx="4">
                  <c:v>55.82</c:v>
                </c:pt>
                <c:pt idx="5">
                  <c:v>56.92</c:v>
                </c:pt>
                <c:pt idx="6">
                  <c:v>56.94</c:v>
                </c:pt>
                <c:pt idx="7">
                  <c:v>57.82</c:v>
                </c:pt>
                <c:pt idx="8">
                  <c:v>59.49</c:v>
                </c:pt>
                <c:pt idx="9">
                  <c:v>60.15</c:v>
                </c:pt>
                <c:pt idx="10">
                  <c:v>60.39</c:v>
                </c:pt>
                <c:pt idx="11">
                  <c:v>61.86</c:v>
                </c:pt>
                <c:pt idx="12">
                  <c:v>63.51</c:v>
                </c:pt>
                <c:pt idx="13">
                  <c:v>63.85</c:v>
                </c:pt>
                <c:pt idx="14">
                  <c:v>64.22</c:v>
                </c:pt>
                <c:pt idx="15">
                  <c:v>65.66</c:v>
                </c:pt>
                <c:pt idx="16">
                  <c:v>66.54</c:v>
                </c:pt>
                <c:pt idx="17">
                  <c:v>66.23</c:v>
                </c:pt>
                <c:pt idx="18">
                  <c:v>66.63</c:v>
                </c:pt>
                <c:pt idx="19">
                  <c:v>67.94</c:v>
                </c:pt>
                <c:pt idx="20">
                  <c:v>68.36</c:v>
                </c:pt>
                <c:pt idx="21">
                  <c:v>68.21</c:v>
                </c:pt>
                <c:pt idx="22">
                  <c:v>69.25</c:v>
                </c:pt>
                <c:pt idx="23">
                  <c:v>70.68</c:v>
                </c:pt>
                <c:pt idx="24">
                  <c:v>70.86</c:v>
                </c:pt>
                <c:pt idx="25">
                  <c:v>70.91</c:v>
                </c:pt>
                <c:pt idx="26">
                  <c:v>72.08</c:v>
                </c:pt>
                <c:pt idx="27">
                  <c:v>72.86</c:v>
                </c:pt>
                <c:pt idx="28">
                  <c:v>72.38</c:v>
                </c:pt>
                <c:pt idx="29">
                  <c:v>72.42</c:v>
                </c:pt>
                <c:pt idx="30">
                  <c:v>73.48</c:v>
                </c:pt>
                <c:pt idx="31">
                  <c:v>73.78</c:v>
                </c:pt>
                <c:pt idx="32">
                  <c:v>73.35</c:v>
                </c:pt>
                <c:pt idx="33">
                  <c:v>74.05</c:v>
                </c:pt>
                <c:pt idx="34">
                  <c:v>75.34</c:v>
                </c:pt>
                <c:pt idx="35">
                  <c:v>75.45</c:v>
                </c:pt>
                <c:pt idx="36">
                  <c:v>75.27</c:v>
                </c:pt>
                <c:pt idx="37">
                  <c:v>76.24</c:v>
                </c:pt>
                <c:pt idx="38">
                  <c:v>77.01</c:v>
                </c:pt>
                <c:pt idx="39">
                  <c:v>76.45</c:v>
                </c:pt>
                <c:pt idx="40">
                  <c:v>76.23</c:v>
                </c:pt>
                <c:pt idx="41">
                  <c:v>77.12</c:v>
                </c:pt>
                <c:pt idx="42">
                  <c:v>77.36</c:v>
                </c:pt>
                <c:pt idx="43">
                  <c:v>76.75</c:v>
                </c:pt>
                <c:pt idx="44">
                  <c:v>77.16</c:v>
                </c:pt>
                <c:pt idx="45">
                  <c:v>78.34</c:v>
                </c:pt>
                <c:pt idx="46">
                  <c:v>78.45</c:v>
                </c:pt>
                <c:pt idx="47">
                  <c:v>78.11</c:v>
                </c:pt>
                <c:pt idx="48">
                  <c:v>78.92</c:v>
                </c:pt>
                <c:pt idx="49">
                  <c:v>79.72</c:v>
                </c:pt>
                <c:pt idx="50">
                  <c:v>79.17</c:v>
                </c:pt>
                <c:pt idx="51">
                  <c:v>78.76</c:v>
                </c:pt>
                <c:pt idx="52">
                  <c:v>79.5</c:v>
                </c:pt>
                <c:pt idx="53">
                  <c:v>79.75</c:v>
                </c:pt>
                <c:pt idx="54">
                  <c:v>79.02</c:v>
                </c:pt>
                <c:pt idx="55">
                  <c:v>79.18</c:v>
                </c:pt>
                <c:pt idx="56">
                  <c:v>80.27</c:v>
                </c:pt>
                <c:pt idx="57">
                  <c:v>80.41</c:v>
                </c:pt>
                <c:pt idx="58">
                  <c:v>79.96</c:v>
                </c:pt>
                <c:pt idx="59">
                  <c:v>80.62</c:v>
                </c:pt>
                <c:pt idx="60">
                  <c:v>81.47</c:v>
                </c:pt>
                <c:pt idx="61">
                  <c:v>80.98</c:v>
                </c:pt>
                <c:pt idx="62">
                  <c:v>80.43</c:v>
                </c:pt>
                <c:pt idx="63">
                  <c:v>81.06</c:v>
                </c:pt>
                <c:pt idx="64">
                  <c:v>81.34</c:v>
                </c:pt>
                <c:pt idx="65">
                  <c:v>80.55</c:v>
                </c:pt>
                <c:pt idx="66">
                  <c:v>80.49</c:v>
                </c:pt>
                <c:pt idx="67">
                  <c:v>81.49</c:v>
                </c:pt>
                <c:pt idx="68">
                  <c:v>81.68</c:v>
                </c:pt>
                <c:pt idx="69">
                  <c:v>81.16</c:v>
                </c:pt>
                <c:pt idx="70">
                  <c:v>81.69</c:v>
                </c:pt>
                <c:pt idx="71">
                  <c:v>82.6</c:v>
                </c:pt>
                <c:pt idx="72">
                  <c:v>82.2</c:v>
                </c:pt>
                <c:pt idx="73">
                  <c:v>81.56</c:v>
                </c:pt>
                <c:pt idx="74">
                  <c:v>82.08</c:v>
                </c:pt>
                <c:pt idx="75">
                  <c:v>82.43</c:v>
                </c:pt>
                <c:pt idx="76">
                  <c:v>81.61</c:v>
                </c:pt>
                <c:pt idx="77">
                  <c:v>81.35</c:v>
                </c:pt>
                <c:pt idx="78">
                  <c:v>82.26</c:v>
                </c:pt>
                <c:pt idx="79">
                  <c:v>82.51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دقت اعتبارسنجی (فاز SWA)</c:v>
                </c:pt>
              </c:strCache>
            </c:strRef>
          </c:tx>
          <c:spPr>
            <a:ln w="25400">
              <a:solidFill>
                <a:srgbClr val="00B050"/>
              </a:solidFill>
            </a:ln>
          </c:spPr>
          <c:marker>
            <c:symbol val="none"/>
          </c:marker>
          <c:cat>
            <c:strRef>
              <c:f>Sheet1!$A$2:$A$148</c:f>
              <c:strCache>
                <c:ptCount val="1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</c:strCache>
            </c:strRef>
          </c:cat>
          <c:val>
            <c:numRef>
              <c:f>Sheet1!$C$2:$C$148</c:f>
              <c:numCache>
                <c:formatCode>General</c:formatCode>
                <c:ptCount val="147"/>
                <c:pt idx="80">
                  <c:v>83.47</c:v>
                </c:pt>
                <c:pt idx="81">
                  <c:v>83.19</c:v>
                </c:pt>
                <c:pt idx="82">
                  <c:v>83.77</c:v>
                </c:pt>
                <c:pt idx="83">
                  <c:v>84.32</c:v>
                </c:pt>
                <c:pt idx="84">
                  <c:v>83.99</c:v>
                </c:pt>
                <c:pt idx="85">
                  <c:v>83.05</c:v>
                </c:pt>
                <c:pt idx="86">
                  <c:v>82.58</c:v>
                </c:pt>
                <c:pt idx="87">
                  <c:v>83.2</c:v>
                </c:pt>
                <c:pt idx="88">
                  <c:v>84.34</c:v>
                </c:pt>
                <c:pt idx="89">
                  <c:v>84.85</c:v>
                </c:pt>
                <c:pt idx="90">
                  <c:v>84.33</c:v>
                </c:pt>
                <c:pt idx="91">
                  <c:v>83.54</c:v>
                </c:pt>
                <c:pt idx="92">
                  <c:v>83.48</c:v>
                </c:pt>
                <c:pt idx="93">
                  <c:v>84.18</c:v>
                </c:pt>
                <c:pt idx="94">
                  <c:v>84.67</c:v>
                </c:pt>
                <c:pt idx="95">
                  <c:v>84.19</c:v>
                </c:pt>
                <c:pt idx="96">
                  <c:v>83.09</c:v>
                </c:pt>
                <c:pt idx="97">
                  <c:v>82.51</c:v>
                </c:pt>
                <c:pt idx="98">
                  <c:v>83.04</c:v>
                </c:pt>
                <c:pt idx="99">
                  <c:v>84.07</c:v>
                </c:pt>
                <c:pt idx="100">
                  <c:v>84.49</c:v>
                </c:pt>
                <c:pt idx="101">
                  <c:v>83.98</c:v>
                </c:pt>
                <c:pt idx="102">
                  <c:v>83.36</c:v>
                </c:pt>
                <c:pt idx="103">
                  <c:v>83.54</c:v>
                </c:pt>
                <c:pt idx="104">
                  <c:v>84.43</c:v>
                </c:pt>
                <c:pt idx="105">
                  <c:v>84.99</c:v>
                </c:pt>
                <c:pt idx="106">
                  <c:v>84.47</c:v>
                </c:pt>
                <c:pt idx="107">
                  <c:v>83.33</c:v>
                </c:pt>
                <c:pt idx="108">
                  <c:v>82.7</c:v>
                </c:pt>
                <c:pt idx="109">
                  <c:v>83.14</c:v>
                </c:pt>
                <c:pt idx="110">
                  <c:v>83.98</c:v>
                </c:pt>
                <c:pt idx="111">
                  <c:v>84.19</c:v>
                </c:pt>
                <c:pt idx="112">
                  <c:v>83.57</c:v>
                </c:pt>
                <c:pt idx="113">
                  <c:v>83.0</c:v>
                </c:pt>
                <c:pt idx="114">
                  <c:v>83.36</c:v>
                </c:pt>
                <c:pt idx="115">
                  <c:v>84.42</c:v>
                </c:pt>
                <c:pt idx="116">
                  <c:v>85.09</c:v>
                </c:pt>
                <c:pt idx="117">
                  <c:v>84.65</c:v>
                </c:pt>
                <c:pt idx="118">
                  <c:v>83.6</c:v>
                </c:pt>
                <c:pt idx="119">
                  <c:v>83.05</c:v>
                </c:pt>
                <c:pt idx="120">
                  <c:v>83.47</c:v>
                </c:pt>
                <c:pt idx="121">
                  <c:v>84.15</c:v>
                </c:pt>
                <c:pt idx="122">
                  <c:v>84.11</c:v>
                </c:pt>
                <c:pt idx="123">
                  <c:v>83.3</c:v>
                </c:pt>
                <c:pt idx="124">
                  <c:v>82.67</c:v>
                </c:pt>
                <c:pt idx="125">
                  <c:v>83.07</c:v>
                </c:pt>
                <c:pt idx="126">
                  <c:v>84.2</c:v>
                </c:pt>
                <c:pt idx="127">
                  <c:v>84.93</c:v>
                </c:pt>
                <c:pt idx="128">
                  <c:v>84.59</c:v>
                </c:pt>
                <c:pt idx="129">
                  <c:v>83.7</c:v>
                </c:pt>
                <c:pt idx="130">
                  <c:v>83.35</c:v>
                </c:pt>
                <c:pt idx="131">
                  <c:v>83.88</c:v>
                </c:pt>
                <c:pt idx="132">
                  <c:v>84.5</c:v>
                </c:pt>
                <c:pt idx="133">
                  <c:v>84.28</c:v>
                </c:pt>
                <c:pt idx="134">
                  <c:v>83.28</c:v>
                </c:pt>
                <c:pt idx="135">
                  <c:v>82.53</c:v>
                </c:pt>
                <c:pt idx="136">
                  <c:v>82.86</c:v>
                </c:pt>
                <c:pt idx="137">
                  <c:v>83.93</c:v>
                </c:pt>
                <c:pt idx="138">
                  <c:v>84.6</c:v>
                </c:pt>
                <c:pt idx="139">
                  <c:v>84.28</c:v>
                </c:pt>
                <c:pt idx="140">
                  <c:v>83.55</c:v>
                </c:pt>
                <c:pt idx="141">
                  <c:v>83.45</c:v>
                </c:pt>
                <c:pt idx="142">
                  <c:v>84.17</c:v>
                </c:pt>
                <c:pt idx="143">
                  <c:v>84.86</c:v>
                </c:pt>
                <c:pt idx="144">
                  <c:v>84.58</c:v>
                </c:pt>
                <c:pt idx="145">
                  <c:v>83.48</c:v>
                </c:pt>
                <c:pt idx="146">
                  <c:v>82.66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میانگین SWA = 84.48٪</c:v>
                </c:pt>
              </c:strCache>
            </c:strRef>
          </c:tx>
          <c:spPr>
            <a:ln w="20320">
              <a:solidFill>
                <a:srgbClr val="C00000"/>
              </a:solidFill>
              <a:prstDash val="dash"/>
            </a:ln>
          </c:spPr>
          <c:marker>
            <c:symbol val="none"/>
          </c:marker>
          <c:cat>
            <c:strRef>
              <c:f>Sheet1!$A$2:$A$148</c:f>
              <c:strCache>
                <c:ptCount val="1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</c:strCache>
            </c:strRef>
          </c:cat>
          <c:val>
            <c:numRef>
              <c:f>Sheet1!$D$2:$D$148</c:f>
              <c:numCache>
                <c:formatCode>General</c:formatCode>
                <c:ptCount val="147"/>
                <c:pt idx="0">
                  <c:v>84.48</c:v>
                </c:pt>
                <c:pt idx="1">
                  <c:v>84.48</c:v>
                </c:pt>
                <c:pt idx="2">
                  <c:v>84.48</c:v>
                </c:pt>
                <c:pt idx="3">
                  <c:v>84.48</c:v>
                </c:pt>
                <c:pt idx="4">
                  <c:v>84.48</c:v>
                </c:pt>
                <c:pt idx="5">
                  <c:v>84.48</c:v>
                </c:pt>
                <c:pt idx="6">
                  <c:v>84.48</c:v>
                </c:pt>
                <c:pt idx="7">
                  <c:v>84.48</c:v>
                </c:pt>
                <c:pt idx="8">
                  <c:v>84.48</c:v>
                </c:pt>
                <c:pt idx="9">
                  <c:v>84.48</c:v>
                </c:pt>
                <c:pt idx="10">
                  <c:v>84.48</c:v>
                </c:pt>
                <c:pt idx="11">
                  <c:v>84.48</c:v>
                </c:pt>
                <c:pt idx="12">
                  <c:v>84.48</c:v>
                </c:pt>
                <c:pt idx="13">
                  <c:v>84.48</c:v>
                </c:pt>
                <c:pt idx="14">
                  <c:v>84.48</c:v>
                </c:pt>
                <c:pt idx="15">
                  <c:v>84.48</c:v>
                </c:pt>
                <c:pt idx="16">
                  <c:v>84.48</c:v>
                </c:pt>
                <c:pt idx="17">
                  <c:v>84.48</c:v>
                </c:pt>
                <c:pt idx="18">
                  <c:v>84.48</c:v>
                </c:pt>
                <c:pt idx="19">
                  <c:v>84.48</c:v>
                </c:pt>
                <c:pt idx="20">
                  <c:v>84.48</c:v>
                </c:pt>
                <c:pt idx="21">
                  <c:v>84.48</c:v>
                </c:pt>
                <c:pt idx="22">
                  <c:v>84.48</c:v>
                </c:pt>
                <c:pt idx="23">
                  <c:v>84.48</c:v>
                </c:pt>
                <c:pt idx="24">
                  <c:v>84.48</c:v>
                </c:pt>
                <c:pt idx="25">
                  <c:v>84.48</c:v>
                </c:pt>
                <c:pt idx="26">
                  <c:v>84.48</c:v>
                </c:pt>
                <c:pt idx="27">
                  <c:v>84.48</c:v>
                </c:pt>
                <c:pt idx="28">
                  <c:v>84.48</c:v>
                </c:pt>
                <c:pt idx="29">
                  <c:v>84.48</c:v>
                </c:pt>
                <c:pt idx="30">
                  <c:v>84.48</c:v>
                </c:pt>
                <c:pt idx="31">
                  <c:v>84.48</c:v>
                </c:pt>
                <c:pt idx="32">
                  <c:v>84.48</c:v>
                </c:pt>
                <c:pt idx="33">
                  <c:v>84.48</c:v>
                </c:pt>
                <c:pt idx="34">
                  <c:v>84.48</c:v>
                </c:pt>
                <c:pt idx="35">
                  <c:v>84.48</c:v>
                </c:pt>
                <c:pt idx="36">
                  <c:v>84.48</c:v>
                </c:pt>
                <c:pt idx="37">
                  <c:v>84.48</c:v>
                </c:pt>
                <c:pt idx="38">
                  <c:v>84.48</c:v>
                </c:pt>
                <c:pt idx="39">
                  <c:v>84.48</c:v>
                </c:pt>
                <c:pt idx="40">
                  <c:v>84.48</c:v>
                </c:pt>
                <c:pt idx="41">
                  <c:v>84.48</c:v>
                </c:pt>
                <c:pt idx="42">
                  <c:v>84.48</c:v>
                </c:pt>
                <c:pt idx="43">
                  <c:v>84.48</c:v>
                </c:pt>
                <c:pt idx="44">
                  <c:v>84.48</c:v>
                </c:pt>
                <c:pt idx="45">
                  <c:v>84.48</c:v>
                </c:pt>
                <c:pt idx="46">
                  <c:v>84.48</c:v>
                </c:pt>
                <c:pt idx="47">
                  <c:v>84.48</c:v>
                </c:pt>
                <c:pt idx="48">
                  <c:v>84.48</c:v>
                </c:pt>
                <c:pt idx="49">
                  <c:v>84.48</c:v>
                </c:pt>
                <c:pt idx="50">
                  <c:v>84.48</c:v>
                </c:pt>
                <c:pt idx="51">
                  <c:v>84.48</c:v>
                </c:pt>
                <c:pt idx="52">
                  <c:v>84.48</c:v>
                </c:pt>
                <c:pt idx="53">
                  <c:v>84.48</c:v>
                </c:pt>
                <c:pt idx="54">
                  <c:v>84.48</c:v>
                </c:pt>
                <c:pt idx="55">
                  <c:v>84.48</c:v>
                </c:pt>
                <c:pt idx="56">
                  <c:v>84.48</c:v>
                </c:pt>
                <c:pt idx="57">
                  <c:v>84.48</c:v>
                </c:pt>
                <c:pt idx="58">
                  <c:v>84.48</c:v>
                </c:pt>
                <c:pt idx="59">
                  <c:v>84.48</c:v>
                </c:pt>
                <c:pt idx="60">
                  <c:v>84.48</c:v>
                </c:pt>
                <c:pt idx="61">
                  <c:v>84.48</c:v>
                </c:pt>
                <c:pt idx="62">
                  <c:v>84.48</c:v>
                </c:pt>
                <c:pt idx="63">
                  <c:v>84.48</c:v>
                </c:pt>
                <c:pt idx="64">
                  <c:v>84.48</c:v>
                </c:pt>
                <c:pt idx="65">
                  <c:v>84.48</c:v>
                </c:pt>
                <c:pt idx="66">
                  <c:v>84.48</c:v>
                </c:pt>
                <c:pt idx="67">
                  <c:v>84.48</c:v>
                </c:pt>
                <c:pt idx="68">
                  <c:v>84.48</c:v>
                </c:pt>
                <c:pt idx="69">
                  <c:v>84.48</c:v>
                </c:pt>
                <c:pt idx="70">
                  <c:v>84.48</c:v>
                </c:pt>
                <c:pt idx="71">
                  <c:v>84.48</c:v>
                </c:pt>
                <c:pt idx="72">
                  <c:v>84.48</c:v>
                </c:pt>
                <c:pt idx="73">
                  <c:v>84.48</c:v>
                </c:pt>
                <c:pt idx="74">
                  <c:v>84.48</c:v>
                </c:pt>
                <c:pt idx="75">
                  <c:v>84.48</c:v>
                </c:pt>
                <c:pt idx="76">
                  <c:v>84.48</c:v>
                </c:pt>
                <c:pt idx="77">
                  <c:v>84.48</c:v>
                </c:pt>
                <c:pt idx="78">
                  <c:v>84.48</c:v>
                </c:pt>
                <c:pt idx="79">
                  <c:v>84.48</c:v>
                </c:pt>
                <c:pt idx="80">
                  <c:v>84.48</c:v>
                </c:pt>
                <c:pt idx="81">
                  <c:v>84.48</c:v>
                </c:pt>
                <c:pt idx="82">
                  <c:v>84.48</c:v>
                </c:pt>
                <c:pt idx="83">
                  <c:v>84.48</c:v>
                </c:pt>
                <c:pt idx="84">
                  <c:v>84.48</c:v>
                </c:pt>
                <c:pt idx="85">
                  <c:v>84.48</c:v>
                </c:pt>
                <c:pt idx="86">
                  <c:v>84.48</c:v>
                </c:pt>
                <c:pt idx="87">
                  <c:v>84.48</c:v>
                </c:pt>
                <c:pt idx="88">
                  <c:v>84.48</c:v>
                </c:pt>
                <c:pt idx="89">
                  <c:v>84.48</c:v>
                </c:pt>
                <c:pt idx="90">
                  <c:v>84.48</c:v>
                </c:pt>
                <c:pt idx="91">
                  <c:v>84.48</c:v>
                </c:pt>
                <c:pt idx="92">
                  <c:v>84.48</c:v>
                </c:pt>
                <c:pt idx="93">
                  <c:v>84.48</c:v>
                </c:pt>
                <c:pt idx="94">
                  <c:v>84.48</c:v>
                </c:pt>
                <c:pt idx="95">
                  <c:v>84.48</c:v>
                </c:pt>
                <c:pt idx="96">
                  <c:v>84.48</c:v>
                </c:pt>
                <c:pt idx="97">
                  <c:v>84.48</c:v>
                </c:pt>
                <c:pt idx="98">
                  <c:v>84.48</c:v>
                </c:pt>
                <c:pt idx="99">
                  <c:v>84.48</c:v>
                </c:pt>
                <c:pt idx="100">
                  <c:v>84.48</c:v>
                </c:pt>
                <c:pt idx="101">
                  <c:v>84.48</c:v>
                </c:pt>
                <c:pt idx="102">
                  <c:v>84.48</c:v>
                </c:pt>
                <c:pt idx="103">
                  <c:v>84.48</c:v>
                </c:pt>
                <c:pt idx="104">
                  <c:v>84.48</c:v>
                </c:pt>
                <c:pt idx="105">
                  <c:v>84.48</c:v>
                </c:pt>
                <c:pt idx="106">
                  <c:v>84.48</c:v>
                </c:pt>
                <c:pt idx="107">
                  <c:v>84.48</c:v>
                </c:pt>
                <c:pt idx="108">
                  <c:v>84.48</c:v>
                </c:pt>
                <c:pt idx="109">
                  <c:v>84.48</c:v>
                </c:pt>
                <c:pt idx="110">
                  <c:v>84.48</c:v>
                </c:pt>
                <c:pt idx="111">
                  <c:v>84.48</c:v>
                </c:pt>
                <c:pt idx="112">
                  <c:v>84.48</c:v>
                </c:pt>
                <c:pt idx="113">
                  <c:v>84.48</c:v>
                </c:pt>
                <c:pt idx="114">
                  <c:v>84.48</c:v>
                </c:pt>
                <c:pt idx="115">
                  <c:v>84.48</c:v>
                </c:pt>
                <c:pt idx="116">
                  <c:v>84.48</c:v>
                </c:pt>
                <c:pt idx="117">
                  <c:v>84.48</c:v>
                </c:pt>
                <c:pt idx="118">
                  <c:v>84.48</c:v>
                </c:pt>
                <c:pt idx="119">
                  <c:v>84.48</c:v>
                </c:pt>
                <c:pt idx="120">
                  <c:v>84.48</c:v>
                </c:pt>
                <c:pt idx="121">
                  <c:v>84.48</c:v>
                </c:pt>
                <c:pt idx="122">
                  <c:v>84.48</c:v>
                </c:pt>
                <c:pt idx="123">
                  <c:v>84.48</c:v>
                </c:pt>
                <c:pt idx="124">
                  <c:v>84.48</c:v>
                </c:pt>
                <c:pt idx="125">
                  <c:v>84.48</c:v>
                </c:pt>
                <c:pt idx="126">
                  <c:v>84.48</c:v>
                </c:pt>
                <c:pt idx="127">
                  <c:v>84.48</c:v>
                </c:pt>
                <c:pt idx="128">
                  <c:v>84.48</c:v>
                </c:pt>
                <c:pt idx="129">
                  <c:v>84.48</c:v>
                </c:pt>
                <c:pt idx="130">
                  <c:v>84.48</c:v>
                </c:pt>
                <c:pt idx="131">
                  <c:v>84.48</c:v>
                </c:pt>
                <c:pt idx="132">
                  <c:v>84.48</c:v>
                </c:pt>
                <c:pt idx="133">
                  <c:v>84.48</c:v>
                </c:pt>
                <c:pt idx="134">
                  <c:v>84.48</c:v>
                </c:pt>
                <c:pt idx="135">
                  <c:v>84.48</c:v>
                </c:pt>
                <c:pt idx="136">
                  <c:v>84.48</c:v>
                </c:pt>
                <c:pt idx="137">
                  <c:v>84.48</c:v>
                </c:pt>
                <c:pt idx="138">
                  <c:v>84.48</c:v>
                </c:pt>
                <c:pt idx="139">
                  <c:v>84.48</c:v>
                </c:pt>
                <c:pt idx="140">
                  <c:v>84.48</c:v>
                </c:pt>
                <c:pt idx="141">
                  <c:v>84.48</c:v>
                </c:pt>
                <c:pt idx="142">
                  <c:v>84.48</c:v>
                </c:pt>
                <c:pt idx="143">
                  <c:v>84.48</c:v>
                </c:pt>
                <c:pt idx="144">
                  <c:v>84.48</c:v>
                </c:pt>
                <c:pt idx="145">
                  <c:v>84.48</c:v>
                </c:pt>
                <c:pt idx="146">
                  <c:v>84.48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95">
                    <a:solidFill>
                      <a:srgbClr val="404040"/>
                    </a:solidFill>
                    <a:latin typeface="B Nazanin"/>
                  </a:rPr>
                  <a:t>دوره (Epoch)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1095">
                <a:latin typeface="B Nazanin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8.0"/>
          <c:min val="48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95">
                    <a:solidFill>
                      <a:srgbClr val="404040"/>
                    </a:solidFill>
                    <a:latin typeface="B Nazanin"/>
                  </a:rPr>
                  <a:t>دقت اعتبارسنجی (٪)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1095">
                <a:latin typeface="B Nazanin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95">
          <a:latin typeface="B Nazanin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فراوانی</c:v>
                </c:pt>
              </c:strCache>
            </c:strRef>
          </c:tx>
          <c:spPr>
            <a:solidFill>
              <a:srgbClr val="5B9BD5"/>
            </a:solidFill>
            <a:ln w="6350">
              <a:solidFill>
                <a:srgbClr val="2F5597"/>
              </a:solidFill>
            </a:ln>
          </c:spPr>
          <c:cat>
            <c:strRef>
              <c:f>Sheet1!$A$2:$A$16</c:f>
              <c:strCache>
                <c:ptCount val="15"/>
                <c:pt idx="0">
                  <c:v>A15</c:v>
                </c:pt>
                <c:pt idx="1">
                  <c:v>A14</c:v>
                </c:pt>
                <c:pt idx="2">
                  <c:v>A13</c:v>
                </c:pt>
                <c:pt idx="3">
                  <c:v>A12</c:v>
                </c:pt>
                <c:pt idx="4">
                  <c:v>A11</c:v>
                </c:pt>
                <c:pt idx="5">
                  <c:v>A10</c:v>
                </c:pt>
                <c:pt idx="6">
                  <c:v>A9</c:v>
                </c:pt>
                <c:pt idx="7">
                  <c:v>A8</c:v>
                </c:pt>
                <c:pt idx="8">
                  <c:v>A7</c:v>
                </c:pt>
                <c:pt idx="9">
                  <c:v>A6</c:v>
                </c:pt>
                <c:pt idx="10">
                  <c:v>A5</c:v>
                </c:pt>
                <c:pt idx="11">
                  <c:v>A4</c:v>
                </c:pt>
                <c:pt idx="12">
                  <c:v>A3</c:v>
                </c:pt>
                <c:pt idx="13">
                  <c:v>A2</c:v>
                </c:pt>
                <c:pt idx="14">
                  <c:v>A1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6.5</c:v>
                </c:pt>
                <c:pt idx="1">
                  <c:v>20.1</c:v>
                </c:pt>
                <c:pt idx="2">
                  <c:v>31.7</c:v>
                </c:pt>
                <c:pt idx="3">
                  <c:v>33.9</c:v>
                </c:pt>
                <c:pt idx="4">
                  <c:v>41.5</c:v>
                </c:pt>
                <c:pt idx="5">
                  <c:v>41.5</c:v>
                </c:pt>
                <c:pt idx="6">
                  <c:v>41.8</c:v>
                </c:pt>
                <c:pt idx="7">
                  <c:v>44.8</c:v>
                </c:pt>
                <c:pt idx="8">
                  <c:v>60.0</c:v>
                </c:pt>
                <c:pt idx="9">
                  <c:v>63.2</c:v>
                </c:pt>
                <c:pt idx="10">
                  <c:v>71.8</c:v>
                </c:pt>
                <c:pt idx="11">
                  <c:v>74.1</c:v>
                </c:pt>
                <c:pt idx="12">
                  <c:v>86.0</c:v>
                </c:pt>
                <c:pt idx="13">
                  <c:v>131.0</c:v>
                </c:pt>
                <c:pt idx="14">
                  <c:v>139.5</c:v>
                </c:pt>
              </c:numCache>
            </c:numRef>
          </c:val>
        </c:ser>
        <c:dLbls>
          <c:numFmt formatCode="0.0&quot; دقیقه&quot;" sourceLinked="0"/>
          <c:txPr>
            <a:bodyPr/>
            <a:lstStyle/>
            <a:p>
              <a:pPr>
                <a:defRPr sz="1160">
                  <a:latin typeface="B Nazani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sz="1260">
                    <a:solidFill>
                      <a:srgbClr val="404040"/>
                    </a:solidFill>
                    <a:latin typeface="B Nazanin"/>
                  </a:rPr>
                  <a:t>فعالیت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1160">
                <a:latin typeface="B Nazani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60">
                    <a:solidFill>
                      <a:srgbClr val="404040"/>
                    </a:solidFill>
                    <a:latin typeface="B Nazanin"/>
                  </a:rPr>
                  <a:t>میانگین زمان انتظار (دقیقه)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1160">
                <a:latin typeface="B Nazani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60">
          <a:latin typeface="B Nazanin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: نمای کلی معماری"/>
          <p:cNvSpPr txBox="1"/>
          <p:nvPr/>
        </p:nvSpPr>
        <p:spPr>
          <a:xfrm>
            <a:off x="3095683" y="276962"/>
            <a:ext cx="6000327" cy="2652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36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۳.۱: نمای کلی معماری مدل سه‌جریانه پیشنهادی و جریان داده</a:t>
            </a:r>
          </a:p>
        </p:txBody>
      </p:sp>
      <p:sp>
        <p:nvSpPr>
          <p:cNvPr id="3" name="**ورودی: پیشوند رویدادها**"/>
          <p:cNvSpPr/>
          <p:nvPr/>
        </p:nvSpPr>
        <p:spPr>
          <a:xfrm>
            <a:off x="4106265" y="630665"/>
            <a:ext cx="3979164" cy="492658"/>
          </a:xfrm>
          <a:prstGeom prst="roundRect">
            <a:avLst>
              <a:gd name="adj" fmla="val 7692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75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ورودی: پیشوند رویدادها</a:t>
            </a:r>
          </a:p>
          <a:p>
            <a:pPr algn="ctr" rtl="1"/>
            <a:r>
              <a:rPr sz="75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(فعالیت، فعالیت پیشین، زمان، نقش، فراوانی، موقعیت نسبی)</a:t>
            </a:r>
          </a:p>
        </p:txBody>
      </p:sp>
      <p:sp>
        <p:nvSpPr>
          <p:cNvPr id="4" name="**لایه تعبیه ورودی چندوجهی**"/>
          <p:cNvSpPr/>
          <p:nvPr/>
        </p:nvSpPr>
        <p:spPr>
          <a:xfrm>
            <a:off x="3474651" y="1249646"/>
            <a:ext cx="5242391" cy="581084"/>
          </a:xfrm>
          <a:prstGeom prst="roundRect">
            <a:avLst>
              <a:gd name="adj" fmla="val 6521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75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لایه تعبیه ورودی چندوجهی</a:t>
            </a:r>
          </a:p>
          <a:p>
            <a:pPr algn="ctr" rtl="1"/>
            <a:r>
              <a:rPr sz="75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(Activity + PrevActivity + Position + TimeDelta + CumTime + Role + Freq + RelPos)</a:t>
            </a:r>
          </a:p>
        </p:txBody>
      </p:sp>
      <p:cxnSp>
        <p:nvCxnSpPr>
          <p:cNvPr id="5" name="arrow"/>
          <p:cNvCxnSpPr/>
          <p:nvPr/>
        </p:nvCxnSpPr>
        <p:spPr>
          <a:xfrm>
            <a:off x="6095847" y="1123323"/>
            <a:ext cx="0" cy="126323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xt سه جریان موازی پردازش"/>
          <p:cNvSpPr txBox="1"/>
          <p:nvPr/>
        </p:nvSpPr>
        <p:spPr>
          <a:xfrm>
            <a:off x="4832620" y="1830730"/>
            <a:ext cx="2526453" cy="2526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828" b="1" i="0">
                <a:solidFill>
                  <a:srgbClr val="2F5597"/>
                </a:solidFill>
                <a:latin typeface="Arial"/>
                <a:ea typeface="B Nazanin"/>
                <a:cs typeface="B Nazanin"/>
              </a:rPr>
              <a:t>سه جریان موازی پردازش</a:t>
            </a:r>
          </a:p>
        </p:txBody>
      </p:sp>
      <p:sp>
        <p:nvSpPr>
          <p:cNvPr id="7" name="txt سه جریان موازی پردازش"/>
          <p:cNvSpPr txBox="1"/>
          <p:nvPr/>
        </p:nvSpPr>
        <p:spPr>
          <a:xfrm>
            <a:off x="4832620" y="1830730"/>
            <a:ext cx="2526453" cy="2526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828" b="1" i="0">
                <a:solidFill>
                  <a:srgbClr val="2F5597"/>
                </a:solidFill>
                <a:latin typeface="Arial"/>
                <a:ea typeface="B Nazanin"/>
                <a:cs typeface="B Nazanin"/>
              </a:rPr>
              <a:t>سه جریان موازی پردازش</a:t>
            </a:r>
          </a:p>
        </p:txBody>
      </p:sp>
      <p:sp>
        <p:nvSpPr>
          <p:cNvPr id="8" name="stream"/>
          <p:cNvSpPr/>
          <p:nvPr/>
        </p:nvSpPr>
        <p:spPr>
          <a:xfrm>
            <a:off x="3158845" y="2108640"/>
            <a:ext cx="1831679" cy="2273808"/>
          </a:xfrm>
          <a:prstGeom prst="roundRect">
            <a:avLst>
              <a:gd name="adj" fmla="val 1666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/>
          </a:p>
        </p:txBody>
      </p:sp>
      <p:sp>
        <p:nvSpPr>
          <p:cNvPr id="9" name="stream"/>
          <p:cNvSpPr/>
          <p:nvPr/>
        </p:nvSpPr>
        <p:spPr>
          <a:xfrm>
            <a:off x="5180007" y="2108640"/>
            <a:ext cx="1831679" cy="2273808"/>
          </a:xfrm>
          <a:prstGeom prst="roundRect">
            <a:avLst>
              <a:gd name="adj" fmla="val 1666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/>
          </a:p>
        </p:txBody>
      </p:sp>
      <p:sp>
        <p:nvSpPr>
          <p:cNvPr id="10" name="stream"/>
          <p:cNvSpPr/>
          <p:nvPr/>
        </p:nvSpPr>
        <p:spPr>
          <a:xfrm>
            <a:off x="7201170" y="2108640"/>
            <a:ext cx="1831679" cy="2273808"/>
          </a:xfrm>
          <a:prstGeom prst="roundRect">
            <a:avLst>
              <a:gd name="adj" fmla="val 1666"/>
            </a:avLst>
          </a:prstGeom>
          <a:solidFill>
            <a:srgbClr val="E4DFE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/>
          </a:p>
        </p:txBody>
      </p:sp>
      <p:sp>
        <p:nvSpPr>
          <p:cNvPr id="11" name="**جریان ۱: ترانسفورمر**"/>
          <p:cNvSpPr/>
          <p:nvPr/>
        </p:nvSpPr>
        <p:spPr>
          <a:xfrm>
            <a:off x="3158845" y="2108640"/>
            <a:ext cx="1831679" cy="252645"/>
          </a:xfrm>
          <a:prstGeom prst="roundRect">
            <a:avLst>
              <a:gd name="adj" fmla="val 1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75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جریان ۱: ترانسفورمر</a:t>
            </a:r>
          </a:p>
        </p:txBody>
      </p:sp>
      <p:sp>
        <p:nvSpPr>
          <p:cNvPr id="12" name="**جریان ۲: TCN**"/>
          <p:cNvSpPr/>
          <p:nvPr/>
        </p:nvSpPr>
        <p:spPr>
          <a:xfrm>
            <a:off x="5180007" y="2108640"/>
            <a:ext cx="1831679" cy="252645"/>
          </a:xfrm>
          <a:prstGeom prst="roundRect">
            <a:avLst>
              <a:gd name="adj" fmla="val 15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75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جریان ۲: TCN</a:t>
            </a:r>
          </a:p>
        </p:txBody>
      </p:sp>
      <p:sp>
        <p:nvSpPr>
          <p:cNvPr id="13" name="**جریان ۳: GNN**"/>
          <p:cNvSpPr/>
          <p:nvPr/>
        </p:nvSpPr>
        <p:spPr>
          <a:xfrm>
            <a:off x="7201170" y="2108640"/>
            <a:ext cx="1831679" cy="252645"/>
          </a:xfrm>
          <a:prstGeom prst="roundRect">
            <a:avLst>
              <a:gd name="adj" fmla="val 15000"/>
            </a:avLst>
          </a:prstGeom>
          <a:solidFill>
            <a:srgbClr val="E4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75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جریان ۳: GNN</a:t>
            </a:r>
          </a:p>
        </p:txBody>
      </p:sp>
      <p:sp>
        <p:nvSpPr>
          <p:cNvPr id="14" name="لایه 1: خودتوجهی علی + FFN"/>
          <p:cNvSpPr/>
          <p:nvPr/>
        </p:nvSpPr>
        <p:spPr>
          <a:xfrm>
            <a:off x="3285167" y="2424447"/>
            <a:ext cx="1579033" cy="265278"/>
          </a:xfrm>
          <a:prstGeom prst="roundRect">
            <a:avLst>
              <a:gd name="adj" fmla="val 7142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656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لایه 1: خودتوجهی علی + FFN</a:t>
            </a:r>
          </a:p>
        </p:txBody>
      </p:sp>
      <p:sp>
        <p:nvSpPr>
          <p:cNvPr id="15" name="لایه 2: خودتوجهی علی + FFN"/>
          <p:cNvSpPr/>
          <p:nvPr/>
        </p:nvSpPr>
        <p:spPr>
          <a:xfrm>
            <a:off x="3285167" y="2740254"/>
            <a:ext cx="1579033" cy="265278"/>
          </a:xfrm>
          <a:prstGeom prst="roundRect">
            <a:avLst>
              <a:gd name="adj" fmla="val 7142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656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لایه 2: خودتوجهی علی + FFN</a:t>
            </a:r>
          </a:p>
        </p:txBody>
      </p:sp>
      <p:sp>
        <p:nvSpPr>
          <p:cNvPr id="16" name="لایه 3: خودتوجهی علی + FFN"/>
          <p:cNvSpPr/>
          <p:nvPr/>
        </p:nvSpPr>
        <p:spPr>
          <a:xfrm>
            <a:off x="3285167" y="3056060"/>
            <a:ext cx="1579033" cy="265278"/>
          </a:xfrm>
          <a:prstGeom prst="roundRect">
            <a:avLst>
              <a:gd name="adj" fmla="val 7142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656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لایه 3: خودتوجهی علی + FFN</a:t>
            </a:r>
          </a:p>
        </p:txBody>
      </p:sp>
      <p:sp>
        <p:nvSpPr>
          <p:cNvPr id="17" name="لایه 4: خودتوجهی علی + FFN"/>
          <p:cNvSpPr/>
          <p:nvPr/>
        </p:nvSpPr>
        <p:spPr>
          <a:xfrm>
            <a:off x="3285167" y="3371867"/>
            <a:ext cx="1579033" cy="265278"/>
          </a:xfrm>
          <a:prstGeom prst="roundRect">
            <a:avLst>
              <a:gd name="adj" fmla="val 7142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656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لایه 4: خودتوجهی علی + FFN</a:t>
            </a:r>
          </a:p>
        </p:txBody>
      </p:sp>
      <p:sp>
        <p:nvSpPr>
          <p:cNvPr id="18" name="لایه 5: خودتوجهی علی + FFN"/>
          <p:cNvSpPr/>
          <p:nvPr/>
        </p:nvSpPr>
        <p:spPr>
          <a:xfrm>
            <a:off x="3285167" y="3687674"/>
            <a:ext cx="1579033" cy="265278"/>
          </a:xfrm>
          <a:prstGeom prst="roundRect">
            <a:avLst>
              <a:gd name="adj" fmla="val 7142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656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لایه 5: خودتوجهی علی + FFN</a:t>
            </a:r>
          </a:p>
        </p:txBody>
      </p:sp>
      <p:sp>
        <p:nvSpPr>
          <p:cNvPr id="19" name="لایه 6: خودتوجهی علی + FFN"/>
          <p:cNvSpPr/>
          <p:nvPr/>
        </p:nvSpPr>
        <p:spPr>
          <a:xfrm>
            <a:off x="3285167" y="4003480"/>
            <a:ext cx="1579033" cy="265278"/>
          </a:xfrm>
          <a:prstGeom prst="roundRect">
            <a:avLst>
              <a:gd name="adj" fmla="val 7142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656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لایه 6: خودتوجهی علی + FFN</a:t>
            </a:r>
          </a:p>
        </p:txBody>
      </p:sp>
      <p:sp>
        <p:nvSpPr>
          <p:cNvPr id="20" name="Conv1D (d=4)"/>
          <p:cNvSpPr/>
          <p:nvPr/>
        </p:nvSpPr>
        <p:spPr>
          <a:xfrm>
            <a:off x="5306330" y="2759202"/>
            <a:ext cx="1579033" cy="315807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725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Conv1D (d=4)</a:t>
            </a:r>
          </a:p>
        </p:txBody>
      </p:sp>
      <p:sp>
        <p:nvSpPr>
          <p:cNvPr id="21" name="Conv1D (d=2)"/>
          <p:cNvSpPr/>
          <p:nvPr/>
        </p:nvSpPr>
        <p:spPr>
          <a:xfrm>
            <a:off x="5306330" y="3150802"/>
            <a:ext cx="1579033" cy="315807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725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Conv1D (d=2)</a:t>
            </a:r>
          </a:p>
        </p:txBody>
      </p:sp>
      <p:sp>
        <p:nvSpPr>
          <p:cNvPr id="22" name="Conv1D (d=1)"/>
          <p:cNvSpPr/>
          <p:nvPr/>
        </p:nvSpPr>
        <p:spPr>
          <a:xfrm>
            <a:off x="5306330" y="3542403"/>
            <a:ext cx="1579033" cy="315807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725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Conv1D (d=1)</a:t>
            </a:r>
          </a:p>
        </p:txBody>
      </p:sp>
      <p:sp>
        <p:nvSpPr>
          <p:cNvPr id="23" name="گراف پیشوند"/>
          <p:cNvSpPr/>
          <p:nvPr/>
        </p:nvSpPr>
        <p:spPr>
          <a:xfrm>
            <a:off x="7327493" y="2443395"/>
            <a:ext cx="1579033" cy="631613"/>
          </a:xfrm>
          <a:prstGeom prst="roundRect">
            <a:avLst>
              <a:gd name="adj" fmla="val 6000"/>
            </a:avLst>
          </a:prstGeom>
          <a:solidFill>
            <a:srgbClr val="E4DFE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69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گراف پیشوند</a:t>
            </a:r>
          </a:p>
          <a:p>
            <a:pPr algn="ctr" rtl="1"/>
            <a:r>
              <a:rPr sz="69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(CLS + رویدادها + یال‌ها)</a:t>
            </a:r>
          </a:p>
        </p:txBody>
      </p:sp>
      <p:sp>
        <p:nvSpPr>
          <p:cNvPr id="24" name="دو لایه پیچش گرافی"/>
          <p:cNvSpPr/>
          <p:nvPr/>
        </p:nvSpPr>
        <p:spPr>
          <a:xfrm>
            <a:off x="7327493" y="3182383"/>
            <a:ext cx="1579033" cy="631613"/>
          </a:xfrm>
          <a:prstGeom prst="roundRect">
            <a:avLst>
              <a:gd name="adj" fmla="val 6000"/>
            </a:avLst>
          </a:prstGeom>
          <a:solidFill>
            <a:srgbClr val="E4DFE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69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دو لایه پیچش گرافی</a:t>
            </a:r>
          </a:p>
          <a:p>
            <a:pPr algn="ctr" rtl="1"/>
            <a:r>
              <a:rPr sz="69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با مکانیزم دروازه‌ای</a:t>
            </a:r>
          </a:p>
        </p:txBody>
      </p:sp>
      <p:cxnSp>
        <p:nvCxnSpPr>
          <p:cNvPr id="25" name="arrow"/>
          <p:cNvCxnSpPr/>
          <p:nvPr/>
        </p:nvCxnSpPr>
        <p:spPr>
          <a:xfrm flipH="1">
            <a:off x="4074684" y="1830730"/>
            <a:ext cx="2021163" cy="27791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arrow"/>
          <p:cNvCxnSpPr/>
          <p:nvPr/>
        </p:nvCxnSpPr>
        <p:spPr>
          <a:xfrm>
            <a:off x="6095847" y="1830730"/>
            <a:ext cx="0" cy="27791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arrow"/>
          <p:cNvCxnSpPr/>
          <p:nvPr/>
        </p:nvCxnSpPr>
        <p:spPr>
          <a:xfrm>
            <a:off x="6095847" y="1830730"/>
            <a:ext cx="2021162" cy="27791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**ماژول ادغام سه‌گانه**"/>
          <p:cNvSpPr/>
          <p:nvPr/>
        </p:nvSpPr>
        <p:spPr>
          <a:xfrm>
            <a:off x="4358910" y="4559300"/>
            <a:ext cx="3473873" cy="555820"/>
          </a:xfrm>
          <a:prstGeom prst="roundRect">
            <a:avLst>
              <a:gd name="adj" fmla="val 6818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75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ماژول ادغام سه‌گانه</a:t>
            </a:r>
          </a:p>
          <a:p>
            <a:pPr algn="ctr" rtl="1"/>
            <a:r>
              <a:rPr sz="75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(توجه متقابل Transformer + TCN، ادغام با GNN)</a:t>
            </a:r>
          </a:p>
        </p:txBody>
      </p:sp>
      <p:cxnSp>
        <p:nvCxnSpPr>
          <p:cNvPr id="29" name="arrow"/>
          <p:cNvCxnSpPr/>
          <p:nvPr/>
        </p:nvCxnSpPr>
        <p:spPr>
          <a:xfrm>
            <a:off x="4074684" y="4382448"/>
            <a:ext cx="821097" cy="176852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arrow"/>
          <p:cNvCxnSpPr/>
          <p:nvPr/>
        </p:nvCxnSpPr>
        <p:spPr>
          <a:xfrm>
            <a:off x="6095847" y="4382448"/>
            <a:ext cx="0" cy="176852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arrow"/>
          <p:cNvCxnSpPr/>
          <p:nvPr/>
        </p:nvCxnSpPr>
        <p:spPr>
          <a:xfrm flipH="1">
            <a:off x="7295912" y="4382448"/>
            <a:ext cx="821097" cy="176852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**سر مشترک**"/>
          <p:cNvSpPr/>
          <p:nvPr/>
        </p:nvSpPr>
        <p:spPr>
          <a:xfrm>
            <a:off x="4295749" y="5285655"/>
            <a:ext cx="3600196" cy="416865"/>
          </a:xfrm>
          <a:prstGeom prst="roundRect">
            <a:avLst>
              <a:gd name="adj" fmla="val 909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75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مشترک</a:t>
            </a:r>
          </a:p>
          <a:p>
            <a:pPr algn="ctr" rtl="1"/>
            <a:r>
              <a:rPr sz="75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LayerNorm → Linear → GELU → Dropout → Linear → GELU</a:t>
            </a:r>
          </a:p>
        </p:txBody>
      </p:sp>
      <p:cxnSp>
        <p:nvCxnSpPr>
          <p:cNvPr id="33" name="arrow"/>
          <p:cNvCxnSpPr/>
          <p:nvPr/>
        </p:nvCxnSpPr>
        <p:spPr>
          <a:xfrm>
            <a:off x="6095847" y="5115120"/>
            <a:ext cx="0" cy="170535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**سر ۱:**"/>
          <p:cNvSpPr/>
          <p:nvPr/>
        </p:nvSpPr>
        <p:spPr>
          <a:xfrm>
            <a:off x="7668564" y="5822527"/>
            <a:ext cx="1421130" cy="517923"/>
          </a:xfrm>
          <a:prstGeom prst="roundRect">
            <a:avLst>
              <a:gd name="adj" fmla="val 7317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656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۱:</a:t>
            </a:r>
          </a:p>
          <a:p>
            <a:pPr algn="ctr" rtl="1"/>
            <a:r>
              <a:rPr sz="656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فعالیت بعدی</a:t>
            </a:r>
          </a:p>
          <a:p>
            <a:pPr algn="ctr" rtl="1"/>
            <a:r>
              <a:rPr sz="656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(Softmax)</a:t>
            </a:r>
          </a:p>
        </p:txBody>
      </p:sp>
      <p:cxnSp>
        <p:nvCxnSpPr>
          <p:cNvPr id="35" name="arrow"/>
          <p:cNvCxnSpPr/>
          <p:nvPr/>
        </p:nvCxnSpPr>
        <p:spPr>
          <a:xfrm>
            <a:off x="6095847" y="5702520"/>
            <a:ext cx="2283282" cy="107374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**سر ۲:**"/>
          <p:cNvSpPr/>
          <p:nvPr/>
        </p:nvSpPr>
        <p:spPr>
          <a:xfrm>
            <a:off x="6171640" y="5822527"/>
            <a:ext cx="1421130" cy="517923"/>
          </a:xfrm>
          <a:prstGeom prst="roundRect">
            <a:avLst>
              <a:gd name="adj" fmla="val 7317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656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۲:</a:t>
            </a:r>
          </a:p>
          <a:p>
            <a:pPr algn="ctr" rtl="1"/>
            <a:r>
              <a:rPr sz="656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زمان باقی‌مانده</a:t>
            </a:r>
          </a:p>
          <a:p>
            <a:pPr algn="ctr" rtl="1"/>
            <a:r>
              <a:rPr sz="656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(رگرسیون)</a:t>
            </a:r>
          </a:p>
        </p:txBody>
      </p:sp>
      <p:cxnSp>
        <p:nvCxnSpPr>
          <p:cNvPr id="37" name="arrow"/>
          <p:cNvCxnSpPr/>
          <p:nvPr/>
        </p:nvCxnSpPr>
        <p:spPr>
          <a:xfrm>
            <a:off x="6095847" y="5702520"/>
            <a:ext cx="786358" cy="107374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**سر ۳:**"/>
          <p:cNvSpPr/>
          <p:nvPr/>
        </p:nvSpPr>
        <p:spPr>
          <a:xfrm>
            <a:off x="4674717" y="5822527"/>
            <a:ext cx="1421130" cy="517923"/>
          </a:xfrm>
          <a:prstGeom prst="roundRect">
            <a:avLst>
              <a:gd name="adj" fmla="val 7317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656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۳:</a:t>
            </a:r>
          </a:p>
          <a:p>
            <a:pPr algn="ctr" rtl="1"/>
            <a:r>
              <a:rPr sz="656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پتانسیل بهبود</a:t>
            </a:r>
          </a:p>
          <a:p>
            <a:pPr algn="ctr" rtl="1"/>
            <a:r>
              <a:rPr sz="656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(tanh)</a:t>
            </a:r>
          </a:p>
        </p:txBody>
      </p:sp>
      <p:cxnSp>
        <p:nvCxnSpPr>
          <p:cNvPr id="39" name="arrow"/>
          <p:cNvCxnSpPr/>
          <p:nvPr/>
        </p:nvCxnSpPr>
        <p:spPr>
          <a:xfrm flipH="1">
            <a:off x="5385282" y="5702520"/>
            <a:ext cx="710565" cy="107374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**سر ۴:**"/>
          <p:cNvSpPr/>
          <p:nvPr/>
        </p:nvSpPr>
        <p:spPr>
          <a:xfrm>
            <a:off x="3177793" y="5822527"/>
            <a:ext cx="1421130" cy="517923"/>
          </a:xfrm>
          <a:prstGeom prst="roundRect">
            <a:avLst>
              <a:gd name="adj" fmla="val 7317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656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۴:</a:t>
            </a:r>
          </a:p>
          <a:p>
            <a:pPr algn="ctr" rtl="1"/>
            <a:r>
              <a:rPr sz="656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گلوگاه</a:t>
            </a:r>
          </a:p>
          <a:p>
            <a:pPr algn="ctr" rtl="1"/>
            <a:r>
              <a:rPr sz="656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(Sigmoid)</a:t>
            </a:r>
          </a:p>
        </p:txBody>
      </p:sp>
      <p:cxnSp>
        <p:nvCxnSpPr>
          <p:cNvPr id="41" name="arrow"/>
          <p:cNvCxnSpPr/>
          <p:nvPr/>
        </p:nvCxnSpPr>
        <p:spPr>
          <a:xfrm flipH="1">
            <a:off x="3888358" y="5702520"/>
            <a:ext cx="2207489" cy="107374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xt گره‌بندی وزنی: وزن سر فع"/>
          <p:cNvSpPr txBox="1"/>
          <p:nvPr/>
        </p:nvSpPr>
        <p:spPr>
          <a:xfrm>
            <a:off x="3316748" y="6428875"/>
            <a:ext cx="5558197" cy="189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69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گره‌بندی وزنی: وزن سر فعالیت همان ماتریس تعبیه فعالیت است</a:t>
            </a:r>
          </a:p>
        </p:txBody>
      </p:sp>
      <p:sp>
        <p:nvSpPr>
          <p:cNvPr id="43" name="**خروجی: توزیع احتمال فعالیت"/>
          <p:cNvSpPr/>
          <p:nvPr/>
        </p:nvSpPr>
        <p:spPr>
          <a:xfrm>
            <a:off x="3758877" y="6618359"/>
            <a:ext cx="4673939" cy="366336"/>
          </a:xfrm>
          <a:prstGeom prst="roundRect">
            <a:avLst>
              <a:gd name="adj" fmla="val 10344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 rtl="1"/>
            <a:r>
              <a:rPr sz="75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خروجی: توزیع احتمال فعالیت + زمان باقی‌مانده + بهبود تأخیر + بردار گلوگاه</a:t>
            </a:r>
          </a:p>
        </p:txBody>
      </p:sp>
      <p:sp>
        <p:nvSpPr>
          <p:cNvPr id="44" name="mask"/>
          <p:cNvSpPr/>
          <p:nvPr/>
        </p:nvSpPr>
        <p:spPr>
          <a:xfrm>
            <a:off x="4927362" y="1824414"/>
            <a:ext cx="2336969" cy="214749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7897" rIns="37897" tIns="18948" bIns="18948"/>
          <a:lstStyle/>
          <a:p>
            <a:pPr algn="ctr"/>
          </a:p>
        </p:txBody>
      </p:sp>
      <p:sp>
        <p:nvSpPr>
          <p:cNvPr id="45" name="txt سه جریان موازی پردازش"/>
          <p:cNvSpPr txBox="1"/>
          <p:nvPr/>
        </p:nvSpPr>
        <p:spPr>
          <a:xfrm>
            <a:off x="4832620" y="1805466"/>
            <a:ext cx="2526453" cy="2526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828" b="1" i="0">
                <a:solidFill>
                  <a:srgbClr val="2F5597"/>
                </a:solidFill>
                <a:latin typeface="Arial"/>
                <a:ea typeface="B Nazanin"/>
                <a:cs typeface="B Nazanin"/>
              </a:rPr>
              <a:t>سه جریان موازی پردازش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۲: جریان پیش‌پرداز"/>
          <p:cNvSpPr txBox="1"/>
          <p:nvPr/>
        </p:nvSpPr>
        <p:spPr>
          <a:xfrm>
            <a:off x="1259763" y="323342"/>
            <a:ext cx="9672168" cy="427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67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۳.۲: جریان پیش‌پردازش رویدادنگار و استخراج پیشوندها</a:t>
            </a:r>
          </a:p>
        </p:txBody>
      </p:sp>
      <p:sp>
        <p:nvSpPr>
          <p:cNvPr id="3" name="**رویدادنگار خام**"/>
          <p:cNvSpPr/>
          <p:nvPr/>
        </p:nvSpPr>
        <p:spPr>
          <a:xfrm>
            <a:off x="8793873" y="1066572"/>
            <a:ext cx="2239871" cy="916311"/>
          </a:xfrm>
          <a:prstGeom prst="roundRect">
            <a:avLst>
              <a:gd name="adj" fmla="val 6666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1087" rIns="61087" tIns="30544" bIns="30544"/>
          <a:lstStyle/>
          <a:p>
            <a:pPr algn="ctr" rtl="1"/>
            <a:r>
              <a:rPr sz="122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رویدادنگار خام</a:t>
            </a:r>
          </a:p>
          <a:p>
            <a:pPr algn="ctr" rtl="1"/>
            <a:r>
              <a:rPr sz="122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(BPI Challenge 2012)</a:t>
            </a:r>
          </a:p>
        </p:txBody>
      </p:sp>
      <p:sp>
        <p:nvSpPr>
          <p:cNvPr id="4" name="استخراج Caseها"/>
          <p:cNvSpPr/>
          <p:nvPr/>
        </p:nvSpPr>
        <p:spPr>
          <a:xfrm>
            <a:off x="6248565" y="1066572"/>
            <a:ext cx="2239871" cy="916311"/>
          </a:xfrm>
          <a:prstGeom prst="roundRect">
            <a:avLst>
              <a:gd name="adj" fmla="val 6666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1087" rIns="61087" tIns="30544" bIns="30544"/>
          <a:lstStyle/>
          <a:p>
            <a:pPr algn="ctr" rtl="1"/>
            <a:r>
              <a:rPr sz="122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استخراج Caseها</a:t>
            </a:r>
          </a:p>
          <a:p>
            <a:pPr algn="ctr" rtl="1"/>
            <a:r>
              <a:rPr sz="122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و رویدادها</a:t>
            </a:r>
          </a:p>
        </p:txBody>
      </p:sp>
      <p:sp>
        <p:nvSpPr>
          <p:cNvPr id="5" name="مرتب‌سازی"/>
          <p:cNvSpPr/>
          <p:nvPr/>
        </p:nvSpPr>
        <p:spPr>
          <a:xfrm>
            <a:off x="3703258" y="1066572"/>
            <a:ext cx="2239871" cy="916311"/>
          </a:xfrm>
          <a:prstGeom prst="roundRect">
            <a:avLst>
              <a:gd name="adj" fmla="val 6666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1087" rIns="61087" tIns="30544" bIns="30544"/>
          <a:lstStyle/>
          <a:p>
            <a:pPr algn="ctr" rtl="1"/>
            <a:r>
              <a:rPr sz="122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مرتب‌سازی</a:t>
            </a:r>
          </a:p>
          <a:p>
            <a:pPr algn="ctr" rtl="1"/>
            <a:r>
              <a:rPr sz="122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بر اساس زمان</a:t>
            </a:r>
          </a:p>
        </p:txBody>
      </p:sp>
      <p:sp>
        <p:nvSpPr>
          <p:cNvPr id="6" name="توالی مرتب"/>
          <p:cNvSpPr/>
          <p:nvPr/>
        </p:nvSpPr>
        <p:spPr>
          <a:xfrm>
            <a:off x="1157950" y="1066572"/>
            <a:ext cx="2239871" cy="916311"/>
          </a:xfrm>
          <a:prstGeom prst="roundRect">
            <a:avLst>
              <a:gd name="adj" fmla="val 6666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1087" rIns="61087" tIns="30544" bIns="30544"/>
          <a:lstStyle/>
          <a:p>
            <a:pPr algn="ctr" rtl="1"/>
            <a:r>
              <a:rPr sz="122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توالی مرتب</a:t>
            </a:r>
          </a:p>
        </p:txBody>
      </p:sp>
      <p:cxnSp>
        <p:nvCxnSpPr>
          <p:cNvPr id="7" name="arrow"/>
          <p:cNvCxnSpPr/>
          <p:nvPr/>
        </p:nvCxnSpPr>
        <p:spPr>
          <a:xfrm flipH="1">
            <a:off x="8488436" y="1524727"/>
            <a:ext cx="305437" cy="0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arrow"/>
          <p:cNvCxnSpPr/>
          <p:nvPr/>
        </p:nvCxnSpPr>
        <p:spPr>
          <a:xfrm flipH="1">
            <a:off x="5943128" y="1524727"/>
            <a:ext cx="305437" cy="0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rrow"/>
          <p:cNvCxnSpPr/>
          <p:nvPr/>
        </p:nvCxnSpPr>
        <p:spPr>
          <a:xfrm flipH="1">
            <a:off x="3397821" y="1524727"/>
            <a:ext cx="305437" cy="0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**محاسبه آمار Case**"/>
          <p:cNvSpPr/>
          <p:nvPr/>
        </p:nvSpPr>
        <p:spPr>
          <a:xfrm>
            <a:off x="1157950" y="2390132"/>
            <a:ext cx="4683366" cy="967217"/>
          </a:xfrm>
          <a:prstGeom prst="roundRect">
            <a:avLst>
              <a:gd name="adj" fmla="val 6315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1087" rIns="61087" tIns="30544" bIns="30544"/>
          <a:lstStyle/>
          <a:p>
            <a:pPr algn="ctr" rtl="1"/>
            <a:r>
              <a:rPr sz="116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محاسبه آمار Case</a:t>
            </a:r>
          </a:p>
          <a:p>
            <a:pPr algn="ctr" rtl="1"/>
            <a:r>
              <a:rPr sz="116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(مدت کل، مدت هر فعالیت، فراوانی، زمان انتظار)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2277886" y="1982882"/>
            <a:ext cx="0" cy="407249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**شناسایی گلوگاه‌ها**"/>
          <p:cNvSpPr/>
          <p:nvPr/>
        </p:nvSpPr>
        <p:spPr>
          <a:xfrm>
            <a:off x="1157950" y="3713692"/>
            <a:ext cx="4683366" cy="967217"/>
          </a:xfrm>
          <a:prstGeom prst="roundRect">
            <a:avLst>
              <a:gd name="adj" fmla="val 6315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1087" rIns="61087" tIns="30544" bIns="30544"/>
          <a:lstStyle/>
          <a:p>
            <a:pPr algn="ctr" rtl="1"/>
            <a:r>
              <a:rPr sz="116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شناسایی گلوگاه‌ها</a:t>
            </a:r>
          </a:p>
          <a:p>
            <a:pPr algn="ctr" rtl="1"/>
            <a:r>
              <a:rPr sz="116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(صدک ۷۵ زمان انتظار)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3499633" y="3357349"/>
            <a:ext cx="0" cy="356343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**استخراج پیشوندها**"/>
          <p:cNvSpPr/>
          <p:nvPr/>
        </p:nvSpPr>
        <p:spPr>
          <a:xfrm>
            <a:off x="6248565" y="3713692"/>
            <a:ext cx="4785178" cy="967217"/>
          </a:xfrm>
          <a:prstGeom prst="roundRect">
            <a:avLst>
              <a:gd name="adj" fmla="val 6315"/>
            </a:avLst>
          </a:prstGeom>
          <a:solidFill>
            <a:srgbClr val="E4DFE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1087" rIns="61087" tIns="30544" bIns="30544"/>
          <a:lstStyle/>
          <a:p>
            <a:pPr algn="ctr" rtl="1"/>
            <a:r>
              <a:rPr sz="116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استخراج پیشوندها</a:t>
            </a:r>
          </a:p>
          <a:p>
            <a:pPr algn="ctr" rtl="1"/>
            <a:r>
              <a:rPr sz="116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(min_prefix_len = 2)</a:t>
            </a:r>
          </a:p>
        </p:txBody>
      </p:sp>
      <p:cxnSp>
        <p:nvCxnSpPr>
          <p:cNvPr id="15" name="arrow"/>
          <p:cNvCxnSpPr/>
          <p:nvPr/>
        </p:nvCxnSpPr>
        <p:spPr>
          <a:xfrm>
            <a:off x="5841316" y="4197301"/>
            <a:ext cx="407249" cy="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**برچسب‌های چندوظیفه‌ای:** ف"/>
          <p:cNvSpPr/>
          <p:nvPr/>
        </p:nvSpPr>
        <p:spPr>
          <a:xfrm>
            <a:off x="1157950" y="5139064"/>
            <a:ext cx="9875793" cy="814498"/>
          </a:xfrm>
          <a:prstGeom prst="roundRect">
            <a:avLst>
              <a:gd name="adj" fmla="val 750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1087" rIns="61087" tIns="30544" bIns="30544"/>
          <a:lstStyle/>
          <a:p>
            <a:pPr algn="ctr" rtl="1"/>
            <a:r>
              <a:rPr sz="122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برچسب‌های چندوظیفه‌ای:</a:t>
            </a:r>
            <a:r>
              <a:rPr sz="122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 فعالیت بعدی + زمان باقی‌مانده + پتانسیل بهبود تأخیر + بردار گلوگاه</a:t>
            </a:r>
          </a:p>
        </p:txBody>
      </p:sp>
      <p:cxnSp>
        <p:nvCxnSpPr>
          <p:cNvPr id="17" name="arrow"/>
          <p:cNvCxnSpPr/>
          <p:nvPr/>
        </p:nvCxnSpPr>
        <p:spPr>
          <a:xfrm>
            <a:off x="8641154" y="4680909"/>
            <a:ext cx="0" cy="458155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**نمونه‌های آموزشی آماده**"/>
          <p:cNvSpPr/>
          <p:nvPr/>
        </p:nvSpPr>
        <p:spPr>
          <a:xfrm>
            <a:off x="3448727" y="6309906"/>
            <a:ext cx="5294240" cy="610874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1087" rIns="61087" tIns="30544" bIns="30544"/>
          <a:lstStyle/>
          <a:p>
            <a:pPr algn="ctr" rtl="1"/>
            <a:r>
              <a:rPr sz="1336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نمونه‌های آموزشی آماده</a:t>
            </a:r>
          </a:p>
        </p:txBody>
      </p:sp>
      <p:cxnSp>
        <p:nvCxnSpPr>
          <p:cNvPr id="19" name="arrow"/>
          <p:cNvCxnSpPr/>
          <p:nvPr/>
        </p:nvCxnSpPr>
        <p:spPr>
          <a:xfrm>
            <a:off x="6095847" y="5953563"/>
            <a:ext cx="0" cy="356343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۳: ساختار چهار سر "/>
          <p:cNvSpPr txBox="1"/>
          <p:nvPr/>
        </p:nvSpPr>
        <p:spPr>
          <a:xfrm>
            <a:off x="509336" y="342301"/>
            <a:ext cx="11173022" cy="4939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92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۳.۳: ساختار چهار سر خروجی مدل چندوظیفه‌ای و برچسب‌های هر وظیفه</a:t>
            </a:r>
          </a:p>
        </p:txBody>
      </p:sp>
      <p:sp>
        <p:nvSpPr>
          <p:cNvPr id="3" name="**نمایش تجمیع‌شده** (d_model"/>
          <p:cNvSpPr/>
          <p:nvPr/>
        </p:nvSpPr>
        <p:spPr>
          <a:xfrm>
            <a:off x="3861243" y="930355"/>
            <a:ext cx="4469209" cy="729187"/>
          </a:xfrm>
          <a:prstGeom prst="roundRect">
            <a:avLst>
              <a:gd name="adj" fmla="val 9677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54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نمایش تجمیع‌شده</a:t>
            </a:r>
            <a:r>
              <a:rPr sz="1543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 (d_model)</a:t>
            </a:r>
          </a:p>
        </p:txBody>
      </p:sp>
      <p:sp>
        <p:nvSpPr>
          <p:cNvPr id="4" name="**سر مشترک چندلایه**"/>
          <p:cNvSpPr/>
          <p:nvPr/>
        </p:nvSpPr>
        <p:spPr>
          <a:xfrm>
            <a:off x="3273189" y="1965329"/>
            <a:ext cx="5645316" cy="846797"/>
          </a:xfrm>
          <a:prstGeom prst="roundRect">
            <a:avLst>
              <a:gd name="adj" fmla="val 8333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54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مشترک چندلایه</a:t>
            </a:r>
          </a:p>
        </p:txBody>
      </p:sp>
      <p:cxnSp>
        <p:nvCxnSpPr>
          <p:cNvPr id="5" name="arrow"/>
          <p:cNvCxnSpPr/>
          <p:nvPr/>
        </p:nvCxnSpPr>
        <p:spPr>
          <a:xfrm>
            <a:off x="6095847" y="1659541"/>
            <a:ext cx="0" cy="305788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**سر ۱:**"/>
          <p:cNvSpPr/>
          <p:nvPr/>
        </p:nvSpPr>
        <p:spPr>
          <a:xfrm>
            <a:off x="9065519" y="3200242"/>
            <a:ext cx="2705047" cy="1117302"/>
          </a:xfrm>
          <a:prstGeom prst="roundRect">
            <a:avLst>
              <a:gd name="adj" fmla="val 6315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47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۱:</a:t>
            </a:r>
          </a:p>
          <a:p>
            <a:pPr algn="ctr" rtl="1"/>
            <a:r>
              <a:rPr sz="147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فعالیت بعدی</a:t>
            </a:r>
          </a:p>
        </p:txBody>
      </p:sp>
      <p:cxnSp>
        <p:nvCxnSpPr>
          <p:cNvPr id="7" name="arrow"/>
          <p:cNvCxnSpPr/>
          <p:nvPr/>
        </p:nvCxnSpPr>
        <p:spPr>
          <a:xfrm>
            <a:off x="6095847" y="2812127"/>
            <a:ext cx="4322195" cy="364593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rossEntropy"/>
          <p:cNvSpPr/>
          <p:nvPr/>
        </p:nvSpPr>
        <p:spPr>
          <a:xfrm>
            <a:off x="9065519" y="4646855"/>
            <a:ext cx="2705047" cy="917364"/>
          </a:xfrm>
          <a:prstGeom prst="rect">
            <a:avLst/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221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CrossEntropy</a:t>
            </a:r>
          </a:p>
          <a:p>
            <a:pPr algn="ctr" rtl="1"/>
            <a:r>
              <a:rPr sz="1221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+ Label Smoothing</a:t>
            </a:r>
          </a:p>
          <a:p>
            <a:pPr algn="ctr" rtl="1"/>
            <a:r>
              <a:rPr sz="1221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+ Class Weights</a:t>
            </a:r>
          </a:p>
        </p:txBody>
      </p:sp>
      <p:sp>
        <p:nvSpPr>
          <p:cNvPr id="9" name="**سر ۲:**"/>
          <p:cNvSpPr/>
          <p:nvPr/>
        </p:nvSpPr>
        <p:spPr>
          <a:xfrm>
            <a:off x="6184055" y="3200242"/>
            <a:ext cx="2705047" cy="1117302"/>
          </a:xfrm>
          <a:prstGeom prst="roundRect">
            <a:avLst>
              <a:gd name="adj" fmla="val 6315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47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۲:</a:t>
            </a:r>
          </a:p>
          <a:p>
            <a:pPr algn="ctr" rtl="1"/>
            <a:r>
              <a:rPr sz="147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زمان باقی‌مانده</a:t>
            </a:r>
          </a:p>
        </p:txBody>
      </p:sp>
      <p:cxnSp>
        <p:nvCxnSpPr>
          <p:cNvPr id="10" name="arrow"/>
          <p:cNvCxnSpPr/>
          <p:nvPr/>
        </p:nvCxnSpPr>
        <p:spPr>
          <a:xfrm>
            <a:off x="6095847" y="2812127"/>
            <a:ext cx="1440732" cy="364593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uber Loss"/>
          <p:cNvSpPr/>
          <p:nvPr/>
        </p:nvSpPr>
        <p:spPr>
          <a:xfrm>
            <a:off x="6184055" y="4646855"/>
            <a:ext cx="2705047" cy="917364"/>
          </a:xfrm>
          <a:prstGeom prst="rect">
            <a:avLst/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221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Huber Loss</a:t>
            </a:r>
          </a:p>
          <a:p>
            <a:pPr algn="ctr" rtl="1"/>
            <a:r>
              <a:rPr sz="1221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(رگرسیون)</a:t>
            </a:r>
          </a:p>
        </p:txBody>
      </p:sp>
      <p:sp>
        <p:nvSpPr>
          <p:cNvPr id="12" name="**سر ۳:**"/>
          <p:cNvSpPr/>
          <p:nvPr/>
        </p:nvSpPr>
        <p:spPr>
          <a:xfrm>
            <a:off x="3302591" y="3200242"/>
            <a:ext cx="2705047" cy="1117302"/>
          </a:xfrm>
          <a:prstGeom prst="roundRect">
            <a:avLst>
              <a:gd name="adj" fmla="val 6315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47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۳:</a:t>
            </a:r>
          </a:p>
          <a:p>
            <a:pPr algn="ctr" rtl="1"/>
            <a:r>
              <a:rPr sz="147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پتانسیل بهبود</a:t>
            </a:r>
          </a:p>
        </p:txBody>
      </p:sp>
      <p:cxnSp>
        <p:nvCxnSpPr>
          <p:cNvPr id="13" name="arrow"/>
          <p:cNvCxnSpPr/>
          <p:nvPr/>
        </p:nvCxnSpPr>
        <p:spPr>
          <a:xfrm flipH="1">
            <a:off x="4655115" y="2812127"/>
            <a:ext cx="1440732" cy="364593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uber Loss"/>
          <p:cNvSpPr/>
          <p:nvPr/>
        </p:nvSpPr>
        <p:spPr>
          <a:xfrm>
            <a:off x="3302591" y="4646855"/>
            <a:ext cx="2705047" cy="917364"/>
          </a:xfrm>
          <a:prstGeom prst="rect">
            <a:avLst/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221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Huber Loss</a:t>
            </a:r>
          </a:p>
          <a:p>
            <a:pPr algn="ctr" rtl="1"/>
            <a:r>
              <a:rPr sz="1221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+ tanh</a:t>
            </a:r>
          </a:p>
        </p:txBody>
      </p:sp>
      <p:sp>
        <p:nvSpPr>
          <p:cNvPr id="15" name="**سر ۴:**"/>
          <p:cNvSpPr/>
          <p:nvPr/>
        </p:nvSpPr>
        <p:spPr>
          <a:xfrm>
            <a:off x="421128" y="3200242"/>
            <a:ext cx="2705047" cy="1117302"/>
          </a:xfrm>
          <a:prstGeom prst="roundRect">
            <a:avLst>
              <a:gd name="adj" fmla="val 6315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47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۴:</a:t>
            </a:r>
          </a:p>
          <a:p>
            <a:pPr algn="ctr" rtl="1"/>
            <a:r>
              <a:rPr sz="147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گلوگاه</a:t>
            </a:r>
          </a:p>
        </p:txBody>
      </p:sp>
      <p:cxnSp>
        <p:nvCxnSpPr>
          <p:cNvPr id="16" name="arrow"/>
          <p:cNvCxnSpPr/>
          <p:nvPr/>
        </p:nvCxnSpPr>
        <p:spPr>
          <a:xfrm flipH="1">
            <a:off x="1773652" y="2812127"/>
            <a:ext cx="4322195" cy="364593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BCE Loss"/>
          <p:cNvSpPr/>
          <p:nvPr/>
        </p:nvSpPr>
        <p:spPr>
          <a:xfrm>
            <a:off x="421128" y="4646855"/>
            <a:ext cx="2705047" cy="917364"/>
          </a:xfrm>
          <a:prstGeom prst="rect">
            <a:avLst/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221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BCE Loss</a:t>
            </a:r>
          </a:p>
          <a:p>
            <a:pPr algn="ctr" rtl="1"/>
            <a:r>
              <a:rPr sz="1221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(دودویی)</a:t>
            </a:r>
          </a:p>
        </p:txBody>
      </p:sp>
      <p:sp>
        <p:nvSpPr>
          <p:cNvPr id="18" name="ضرایب: λ_activity=1.0، λ_rem"/>
          <p:cNvSpPr/>
          <p:nvPr/>
        </p:nvSpPr>
        <p:spPr>
          <a:xfrm>
            <a:off x="2038276" y="5905290"/>
            <a:ext cx="8115142" cy="517487"/>
          </a:xfrm>
          <a:prstGeom prst="roundRect">
            <a:avLst>
              <a:gd name="adj" fmla="val 4545"/>
            </a:avLst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35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ضرایب: λ_activity=1.0، λ_remaining=0.3، λ_improvement=0.3، λ_bottleneck=0.1</a:t>
            </a:r>
          </a:p>
        </p:txBody>
      </p:sp>
      <p:sp>
        <p:nvSpPr>
          <p:cNvPr id="19" name="txt **خروجی نهایی: تابع زیان"/>
          <p:cNvSpPr txBox="1"/>
          <p:nvPr/>
        </p:nvSpPr>
        <p:spPr>
          <a:xfrm>
            <a:off x="685752" y="6552149"/>
            <a:ext cx="10820190" cy="376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4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 نهایی: تابع زیان چندوظیفه‌ای = مجموع وزنی چهار مؤلفه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۴: فرآیند ساخت نمو"/>
          <p:cNvSpPr txBox="1"/>
          <p:nvPr/>
        </p:nvSpPr>
        <p:spPr>
          <a:xfrm>
            <a:off x="827268" y="334269"/>
            <a:ext cx="10537159" cy="465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81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۳.۴: فرآیند ساخت نمونه‌های پیشوند-به-هدف با برچسب‌های چندوظیفه‌ای</a:t>
            </a:r>
          </a:p>
        </p:txBody>
      </p:sp>
      <p:sp>
        <p:nvSpPr>
          <p:cNvPr id="3" name="txt **توالی کامل (Case):**"/>
          <p:cNvSpPr txBox="1"/>
          <p:nvPr/>
        </p:nvSpPr>
        <p:spPr>
          <a:xfrm>
            <a:off x="716350" y="999774"/>
            <a:ext cx="2883854" cy="465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33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توالی کامل (Case):</a:t>
            </a:r>
          </a:p>
        </p:txBody>
      </p:sp>
      <p:sp>
        <p:nvSpPr>
          <p:cNvPr id="4" name="A"/>
          <p:cNvSpPr/>
          <p:nvPr/>
        </p:nvSpPr>
        <p:spPr>
          <a:xfrm>
            <a:off x="3877498" y="977590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576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A</a:t>
            </a:r>
          </a:p>
        </p:txBody>
      </p:sp>
      <p:sp>
        <p:nvSpPr>
          <p:cNvPr id="5" name="B"/>
          <p:cNvSpPr/>
          <p:nvPr/>
        </p:nvSpPr>
        <p:spPr>
          <a:xfrm>
            <a:off x="4742654" y="977590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576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B</a:t>
            </a:r>
          </a:p>
        </p:txBody>
      </p:sp>
      <p:sp>
        <p:nvSpPr>
          <p:cNvPr id="6" name="C"/>
          <p:cNvSpPr/>
          <p:nvPr/>
        </p:nvSpPr>
        <p:spPr>
          <a:xfrm>
            <a:off x="5607810" y="977590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576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</a:t>
            </a:r>
          </a:p>
        </p:txBody>
      </p:sp>
      <p:sp>
        <p:nvSpPr>
          <p:cNvPr id="7" name="D"/>
          <p:cNvSpPr/>
          <p:nvPr/>
        </p:nvSpPr>
        <p:spPr>
          <a:xfrm>
            <a:off x="6472967" y="977590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576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D</a:t>
            </a:r>
          </a:p>
        </p:txBody>
      </p:sp>
      <p:sp>
        <p:nvSpPr>
          <p:cNvPr id="8" name="E"/>
          <p:cNvSpPr/>
          <p:nvPr/>
        </p:nvSpPr>
        <p:spPr>
          <a:xfrm>
            <a:off x="7338123" y="977590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E4DFE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576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E</a:t>
            </a:r>
          </a:p>
        </p:txBody>
      </p:sp>
      <p:sp>
        <p:nvSpPr>
          <p:cNvPr id="9" name="F"/>
          <p:cNvSpPr/>
          <p:nvPr/>
        </p:nvSpPr>
        <p:spPr>
          <a:xfrm>
            <a:off x="8203279" y="977590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576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F</a:t>
            </a:r>
          </a:p>
        </p:txBody>
      </p:sp>
      <p:sp>
        <p:nvSpPr>
          <p:cNvPr id="10" name="txt **ساخت نمونه‌های"/>
          <p:cNvSpPr txBox="1"/>
          <p:nvPr/>
        </p:nvSpPr>
        <p:spPr>
          <a:xfrm>
            <a:off x="716350" y="1809471"/>
            <a:ext cx="2551102" cy="687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33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ساخت نمونه‌های</a:t>
            </a:r>
          </a:p>
          <a:p>
            <a:pPr algn="r" rtl="1"/>
            <a:r>
              <a:rPr sz="133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چندوظیفه‌ای:</a:t>
            </a:r>
          </a:p>
        </p:txBody>
      </p:sp>
      <p:sp>
        <p:nvSpPr>
          <p:cNvPr id="11" name="txt **پیشوند 1:**"/>
          <p:cNvSpPr txBox="1"/>
          <p:nvPr/>
        </p:nvSpPr>
        <p:spPr>
          <a:xfrm>
            <a:off x="716350" y="2530435"/>
            <a:ext cx="2883854" cy="443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33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پیشوند 1:</a:t>
            </a:r>
          </a:p>
        </p:txBody>
      </p:sp>
      <p:sp>
        <p:nvSpPr>
          <p:cNvPr id="12" name="A"/>
          <p:cNvSpPr/>
          <p:nvPr/>
        </p:nvSpPr>
        <p:spPr>
          <a:xfrm>
            <a:off x="3877498" y="2474976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33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A</a:t>
            </a:r>
          </a:p>
        </p:txBody>
      </p:sp>
      <p:sp>
        <p:nvSpPr>
          <p:cNvPr id="13" name="B"/>
          <p:cNvSpPr/>
          <p:nvPr/>
        </p:nvSpPr>
        <p:spPr>
          <a:xfrm>
            <a:off x="4742654" y="2474976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33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B</a:t>
            </a:r>
          </a:p>
        </p:txBody>
      </p:sp>
      <p:sp>
        <p:nvSpPr>
          <p:cNvPr id="14" name="C"/>
          <p:cNvSpPr/>
          <p:nvPr/>
        </p:nvSpPr>
        <p:spPr>
          <a:xfrm>
            <a:off x="5607810" y="2474976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F8DCDC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33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</a:t>
            </a:r>
          </a:p>
        </p:txBody>
      </p:sp>
      <p:cxnSp>
        <p:nvCxnSpPr>
          <p:cNvPr id="15" name="arrow"/>
          <p:cNvCxnSpPr/>
          <p:nvPr/>
        </p:nvCxnSpPr>
        <p:spPr>
          <a:xfrm>
            <a:off x="5563443" y="2807728"/>
            <a:ext cx="66551" cy="0"/>
          </a:xfrm>
          <a:prstGeom prst="line">
            <a:avLst/>
          </a:prstGeom>
          <a:ln w="1524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xt **پیشوند 2:**"/>
          <p:cNvSpPr txBox="1"/>
          <p:nvPr/>
        </p:nvSpPr>
        <p:spPr>
          <a:xfrm>
            <a:off x="716350" y="3262490"/>
            <a:ext cx="2883854" cy="443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33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پیشوند 2:</a:t>
            </a:r>
          </a:p>
        </p:txBody>
      </p:sp>
      <p:sp>
        <p:nvSpPr>
          <p:cNvPr id="17" name="A"/>
          <p:cNvSpPr/>
          <p:nvPr/>
        </p:nvSpPr>
        <p:spPr>
          <a:xfrm>
            <a:off x="3877498" y="3207031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33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A</a:t>
            </a:r>
          </a:p>
        </p:txBody>
      </p:sp>
      <p:sp>
        <p:nvSpPr>
          <p:cNvPr id="18" name="B"/>
          <p:cNvSpPr/>
          <p:nvPr/>
        </p:nvSpPr>
        <p:spPr>
          <a:xfrm>
            <a:off x="4742654" y="3207031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33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B</a:t>
            </a:r>
          </a:p>
        </p:txBody>
      </p:sp>
      <p:sp>
        <p:nvSpPr>
          <p:cNvPr id="19" name="C"/>
          <p:cNvSpPr/>
          <p:nvPr/>
        </p:nvSpPr>
        <p:spPr>
          <a:xfrm>
            <a:off x="5607810" y="3207031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33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</a:t>
            </a:r>
          </a:p>
        </p:txBody>
      </p:sp>
      <p:sp>
        <p:nvSpPr>
          <p:cNvPr id="20" name="D"/>
          <p:cNvSpPr/>
          <p:nvPr/>
        </p:nvSpPr>
        <p:spPr>
          <a:xfrm>
            <a:off x="6472967" y="3207031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F8DCDC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33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D</a:t>
            </a:r>
          </a:p>
        </p:txBody>
      </p:sp>
      <p:cxnSp>
        <p:nvCxnSpPr>
          <p:cNvPr id="21" name="arrow"/>
          <p:cNvCxnSpPr/>
          <p:nvPr/>
        </p:nvCxnSpPr>
        <p:spPr>
          <a:xfrm>
            <a:off x="6428600" y="3539784"/>
            <a:ext cx="66550" cy="0"/>
          </a:xfrm>
          <a:prstGeom prst="line">
            <a:avLst/>
          </a:prstGeom>
          <a:ln w="1524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xt **پیشوند 3:**"/>
          <p:cNvSpPr txBox="1"/>
          <p:nvPr/>
        </p:nvSpPr>
        <p:spPr>
          <a:xfrm>
            <a:off x="716350" y="3994545"/>
            <a:ext cx="2883854" cy="443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33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پیشوند 3:</a:t>
            </a:r>
          </a:p>
        </p:txBody>
      </p:sp>
      <p:sp>
        <p:nvSpPr>
          <p:cNvPr id="23" name="A"/>
          <p:cNvSpPr/>
          <p:nvPr/>
        </p:nvSpPr>
        <p:spPr>
          <a:xfrm>
            <a:off x="3877498" y="3939087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33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A</a:t>
            </a:r>
          </a:p>
        </p:txBody>
      </p:sp>
      <p:sp>
        <p:nvSpPr>
          <p:cNvPr id="24" name="B"/>
          <p:cNvSpPr/>
          <p:nvPr/>
        </p:nvSpPr>
        <p:spPr>
          <a:xfrm>
            <a:off x="4742654" y="3939087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33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B</a:t>
            </a:r>
          </a:p>
        </p:txBody>
      </p:sp>
      <p:sp>
        <p:nvSpPr>
          <p:cNvPr id="25" name="C"/>
          <p:cNvSpPr/>
          <p:nvPr/>
        </p:nvSpPr>
        <p:spPr>
          <a:xfrm>
            <a:off x="5607810" y="3939087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33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</a:t>
            </a:r>
          </a:p>
        </p:txBody>
      </p:sp>
      <p:sp>
        <p:nvSpPr>
          <p:cNvPr id="26" name="D"/>
          <p:cNvSpPr/>
          <p:nvPr/>
        </p:nvSpPr>
        <p:spPr>
          <a:xfrm>
            <a:off x="6472967" y="3939087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33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D</a:t>
            </a:r>
          </a:p>
        </p:txBody>
      </p:sp>
      <p:sp>
        <p:nvSpPr>
          <p:cNvPr id="27" name="E"/>
          <p:cNvSpPr/>
          <p:nvPr/>
        </p:nvSpPr>
        <p:spPr>
          <a:xfrm>
            <a:off x="7338123" y="3939087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F8DCDC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33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E</a:t>
            </a:r>
          </a:p>
        </p:txBody>
      </p:sp>
      <p:cxnSp>
        <p:nvCxnSpPr>
          <p:cNvPr id="28" name="arrow"/>
          <p:cNvCxnSpPr/>
          <p:nvPr/>
        </p:nvCxnSpPr>
        <p:spPr>
          <a:xfrm>
            <a:off x="7293756" y="4271839"/>
            <a:ext cx="66550" cy="0"/>
          </a:xfrm>
          <a:prstGeom prst="line">
            <a:avLst/>
          </a:prstGeom>
          <a:ln w="1524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xt **پیشوند 4:**"/>
          <p:cNvSpPr txBox="1"/>
          <p:nvPr/>
        </p:nvSpPr>
        <p:spPr>
          <a:xfrm>
            <a:off x="716350" y="4726601"/>
            <a:ext cx="2883854" cy="443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33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پیشوند 4:</a:t>
            </a:r>
          </a:p>
        </p:txBody>
      </p:sp>
      <p:sp>
        <p:nvSpPr>
          <p:cNvPr id="30" name="A"/>
          <p:cNvSpPr/>
          <p:nvPr/>
        </p:nvSpPr>
        <p:spPr>
          <a:xfrm>
            <a:off x="3877498" y="4671142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33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A</a:t>
            </a:r>
          </a:p>
        </p:txBody>
      </p:sp>
      <p:sp>
        <p:nvSpPr>
          <p:cNvPr id="31" name="B"/>
          <p:cNvSpPr/>
          <p:nvPr/>
        </p:nvSpPr>
        <p:spPr>
          <a:xfrm>
            <a:off x="4742654" y="4671142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33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B</a:t>
            </a:r>
          </a:p>
        </p:txBody>
      </p:sp>
      <p:sp>
        <p:nvSpPr>
          <p:cNvPr id="32" name="C"/>
          <p:cNvSpPr/>
          <p:nvPr/>
        </p:nvSpPr>
        <p:spPr>
          <a:xfrm>
            <a:off x="5607810" y="4671142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33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</a:t>
            </a:r>
          </a:p>
        </p:txBody>
      </p:sp>
      <p:sp>
        <p:nvSpPr>
          <p:cNvPr id="33" name="D"/>
          <p:cNvSpPr/>
          <p:nvPr/>
        </p:nvSpPr>
        <p:spPr>
          <a:xfrm>
            <a:off x="6472967" y="4671142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33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D</a:t>
            </a:r>
          </a:p>
        </p:txBody>
      </p:sp>
      <p:sp>
        <p:nvSpPr>
          <p:cNvPr id="34" name="E"/>
          <p:cNvSpPr/>
          <p:nvPr/>
        </p:nvSpPr>
        <p:spPr>
          <a:xfrm>
            <a:off x="7338123" y="4671142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33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E</a:t>
            </a:r>
          </a:p>
        </p:txBody>
      </p:sp>
      <p:sp>
        <p:nvSpPr>
          <p:cNvPr id="35" name="F"/>
          <p:cNvSpPr/>
          <p:nvPr/>
        </p:nvSpPr>
        <p:spPr>
          <a:xfrm>
            <a:off x="8203279" y="4671142"/>
            <a:ext cx="798606" cy="665505"/>
          </a:xfrm>
          <a:prstGeom prst="roundRect">
            <a:avLst>
              <a:gd name="adj" fmla="val 10000"/>
            </a:avLst>
          </a:prstGeom>
          <a:solidFill>
            <a:srgbClr val="F8DCDC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33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F</a:t>
            </a:r>
          </a:p>
        </p:txBody>
      </p:sp>
      <p:cxnSp>
        <p:nvCxnSpPr>
          <p:cNvPr id="36" name="arrow"/>
          <p:cNvCxnSpPr/>
          <p:nvPr/>
        </p:nvCxnSpPr>
        <p:spPr>
          <a:xfrm>
            <a:off x="8158912" y="5003894"/>
            <a:ext cx="66550" cy="0"/>
          </a:xfrm>
          <a:prstGeom prst="line">
            <a:avLst/>
          </a:prstGeom>
          <a:ln w="1524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xt **برچسب‌ها:**"/>
          <p:cNvSpPr txBox="1"/>
          <p:nvPr/>
        </p:nvSpPr>
        <p:spPr>
          <a:xfrm>
            <a:off x="716350" y="5691582"/>
            <a:ext cx="2551102" cy="443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33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برچسب‌ها:</a:t>
            </a:r>
          </a:p>
        </p:txBody>
      </p:sp>
      <p:sp>
        <p:nvSpPr>
          <p:cNvPr id="38" name="فعالیت هدف"/>
          <p:cNvSpPr/>
          <p:nvPr/>
        </p:nvSpPr>
        <p:spPr>
          <a:xfrm>
            <a:off x="3433828" y="5636124"/>
            <a:ext cx="1885597" cy="554587"/>
          </a:xfrm>
          <a:prstGeom prst="roundRect">
            <a:avLst>
              <a:gd name="adj" fmla="val 1200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273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فعالیت هدف</a:t>
            </a:r>
          </a:p>
        </p:txBody>
      </p:sp>
      <p:sp>
        <p:nvSpPr>
          <p:cNvPr id="39" name="زمان باقی‌مانده"/>
          <p:cNvSpPr/>
          <p:nvPr/>
        </p:nvSpPr>
        <p:spPr>
          <a:xfrm>
            <a:off x="5452526" y="5636124"/>
            <a:ext cx="1885597" cy="554587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273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زمان باقی‌مانده</a:t>
            </a:r>
          </a:p>
        </p:txBody>
      </p:sp>
      <p:sp>
        <p:nvSpPr>
          <p:cNvPr id="40" name="پتانسیل بهبود"/>
          <p:cNvSpPr/>
          <p:nvPr/>
        </p:nvSpPr>
        <p:spPr>
          <a:xfrm>
            <a:off x="7471224" y="5636124"/>
            <a:ext cx="1885597" cy="554587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273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پتانسیل بهبود</a:t>
            </a:r>
          </a:p>
        </p:txBody>
      </p:sp>
      <p:sp>
        <p:nvSpPr>
          <p:cNvPr id="41" name="بردار گلوگاه"/>
          <p:cNvSpPr/>
          <p:nvPr/>
        </p:nvSpPr>
        <p:spPr>
          <a:xfrm>
            <a:off x="9489922" y="5636124"/>
            <a:ext cx="1885597" cy="554587"/>
          </a:xfrm>
          <a:prstGeom prst="roundRect">
            <a:avLst>
              <a:gd name="adj" fmla="val 1200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550" rIns="66550" tIns="33275" bIns="33275"/>
          <a:lstStyle/>
          <a:p>
            <a:pPr algn="ctr" rtl="1"/>
            <a:r>
              <a:rPr sz="1273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بردار گلوگاه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۵: توزیع طول پیشون"/>
          <p:cNvSpPr txBox="1"/>
          <p:nvPr/>
        </p:nvSpPr>
        <p:spPr>
          <a:xfrm>
            <a:off x="495901" y="1218639"/>
            <a:ext cx="11199891" cy="49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93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۳.۵: توزیع طول پیشوندها و استراتژی برش از انتها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556943" y="1784529"/>
          <a:ext cx="8783073" cy="341891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**ناحیه برش از انتها**"/>
          <p:cNvSpPr/>
          <p:nvPr/>
        </p:nvSpPr>
        <p:spPr>
          <a:xfrm>
            <a:off x="10516857" y="2668730"/>
            <a:ext cx="1414723" cy="884202"/>
          </a:xfrm>
          <a:prstGeom prst="roundRect">
            <a:avLst>
              <a:gd name="adj" fmla="val 8000"/>
            </a:avLst>
          </a:prstGeom>
          <a:solidFill>
            <a:srgbClr val="F8DCDC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224" b="1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ناحیه برش از انتها</a:t>
            </a:r>
          </a:p>
          <a:p>
            <a:pPr algn="ctr" rtl="1"/>
            <a:r>
              <a:rPr sz="1224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(Truncation)</a:t>
            </a:r>
          </a:p>
        </p:txBody>
      </p:sp>
      <p:sp>
        <p:nvSpPr>
          <p:cNvPr id="5" name="txt حداکثر طول مجاز پیشوند ۱"/>
          <p:cNvSpPr txBox="1"/>
          <p:nvPr/>
        </p:nvSpPr>
        <p:spPr>
          <a:xfrm>
            <a:off x="554848" y="5462809"/>
            <a:ext cx="11081998" cy="4715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353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حداکثر طول مجاز پیشوند ۱۰۰ رویداد است؛ نمونه‌های بلندتر از انتها برش می‌خورند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۶: طرح تقسیم‌بندی "/>
          <p:cNvSpPr txBox="1"/>
          <p:nvPr/>
        </p:nvSpPr>
        <p:spPr>
          <a:xfrm>
            <a:off x="495901" y="806012"/>
            <a:ext cx="11199891" cy="49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93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۳.۶: طرح تقسیم‌بندی داده‌ها بر اساس شناسه نمونه</a:t>
            </a:r>
          </a:p>
        </p:txBody>
      </p:sp>
      <p:sp>
        <p:nvSpPr>
          <p:cNvPr id="3" name="**کل Caseها**"/>
          <p:cNvSpPr/>
          <p:nvPr/>
        </p:nvSpPr>
        <p:spPr>
          <a:xfrm>
            <a:off x="3384295" y="1395480"/>
            <a:ext cx="5423105" cy="778098"/>
          </a:xfrm>
          <a:prstGeom prst="roundRect">
            <a:avLst>
              <a:gd name="adj" fmla="val 909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676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کل Caseها</a:t>
            </a:r>
          </a:p>
        </p:txBody>
      </p:sp>
      <p:sp>
        <p:nvSpPr>
          <p:cNvPr id="4" name="**مجموعه آموزش**"/>
          <p:cNvSpPr/>
          <p:nvPr/>
        </p:nvSpPr>
        <p:spPr>
          <a:xfrm>
            <a:off x="6213741" y="2727678"/>
            <a:ext cx="5540999" cy="1119989"/>
          </a:xfrm>
          <a:prstGeom prst="roundRect">
            <a:avLst>
              <a:gd name="adj" fmla="val 6315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547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مجموعه آموزش</a:t>
            </a:r>
          </a:p>
          <a:p>
            <a:pPr algn="ctr" rtl="1"/>
            <a:r>
              <a:rPr sz="1547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۶۷٪</a:t>
            </a:r>
          </a:p>
        </p:txBody>
      </p:sp>
      <p:sp>
        <p:nvSpPr>
          <p:cNvPr id="5" name="**مجموعه موقت**"/>
          <p:cNvSpPr/>
          <p:nvPr/>
        </p:nvSpPr>
        <p:spPr>
          <a:xfrm>
            <a:off x="436954" y="2727678"/>
            <a:ext cx="5540999" cy="1119989"/>
          </a:xfrm>
          <a:prstGeom prst="roundRect">
            <a:avLst>
              <a:gd name="adj" fmla="val 6315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547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مجموعه موقت</a:t>
            </a:r>
          </a:p>
          <a:p>
            <a:pPr algn="ctr" rtl="1"/>
            <a:r>
              <a:rPr sz="1547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۳۳٪</a:t>
            </a:r>
          </a:p>
        </p:txBody>
      </p:sp>
      <p:sp>
        <p:nvSpPr>
          <p:cNvPr id="6" name="txt تقسیم اول: ۶۷٪ / ۳۳٪"/>
          <p:cNvSpPr txBox="1"/>
          <p:nvPr/>
        </p:nvSpPr>
        <p:spPr>
          <a:xfrm>
            <a:off x="613795" y="2267893"/>
            <a:ext cx="2593659" cy="3536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289" b="0" i="0">
                <a:solidFill>
                  <a:srgbClr val="2F5597"/>
                </a:solidFill>
                <a:latin typeface="Arial"/>
                <a:ea typeface="B Nazanin"/>
                <a:cs typeface="B Nazanin"/>
              </a:rPr>
              <a:t>تقسیم اول: ۶۷٪ / ۳۳٪</a:t>
            </a:r>
          </a:p>
        </p:txBody>
      </p:sp>
      <p:cxnSp>
        <p:nvCxnSpPr>
          <p:cNvPr id="7" name="arrow"/>
          <p:cNvCxnSpPr/>
          <p:nvPr/>
        </p:nvCxnSpPr>
        <p:spPr>
          <a:xfrm>
            <a:off x="6095848" y="2173578"/>
            <a:ext cx="0" cy="259366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arrow"/>
          <p:cNvCxnSpPr/>
          <p:nvPr/>
        </p:nvCxnSpPr>
        <p:spPr>
          <a:xfrm>
            <a:off x="6095848" y="2432944"/>
            <a:ext cx="2888393" cy="294734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rrow"/>
          <p:cNvCxnSpPr/>
          <p:nvPr/>
        </p:nvCxnSpPr>
        <p:spPr>
          <a:xfrm flipH="1">
            <a:off x="3207455" y="2432944"/>
            <a:ext cx="2888393" cy="294734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مجموعه آموزش"/>
          <p:cNvSpPr/>
          <p:nvPr/>
        </p:nvSpPr>
        <p:spPr>
          <a:xfrm>
            <a:off x="6213741" y="4319241"/>
            <a:ext cx="5540999" cy="825255"/>
          </a:xfrm>
          <a:prstGeom prst="roundRect">
            <a:avLst>
              <a:gd name="adj" fmla="val 8571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مجموعه آموزش</a:t>
            </a:r>
          </a:p>
          <a:p>
            <a:pPr algn="ctr" rtl="1"/>
            <a:r>
              <a:rPr sz="1418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(۶۷٪ کل)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8984241" y="3847667"/>
            <a:ext cx="0" cy="471574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اعتبارسنجی"/>
          <p:cNvSpPr/>
          <p:nvPr/>
        </p:nvSpPr>
        <p:spPr>
          <a:xfrm>
            <a:off x="3325348" y="4319241"/>
            <a:ext cx="2652606" cy="825255"/>
          </a:xfrm>
          <a:prstGeom prst="roundRect">
            <a:avLst>
              <a:gd name="adj" fmla="val 8571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اعتبارسنجی</a:t>
            </a:r>
          </a:p>
          <a:p>
            <a:pPr algn="ctr" rtl="1"/>
            <a:r>
              <a:rPr sz="1418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(۲۷٪ کل)</a:t>
            </a:r>
          </a:p>
        </p:txBody>
      </p:sp>
      <p:sp>
        <p:nvSpPr>
          <p:cNvPr id="13" name="آزمون"/>
          <p:cNvSpPr/>
          <p:nvPr/>
        </p:nvSpPr>
        <p:spPr>
          <a:xfrm>
            <a:off x="436954" y="4319241"/>
            <a:ext cx="2593659" cy="825255"/>
          </a:xfrm>
          <a:prstGeom prst="roundRect">
            <a:avLst>
              <a:gd name="adj" fmla="val 8571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آزمون</a:t>
            </a:r>
          </a:p>
          <a:p>
            <a:pPr algn="ctr" rtl="1"/>
            <a:r>
              <a:rPr sz="1418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(۳۳٪ کل)</a:t>
            </a:r>
          </a:p>
        </p:txBody>
      </p:sp>
      <p:sp>
        <p:nvSpPr>
          <p:cNvPr id="14" name="txt تقسیم دوم: ۸۰٪ / ۲۰٪"/>
          <p:cNvSpPr txBox="1"/>
          <p:nvPr/>
        </p:nvSpPr>
        <p:spPr>
          <a:xfrm>
            <a:off x="436954" y="3941982"/>
            <a:ext cx="2593659" cy="3301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289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تقسیم دوم: ۸۰٪ / ۲۰٪</a:t>
            </a:r>
          </a:p>
        </p:txBody>
      </p:sp>
      <p:cxnSp>
        <p:nvCxnSpPr>
          <p:cNvPr id="15" name="arrow"/>
          <p:cNvCxnSpPr/>
          <p:nvPr/>
        </p:nvCxnSpPr>
        <p:spPr>
          <a:xfrm>
            <a:off x="3207455" y="3847667"/>
            <a:ext cx="0" cy="259366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rrow"/>
          <p:cNvCxnSpPr/>
          <p:nvPr/>
        </p:nvCxnSpPr>
        <p:spPr>
          <a:xfrm flipH="1">
            <a:off x="1733784" y="4107033"/>
            <a:ext cx="1473670" cy="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rrow"/>
          <p:cNvCxnSpPr/>
          <p:nvPr/>
        </p:nvCxnSpPr>
        <p:spPr>
          <a:xfrm>
            <a:off x="1733784" y="4107033"/>
            <a:ext cx="0" cy="212208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row"/>
          <p:cNvCxnSpPr/>
          <p:nvPr/>
        </p:nvCxnSpPr>
        <p:spPr>
          <a:xfrm>
            <a:off x="3207455" y="4107033"/>
            <a:ext cx="1438301" cy="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arrow"/>
          <p:cNvCxnSpPr/>
          <p:nvPr/>
        </p:nvCxnSpPr>
        <p:spPr>
          <a:xfrm>
            <a:off x="4645756" y="4107033"/>
            <a:ext cx="0" cy="212208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**تقسیم بر اساس Case ID (نه "/>
          <p:cNvSpPr/>
          <p:nvPr/>
        </p:nvSpPr>
        <p:spPr>
          <a:xfrm>
            <a:off x="908529" y="5616071"/>
            <a:ext cx="10374636" cy="778098"/>
          </a:xfrm>
          <a:prstGeom prst="roundRect">
            <a:avLst>
              <a:gd name="adj" fmla="val 909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تقسیم بر اساس Case ID (نه نمونه‌های منفرد)</a:t>
            </a:r>
            <a:r>
              <a:rPr sz="1418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 برای جلوگیری از نشت اطلاعات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۷: توزیع فراوانی ف"/>
          <p:cNvSpPr txBox="1"/>
          <p:nvPr/>
        </p:nvSpPr>
        <p:spPr>
          <a:xfrm>
            <a:off x="495901" y="688118"/>
            <a:ext cx="11199891" cy="49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93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۳.۷: توزیع فراوانی فعالیت‌ها و کلاس‌های کم‌فراوان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90635" y="1254008"/>
          <a:ext cx="10728317" cy="442101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xt خط مبنای صدک ۳۰ فراوانی "/>
          <p:cNvSpPr txBox="1"/>
          <p:nvPr/>
        </p:nvSpPr>
        <p:spPr>
          <a:xfrm>
            <a:off x="554848" y="5851858"/>
            <a:ext cx="11081998" cy="3772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89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خط مبنای صدک ۳۰ فراوانی برابر ۱۰۰ است؛ کلاس‌های A8 تا A20 کم‌فراوان‌اند و در زیان آنتروپی متقاطع وزن بیشتری می‌گیرند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۸: ساختار لایه تعب"/>
          <p:cNvSpPr txBox="1"/>
          <p:nvPr/>
        </p:nvSpPr>
        <p:spPr>
          <a:xfrm>
            <a:off x="869756" y="333196"/>
            <a:ext cx="10452182" cy="462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80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۳.۸: ساختار لایه تعبیه ورودی چندوجهی و اجزای آن</a:t>
            </a:r>
          </a:p>
        </p:txBody>
      </p:sp>
      <p:sp>
        <p:nvSpPr>
          <p:cNvPr id="3" name="**تعبیه فعالیت**"/>
          <p:cNvSpPr/>
          <p:nvPr/>
        </p:nvSpPr>
        <p:spPr>
          <a:xfrm>
            <a:off x="979779" y="949324"/>
            <a:ext cx="4400919" cy="605126"/>
          </a:xfrm>
          <a:prstGeom prst="roundRect">
            <a:avLst>
              <a:gd name="adj" fmla="val 10909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014" rIns="66014" tIns="33007" bIns="33007"/>
          <a:lstStyle/>
          <a:p>
            <a:pPr algn="ctr" rtl="1"/>
            <a:r>
              <a:rPr sz="126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تعبیه فعالیت</a:t>
            </a:r>
          </a:p>
          <a:p>
            <a:pPr algn="ctr" rtl="1"/>
            <a:r>
              <a:rPr sz="1263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(Activity Embedding)</a:t>
            </a:r>
          </a:p>
        </p:txBody>
      </p:sp>
      <p:sp>
        <p:nvSpPr>
          <p:cNvPr id="4" name="**تعبیه فعالیت پیشین**"/>
          <p:cNvSpPr/>
          <p:nvPr/>
        </p:nvSpPr>
        <p:spPr>
          <a:xfrm>
            <a:off x="979779" y="1642469"/>
            <a:ext cx="4400919" cy="605126"/>
          </a:xfrm>
          <a:prstGeom prst="roundRect">
            <a:avLst>
              <a:gd name="adj" fmla="val 10909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014" rIns="66014" tIns="33007" bIns="33007"/>
          <a:lstStyle/>
          <a:p>
            <a:pPr algn="ctr" rtl="1"/>
            <a:r>
              <a:rPr sz="126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تعبیه فعالیت پیشین</a:t>
            </a:r>
          </a:p>
          <a:p>
            <a:pPr algn="ctr" rtl="1"/>
            <a:r>
              <a:rPr sz="1263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(Prev Activity Embedding)</a:t>
            </a:r>
          </a:p>
        </p:txBody>
      </p:sp>
      <p:sp>
        <p:nvSpPr>
          <p:cNvPr id="5" name="**تعبیه موقعیت مطلق**"/>
          <p:cNvSpPr/>
          <p:nvPr/>
        </p:nvSpPr>
        <p:spPr>
          <a:xfrm>
            <a:off x="979779" y="2335614"/>
            <a:ext cx="4400919" cy="605126"/>
          </a:xfrm>
          <a:prstGeom prst="roundRect">
            <a:avLst>
              <a:gd name="adj" fmla="val 10909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014" rIns="66014" tIns="33007" bIns="33007"/>
          <a:lstStyle/>
          <a:p>
            <a:pPr algn="ctr" rtl="1"/>
            <a:r>
              <a:rPr sz="126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تعبیه موقعیت مطلق</a:t>
            </a:r>
          </a:p>
          <a:p>
            <a:pPr algn="ctr" rtl="1"/>
            <a:r>
              <a:rPr sz="1263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(Position Embedding)</a:t>
            </a:r>
          </a:p>
        </p:txBody>
      </p:sp>
      <p:sp>
        <p:nvSpPr>
          <p:cNvPr id="6" name="**رمزگذاری بازه زمانی**"/>
          <p:cNvSpPr/>
          <p:nvPr/>
        </p:nvSpPr>
        <p:spPr>
          <a:xfrm>
            <a:off x="979779" y="3028758"/>
            <a:ext cx="4400919" cy="605126"/>
          </a:xfrm>
          <a:prstGeom prst="roundRect">
            <a:avLst>
              <a:gd name="adj" fmla="val 10909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014" rIns="66014" tIns="33007" bIns="33007"/>
          <a:lstStyle/>
          <a:p>
            <a:pPr algn="ctr" rtl="1"/>
            <a:r>
              <a:rPr sz="126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رمزگذاری بازه زمانی</a:t>
            </a:r>
          </a:p>
          <a:p>
            <a:pPr algn="ctr" rtl="1"/>
            <a:r>
              <a:rPr sz="1263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(Time Delta Encoding)</a:t>
            </a:r>
          </a:p>
        </p:txBody>
      </p:sp>
      <p:sp>
        <p:nvSpPr>
          <p:cNvPr id="7" name="**رمزگذاری زمان تجمعی**"/>
          <p:cNvSpPr/>
          <p:nvPr/>
        </p:nvSpPr>
        <p:spPr>
          <a:xfrm>
            <a:off x="979779" y="3721903"/>
            <a:ext cx="4400919" cy="605126"/>
          </a:xfrm>
          <a:prstGeom prst="roundRect">
            <a:avLst>
              <a:gd name="adj" fmla="val 10909"/>
            </a:avLst>
          </a:prstGeom>
          <a:solidFill>
            <a:srgbClr val="E4DFE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014" rIns="66014" tIns="33007" bIns="33007"/>
          <a:lstStyle/>
          <a:p>
            <a:pPr algn="ctr" rtl="1"/>
            <a:r>
              <a:rPr sz="126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رمزگذاری زمان تجمعی</a:t>
            </a:r>
          </a:p>
          <a:p>
            <a:pPr algn="ctr" rtl="1"/>
            <a:r>
              <a:rPr sz="1263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(Cumulative Time Encoding)</a:t>
            </a:r>
          </a:p>
        </p:txBody>
      </p:sp>
      <p:sp>
        <p:nvSpPr>
          <p:cNvPr id="8" name="**رمزگذاری نقش رویداد**"/>
          <p:cNvSpPr/>
          <p:nvPr/>
        </p:nvSpPr>
        <p:spPr>
          <a:xfrm>
            <a:off x="979779" y="4415048"/>
            <a:ext cx="4400919" cy="605126"/>
          </a:xfrm>
          <a:prstGeom prst="roundRect">
            <a:avLst>
              <a:gd name="adj" fmla="val 10909"/>
            </a:avLst>
          </a:prstGeom>
          <a:solidFill>
            <a:srgbClr val="FBE5D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014" rIns="66014" tIns="33007" bIns="33007"/>
          <a:lstStyle/>
          <a:p>
            <a:pPr algn="ctr" rtl="1"/>
            <a:r>
              <a:rPr sz="126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رمزگذاری نقش رویداد</a:t>
            </a:r>
          </a:p>
          <a:p>
            <a:pPr algn="ctr" rtl="1"/>
            <a:r>
              <a:rPr sz="1263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(Role: First/Last)</a:t>
            </a:r>
          </a:p>
        </p:txBody>
      </p:sp>
      <p:sp>
        <p:nvSpPr>
          <p:cNvPr id="9" name="**رمزگذاری فراوانی**"/>
          <p:cNvSpPr/>
          <p:nvPr/>
        </p:nvSpPr>
        <p:spPr>
          <a:xfrm>
            <a:off x="979779" y="5108192"/>
            <a:ext cx="4400919" cy="605126"/>
          </a:xfrm>
          <a:prstGeom prst="roundRect">
            <a:avLst>
              <a:gd name="adj" fmla="val 10909"/>
            </a:avLst>
          </a:prstGeom>
          <a:solidFill>
            <a:srgbClr val="D6E9E4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014" rIns="66014" tIns="33007" bIns="33007"/>
          <a:lstStyle/>
          <a:p>
            <a:pPr algn="ctr" rtl="1"/>
            <a:r>
              <a:rPr sz="126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رمزگذاری فراوانی</a:t>
            </a:r>
          </a:p>
          <a:p>
            <a:pPr algn="ctr" rtl="1"/>
            <a:r>
              <a:rPr sz="1263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(Activity Frequency)</a:t>
            </a:r>
          </a:p>
        </p:txBody>
      </p:sp>
      <p:sp>
        <p:nvSpPr>
          <p:cNvPr id="10" name="**رمزگذاری موقعیت نسبی**"/>
          <p:cNvSpPr/>
          <p:nvPr/>
        </p:nvSpPr>
        <p:spPr>
          <a:xfrm>
            <a:off x="979779" y="5801337"/>
            <a:ext cx="4400919" cy="605126"/>
          </a:xfrm>
          <a:prstGeom prst="roundRect">
            <a:avLst>
              <a:gd name="adj" fmla="val 10909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014" rIns="66014" tIns="33007" bIns="33007"/>
          <a:lstStyle/>
          <a:p>
            <a:pPr algn="ctr" rtl="1"/>
            <a:r>
              <a:rPr sz="126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رمزگذاری موقعیت نسبی</a:t>
            </a:r>
          </a:p>
          <a:p>
            <a:pPr algn="ctr" rtl="1"/>
            <a:r>
              <a:rPr sz="1263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(Relative Position)</a:t>
            </a:r>
          </a:p>
        </p:txBody>
      </p:sp>
      <p:sp>
        <p:nvSpPr>
          <p:cNvPr id="11" name="**Σ**"/>
          <p:cNvSpPr/>
          <p:nvPr/>
        </p:nvSpPr>
        <p:spPr>
          <a:xfrm>
            <a:off x="6040836" y="3336823"/>
            <a:ext cx="792165" cy="792165"/>
          </a:xfrm>
          <a:prstGeom prst="roundRect">
            <a:avLst>
              <a:gd name="adj" fmla="val 50000"/>
            </a:avLst>
          </a:prstGeom>
          <a:solidFill>
            <a:srgbClr val="F8DCDC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014" rIns="66014" tIns="33007" bIns="33007"/>
          <a:lstStyle/>
          <a:p>
            <a:pPr algn="ctr" rtl="1"/>
            <a:r>
              <a:rPr sz="2165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Σ</a:t>
            </a:r>
          </a:p>
        </p:txBody>
      </p:sp>
      <p:cxnSp>
        <p:nvCxnSpPr>
          <p:cNvPr id="12" name="arrow"/>
          <p:cNvCxnSpPr/>
          <p:nvPr/>
        </p:nvCxnSpPr>
        <p:spPr>
          <a:xfrm>
            <a:off x="5380698" y="1251887"/>
            <a:ext cx="638133" cy="2481018"/>
          </a:xfrm>
          <a:prstGeom prst="line">
            <a:avLst/>
          </a:prstGeom>
          <a:ln w="1524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row"/>
          <p:cNvCxnSpPr/>
          <p:nvPr/>
        </p:nvCxnSpPr>
        <p:spPr>
          <a:xfrm>
            <a:off x="5380698" y="1945032"/>
            <a:ext cx="638133" cy="1787873"/>
          </a:xfrm>
          <a:prstGeom prst="line">
            <a:avLst/>
          </a:prstGeom>
          <a:ln w="1524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rrow"/>
          <p:cNvCxnSpPr/>
          <p:nvPr/>
        </p:nvCxnSpPr>
        <p:spPr>
          <a:xfrm>
            <a:off x="5380698" y="2638177"/>
            <a:ext cx="638133" cy="1094728"/>
          </a:xfrm>
          <a:prstGeom prst="line">
            <a:avLst/>
          </a:prstGeom>
          <a:ln w="1524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arrow"/>
          <p:cNvCxnSpPr/>
          <p:nvPr/>
        </p:nvCxnSpPr>
        <p:spPr>
          <a:xfrm>
            <a:off x="5380698" y="3331321"/>
            <a:ext cx="638133" cy="401584"/>
          </a:xfrm>
          <a:prstGeom prst="line">
            <a:avLst/>
          </a:prstGeom>
          <a:ln w="1524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rrow"/>
          <p:cNvCxnSpPr/>
          <p:nvPr/>
        </p:nvCxnSpPr>
        <p:spPr>
          <a:xfrm flipV="1">
            <a:off x="5380698" y="3732905"/>
            <a:ext cx="638133" cy="291561"/>
          </a:xfrm>
          <a:prstGeom prst="line">
            <a:avLst/>
          </a:prstGeom>
          <a:ln w="1524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rrow"/>
          <p:cNvCxnSpPr/>
          <p:nvPr/>
        </p:nvCxnSpPr>
        <p:spPr>
          <a:xfrm flipV="1">
            <a:off x="5380698" y="3732905"/>
            <a:ext cx="638133" cy="984706"/>
          </a:xfrm>
          <a:prstGeom prst="line">
            <a:avLst/>
          </a:prstGeom>
          <a:ln w="1524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row"/>
          <p:cNvCxnSpPr/>
          <p:nvPr/>
        </p:nvCxnSpPr>
        <p:spPr>
          <a:xfrm flipV="1">
            <a:off x="5380698" y="3732905"/>
            <a:ext cx="638133" cy="1677851"/>
          </a:xfrm>
          <a:prstGeom prst="line">
            <a:avLst/>
          </a:prstGeom>
          <a:ln w="1524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arrow"/>
          <p:cNvCxnSpPr/>
          <p:nvPr/>
        </p:nvCxnSpPr>
        <p:spPr>
          <a:xfrm flipV="1">
            <a:off x="5380698" y="3732905"/>
            <a:ext cx="638133" cy="2370995"/>
          </a:xfrm>
          <a:prstGeom prst="line">
            <a:avLst/>
          </a:prstGeom>
          <a:ln w="1524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**LayerNorm**"/>
          <p:cNvSpPr/>
          <p:nvPr/>
        </p:nvSpPr>
        <p:spPr>
          <a:xfrm>
            <a:off x="7361112" y="3303816"/>
            <a:ext cx="2035425" cy="858179"/>
          </a:xfrm>
          <a:prstGeom prst="roundRect">
            <a:avLst>
              <a:gd name="adj" fmla="val 7692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014" rIns="66014" tIns="33007" bIns="33007"/>
          <a:lstStyle/>
          <a:p>
            <a:pPr algn="ctr" rtl="1"/>
            <a:r>
              <a:rPr sz="138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LayerNorm</a:t>
            </a:r>
          </a:p>
          <a:p>
            <a:pPr algn="ctr" rtl="1"/>
            <a:r>
              <a:rPr sz="138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+ Dropout</a:t>
            </a:r>
          </a:p>
        </p:txBody>
      </p:sp>
      <p:cxnSp>
        <p:nvCxnSpPr>
          <p:cNvPr id="21" name="arrow"/>
          <p:cNvCxnSpPr/>
          <p:nvPr/>
        </p:nvCxnSpPr>
        <p:spPr>
          <a:xfrm>
            <a:off x="6833001" y="3732905"/>
            <a:ext cx="528111" cy="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**به**"/>
          <p:cNvSpPr/>
          <p:nvPr/>
        </p:nvSpPr>
        <p:spPr>
          <a:xfrm>
            <a:off x="9781617" y="3303816"/>
            <a:ext cx="1540322" cy="858179"/>
          </a:xfrm>
          <a:prstGeom prst="roundRect">
            <a:avLst>
              <a:gd name="adj" fmla="val 7692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6014" rIns="66014" tIns="33007" bIns="33007"/>
          <a:lstStyle/>
          <a:p>
            <a:pPr algn="ctr" rtl="1"/>
            <a:r>
              <a:rPr sz="144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به</a:t>
            </a:r>
          </a:p>
          <a:p>
            <a:pPr algn="ctr" rtl="1"/>
            <a:r>
              <a:rPr sz="144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رمزگذار</a:t>
            </a:r>
          </a:p>
        </p:txBody>
      </p:sp>
      <p:cxnSp>
        <p:nvCxnSpPr>
          <p:cNvPr id="23" name="arrow"/>
          <p:cNvCxnSpPr/>
          <p:nvPr/>
        </p:nvCxnSpPr>
        <p:spPr>
          <a:xfrm>
            <a:off x="9396536" y="3732905"/>
            <a:ext cx="385081" cy="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۹: ساختار یک لایه "/>
          <p:cNvSpPr txBox="1"/>
          <p:nvPr/>
        </p:nvSpPr>
        <p:spPr>
          <a:xfrm>
            <a:off x="1775612" y="310311"/>
            <a:ext cx="8640470" cy="38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492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۳.۹: ساختار یک لایه رمزگذار ترانسفورمر و اجزای آن</a:t>
            </a:r>
          </a:p>
        </p:txBody>
      </p:sp>
      <p:sp>
        <p:nvSpPr>
          <p:cNvPr id="3" name="**ورودی لایه** (d_model)"/>
          <p:cNvSpPr/>
          <p:nvPr/>
        </p:nvSpPr>
        <p:spPr>
          <a:xfrm>
            <a:off x="3731087" y="792358"/>
            <a:ext cx="4365711" cy="527523"/>
          </a:xfrm>
          <a:prstGeom prst="roundRect">
            <a:avLst>
              <a:gd name="adj" fmla="val 10344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571" rIns="54571" tIns="27286" bIns="27286"/>
          <a:lstStyle/>
          <a:p>
            <a:pPr algn="ctr" rtl="1"/>
            <a:r>
              <a:rPr sz="119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ورودی لایه</a:t>
            </a:r>
            <a:r>
              <a:rPr sz="1193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 (d_model)</a:t>
            </a:r>
          </a:p>
        </p:txBody>
      </p:sp>
      <p:sp>
        <p:nvSpPr>
          <p:cNvPr id="4" name="**خودتوجهی چندسری**"/>
          <p:cNvSpPr/>
          <p:nvPr/>
        </p:nvSpPr>
        <p:spPr>
          <a:xfrm>
            <a:off x="3003468" y="1610929"/>
            <a:ext cx="5820948" cy="773095"/>
          </a:xfrm>
          <a:prstGeom prst="roundRect">
            <a:avLst>
              <a:gd name="adj" fmla="val 7058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571" rIns="54571" tIns="27286" bIns="27286"/>
          <a:lstStyle/>
          <a:p>
            <a:pPr algn="ctr" rtl="1"/>
            <a:r>
              <a:rPr sz="119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خودتوجهی چندسری</a:t>
            </a:r>
          </a:p>
          <a:p>
            <a:pPr algn="ctr" rtl="1"/>
            <a:r>
              <a:rPr sz="1193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(Multi-Head Self-Attention)</a:t>
            </a:r>
          </a:p>
        </p:txBody>
      </p:sp>
      <p:sp>
        <p:nvSpPr>
          <p:cNvPr id="5" name="اتصال باقی‌مانده + LayerNorm"/>
          <p:cNvSpPr/>
          <p:nvPr/>
        </p:nvSpPr>
        <p:spPr>
          <a:xfrm>
            <a:off x="3003468" y="2675071"/>
            <a:ext cx="5820948" cy="563904"/>
          </a:xfrm>
          <a:prstGeom prst="roundRect">
            <a:avLst>
              <a:gd name="adj" fmla="val 9677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571" rIns="54571" tIns="27286" bIns="27286"/>
          <a:lstStyle/>
          <a:p>
            <a:pPr algn="ctr" rtl="1"/>
            <a:r>
              <a:rPr sz="1143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اتصال باقی‌مانده + LayerNorm</a:t>
            </a:r>
          </a:p>
        </p:txBody>
      </p:sp>
      <p:sp>
        <p:nvSpPr>
          <p:cNvPr id="6" name="**شبکه پیش‌خور**"/>
          <p:cNvSpPr/>
          <p:nvPr/>
        </p:nvSpPr>
        <p:spPr>
          <a:xfrm>
            <a:off x="3003468" y="3475452"/>
            <a:ext cx="5820948" cy="773095"/>
          </a:xfrm>
          <a:prstGeom prst="roundRect">
            <a:avLst>
              <a:gd name="adj" fmla="val 7058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571" rIns="54571" tIns="27286" bIns="27286"/>
          <a:lstStyle/>
          <a:p>
            <a:pPr algn="ctr" rtl="1"/>
            <a:r>
              <a:rPr sz="119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شبکه پیش‌خور</a:t>
            </a:r>
          </a:p>
          <a:p>
            <a:pPr algn="ctr" rtl="1"/>
            <a:r>
              <a:rPr sz="1193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Linear → GELU → Linear</a:t>
            </a:r>
          </a:p>
        </p:txBody>
      </p:sp>
      <p:sp>
        <p:nvSpPr>
          <p:cNvPr id="7" name="اتصال باقی‌مانده + LayerNorm"/>
          <p:cNvSpPr/>
          <p:nvPr/>
        </p:nvSpPr>
        <p:spPr>
          <a:xfrm>
            <a:off x="3003468" y="4521403"/>
            <a:ext cx="5820948" cy="563904"/>
          </a:xfrm>
          <a:prstGeom prst="roundRect">
            <a:avLst>
              <a:gd name="adj" fmla="val 9677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571" rIns="54571" tIns="27286" bIns="27286"/>
          <a:lstStyle/>
          <a:p>
            <a:pPr algn="ctr" rtl="1"/>
            <a:r>
              <a:rPr sz="1143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اتصال باقی‌مانده + LayerNorm</a:t>
            </a:r>
          </a:p>
        </p:txBody>
      </p:sp>
      <p:sp>
        <p:nvSpPr>
          <p:cNvPr id="8" name="**خروجی لایه**"/>
          <p:cNvSpPr/>
          <p:nvPr/>
        </p:nvSpPr>
        <p:spPr>
          <a:xfrm>
            <a:off x="3503706" y="5312688"/>
            <a:ext cx="4820473" cy="545714"/>
          </a:xfrm>
          <a:prstGeom prst="roundRect">
            <a:avLst>
              <a:gd name="adj" fmla="val 1000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571" rIns="54571" tIns="27286" bIns="27286"/>
          <a:lstStyle/>
          <a:p>
            <a:pPr algn="ctr" rtl="1"/>
            <a:r>
              <a:rPr sz="119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 لایه</a:t>
            </a:r>
          </a:p>
        </p:txBody>
      </p:sp>
      <p:cxnSp>
        <p:nvCxnSpPr>
          <p:cNvPr id="9" name="arrow"/>
          <p:cNvCxnSpPr/>
          <p:nvPr/>
        </p:nvCxnSpPr>
        <p:spPr>
          <a:xfrm>
            <a:off x="5913942" y="1319882"/>
            <a:ext cx="0" cy="291047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rrow"/>
          <p:cNvCxnSpPr/>
          <p:nvPr/>
        </p:nvCxnSpPr>
        <p:spPr>
          <a:xfrm>
            <a:off x="5913942" y="2384024"/>
            <a:ext cx="0" cy="291047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row"/>
          <p:cNvCxnSpPr/>
          <p:nvPr/>
        </p:nvCxnSpPr>
        <p:spPr>
          <a:xfrm>
            <a:off x="5913942" y="3238975"/>
            <a:ext cx="0" cy="236477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row"/>
          <p:cNvCxnSpPr/>
          <p:nvPr/>
        </p:nvCxnSpPr>
        <p:spPr>
          <a:xfrm>
            <a:off x="5913942" y="4248546"/>
            <a:ext cx="0" cy="272857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row"/>
          <p:cNvCxnSpPr/>
          <p:nvPr/>
        </p:nvCxnSpPr>
        <p:spPr>
          <a:xfrm>
            <a:off x="5913942" y="5085308"/>
            <a:ext cx="0" cy="22738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• محاسبه ماتریس توجه"/>
          <p:cNvSpPr/>
          <p:nvPr/>
        </p:nvSpPr>
        <p:spPr>
          <a:xfrm>
            <a:off x="9142750" y="1565453"/>
            <a:ext cx="1364285" cy="864047"/>
          </a:xfrm>
          <a:prstGeom prst="roundRect">
            <a:avLst>
              <a:gd name="adj" fmla="val 2105"/>
            </a:avLst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571" rIns="54571" tIns="27286" bIns="27286"/>
          <a:lstStyle/>
          <a:p>
            <a:pPr algn="r" rtl="1"/>
            <a:r>
              <a:rPr sz="944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• محاسبه ماتریس توجه</a:t>
            </a:r>
          </a:p>
          <a:p>
            <a:pPr algn="r" rtl="1"/>
            <a:r>
              <a:rPr sz="944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• ۸ سر توجه</a:t>
            </a:r>
          </a:p>
          <a:p>
            <a:pPr algn="r" rtl="1"/>
            <a:r>
              <a:rPr sz="944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• ماسک علّی</a:t>
            </a:r>
          </a:p>
        </p:txBody>
      </p:sp>
      <p:sp>
        <p:nvSpPr>
          <p:cNvPr id="15" name="• گسترش به ۱٫۰۲۴"/>
          <p:cNvSpPr/>
          <p:nvPr/>
        </p:nvSpPr>
        <p:spPr>
          <a:xfrm>
            <a:off x="9142750" y="3384499"/>
            <a:ext cx="1364285" cy="864047"/>
          </a:xfrm>
          <a:prstGeom prst="roundRect">
            <a:avLst>
              <a:gd name="adj" fmla="val 2105"/>
            </a:avLst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571" rIns="54571" tIns="27286" bIns="27286"/>
          <a:lstStyle/>
          <a:p>
            <a:pPr algn="r" rtl="1"/>
            <a:r>
              <a:rPr sz="944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• گسترش به ۱٫۰۲۴</a:t>
            </a:r>
          </a:p>
          <a:p>
            <a:pPr algn="r" rtl="1"/>
            <a:r>
              <a:rPr sz="944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• فعال‌سازی GELU</a:t>
            </a:r>
          </a:p>
          <a:p>
            <a:pPr algn="r" rtl="1"/>
            <a:r>
              <a:rPr sz="944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• فشرده‌سازی به ۲۵۶</a:t>
            </a:r>
          </a:p>
        </p:txBody>
      </p:sp>
      <p:sp>
        <p:nvSpPr>
          <p:cNvPr id="16" name="**۶ لایه به‌صورت پشته‌ای**"/>
          <p:cNvSpPr/>
          <p:nvPr/>
        </p:nvSpPr>
        <p:spPr>
          <a:xfrm>
            <a:off x="3912991" y="6294973"/>
            <a:ext cx="4001902" cy="472952"/>
          </a:xfrm>
          <a:prstGeom prst="roundRect">
            <a:avLst>
              <a:gd name="adj" fmla="val 11538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571" rIns="54571" tIns="27286" bIns="27286"/>
          <a:lstStyle/>
          <a:p>
            <a:pPr algn="ctr" rtl="1"/>
            <a:r>
              <a:rPr sz="119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۶ لایه به‌صورت پشته‌ای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۰: مقایسه ماتریس "/>
          <p:cNvSpPr txBox="1"/>
          <p:nvPr/>
        </p:nvSpPr>
        <p:spPr>
          <a:xfrm>
            <a:off x="495901" y="835485"/>
            <a:ext cx="11199891" cy="49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93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۳.۱۰: مقایسه ماتریس توجه کامل و ماتریس توجه علّی</a:t>
            </a:r>
          </a:p>
        </p:txBody>
      </p:sp>
      <p:sp>
        <p:nvSpPr>
          <p:cNvPr id="3" name="txt **ماتریس توجه کامل (بدون"/>
          <p:cNvSpPr txBox="1"/>
          <p:nvPr/>
        </p:nvSpPr>
        <p:spPr>
          <a:xfrm>
            <a:off x="554848" y="1424953"/>
            <a:ext cx="5187318" cy="3772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47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ماتریس توجه کامل (بدون ماسک)</a:t>
            </a:r>
          </a:p>
        </p:txBody>
      </p:sp>
      <p:sp>
        <p:nvSpPr>
          <p:cNvPr id="4" name="txt **ماتریس توجه علّی (با م"/>
          <p:cNvSpPr txBox="1"/>
          <p:nvPr/>
        </p:nvSpPr>
        <p:spPr>
          <a:xfrm>
            <a:off x="6508475" y="1424953"/>
            <a:ext cx="5187318" cy="3772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47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ماتریس توجه علّی (با ماسک)</a:t>
            </a:r>
          </a:p>
        </p:txBody>
      </p:sp>
      <p:sp>
        <p:nvSpPr>
          <p:cNvPr id="5" name="1"/>
          <p:cNvSpPr/>
          <p:nvPr/>
        </p:nvSpPr>
        <p:spPr>
          <a:xfrm>
            <a:off x="1556943" y="2049789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6" name="1"/>
          <p:cNvSpPr/>
          <p:nvPr/>
        </p:nvSpPr>
        <p:spPr>
          <a:xfrm>
            <a:off x="2323253" y="2049789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7" name="1"/>
          <p:cNvSpPr/>
          <p:nvPr/>
        </p:nvSpPr>
        <p:spPr>
          <a:xfrm>
            <a:off x="3089561" y="2049789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" name="1"/>
          <p:cNvSpPr/>
          <p:nvPr/>
        </p:nvSpPr>
        <p:spPr>
          <a:xfrm>
            <a:off x="3855869" y="2049789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9" name="1"/>
          <p:cNvSpPr/>
          <p:nvPr/>
        </p:nvSpPr>
        <p:spPr>
          <a:xfrm>
            <a:off x="4622178" y="2049789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0" name="1"/>
          <p:cNvSpPr/>
          <p:nvPr/>
        </p:nvSpPr>
        <p:spPr>
          <a:xfrm>
            <a:off x="5388486" y="2049789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1" name="1"/>
          <p:cNvSpPr/>
          <p:nvPr/>
        </p:nvSpPr>
        <p:spPr>
          <a:xfrm>
            <a:off x="1556943" y="255673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2" name="1"/>
          <p:cNvSpPr/>
          <p:nvPr/>
        </p:nvSpPr>
        <p:spPr>
          <a:xfrm>
            <a:off x="2323253" y="255673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3" name="1"/>
          <p:cNvSpPr/>
          <p:nvPr/>
        </p:nvSpPr>
        <p:spPr>
          <a:xfrm>
            <a:off x="3089561" y="255673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4" name="1"/>
          <p:cNvSpPr/>
          <p:nvPr/>
        </p:nvSpPr>
        <p:spPr>
          <a:xfrm>
            <a:off x="3855869" y="255673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5" name="1"/>
          <p:cNvSpPr/>
          <p:nvPr/>
        </p:nvSpPr>
        <p:spPr>
          <a:xfrm>
            <a:off x="4622178" y="255673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6" name="1"/>
          <p:cNvSpPr/>
          <p:nvPr/>
        </p:nvSpPr>
        <p:spPr>
          <a:xfrm>
            <a:off x="5388486" y="255673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7" name="1"/>
          <p:cNvSpPr/>
          <p:nvPr/>
        </p:nvSpPr>
        <p:spPr>
          <a:xfrm>
            <a:off x="1556943" y="3063674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8" name="1"/>
          <p:cNvSpPr/>
          <p:nvPr/>
        </p:nvSpPr>
        <p:spPr>
          <a:xfrm>
            <a:off x="2323253" y="3063674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9" name="1"/>
          <p:cNvSpPr/>
          <p:nvPr/>
        </p:nvSpPr>
        <p:spPr>
          <a:xfrm>
            <a:off x="3089561" y="3063674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0" name="1"/>
          <p:cNvSpPr/>
          <p:nvPr/>
        </p:nvSpPr>
        <p:spPr>
          <a:xfrm>
            <a:off x="3855869" y="3063674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1" name="1"/>
          <p:cNvSpPr/>
          <p:nvPr/>
        </p:nvSpPr>
        <p:spPr>
          <a:xfrm>
            <a:off x="4622178" y="3063674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2" name="1"/>
          <p:cNvSpPr/>
          <p:nvPr/>
        </p:nvSpPr>
        <p:spPr>
          <a:xfrm>
            <a:off x="5388486" y="3063674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3" name="1"/>
          <p:cNvSpPr/>
          <p:nvPr/>
        </p:nvSpPr>
        <p:spPr>
          <a:xfrm>
            <a:off x="1556943" y="3570617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4" name="1"/>
          <p:cNvSpPr/>
          <p:nvPr/>
        </p:nvSpPr>
        <p:spPr>
          <a:xfrm>
            <a:off x="2323253" y="3570617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5" name="1"/>
          <p:cNvSpPr/>
          <p:nvPr/>
        </p:nvSpPr>
        <p:spPr>
          <a:xfrm>
            <a:off x="3089561" y="3570617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6" name="1"/>
          <p:cNvSpPr/>
          <p:nvPr/>
        </p:nvSpPr>
        <p:spPr>
          <a:xfrm>
            <a:off x="3855869" y="3570617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7" name="1"/>
          <p:cNvSpPr/>
          <p:nvPr/>
        </p:nvSpPr>
        <p:spPr>
          <a:xfrm>
            <a:off x="4622178" y="3570617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8" name="1"/>
          <p:cNvSpPr/>
          <p:nvPr/>
        </p:nvSpPr>
        <p:spPr>
          <a:xfrm>
            <a:off x="5388486" y="3570617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9" name="1"/>
          <p:cNvSpPr/>
          <p:nvPr/>
        </p:nvSpPr>
        <p:spPr>
          <a:xfrm>
            <a:off x="1556943" y="4077559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0" name="1"/>
          <p:cNvSpPr/>
          <p:nvPr/>
        </p:nvSpPr>
        <p:spPr>
          <a:xfrm>
            <a:off x="2323253" y="4077559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1" name="1"/>
          <p:cNvSpPr/>
          <p:nvPr/>
        </p:nvSpPr>
        <p:spPr>
          <a:xfrm>
            <a:off x="3089561" y="4077559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2" name="1"/>
          <p:cNvSpPr/>
          <p:nvPr/>
        </p:nvSpPr>
        <p:spPr>
          <a:xfrm>
            <a:off x="3855869" y="4077559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3" name="1"/>
          <p:cNvSpPr/>
          <p:nvPr/>
        </p:nvSpPr>
        <p:spPr>
          <a:xfrm>
            <a:off x="4622178" y="4077559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4" name="1"/>
          <p:cNvSpPr/>
          <p:nvPr/>
        </p:nvSpPr>
        <p:spPr>
          <a:xfrm>
            <a:off x="5388486" y="4077559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5" name="1"/>
          <p:cNvSpPr/>
          <p:nvPr/>
        </p:nvSpPr>
        <p:spPr>
          <a:xfrm>
            <a:off x="1556943" y="458450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6" name="1"/>
          <p:cNvSpPr/>
          <p:nvPr/>
        </p:nvSpPr>
        <p:spPr>
          <a:xfrm>
            <a:off x="2323253" y="458450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7" name="1"/>
          <p:cNvSpPr/>
          <p:nvPr/>
        </p:nvSpPr>
        <p:spPr>
          <a:xfrm>
            <a:off x="3089561" y="458450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8" name="1"/>
          <p:cNvSpPr/>
          <p:nvPr/>
        </p:nvSpPr>
        <p:spPr>
          <a:xfrm>
            <a:off x="3855869" y="458450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9" name="1"/>
          <p:cNvSpPr/>
          <p:nvPr/>
        </p:nvSpPr>
        <p:spPr>
          <a:xfrm>
            <a:off x="4622178" y="458450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40" name="1"/>
          <p:cNvSpPr/>
          <p:nvPr/>
        </p:nvSpPr>
        <p:spPr>
          <a:xfrm>
            <a:off x="5388486" y="458450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41" name="txt 0"/>
          <p:cNvSpPr txBox="1"/>
          <p:nvPr/>
        </p:nvSpPr>
        <p:spPr>
          <a:xfrm>
            <a:off x="1556943" y="5115023"/>
            <a:ext cx="730940" cy="30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0</a:t>
            </a:r>
          </a:p>
        </p:txBody>
      </p:sp>
      <p:sp>
        <p:nvSpPr>
          <p:cNvPr id="42" name="txt 1"/>
          <p:cNvSpPr txBox="1"/>
          <p:nvPr/>
        </p:nvSpPr>
        <p:spPr>
          <a:xfrm>
            <a:off x="2323253" y="5115023"/>
            <a:ext cx="730940" cy="30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43" name="txt 2"/>
          <p:cNvSpPr txBox="1"/>
          <p:nvPr/>
        </p:nvSpPr>
        <p:spPr>
          <a:xfrm>
            <a:off x="3089561" y="5115023"/>
            <a:ext cx="730940" cy="30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2</a:t>
            </a:r>
          </a:p>
        </p:txBody>
      </p:sp>
      <p:sp>
        <p:nvSpPr>
          <p:cNvPr id="44" name="txt 3"/>
          <p:cNvSpPr txBox="1"/>
          <p:nvPr/>
        </p:nvSpPr>
        <p:spPr>
          <a:xfrm>
            <a:off x="3855869" y="5115023"/>
            <a:ext cx="730940" cy="30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3</a:t>
            </a:r>
          </a:p>
        </p:txBody>
      </p:sp>
      <p:sp>
        <p:nvSpPr>
          <p:cNvPr id="45" name="txt 4"/>
          <p:cNvSpPr txBox="1"/>
          <p:nvPr/>
        </p:nvSpPr>
        <p:spPr>
          <a:xfrm>
            <a:off x="4622178" y="5115023"/>
            <a:ext cx="730940" cy="30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4</a:t>
            </a:r>
          </a:p>
        </p:txBody>
      </p:sp>
      <p:sp>
        <p:nvSpPr>
          <p:cNvPr id="46" name="txt 5"/>
          <p:cNvSpPr txBox="1"/>
          <p:nvPr/>
        </p:nvSpPr>
        <p:spPr>
          <a:xfrm>
            <a:off x="5388486" y="5115023"/>
            <a:ext cx="730940" cy="30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5</a:t>
            </a:r>
          </a:p>
        </p:txBody>
      </p:sp>
      <p:sp>
        <p:nvSpPr>
          <p:cNvPr id="47" name="txt 0"/>
          <p:cNvSpPr txBox="1"/>
          <p:nvPr/>
        </p:nvSpPr>
        <p:spPr>
          <a:xfrm>
            <a:off x="967475" y="2049789"/>
            <a:ext cx="530521" cy="4715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0</a:t>
            </a:r>
          </a:p>
        </p:txBody>
      </p:sp>
      <p:sp>
        <p:nvSpPr>
          <p:cNvPr id="48" name="txt 1"/>
          <p:cNvSpPr txBox="1"/>
          <p:nvPr/>
        </p:nvSpPr>
        <p:spPr>
          <a:xfrm>
            <a:off x="967475" y="2556732"/>
            <a:ext cx="530521" cy="4715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49" name="txt 2"/>
          <p:cNvSpPr txBox="1"/>
          <p:nvPr/>
        </p:nvSpPr>
        <p:spPr>
          <a:xfrm>
            <a:off x="967475" y="3063674"/>
            <a:ext cx="530521" cy="4715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2</a:t>
            </a:r>
          </a:p>
        </p:txBody>
      </p:sp>
      <p:sp>
        <p:nvSpPr>
          <p:cNvPr id="50" name="txt 3"/>
          <p:cNvSpPr txBox="1"/>
          <p:nvPr/>
        </p:nvSpPr>
        <p:spPr>
          <a:xfrm>
            <a:off x="967475" y="3570617"/>
            <a:ext cx="530521" cy="4715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3</a:t>
            </a:r>
          </a:p>
        </p:txBody>
      </p:sp>
      <p:sp>
        <p:nvSpPr>
          <p:cNvPr id="51" name="txt 4"/>
          <p:cNvSpPr txBox="1"/>
          <p:nvPr/>
        </p:nvSpPr>
        <p:spPr>
          <a:xfrm>
            <a:off x="967475" y="4077559"/>
            <a:ext cx="530521" cy="4715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4</a:t>
            </a:r>
          </a:p>
        </p:txBody>
      </p:sp>
      <p:sp>
        <p:nvSpPr>
          <p:cNvPr id="52" name="txt 5"/>
          <p:cNvSpPr txBox="1"/>
          <p:nvPr/>
        </p:nvSpPr>
        <p:spPr>
          <a:xfrm>
            <a:off x="967475" y="4584502"/>
            <a:ext cx="530521" cy="4715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5</a:t>
            </a:r>
          </a:p>
        </p:txBody>
      </p:sp>
      <p:sp>
        <p:nvSpPr>
          <p:cNvPr id="53" name="txt Key (موقعیت)"/>
          <p:cNvSpPr txBox="1"/>
          <p:nvPr/>
        </p:nvSpPr>
        <p:spPr>
          <a:xfrm>
            <a:off x="1556943" y="5445125"/>
            <a:ext cx="4562482" cy="3536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Key (موقعیت)</a:t>
            </a:r>
          </a:p>
        </p:txBody>
      </p:sp>
      <p:sp>
        <p:nvSpPr>
          <p:cNvPr id="54" name="txt Query (موقعیت)"/>
          <p:cNvSpPr txBox="1"/>
          <p:nvPr/>
        </p:nvSpPr>
        <p:spPr>
          <a:xfrm rot="16200000">
            <a:off x="260114" y="3275883"/>
            <a:ext cx="1414723" cy="3536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Query (موقعیت)</a:t>
            </a:r>
          </a:p>
        </p:txBody>
      </p:sp>
      <p:sp>
        <p:nvSpPr>
          <p:cNvPr id="55" name="1"/>
          <p:cNvSpPr/>
          <p:nvPr/>
        </p:nvSpPr>
        <p:spPr>
          <a:xfrm>
            <a:off x="6803209" y="2049789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56" name="−∞"/>
          <p:cNvSpPr/>
          <p:nvPr/>
        </p:nvSpPr>
        <p:spPr>
          <a:xfrm>
            <a:off x="7569518" y="2049789"/>
            <a:ext cx="730940" cy="47157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57" name="−∞"/>
          <p:cNvSpPr/>
          <p:nvPr/>
        </p:nvSpPr>
        <p:spPr>
          <a:xfrm>
            <a:off x="8335826" y="2049789"/>
            <a:ext cx="730940" cy="47157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58" name="−∞"/>
          <p:cNvSpPr/>
          <p:nvPr/>
        </p:nvSpPr>
        <p:spPr>
          <a:xfrm>
            <a:off x="9102134" y="2049789"/>
            <a:ext cx="730940" cy="47157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59" name="−∞"/>
          <p:cNvSpPr/>
          <p:nvPr/>
        </p:nvSpPr>
        <p:spPr>
          <a:xfrm>
            <a:off x="9868443" y="2049789"/>
            <a:ext cx="730940" cy="47157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60" name="−∞"/>
          <p:cNvSpPr/>
          <p:nvPr/>
        </p:nvSpPr>
        <p:spPr>
          <a:xfrm>
            <a:off x="10634751" y="2049789"/>
            <a:ext cx="730940" cy="47157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61" name="1"/>
          <p:cNvSpPr/>
          <p:nvPr/>
        </p:nvSpPr>
        <p:spPr>
          <a:xfrm>
            <a:off x="6803209" y="255673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62" name="1"/>
          <p:cNvSpPr/>
          <p:nvPr/>
        </p:nvSpPr>
        <p:spPr>
          <a:xfrm>
            <a:off x="7569518" y="255673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63" name="−∞"/>
          <p:cNvSpPr/>
          <p:nvPr/>
        </p:nvSpPr>
        <p:spPr>
          <a:xfrm>
            <a:off x="8335826" y="2556732"/>
            <a:ext cx="730940" cy="47157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64" name="−∞"/>
          <p:cNvSpPr/>
          <p:nvPr/>
        </p:nvSpPr>
        <p:spPr>
          <a:xfrm>
            <a:off x="9102134" y="2556732"/>
            <a:ext cx="730940" cy="47157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65" name="−∞"/>
          <p:cNvSpPr/>
          <p:nvPr/>
        </p:nvSpPr>
        <p:spPr>
          <a:xfrm>
            <a:off x="9868443" y="2556732"/>
            <a:ext cx="730940" cy="47157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66" name="−∞"/>
          <p:cNvSpPr/>
          <p:nvPr/>
        </p:nvSpPr>
        <p:spPr>
          <a:xfrm>
            <a:off x="10634751" y="2556732"/>
            <a:ext cx="730940" cy="47157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67" name="1"/>
          <p:cNvSpPr/>
          <p:nvPr/>
        </p:nvSpPr>
        <p:spPr>
          <a:xfrm>
            <a:off x="6803209" y="3063674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68" name="1"/>
          <p:cNvSpPr/>
          <p:nvPr/>
        </p:nvSpPr>
        <p:spPr>
          <a:xfrm>
            <a:off x="7569518" y="3063674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69" name="1"/>
          <p:cNvSpPr/>
          <p:nvPr/>
        </p:nvSpPr>
        <p:spPr>
          <a:xfrm>
            <a:off x="8335826" y="3063674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70" name="−∞"/>
          <p:cNvSpPr/>
          <p:nvPr/>
        </p:nvSpPr>
        <p:spPr>
          <a:xfrm>
            <a:off x="9102134" y="3063674"/>
            <a:ext cx="730940" cy="47157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71" name="−∞"/>
          <p:cNvSpPr/>
          <p:nvPr/>
        </p:nvSpPr>
        <p:spPr>
          <a:xfrm>
            <a:off x="9868443" y="3063674"/>
            <a:ext cx="730940" cy="47157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72" name="−∞"/>
          <p:cNvSpPr/>
          <p:nvPr/>
        </p:nvSpPr>
        <p:spPr>
          <a:xfrm>
            <a:off x="10634751" y="3063674"/>
            <a:ext cx="730940" cy="47157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73" name="1"/>
          <p:cNvSpPr/>
          <p:nvPr/>
        </p:nvSpPr>
        <p:spPr>
          <a:xfrm>
            <a:off x="6803209" y="3570617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74" name="1"/>
          <p:cNvSpPr/>
          <p:nvPr/>
        </p:nvSpPr>
        <p:spPr>
          <a:xfrm>
            <a:off x="7569518" y="3570617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75" name="1"/>
          <p:cNvSpPr/>
          <p:nvPr/>
        </p:nvSpPr>
        <p:spPr>
          <a:xfrm>
            <a:off x="8335826" y="3570617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76" name="1"/>
          <p:cNvSpPr/>
          <p:nvPr/>
        </p:nvSpPr>
        <p:spPr>
          <a:xfrm>
            <a:off x="9102134" y="3570617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77" name="−∞"/>
          <p:cNvSpPr/>
          <p:nvPr/>
        </p:nvSpPr>
        <p:spPr>
          <a:xfrm>
            <a:off x="9868443" y="3570617"/>
            <a:ext cx="730940" cy="47157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78" name="−∞"/>
          <p:cNvSpPr/>
          <p:nvPr/>
        </p:nvSpPr>
        <p:spPr>
          <a:xfrm>
            <a:off x="10634751" y="3570617"/>
            <a:ext cx="730940" cy="47157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79" name="1"/>
          <p:cNvSpPr/>
          <p:nvPr/>
        </p:nvSpPr>
        <p:spPr>
          <a:xfrm>
            <a:off x="6803209" y="4077559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0" name="1"/>
          <p:cNvSpPr/>
          <p:nvPr/>
        </p:nvSpPr>
        <p:spPr>
          <a:xfrm>
            <a:off x="7569518" y="4077559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1" name="1"/>
          <p:cNvSpPr/>
          <p:nvPr/>
        </p:nvSpPr>
        <p:spPr>
          <a:xfrm>
            <a:off x="8335826" y="4077559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2" name="1"/>
          <p:cNvSpPr/>
          <p:nvPr/>
        </p:nvSpPr>
        <p:spPr>
          <a:xfrm>
            <a:off x="9102134" y="4077559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3" name="1"/>
          <p:cNvSpPr/>
          <p:nvPr/>
        </p:nvSpPr>
        <p:spPr>
          <a:xfrm>
            <a:off x="9868443" y="4077559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4" name="−∞"/>
          <p:cNvSpPr/>
          <p:nvPr/>
        </p:nvSpPr>
        <p:spPr>
          <a:xfrm>
            <a:off x="10634751" y="4077559"/>
            <a:ext cx="730940" cy="47157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85" name="1"/>
          <p:cNvSpPr/>
          <p:nvPr/>
        </p:nvSpPr>
        <p:spPr>
          <a:xfrm>
            <a:off x="6803209" y="458450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6" name="1"/>
          <p:cNvSpPr/>
          <p:nvPr/>
        </p:nvSpPr>
        <p:spPr>
          <a:xfrm>
            <a:off x="7569518" y="458450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7" name="1"/>
          <p:cNvSpPr/>
          <p:nvPr/>
        </p:nvSpPr>
        <p:spPr>
          <a:xfrm>
            <a:off x="8335826" y="458450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8" name="1"/>
          <p:cNvSpPr/>
          <p:nvPr/>
        </p:nvSpPr>
        <p:spPr>
          <a:xfrm>
            <a:off x="9102134" y="458450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9" name="1"/>
          <p:cNvSpPr/>
          <p:nvPr/>
        </p:nvSpPr>
        <p:spPr>
          <a:xfrm>
            <a:off x="9868443" y="458450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90" name="1"/>
          <p:cNvSpPr/>
          <p:nvPr/>
        </p:nvSpPr>
        <p:spPr>
          <a:xfrm>
            <a:off x="10634751" y="4584502"/>
            <a:ext cx="730940" cy="47157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91" name="txt 0"/>
          <p:cNvSpPr txBox="1"/>
          <p:nvPr/>
        </p:nvSpPr>
        <p:spPr>
          <a:xfrm>
            <a:off x="6803209" y="5115023"/>
            <a:ext cx="730940" cy="30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0</a:t>
            </a:r>
          </a:p>
        </p:txBody>
      </p:sp>
      <p:sp>
        <p:nvSpPr>
          <p:cNvPr id="92" name="txt 1"/>
          <p:cNvSpPr txBox="1"/>
          <p:nvPr/>
        </p:nvSpPr>
        <p:spPr>
          <a:xfrm>
            <a:off x="7569518" y="5115023"/>
            <a:ext cx="730940" cy="30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93" name="txt 2"/>
          <p:cNvSpPr txBox="1"/>
          <p:nvPr/>
        </p:nvSpPr>
        <p:spPr>
          <a:xfrm>
            <a:off x="8335826" y="5115023"/>
            <a:ext cx="730940" cy="30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2</a:t>
            </a:r>
          </a:p>
        </p:txBody>
      </p:sp>
      <p:sp>
        <p:nvSpPr>
          <p:cNvPr id="94" name="txt 3"/>
          <p:cNvSpPr txBox="1"/>
          <p:nvPr/>
        </p:nvSpPr>
        <p:spPr>
          <a:xfrm>
            <a:off x="9102134" y="5115023"/>
            <a:ext cx="730940" cy="30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3</a:t>
            </a:r>
          </a:p>
        </p:txBody>
      </p:sp>
      <p:sp>
        <p:nvSpPr>
          <p:cNvPr id="95" name="txt 4"/>
          <p:cNvSpPr txBox="1"/>
          <p:nvPr/>
        </p:nvSpPr>
        <p:spPr>
          <a:xfrm>
            <a:off x="9868443" y="5115023"/>
            <a:ext cx="730940" cy="30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4</a:t>
            </a:r>
          </a:p>
        </p:txBody>
      </p:sp>
      <p:sp>
        <p:nvSpPr>
          <p:cNvPr id="96" name="txt 5"/>
          <p:cNvSpPr txBox="1"/>
          <p:nvPr/>
        </p:nvSpPr>
        <p:spPr>
          <a:xfrm>
            <a:off x="10634751" y="5115023"/>
            <a:ext cx="730940" cy="30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5</a:t>
            </a:r>
          </a:p>
        </p:txBody>
      </p:sp>
      <p:sp>
        <p:nvSpPr>
          <p:cNvPr id="97" name="txt 0"/>
          <p:cNvSpPr txBox="1"/>
          <p:nvPr/>
        </p:nvSpPr>
        <p:spPr>
          <a:xfrm>
            <a:off x="6213741" y="2049789"/>
            <a:ext cx="530521" cy="4715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0</a:t>
            </a:r>
          </a:p>
        </p:txBody>
      </p:sp>
      <p:sp>
        <p:nvSpPr>
          <p:cNvPr id="98" name="txt 1"/>
          <p:cNvSpPr txBox="1"/>
          <p:nvPr/>
        </p:nvSpPr>
        <p:spPr>
          <a:xfrm>
            <a:off x="6213741" y="2556732"/>
            <a:ext cx="530521" cy="4715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99" name="txt 2"/>
          <p:cNvSpPr txBox="1"/>
          <p:nvPr/>
        </p:nvSpPr>
        <p:spPr>
          <a:xfrm>
            <a:off x="6213741" y="3063674"/>
            <a:ext cx="530521" cy="4715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2</a:t>
            </a:r>
          </a:p>
        </p:txBody>
      </p:sp>
      <p:sp>
        <p:nvSpPr>
          <p:cNvPr id="100" name="txt 3"/>
          <p:cNvSpPr txBox="1"/>
          <p:nvPr/>
        </p:nvSpPr>
        <p:spPr>
          <a:xfrm>
            <a:off x="6213741" y="3570617"/>
            <a:ext cx="530521" cy="4715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3</a:t>
            </a:r>
          </a:p>
        </p:txBody>
      </p:sp>
      <p:sp>
        <p:nvSpPr>
          <p:cNvPr id="101" name="txt 4"/>
          <p:cNvSpPr txBox="1"/>
          <p:nvPr/>
        </p:nvSpPr>
        <p:spPr>
          <a:xfrm>
            <a:off x="6213741" y="4077559"/>
            <a:ext cx="530521" cy="4715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4</a:t>
            </a:r>
          </a:p>
        </p:txBody>
      </p:sp>
      <p:sp>
        <p:nvSpPr>
          <p:cNvPr id="102" name="txt 5"/>
          <p:cNvSpPr txBox="1"/>
          <p:nvPr/>
        </p:nvSpPr>
        <p:spPr>
          <a:xfrm>
            <a:off x="6213741" y="4584502"/>
            <a:ext cx="530521" cy="4715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5</a:t>
            </a:r>
          </a:p>
        </p:txBody>
      </p:sp>
      <p:sp>
        <p:nvSpPr>
          <p:cNvPr id="103" name="txt Key (موقعیت)"/>
          <p:cNvSpPr txBox="1"/>
          <p:nvPr/>
        </p:nvSpPr>
        <p:spPr>
          <a:xfrm>
            <a:off x="6803209" y="5445125"/>
            <a:ext cx="4562482" cy="3536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Key (موقعیت)</a:t>
            </a:r>
          </a:p>
        </p:txBody>
      </p:sp>
      <p:sp>
        <p:nvSpPr>
          <p:cNvPr id="104" name="txt Query (موقعیت)"/>
          <p:cNvSpPr txBox="1"/>
          <p:nvPr/>
        </p:nvSpPr>
        <p:spPr>
          <a:xfrm rot="16200000">
            <a:off x="5506380" y="3275883"/>
            <a:ext cx="1414723" cy="3536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89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Query (موقعیت)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۱: ساختار بلوک‌ها"/>
          <p:cNvSpPr txBox="1"/>
          <p:nvPr/>
        </p:nvSpPr>
        <p:spPr>
          <a:xfrm>
            <a:off x="993207" y="330077"/>
            <a:ext cx="10205280" cy="4511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762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۳.۱۱: ساختار بلوک‌های پیچشی زمانی با dilations مختلف</a:t>
            </a:r>
          </a:p>
        </p:txBody>
      </p:sp>
      <p:sp>
        <p:nvSpPr>
          <p:cNvPr id="3" name="**ورودی جریان TCN**"/>
          <p:cNvSpPr/>
          <p:nvPr/>
        </p:nvSpPr>
        <p:spPr>
          <a:xfrm>
            <a:off x="4377063" y="899424"/>
            <a:ext cx="3437568" cy="590832"/>
          </a:xfrm>
          <a:prstGeom prst="roundRect">
            <a:avLst>
              <a:gd name="adj" fmla="val 10909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454" rIns="64454" tIns="32227" bIns="32227"/>
          <a:lstStyle/>
          <a:p>
            <a:pPr algn="ctr" rtl="1"/>
            <a:r>
              <a:rPr sz="140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ورودی جریان TCN</a:t>
            </a:r>
          </a:p>
        </p:txBody>
      </p:sp>
      <p:sp>
        <p:nvSpPr>
          <p:cNvPr id="4" name="**Conv1D (kernel=3, dilation"/>
          <p:cNvSpPr/>
          <p:nvPr/>
        </p:nvSpPr>
        <p:spPr>
          <a:xfrm>
            <a:off x="3517671" y="1812528"/>
            <a:ext cx="5156352" cy="913104"/>
          </a:xfrm>
          <a:prstGeom prst="roundRect">
            <a:avLst>
              <a:gd name="adj" fmla="val 7058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454" rIns="64454" tIns="32227" bIns="32227"/>
          <a:lstStyle/>
          <a:p>
            <a:pPr algn="ctr" rtl="1"/>
            <a:r>
              <a:rPr sz="140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Conv1D (kernel=3, dilation=1)</a:t>
            </a:r>
          </a:p>
        </p:txBody>
      </p:sp>
      <p:cxnSp>
        <p:nvCxnSpPr>
          <p:cNvPr id="5" name="arrow"/>
          <p:cNvCxnSpPr/>
          <p:nvPr/>
        </p:nvCxnSpPr>
        <p:spPr>
          <a:xfrm>
            <a:off x="6095847" y="1490256"/>
            <a:ext cx="0" cy="322272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ayerNorm + GELU + Residual "/>
          <p:cNvSpPr/>
          <p:nvPr/>
        </p:nvSpPr>
        <p:spPr>
          <a:xfrm>
            <a:off x="3517671" y="2779344"/>
            <a:ext cx="5156352" cy="375984"/>
          </a:xfrm>
          <a:prstGeom prst="roundRect">
            <a:avLst>
              <a:gd name="adj" fmla="val 17142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454" rIns="64454" tIns="32227" bIns="32227"/>
          <a:lstStyle/>
          <a:p>
            <a:pPr algn="ctr" rtl="1"/>
            <a:r>
              <a:rPr sz="1116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LayerNorm + GELU + Residual + Mask</a:t>
            </a:r>
          </a:p>
        </p:txBody>
      </p:sp>
      <p:sp>
        <p:nvSpPr>
          <p:cNvPr id="7" name="**Conv1D (kernel=3, dilation"/>
          <p:cNvSpPr/>
          <p:nvPr/>
        </p:nvSpPr>
        <p:spPr>
          <a:xfrm>
            <a:off x="3517671" y="3262752"/>
            <a:ext cx="5156352" cy="913104"/>
          </a:xfrm>
          <a:prstGeom prst="roundRect">
            <a:avLst>
              <a:gd name="adj" fmla="val 7058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454" rIns="64454" tIns="32227" bIns="32227"/>
          <a:lstStyle/>
          <a:p>
            <a:pPr algn="ctr" rtl="1"/>
            <a:r>
              <a:rPr sz="140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Conv1D (kernel=3, dilation=2)</a:t>
            </a:r>
          </a:p>
        </p:txBody>
      </p:sp>
      <p:cxnSp>
        <p:nvCxnSpPr>
          <p:cNvPr id="8" name="arrow"/>
          <p:cNvCxnSpPr/>
          <p:nvPr/>
        </p:nvCxnSpPr>
        <p:spPr>
          <a:xfrm>
            <a:off x="6095847" y="3155328"/>
            <a:ext cx="0" cy="107424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ayerNorm + GELU + Residual "/>
          <p:cNvSpPr/>
          <p:nvPr/>
        </p:nvSpPr>
        <p:spPr>
          <a:xfrm>
            <a:off x="3517671" y="4229568"/>
            <a:ext cx="5156352" cy="375984"/>
          </a:xfrm>
          <a:prstGeom prst="roundRect">
            <a:avLst>
              <a:gd name="adj" fmla="val 17142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454" rIns="64454" tIns="32227" bIns="32227"/>
          <a:lstStyle/>
          <a:p>
            <a:pPr algn="ctr" rtl="1"/>
            <a:r>
              <a:rPr sz="1116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LayerNorm + GELU + Residual + Mask</a:t>
            </a:r>
          </a:p>
        </p:txBody>
      </p:sp>
      <p:sp>
        <p:nvSpPr>
          <p:cNvPr id="10" name="**Conv1D (kernel=3, dilation"/>
          <p:cNvSpPr/>
          <p:nvPr/>
        </p:nvSpPr>
        <p:spPr>
          <a:xfrm>
            <a:off x="3517671" y="4712976"/>
            <a:ext cx="5156352" cy="913104"/>
          </a:xfrm>
          <a:prstGeom prst="roundRect">
            <a:avLst>
              <a:gd name="adj" fmla="val 7058"/>
            </a:avLst>
          </a:prstGeom>
          <a:solidFill>
            <a:srgbClr val="E4DFE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454" rIns="64454" tIns="32227" bIns="32227"/>
          <a:lstStyle/>
          <a:p>
            <a:pPr algn="ctr" rtl="1"/>
            <a:r>
              <a:rPr sz="140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Conv1D (kernel=3, dilation=4)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6095847" y="4605552"/>
            <a:ext cx="0" cy="107424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ayerNorm + GELU + Residual "/>
          <p:cNvSpPr/>
          <p:nvPr/>
        </p:nvSpPr>
        <p:spPr>
          <a:xfrm>
            <a:off x="3517671" y="5679792"/>
            <a:ext cx="5156352" cy="375984"/>
          </a:xfrm>
          <a:prstGeom prst="roundRect">
            <a:avLst>
              <a:gd name="adj" fmla="val 17142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454" rIns="64454" tIns="32227" bIns="32227"/>
          <a:lstStyle/>
          <a:p>
            <a:pPr algn="ctr" rtl="1"/>
            <a:r>
              <a:rPr sz="1116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LayerNorm + GELU + Residual + Mask</a:t>
            </a:r>
          </a:p>
        </p:txBody>
      </p:sp>
      <p:sp>
        <p:nvSpPr>
          <p:cNvPr id="13" name="**خروجی جریان TCN**"/>
          <p:cNvSpPr/>
          <p:nvPr/>
        </p:nvSpPr>
        <p:spPr>
          <a:xfrm>
            <a:off x="3893655" y="6023549"/>
            <a:ext cx="4404384" cy="644544"/>
          </a:xfrm>
          <a:prstGeom prst="roundRect">
            <a:avLst>
              <a:gd name="adj" fmla="val 1000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454" rIns="64454" tIns="32227" bIns="32227"/>
          <a:lstStyle/>
          <a:p>
            <a:pPr algn="ctr" rtl="1"/>
            <a:r>
              <a:rPr sz="140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 جریان TCN</a:t>
            </a:r>
          </a:p>
        </p:txBody>
      </p:sp>
      <p:cxnSp>
        <p:nvCxnSpPr>
          <p:cNvPr id="14" name="arrow"/>
          <p:cNvCxnSpPr/>
          <p:nvPr/>
        </p:nvCxnSpPr>
        <p:spPr>
          <a:xfrm flipV="1">
            <a:off x="6095847" y="6023549"/>
            <a:ext cx="0" cy="32227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• میدان پذیرش: ۱+۲+۴ = ۷ روی"/>
          <p:cNvSpPr/>
          <p:nvPr/>
        </p:nvSpPr>
        <p:spPr>
          <a:xfrm>
            <a:off x="9157431" y="2940480"/>
            <a:ext cx="2094768" cy="1289088"/>
          </a:xfrm>
          <a:prstGeom prst="roundRect">
            <a:avLst>
              <a:gd name="adj" fmla="val 1666"/>
            </a:avLst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454" rIns="64454" tIns="32227" bIns="32227"/>
          <a:lstStyle/>
          <a:p>
            <a:pPr algn="r" rtl="1"/>
            <a:r>
              <a:rPr sz="1174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• میدان پذیرش: ۱+۲+۴ = ۷ رویداد</a:t>
            </a:r>
          </a:p>
          <a:p>
            <a:pPr algn="r" rtl="1"/>
            <a:r>
              <a:rPr sz="1174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• پردازش موازی</a:t>
            </a:r>
          </a:p>
          <a:p>
            <a:pPr algn="r" rtl="1"/>
            <a:r>
              <a:rPr sz="1174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• الگوهای محلی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۲: ماژول ادغام تو"/>
          <p:cNvSpPr txBox="1"/>
          <p:nvPr/>
        </p:nvSpPr>
        <p:spPr>
          <a:xfrm>
            <a:off x="1033072" y="329070"/>
            <a:ext cx="10125551" cy="447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748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۳.۱۲: ماژول ادغام توجه متقابل میان جریان ترانسفورمر و TCN</a:t>
            </a:r>
          </a:p>
        </p:txBody>
      </p:sp>
      <p:sp>
        <p:nvSpPr>
          <p:cNvPr id="3" name="**خروجی ترانسفورمر**"/>
          <p:cNvSpPr/>
          <p:nvPr/>
        </p:nvSpPr>
        <p:spPr>
          <a:xfrm>
            <a:off x="8227542" y="1480185"/>
            <a:ext cx="3037665" cy="905970"/>
          </a:xfrm>
          <a:prstGeom prst="roundRect">
            <a:avLst>
              <a:gd name="adj" fmla="val 7058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ctr" rtl="1"/>
            <a:r>
              <a:rPr sz="134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 ترانسفورمر</a:t>
            </a:r>
          </a:p>
          <a:p>
            <a:pPr algn="ctr" rtl="1"/>
            <a:r>
              <a:rPr sz="134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(Query)</a:t>
            </a:r>
          </a:p>
        </p:txBody>
      </p:sp>
      <p:sp>
        <p:nvSpPr>
          <p:cNvPr id="4" name="**خروجی TCN**"/>
          <p:cNvSpPr/>
          <p:nvPr/>
        </p:nvSpPr>
        <p:spPr>
          <a:xfrm>
            <a:off x="8227542" y="2759202"/>
            <a:ext cx="3037665" cy="905970"/>
          </a:xfrm>
          <a:prstGeom prst="roundRect">
            <a:avLst>
              <a:gd name="adj" fmla="val 7058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ctr" rtl="1"/>
            <a:r>
              <a:rPr sz="134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 TCN</a:t>
            </a:r>
          </a:p>
          <a:p>
            <a:pPr algn="ctr" rtl="1"/>
            <a:r>
              <a:rPr sz="134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(Key, Value)</a:t>
            </a:r>
          </a:p>
        </p:txBody>
      </p:sp>
      <p:sp>
        <p:nvSpPr>
          <p:cNvPr id="5" name="**Multi-Head**"/>
          <p:cNvSpPr/>
          <p:nvPr/>
        </p:nvSpPr>
        <p:spPr>
          <a:xfrm>
            <a:off x="4550369" y="2119694"/>
            <a:ext cx="3144250" cy="1012555"/>
          </a:xfrm>
          <a:prstGeom prst="roundRect">
            <a:avLst>
              <a:gd name="adj" fmla="val 6315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ctr" rtl="1"/>
            <a:r>
              <a:rPr sz="1398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Multi-Head</a:t>
            </a:r>
          </a:p>
          <a:p>
            <a:pPr algn="ctr" rtl="1"/>
            <a:r>
              <a:rPr sz="1398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Cross-Attention</a:t>
            </a:r>
          </a:p>
        </p:txBody>
      </p:sp>
      <p:cxnSp>
        <p:nvCxnSpPr>
          <p:cNvPr id="6" name="arrow"/>
          <p:cNvCxnSpPr/>
          <p:nvPr/>
        </p:nvCxnSpPr>
        <p:spPr>
          <a:xfrm flipH="1">
            <a:off x="7715936" y="1933170"/>
            <a:ext cx="511606" cy="42101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arrow"/>
          <p:cNvCxnSpPr/>
          <p:nvPr/>
        </p:nvCxnSpPr>
        <p:spPr>
          <a:xfrm flipH="1" flipV="1">
            <a:off x="7715936" y="2897762"/>
            <a:ext cx="511606" cy="314425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dd &amp; Norm"/>
          <p:cNvSpPr/>
          <p:nvPr/>
        </p:nvSpPr>
        <p:spPr>
          <a:xfrm>
            <a:off x="3644398" y="3558588"/>
            <a:ext cx="4902898" cy="724776"/>
          </a:xfrm>
          <a:prstGeom prst="roundRect">
            <a:avLst>
              <a:gd name="adj" fmla="val 8823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ctr" rtl="1"/>
            <a:r>
              <a:rPr sz="1398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Add &amp; Norm</a:t>
            </a:r>
          </a:p>
        </p:txBody>
      </p:sp>
      <p:cxnSp>
        <p:nvCxnSpPr>
          <p:cNvPr id="9" name="arrow"/>
          <p:cNvCxnSpPr/>
          <p:nvPr/>
        </p:nvCxnSpPr>
        <p:spPr>
          <a:xfrm flipH="1">
            <a:off x="6095848" y="3132249"/>
            <a:ext cx="26646" cy="426339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eed-Forward + Add &amp; Norm"/>
          <p:cNvSpPr/>
          <p:nvPr/>
        </p:nvSpPr>
        <p:spPr>
          <a:xfrm>
            <a:off x="3644398" y="4677728"/>
            <a:ext cx="4902898" cy="724776"/>
          </a:xfrm>
          <a:prstGeom prst="roundRect">
            <a:avLst>
              <a:gd name="adj" fmla="val 8823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ctr" rtl="1"/>
            <a:r>
              <a:rPr sz="1398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Feed-Forward + Add &amp; Norm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6095848" y="4283364"/>
            <a:ext cx="0" cy="394364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**نمایش ترکیبی ۱۲**"/>
          <p:cNvSpPr/>
          <p:nvPr/>
        </p:nvSpPr>
        <p:spPr>
          <a:xfrm>
            <a:off x="4177322" y="5796867"/>
            <a:ext cx="3837051" cy="660825"/>
          </a:xfrm>
          <a:prstGeom prst="roundRect">
            <a:avLst>
              <a:gd name="adj" fmla="val 9677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ctr" rtl="1"/>
            <a:r>
              <a:rPr sz="1398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نمایش ترکیبی ۱۲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6095848" y="5402504"/>
            <a:ext cx="0" cy="394363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ادغام اطلاعات سراسری و محلی"/>
          <p:cNvSpPr/>
          <p:nvPr/>
        </p:nvSpPr>
        <p:spPr>
          <a:xfrm>
            <a:off x="8280835" y="3931634"/>
            <a:ext cx="2984373" cy="639508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ctr" rtl="1"/>
            <a:r>
              <a:rPr sz="1223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ادغام اطلاعات سراسری و محلی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۳: ساختار گراف پی"/>
          <p:cNvSpPr txBox="1"/>
          <p:nvPr/>
        </p:nvSpPr>
        <p:spPr>
          <a:xfrm>
            <a:off x="1259763" y="323342"/>
            <a:ext cx="9672168" cy="427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67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۳.۱۳: ساختار گراف پیشوند با انواع یال‌ها</a:t>
            </a:r>
          </a:p>
        </p:txBody>
      </p:sp>
      <p:sp>
        <p:nvSpPr>
          <p:cNvPr id="3" name="txt **گراف پیشوند: انواع یال"/>
          <p:cNvSpPr txBox="1"/>
          <p:nvPr/>
        </p:nvSpPr>
        <p:spPr>
          <a:xfrm>
            <a:off x="4059601" y="628779"/>
            <a:ext cx="4072492" cy="4072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336" b="1" i="0">
                <a:solidFill>
                  <a:srgbClr val="2F5597"/>
                </a:solidFill>
                <a:latin typeface="Arial"/>
                <a:ea typeface="B Nazanin"/>
                <a:cs typeface="B Nazanin"/>
              </a:rPr>
              <a:t>گراف پیشوند: انواع یال‌ها</a:t>
            </a:r>
          </a:p>
        </p:txBody>
      </p:sp>
      <p:sp>
        <p:nvSpPr>
          <p:cNvPr id="4" name="**CLS**"/>
          <p:cNvSpPr/>
          <p:nvPr/>
        </p:nvSpPr>
        <p:spPr>
          <a:xfrm>
            <a:off x="5688598" y="1168384"/>
            <a:ext cx="814498" cy="712686"/>
          </a:xfrm>
          <a:prstGeom prst="roundRect">
            <a:avLst>
              <a:gd name="adj" fmla="val 48571"/>
            </a:avLst>
          </a:prstGeom>
          <a:solidFill>
            <a:srgbClr val="F8DCDC"/>
          </a:solidFill>
          <a:ln w="2286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1087" rIns="61087" tIns="30544" bIns="30544"/>
          <a:lstStyle/>
          <a:p>
            <a:pPr algn="ctr" rtl="1"/>
            <a:r>
              <a:rPr sz="122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CLS</a:t>
            </a:r>
          </a:p>
        </p:txBody>
      </p:sp>
      <p:sp>
        <p:nvSpPr>
          <p:cNvPr id="5" name="**A**"/>
          <p:cNvSpPr/>
          <p:nvPr/>
        </p:nvSpPr>
        <p:spPr>
          <a:xfrm>
            <a:off x="1870637" y="2746475"/>
            <a:ext cx="763592" cy="763592"/>
          </a:xfrm>
          <a:prstGeom prst="roundRect">
            <a:avLst>
              <a:gd name="adj" fmla="val 48000"/>
            </a:avLst>
          </a:prstGeom>
          <a:solidFill>
            <a:srgbClr val="DEEAF6"/>
          </a:solidFill>
          <a:ln w="2032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1087" rIns="61087" tIns="30544" bIns="30544"/>
          <a:lstStyle/>
          <a:p>
            <a:pPr algn="ctr" rtl="1"/>
            <a:r>
              <a:rPr sz="1447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A</a:t>
            </a:r>
          </a:p>
        </p:txBody>
      </p:sp>
      <p:sp>
        <p:nvSpPr>
          <p:cNvPr id="6" name="**B**"/>
          <p:cNvSpPr/>
          <p:nvPr/>
        </p:nvSpPr>
        <p:spPr>
          <a:xfrm>
            <a:off x="3530177" y="2746475"/>
            <a:ext cx="763592" cy="763592"/>
          </a:xfrm>
          <a:prstGeom prst="roundRect">
            <a:avLst>
              <a:gd name="adj" fmla="val 48000"/>
            </a:avLst>
          </a:prstGeom>
          <a:solidFill>
            <a:srgbClr val="E2EFDA"/>
          </a:solidFill>
          <a:ln w="2032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1087" rIns="61087" tIns="30544" bIns="30544"/>
          <a:lstStyle/>
          <a:p>
            <a:pPr algn="ctr" rtl="1"/>
            <a:r>
              <a:rPr sz="1447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B</a:t>
            </a:r>
          </a:p>
        </p:txBody>
      </p:sp>
      <p:sp>
        <p:nvSpPr>
          <p:cNvPr id="7" name="**C**"/>
          <p:cNvSpPr/>
          <p:nvPr/>
        </p:nvSpPr>
        <p:spPr>
          <a:xfrm>
            <a:off x="5189717" y="2746475"/>
            <a:ext cx="763592" cy="763592"/>
          </a:xfrm>
          <a:prstGeom prst="roundRect">
            <a:avLst>
              <a:gd name="adj" fmla="val 48000"/>
            </a:avLst>
          </a:prstGeom>
          <a:solidFill>
            <a:srgbClr val="FFF2CC"/>
          </a:solidFill>
          <a:ln w="2032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1087" rIns="61087" tIns="30544" bIns="30544"/>
          <a:lstStyle/>
          <a:p>
            <a:pPr algn="ctr" rtl="1"/>
            <a:r>
              <a:rPr sz="1447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</a:t>
            </a:r>
          </a:p>
        </p:txBody>
      </p:sp>
      <p:sp>
        <p:nvSpPr>
          <p:cNvPr id="8" name="**A**"/>
          <p:cNvSpPr/>
          <p:nvPr/>
        </p:nvSpPr>
        <p:spPr>
          <a:xfrm>
            <a:off x="6849258" y="2746475"/>
            <a:ext cx="763592" cy="763592"/>
          </a:xfrm>
          <a:prstGeom prst="roundRect">
            <a:avLst>
              <a:gd name="adj" fmla="val 48000"/>
            </a:avLst>
          </a:prstGeom>
          <a:solidFill>
            <a:srgbClr val="DEEAF6"/>
          </a:solidFill>
          <a:ln w="2032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1087" rIns="61087" tIns="30544" bIns="30544"/>
          <a:lstStyle/>
          <a:p>
            <a:pPr algn="ctr" rtl="1"/>
            <a:r>
              <a:rPr sz="1447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A</a:t>
            </a:r>
          </a:p>
        </p:txBody>
      </p:sp>
      <p:sp>
        <p:nvSpPr>
          <p:cNvPr id="9" name="**D**"/>
          <p:cNvSpPr/>
          <p:nvPr/>
        </p:nvSpPr>
        <p:spPr>
          <a:xfrm>
            <a:off x="8508798" y="2746475"/>
            <a:ext cx="763592" cy="763592"/>
          </a:xfrm>
          <a:prstGeom prst="roundRect">
            <a:avLst>
              <a:gd name="adj" fmla="val 48000"/>
            </a:avLst>
          </a:prstGeom>
          <a:solidFill>
            <a:srgbClr val="E4DFEC"/>
          </a:solidFill>
          <a:ln w="2032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1087" rIns="61087" tIns="30544" bIns="30544"/>
          <a:lstStyle/>
          <a:p>
            <a:pPr algn="ctr" rtl="1"/>
            <a:r>
              <a:rPr sz="1447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D</a:t>
            </a:r>
          </a:p>
        </p:txBody>
      </p:sp>
      <p:sp>
        <p:nvSpPr>
          <p:cNvPr id="10" name="**A**"/>
          <p:cNvSpPr/>
          <p:nvPr/>
        </p:nvSpPr>
        <p:spPr>
          <a:xfrm>
            <a:off x="10168339" y="2746475"/>
            <a:ext cx="763592" cy="763592"/>
          </a:xfrm>
          <a:prstGeom prst="roundRect">
            <a:avLst>
              <a:gd name="adj" fmla="val 48000"/>
            </a:avLst>
          </a:prstGeom>
          <a:solidFill>
            <a:srgbClr val="DEEAF6"/>
          </a:solidFill>
          <a:ln w="2032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1087" rIns="61087" tIns="30544" bIns="30544"/>
          <a:lstStyle/>
          <a:p>
            <a:pPr algn="ctr" rtl="1"/>
            <a:r>
              <a:rPr sz="1447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A</a:t>
            </a:r>
          </a:p>
        </p:txBody>
      </p:sp>
      <p:cxnSp>
        <p:nvCxnSpPr>
          <p:cNvPr id="11" name="line"/>
          <p:cNvCxnSpPr/>
          <p:nvPr/>
        </p:nvCxnSpPr>
        <p:spPr>
          <a:xfrm flipH="1">
            <a:off x="2252433" y="1881070"/>
            <a:ext cx="3843414" cy="865404"/>
          </a:xfrm>
          <a:prstGeom prst="line">
            <a:avLst/>
          </a:prstGeom>
          <a:ln w="15240">
            <a:solidFill>
              <a:srgbClr val="E8A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line"/>
          <p:cNvCxnSpPr/>
          <p:nvPr/>
        </p:nvCxnSpPr>
        <p:spPr>
          <a:xfrm flipH="1">
            <a:off x="3911973" y="1881070"/>
            <a:ext cx="2183874" cy="865404"/>
          </a:xfrm>
          <a:prstGeom prst="line">
            <a:avLst/>
          </a:prstGeom>
          <a:ln w="15240">
            <a:solidFill>
              <a:srgbClr val="E8A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ine"/>
          <p:cNvCxnSpPr/>
          <p:nvPr/>
        </p:nvCxnSpPr>
        <p:spPr>
          <a:xfrm flipH="1">
            <a:off x="5571514" y="1881070"/>
            <a:ext cx="524333" cy="865404"/>
          </a:xfrm>
          <a:prstGeom prst="line">
            <a:avLst/>
          </a:prstGeom>
          <a:ln w="15240">
            <a:solidFill>
              <a:srgbClr val="E8A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ine"/>
          <p:cNvCxnSpPr/>
          <p:nvPr/>
        </p:nvCxnSpPr>
        <p:spPr>
          <a:xfrm>
            <a:off x="6095847" y="1881070"/>
            <a:ext cx="1135207" cy="865404"/>
          </a:xfrm>
          <a:prstGeom prst="line">
            <a:avLst/>
          </a:prstGeom>
          <a:ln w="15240">
            <a:solidFill>
              <a:srgbClr val="E8A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ine"/>
          <p:cNvCxnSpPr/>
          <p:nvPr/>
        </p:nvCxnSpPr>
        <p:spPr>
          <a:xfrm>
            <a:off x="6095847" y="1881070"/>
            <a:ext cx="2794748" cy="865404"/>
          </a:xfrm>
          <a:prstGeom prst="line">
            <a:avLst/>
          </a:prstGeom>
          <a:ln w="15240">
            <a:solidFill>
              <a:srgbClr val="E8A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ine"/>
          <p:cNvCxnSpPr/>
          <p:nvPr/>
        </p:nvCxnSpPr>
        <p:spPr>
          <a:xfrm>
            <a:off x="6095847" y="1881070"/>
            <a:ext cx="4454288" cy="865404"/>
          </a:xfrm>
          <a:prstGeom prst="line">
            <a:avLst/>
          </a:prstGeom>
          <a:ln w="15240">
            <a:solidFill>
              <a:srgbClr val="E8A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ine"/>
          <p:cNvCxnSpPr/>
          <p:nvPr/>
        </p:nvCxnSpPr>
        <p:spPr>
          <a:xfrm>
            <a:off x="2634229" y="3077365"/>
            <a:ext cx="895948" cy="0"/>
          </a:xfrm>
          <a:prstGeom prst="line">
            <a:avLst/>
          </a:prstGeom>
          <a:ln w="1651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ine"/>
          <p:cNvCxnSpPr/>
          <p:nvPr/>
        </p:nvCxnSpPr>
        <p:spPr>
          <a:xfrm>
            <a:off x="4293769" y="3077365"/>
            <a:ext cx="895948" cy="0"/>
          </a:xfrm>
          <a:prstGeom prst="line">
            <a:avLst/>
          </a:prstGeom>
          <a:ln w="1651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ine"/>
          <p:cNvCxnSpPr/>
          <p:nvPr/>
        </p:nvCxnSpPr>
        <p:spPr>
          <a:xfrm>
            <a:off x="5953310" y="3077365"/>
            <a:ext cx="895948" cy="0"/>
          </a:xfrm>
          <a:prstGeom prst="line">
            <a:avLst/>
          </a:prstGeom>
          <a:ln w="1651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ine"/>
          <p:cNvCxnSpPr/>
          <p:nvPr/>
        </p:nvCxnSpPr>
        <p:spPr>
          <a:xfrm>
            <a:off x="7612850" y="3077365"/>
            <a:ext cx="895948" cy="0"/>
          </a:xfrm>
          <a:prstGeom prst="line">
            <a:avLst/>
          </a:prstGeom>
          <a:ln w="1651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ne"/>
          <p:cNvCxnSpPr/>
          <p:nvPr/>
        </p:nvCxnSpPr>
        <p:spPr>
          <a:xfrm>
            <a:off x="9272391" y="3077365"/>
            <a:ext cx="895948" cy="0"/>
          </a:xfrm>
          <a:prstGeom prst="line">
            <a:avLst/>
          </a:prstGeom>
          <a:ln w="1651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line"/>
          <p:cNvCxnSpPr/>
          <p:nvPr/>
        </p:nvCxnSpPr>
        <p:spPr>
          <a:xfrm>
            <a:off x="2252433" y="3510068"/>
            <a:ext cx="0" cy="254530"/>
          </a:xfrm>
          <a:prstGeom prst="line">
            <a:avLst/>
          </a:prstGeom>
          <a:ln w="2032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line"/>
          <p:cNvCxnSpPr/>
          <p:nvPr/>
        </p:nvCxnSpPr>
        <p:spPr>
          <a:xfrm>
            <a:off x="2252433" y="3764598"/>
            <a:ext cx="4978621" cy="0"/>
          </a:xfrm>
          <a:prstGeom prst="line">
            <a:avLst/>
          </a:prstGeom>
          <a:ln w="2032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line"/>
          <p:cNvCxnSpPr/>
          <p:nvPr/>
        </p:nvCxnSpPr>
        <p:spPr>
          <a:xfrm flipV="1">
            <a:off x="7231054" y="3510068"/>
            <a:ext cx="0" cy="254530"/>
          </a:xfrm>
          <a:prstGeom prst="line">
            <a:avLst/>
          </a:prstGeom>
          <a:ln w="2032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line"/>
          <p:cNvCxnSpPr/>
          <p:nvPr/>
        </p:nvCxnSpPr>
        <p:spPr>
          <a:xfrm>
            <a:off x="7231054" y="3510068"/>
            <a:ext cx="0" cy="254530"/>
          </a:xfrm>
          <a:prstGeom prst="line">
            <a:avLst/>
          </a:prstGeom>
          <a:ln w="2032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line"/>
          <p:cNvCxnSpPr/>
          <p:nvPr/>
        </p:nvCxnSpPr>
        <p:spPr>
          <a:xfrm>
            <a:off x="7231054" y="3764598"/>
            <a:ext cx="3319081" cy="0"/>
          </a:xfrm>
          <a:prstGeom prst="line">
            <a:avLst/>
          </a:prstGeom>
          <a:ln w="2032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ine"/>
          <p:cNvCxnSpPr/>
          <p:nvPr/>
        </p:nvCxnSpPr>
        <p:spPr>
          <a:xfrm flipV="1">
            <a:off x="10550135" y="3510068"/>
            <a:ext cx="0" cy="254530"/>
          </a:xfrm>
          <a:prstGeom prst="line">
            <a:avLst/>
          </a:prstGeom>
          <a:ln w="2032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ne"/>
          <p:cNvCxnSpPr/>
          <p:nvPr/>
        </p:nvCxnSpPr>
        <p:spPr>
          <a:xfrm>
            <a:off x="3911973" y="3510068"/>
            <a:ext cx="0" cy="509061"/>
          </a:xfrm>
          <a:prstGeom prst="line">
            <a:avLst/>
          </a:prstGeom>
          <a:ln w="2032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ine"/>
          <p:cNvCxnSpPr/>
          <p:nvPr/>
        </p:nvCxnSpPr>
        <p:spPr>
          <a:xfrm>
            <a:off x="3911973" y="4019129"/>
            <a:ext cx="1659541" cy="0"/>
          </a:xfrm>
          <a:prstGeom prst="line">
            <a:avLst/>
          </a:prstGeom>
          <a:ln w="2032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ine"/>
          <p:cNvCxnSpPr/>
          <p:nvPr/>
        </p:nvCxnSpPr>
        <p:spPr>
          <a:xfrm flipV="1">
            <a:off x="5571514" y="3510068"/>
            <a:ext cx="0" cy="509061"/>
          </a:xfrm>
          <a:prstGeom prst="line">
            <a:avLst/>
          </a:prstGeom>
          <a:ln w="2032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ine"/>
          <p:cNvCxnSpPr/>
          <p:nvPr/>
        </p:nvCxnSpPr>
        <p:spPr>
          <a:xfrm>
            <a:off x="1565200" y="4630003"/>
            <a:ext cx="916310" cy="0"/>
          </a:xfrm>
          <a:prstGeom prst="line">
            <a:avLst/>
          </a:prstGeom>
          <a:ln w="1651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xt یال CLS (سراسری)"/>
          <p:cNvSpPr txBox="1"/>
          <p:nvPr/>
        </p:nvSpPr>
        <p:spPr>
          <a:xfrm>
            <a:off x="2634229" y="4467103"/>
            <a:ext cx="4276117" cy="325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122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یال CLS (سراسری)</a:t>
            </a:r>
          </a:p>
        </p:txBody>
      </p:sp>
      <p:cxnSp>
        <p:nvCxnSpPr>
          <p:cNvPr id="33" name="line"/>
          <p:cNvCxnSpPr/>
          <p:nvPr/>
        </p:nvCxnSpPr>
        <p:spPr>
          <a:xfrm>
            <a:off x="1565200" y="5088158"/>
            <a:ext cx="916310" cy="0"/>
          </a:xfrm>
          <a:prstGeom prst="line">
            <a:avLst/>
          </a:prstGeom>
          <a:ln w="254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xt یال پیروی مستقیم"/>
          <p:cNvSpPr txBox="1"/>
          <p:nvPr/>
        </p:nvSpPr>
        <p:spPr>
          <a:xfrm>
            <a:off x="2634229" y="4925259"/>
            <a:ext cx="4276117" cy="325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122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یال پیروی مستقیم</a:t>
            </a:r>
          </a:p>
        </p:txBody>
      </p:sp>
      <p:cxnSp>
        <p:nvCxnSpPr>
          <p:cNvPr id="35" name="line"/>
          <p:cNvCxnSpPr/>
          <p:nvPr/>
        </p:nvCxnSpPr>
        <p:spPr>
          <a:xfrm>
            <a:off x="1565200" y="5546314"/>
            <a:ext cx="916310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xt یال تکرار فعالیت"/>
          <p:cNvSpPr txBox="1"/>
          <p:nvPr/>
        </p:nvSpPr>
        <p:spPr>
          <a:xfrm>
            <a:off x="2634229" y="5383414"/>
            <a:ext cx="4276117" cy="325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122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یال تکرار فعالیت</a:t>
            </a:r>
          </a:p>
        </p:txBody>
      </p:sp>
      <p:cxnSp>
        <p:nvCxnSpPr>
          <p:cNvPr id="37" name="line"/>
          <p:cNvCxnSpPr/>
          <p:nvPr/>
        </p:nvCxnSpPr>
        <p:spPr>
          <a:xfrm>
            <a:off x="1565200" y="6004469"/>
            <a:ext cx="916310" cy="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xt یال مجاورت زمانی"/>
          <p:cNvSpPr txBox="1"/>
          <p:nvPr/>
        </p:nvSpPr>
        <p:spPr>
          <a:xfrm>
            <a:off x="2634229" y="5841569"/>
            <a:ext cx="4276117" cy="325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122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یال مجاورت زمانی</a:t>
            </a:r>
          </a:p>
        </p:txBody>
      </p:sp>
      <p:sp>
        <p:nvSpPr>
          <p:cNvPr id="39" name="**ویژگی گره:** فعالیت + بازه"/>
          <p:cNvSpPr/>
          <p:nvPr/>
        </p:nvSpPr>
        <p:spPr>
          <a:xfrm>
            <a:off x="3550539" y="6309906"/>
            <a:ext cx="5090615" cy="509061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1087" rIns="61087" tIns="30544" bIns="30544"/>
          <a:lstStyle/>
          <a:p>
            <a:pPr algn="ctr" rtl="1"/>
            <a:r>
              <a:rPr sz="122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ویژگی گره:</a:t>
            </a:r>
            <a:r>
              <a:rPr sz="122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 فعالیت + بازه زمانی نرمال + موقعیت نرمال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۴: ساختار یک لایه"/>
          <p:cNvSpPr txBox="1"/>
          <p:nvPr/>
        </p:nvSpPr>
        <p:spPr>
          <a:xfrm>
            <a:off x="1072318" y="328078"/>
            <a:ext cx="10047059" cy="4441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73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۳.۱۴: ساختار یک لایه پیچش گرافی با مکانیزم دروازه‌ای</a:t>
            </a:r>
          </a:p>
        </p:txBody>
      </p:sp>
      <p:sp>
        <p:nvSpPr>
          <p:cNvPr id="3" name="**ورودی لایه (نمایش گره‌ها)*"/>
          <p:cNvSpPr/>
          <p:nvPr/>
        </p:nvSpPr>
        <p:spPr>
          <a:xfrm>
            <a:off x="4192194" y="888598"/>
            <a:ext cx="3807306" cy="634551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455" rIns="63455" tIns="31728" bIns="31728"/>
          <a:lstStyle/>
          <a:p>
            <a:pPr algn="ctr" rtl="1"/>
            <a:r>
              <a:rPr sz="133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ورودی لایه (نمایش گره‌ها)</a:t>
            </a:r>
          </a:p>
        </p:txBody>
      </p:sp>
      <p:sp>
        <p:nvSpPr>
          <p:cNvPr id="4" name="**تجمیع پیام از گره‌های همسا"/>
          <p:cNvSpPr/>
          <p:nvPr/>
        </p:nvSpPr>
        <p:spPr>
          <a:xfrm>
            <a:off x="2711575" y="1787546"/>
            <a:ext cx="6768545" cy="898947"/>
          </a:xfrm>
          <a:prstGeom prst="roundRect">
            <a:avLst>
              <a:gd name="adj" fmla="val 7058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455" rIns="63455" tIns="31728" bIns="31728"/>
          <a:lstStyle/>
          <a:p>
            <a:pPr algn="ctr" rtl="1"/>
            <a:r>
              <a:rPr sz="133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تجمیع پیام از گره‌های همسایه</a:t>
            </a:r>
          </a:p>
          <a:p>
            <a:pPr algn="ctr" rtl="1"/>
            <a:r>
              <a:rPr sz="133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(Mean Aggregation)</a:t>
            </a:r>
          </a:p>
        </p:txBody>
      </p:sp>
      <p:sp>
        <p:nvSpPr>
          <p:cNvPr id="5" name="**لایه خطی + مکانیزم دروازه‌"/>
          <p:cNvSpPr/>
          <p:nvPr/>
        </p:nvSpPr>
        <p:spPr>
          <a:xfrm>
            <a:off x="2711575" y="3003769"/>
            <a:ext cx="6768545" cy="898947"/>
          </a:xfrm>
          <a:prstGeom prst="roundRect">
            <a:avLst>
              <a:gd name="adj" fmla="val 7058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455" rIns="63455" tIns="31728" bIns="31728"/>
          <a:lstStyle/>
          <a:p>
            <a:pPr algn="ctr" rtl="1"/>
            <a:r>
              <a:rPr sz="133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لایه خطی + مکانیزم دروازه‌ای</a:t>
            </a:r>
            <a:r>
              <a:rPr sz="133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 (Sigmoid Gate)</a:t>
            </a:r>
          </a:p>
        </p:txBody>
      </p:sp>
      <p:sp>
        <p:nvSpPr>
          <p:cNvPr id="6" name="**LayerNorm + GELU + Dropout"/>
          <p:cNvSpPr/>
          <p:nvPr/>
        </p:nvSpPr>
        <p:spPr>
          <a:xfrm>
            <a:off x="2711575" y="4219991"/>
            <a:ext cx="6768545" cy="740310"/>
          </a:xfrm>
          <a:prstGeom prst="roundRect">
            <a:avLst>
              <a:gd name="adj" fmla="val 8571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455" rIns="63455" tIns="31728" bIns="31728"/>
          <a:lstStyle/>
          <a:p>
            <a:pPr algn="ctr" rtl="1"/>
            <a:r>
              <a:rPr sz="133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LayerNorm + GELU + Dropout</a:t>
            </a:r>
          </a:p>
        </p:txBody>
      </p:sp>
      <p:sp>
        <p:nvSpPr>
          <p:cNvPr id="7" name="اتصال باقی‌مانده"/>
          <p:cNvSpPr/>
          <p:nvPr/>
        </p:nvSpPr>
        <p:spPr>
          <a:xfrm>
            <a:off x="3663402" y="5277577"/>
            <a:ext cx="4864892" cy="634551"/>
          </a:xfrm>
          <a:prstGeom prst="roundRect">
            <a:avLst>
              <a:gd name="adj" fmla="val 1000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455" rIns="63455" tIns="31728" bIns="31728"/>
          <a:lstStyle/>
          <a:p>
            <a:pPr algn="ctr" rtl="1"/>
            <a:r>
              <a:rPr sz="133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اتصال باقی‌مانده</a:t>
            </a:r>
          </a:p>
        </p:txBody>
      </p:sp>
      <p:sp>
        <p:nvSpPr>
          <p:cNvPr id="8" name="**خروجی لایه (نمایش به‌روز گ"/>
          <p:cNvSpPr/>
          <p:nvPr/>
        </p:nvSpPr>
        <p:spPr>
          <a:xfrm>
            <a:off x="3557643" y="6229403"/>
            <a:ext cx="5076409" cy="634551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455" rIns="63455" tIns="31728" bIns="31728"/>
          <a:lstStyle/>
          <a:p>
            <a:pPr algn="ctr" rtl="1"/>
            <a:r>
              <a:rPr sz="133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 لایه (نمایش به‌روز گره‌ها)</a:t>
            </a:r>
          </a:p>
        </p:txBody>
      </p:sp>
      <p:cxnSp>
        <p:nvCxnSpPr>
          <p:cNvPr id="9" name="arrow"/>
          <p:cNvCxnSpPr/>
          <p:nvPr/>
        </p:nvCxnSpPr>
        <p:spPr>
          <a:xfrm>
            <a:off x="6095848" y="1523149"/>
            <a:ext cx="0" cy="264397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rrow"/>
          <p:cNvCxnSpPr/>
          <p:nvPr/>
        </p:nvCxnSpPr>
        <p:spPr>
          <a:xfrm>
            <a:off x="6095848" y="2686493"/>
            <a:ext cx="0" cy="317276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row"/>
          <p:cNvCxnSpPr/>
          <p:nvPr/>
        </p:nvCxnSpPr>
        <p:spPr>
          <a:xfrm>
            <a:off x="6095848" y="3902716"/>
            <a:ext cx="0" cy="317275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row"/>
          <p:cNvCxnSpPr/>
          <p:nvPr/>
        </p:nvCxnSpPr>
        <p:spPr>
          <a:xfrm>
            <a:off x="6095848" y="4960301"/>
            <a:ext cx="0" cy="317276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row"/>
          <p:cNvCxnSpPr/>
          <p:nvPr/>
        </p:nvCxnSpPr>
        <p:spPr>
          <a:xfrm>
            <a:off x="6095848" y="5912128"/>
            <a:ext cx="0" cy="317275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**مکانیزم دروازه‌ای:**"/>
          <p:cNvSpPr/>
          <p:nvPr/>
        </p:nvSpPr>
        <p:spPr>
          <a:xfrm>
            <a:off x="9427241" y="2898010"/>
            <a:ext cx="1745015" cy="1110464"/>
          </a:xfrm>
          <a:prstGeom prst="roundRect">
            <a:avLst>
              <a:gd name="adj" fmla="val 1904"/>
            </a:avLst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455" rIns="63455" tIns="31728" bIns="31728"/>
          <a:lstStyle/>
          <a:p>
            <a:pPr algn="r" rtl="1"/>
            <a:r>
              <a:rPr sz="1040" b="1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مکانیزم دروازه‌ای:</a:t>
            </a:r>
          </a:p>
          <a:p>
            <a:pPr algn="r" rtl="1"/>
            <a:r>
              <a:rPr sz="104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g = σ(W_g · x)</a:t>
            </a:r>
          </a:p>
          <a:p>
            <a:pPr algn="r" rtl="1"/>
            <a:r>
              <a:rPr sz="104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h = g ⊙ (W_l · agg)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۵: ماژول ادغام سه"/>
          <p:cNvSpPr txBox="1"/>
          <p:nvPr/>
        </p:nvSpPr>
        <p:spPr>
          <a:xfrm>
            <a:off x="1110960" y="327101"/>
            <a:ext cx="9969774" cy="440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721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۳.۱۵: ماژول ادغام سه‌گانه و نحوه ترکیب سه جریان</a:t>
            </a:r>
          </a:p>
        </p:txBody>
      </p:sp>
      <p:sp>
        <p:nvSpPr>
          <p:cNvPr id="3" name="**خروجی ترکیبی**"/>
          <p:cNvSpPr/>
          <p:nvPr/>
        </p:nvSpPr>
        <p:spPr>
          <a:xfrm>
            <a:off x="7879912" y="1355562"/>
            <a:ext cx="3148350" cy="892032"/>
          </a:xfrm>
          <a:prstGeom prst="roundRect">
            <a:avLst>
              <a:gd name="adj" fmla="val 7058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2967" rIns="62967" tIns="31483" bIns="31483"/>
          <a:lstStyle/>
          <a:p>
            <a:pPr algn="ctr" rtl="1"/>
            <a:r>
              <a:rPr sz="1262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 ترکیبی</a:t>
            </a:r>
          </a:p>
          <a:p>
            <a:pPr algn="ctr" rtl="1"/>
            <a:r>
              <a:rPr sz="1262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(Transformer + TCN (h_12</a:t>
            </a:r>
          </a:p>
        </p:txBody>
      </p:sp>
      <p:sp>
        <p:nvSpPr>
          <p:cNvPr id="4" name="**خروجی GNN**"/>
          <p:cNvSpPr/>
          <p:nvPr/>
        </p:nvSpPr>
        <p:spPr>
          <a:xfrm>
            <a:off x="1215905" y="1355562"/>
            <a:ext cx="2938460" cy="892032"/>
          </a:xfrm>
          <a:prstGeom prst="roundRect">
            <a:avLst>
              <a:gd name="adj" fmla="val 7058"/>
            </a:avLst>
          </a:prstGeom>
          <a:solidFill>
            <a:srgbClr val="E4DFE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2967" rIns="62967" tIns="31483" bIns="31483"/>
          <a:lstStyle/>
          <a:p>
            <a:pPr algn="ctr" rtl="1"/>
            <a:r>
              <a:rPr sz="1262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 GNN</a:t>
            </a:r>
          </a:p>
          <a:p>
            <a:pPr algn="ctr" rtl="1"/>
            <a:r>
              <a:rPr sz="1262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(h_gnn)</a:t>
            </a:r>
          </a:p>
        </p:txBody>
      </p:sp>
      <p:sp>
        <p:nvSpPr>
          <p:cNvPr id="5" name="**الحاق + حاصل‌ضرب عنصری**"/>
          <p:cNvSpPr/>
          <p:nvPr/>
        </p:nvSpPr>
        <p:spPr>
          <a:xfrm>
            <a:off x="4259310" y="2667375"/>
            <a:ext cx="4197799" cy="996977"/>
          </a:xfrm>
          <a:prstGeom prst="roundRect">
            <a:avLst>
              <a:gd name="adj" fmla="val 6315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2967" rIns="62967" tIns="31483" bIns="31483"/>
          <a:lstStyle/>
          <a:p>
            <a:pPr algn="ctr" rtl="1"/>
            <a:r>
              <a:rPr sz="1262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الحاق + حاصل‌ضرب عنصری</a:t>
            </a:r>
          </a:p>
          <a:p>
            <a:pPr algn="ctr" rtl="1"/>
            <a:r>
              <a:rPr sz="1262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[h_12 ; h_gnn ; h_12 ⊙ h_gnn]</a:t>
            </a:r>
          </a:p>
        </p:txBody>
      </p:sp>
      <p:cxnSp>
        <p:nvCxnSpPr>
          <p:cNvPr id="6" name="arrow"/>
          <p:cNvCxnSpPr/>
          <p:nvPr/>
        </p:nvCxnSpPr>
        <p:spPr>
          <a:xfrm>
            <a:off x="7879912" y="1801578"/>
            <a:ext cx="209890" cy="865796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arrow"/>
          <p:cNvCxnSpPr/>
          <p:nvPr/>
        </p:nvCxnSpPr>
        <p:spPr>
          <a:xfrm>
            <a:off x="4154365" y="1801578"/>
            <a:ext cx="472252" cy="865796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**Linear (3·d → 2·d)**"/>
          <p:cNvSpPr/>
          <p:nvPr/>
        </p:nvSpPr>
        <p:spPr>
          <a:xfrm>
            <a:off x="4416727" y="3979187"/>
            <a:ext cx="3882964" cy="892032"/>
          </a:xfrm>
          <a:prstGeom prst="roundRect">
            <a:avLst>
              <a:gd name="adj" fmla="val 7058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2967" rIns="62967" tIns="31483" bIns="31483"/>
          <a:lstStyle/>
          <a:p>
            <a:pPr algn="ctr" rtl="1"/>
            <a:r>
              <a:rPr sz="131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Linear (3·d → 2·d)</a:t>
            </a:r>
          </a:p>
          <a:p>
            <a:pPr algn="ctr" rtl="1"/>
            <a:r>
              <a:rPr sz="131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+ GELU</a:t>
            </a:r>
          </a:p>
        </p:txBody>
      </p:sp>
      <p:cxnSp>
        <p:nvCxnSpPr>
          <p:cNvPr id="9" name="arrow"/>
          <p:cNvCxnSpPr/>
          <p:nvPr/>
        </p:nvCxnSpPr>
        <p:spPr>
          <a:xfrm>
            <a:off x="6358210" y="3664352"/>
            <a:ext cx="0" cy="314835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**Linear (2·d → d)**"/>
          <p:cNvSpPr/>
          <p:nvPr/>
        </p:nvSpPr>
        <p:spPr>
          <a:xfrm>
            <a:off x="4416727" y="5133582"/>
            <a:ext cx="3882964" cy="892032"/>
          </a:xfrm>
          <a:prstGeom prst="roundRect">
            <a:avLst>
              <a:gd name="adj" fmla="val 7058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2967" rIns="62967" tIns="31483" bIns="31483"/>
          <a:lstStyle/>
          <a:p>
            <a:pPr algn="ctr" rtl="1"/>
            <a:r>
              <a:rPr sz="131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Linear (2·d → d)</a:t>
            </a:r>
          </a:p>
          <a:p>
            <a:pPr algn="ctr" rtl="1"/>
            <a:r>
              <a:rPr sz="131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+ LayerNorm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6358210" y="4871220"/>
            <a:ext cx="0" cy="262362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**نمایش ادغام‌شده نهایی**"/>
          <p:cNvSpPr/>
          <p:nvPr/>
        </p:nvSpPr>
        <p:spPr>
          <a:xfrm>
            <a:off x="4521672" y="6235505"/>
            <a:ext cx="3673074" cy="629670"/>
          </a:xfrm>
          <a:prstGeom prst="roundRect">
            <a:avLst>
              <a:gd name="adj" fmla="val 1000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2967" rIns="62967" tIns="31483" bIns="31483"/>
          <a:lstStyle/>
          <a:p>
            <a:pPr algn="ctr" rtl="1"/>
            <a:r>
              <a:rPr sz="1377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نمایش ادغام‌شده نهایی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6358210" y="6025615"/>
            <a:ext cx="0" cy="20989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۶: ساختار سر مشتر"/>
          <p:cNvSpPr txBox="1"/>
          <p:nvPr/>
        </p:nvSpPr>
        <p:spPr>
          <a:xfrm>
            <a:off x="495901" y="452331"/>
            <a:ext cx="11199891" cy="49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93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۳.۱۶: ساختار سر مشترک و چهار سر تخصصی خروجی</a:t>
            </a:r>
          </a:p>
        </p:txBody>
      </p:sp>
      <p:sp>
        <p:nvSpPr>
          <p:cNvPr id="3" name="**نمایش ادغام‌شده**"/>
          <p:cNvSpPr/>
          <p:nvPr/>
        </p:nvSpPr>
        <p:spPr>
          <a:xfrm>
            <a:off x="3973763" y="1041799"/>
            <a:ext cx="4244169" cy="707362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547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نمایش ادغام‌شده</a:t>
            </a:r>
          </a:p>
        </p:txBody>
      </p:sp>
      <p:sp>
        <p:nvSpPr>
          <p:cNvPr id="4" name="**سر مشترک**"/>
          <p:cNvSpPr/>
          <p:nvPr/>
        </p:nvSpPr>
        <p:spPr>
          <a:xfrm>
            <a:off x="2676933" y="2020316"/>
            <a:ext cx="6837828" cy="1084621"/>
          </a:xfrm>
          <a:prstGeom prst="roundRect">
            <a:avLst>
              <a:gd name="adj" fmla="val 6521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82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مشترک</a:t>
            </a:r>
          </a:p>
          <a:p>
            <a:pPr algn="ctr" rtl="1"/>
            <a:r>
              <a:rPr sz="1482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LayerNorm → Linear → GELU → Dropout → Linear → GELU</a:t>
            </a:r>
          </a:p>
        </p:txBody>
      </p:sp>
      <p:cxnSp>
        <p:nvCxnSpPr>
          <p:cNvPr id="5" name="arrow"/>
          <p:cNvCxnSpPr/>
          <p:nvPr/>
        </p:nvCxnSpPr>
        <p:spPr>
          <a:xfrm>
            <a:off x="6095848" y="1749161"/>
            <a:ext cx="0" cy="271155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**سر ۱**"/>
          <p:cNvSpPr/>
          <p:nvPr/>
        </p:nvSpPr>
        <p:spPr>
          <a:xfrm>
            <a:off x="9102134" y="3435039"/>
            <a:ext cx="2711553" cy="1155357"/>
          </a:xfrm>
          <a:prstGeom prst="roundRect">
            <a:avLst>
              <a:gd name="adj" fmla="val 6122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۱</a:t>
            </a:r>
          </a:p>
          <a:p>
            <a:pPr algn="ctr" rtl="1"/>
            <a:r>
              <a:rPr sz="1418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فعالیت بعدی</a:t>
            </a:r>
          </a:p>
          <a:p>
            <a:pPr algn="ctr" rtl="1"/>
            <a:r>
              <a:rPr sz="1418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Linear → Softmax</a:t>
            </a:r>
          </a:p>
        </p:txBody>
      </p:sp>
      <p:cxnSp>
        <p:nvCxnSpPr>
          <p:cNvPr id="7" name="arrow"/>
          <p:cNvCxnSpPr/>
          <p:nvPr/>
        </p:nvCxnSpPr>
        <p:spPr>
          <a:xfrm>
            <a:off x="6095848" y="3104937"/>
            <a:ext cx="4362063" cy="306523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توزیع احتمال"/>
          <p:cNvSpPr/>
          <p:nvPr/>
        </p:nvSpPr>
        <p:spPr>
          <a:xfrm>
            <a:off x="9102134" y="4790815"/>
            <a:ext cx="2711553" cy="848834"/>
          </a:xfrm>
          <a:prstGeom prst="rect">
            <a:avLst/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289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توزیع احتمال</a:t>
            </a:r>
          </a:p>
          <a:p>
            <a:pPr algn="ctr" rtl="1"/>
            <a:r>
              <a:rPr sz="1289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(تعداد فعالیت)</a:t>
            </a:r>
          </a:p>
        </p:txBody>
      </p:sp>
      <p:sp>
        <p:nvSpPr>
          <p:cNvPr id="9" name="**سر ۲**"/>
          <p:cNvSpPr/>
          <p:nvPr/>
        </p:nvSpPr>
        <p:spPr>
          <a:xfrm>
            <a:off x="6213741" y="3435039"/>
            <a:ext cx="2711553" cy="1155357"/>
          </a:xfrm>
          <a:prstGeom prst="roundRect">
            <a:avLst>
              <a:gd name="adj" fmla="val 6122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۲</a:t>
            </a:r>
          </a:p>
          <a:p>
            <a:pPr algn="ctr" rtl="1"/>
            <a:r>
              <a:rPr sz="1418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زمان باقی‌مانده</a:t>
            </a:r>
          </a:p>
          <a:p>
            <a:pPr algn="ctr" rtl="1"/>
            <a:r>
              <a:rPr sz="1418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Linear → Scalar</a:t>
            </a:r>
          </a:p>
        </p:txBody>
      </p:sp>
      <p:cxnSp>
        <p:nvCxnSpPr>
          <p:cNvPr id="10" name="arrow"/>
          <p:cNvCxnSpPr/>
          <p:nvPr/>
        </p:nvCxnSpPr>
        <p:spPr>
          <a:xfrm>
            <a:off x="6095848" y="3104937"/>
            <a:ext cx="1473670" cy="306523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مقدار اسکالر"/>
          <p:cNvSpPr/>
          <p:nvPr/>
        </p:nvSpPr>
        <p:spPr>
          <a:xfrm>
            <a:off x="6213741" y="4790815"/>
            <a:ext cx="2711553" cy="848834"/>
          </a:xfrm>
          <a:prstGeom prst="rect">
            <a:avLst/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289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مقدار اسکالر</a:t>
            </a:r>
          </a:p>
          <a:p>
            <a:pPr algn="ctr" rtl="1"/>
            <a:r>
              <a:rPr sz="1289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(log1p نرمال‌شده)</a:t>
            </a:r>
          </a:p>
        </p:txBody>
      </p:sp>
      <p:sp>
        <p:nvSpPr>
          <p:cNvPr id="12" name="**سر ۳**"/>
          <p:cNvSpPr/>
          <p:nvPr/>
        </p:nvSpPr>
        <p:spPr>
          <a:xfrm>
            <a:off x="3325348" y="3435039"/>
            <a:ext cx="2711553" cy="1155357"/>
          </a:xfrm>
          <a:prstGeom prst="roundRect">
            <a:avLst>
              <a:gd name="adj" fmla="val 6122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۳</a:t>
            </a:r>
          </a:p>
          <a:p>
            <a:pPr algn="ctr" rtl="1"/>
            <a:r>
              <a:rPr sz="1418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بهبود تأخیر</a:t>
            </a:r>
          </a:p>
          <a:p>
            <a:pPr algn="ctr" rtl="1"/>
            <a:r>
              <a:rPr sz="1418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Linear → tanh</a:t>
            </a:r>
          </a:p>
        </p:txBody>
      </p:sp>
      <p:cxnSp>
        <p:nvCxnSpPr>
          <p:cNvPr id="13" name="arrow"/>
          <p:cNvCxnSpPr/>
          <p:nvPr/>
        </p:nvCxnSpPr>
        <p:spPr>
          <a:xfrm flipH="1">
            <a:off x="4681124" y="3104937"/>
            <a:ext cx="1414724" cy="306523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مقدار اسکالر"/>
          <p:cNvSpPr/>
          <p:nvPr/>
        </p:nvSpPr>
        <p:spPr>
          <a:xfrm>
            <a:off x="3325348" y="4790815"/>
            <a:ext cx="2711553" cy="848834"/>
          </a:xfrm>
          <a:prstGeom prst="rect">
            <a:avLst/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289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مقدار اسکالر</a:t>
            </a:r>
          </a:p>
          <a:p>
            <a:pPr algn="ctr" rtl="1"/>
            <a:r>
              <a:rPr sz="1289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(tanh نرمال‌شده)</a:t>
            </a:r>
          </a:p>
        </p:txBody>
      </p:sp>
      <p:sp>
        <p:nvSpPr>
          <p:cNvPr id="15" name="**سر ۴**"/>
          <p:cNvSpPr/>
          <p:nvPr/>
        </p:nvSpPr>
        <p:spPr>
          <a:xfrm>
            <a:off x="436954" y="3435039"/>
            <a:ext cx="2711553" cy="1155357"/>
          </a:xfrm>
          <a:prstGeom prst="roundRect">
            <a:avLst>
              <a:gd name="adj" fmla="val 6122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۴</a:t>
            </a:r>
          </a:p>
          <a:p>
            <a:pPr algn="ctr" rtl="1"/>
            <a:r>
              <a:rPr sz="1418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گلوگاه</a:t>
            </a:r>
          </a:p>
          <a:p>
            <a:pPr algn="ctr" rtl="1"/>
            <a:r>
              <a:rPr sz="1418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Linear → Logits</a:t>
            </a:r>
          </a:p>
        </p:txBody>
      </p:sp>
      <p:cxnSp>
        <p:nvCxnSpPr>
          <p:cNvPr id="16" name="arrow"/>
          <p:cNvCxnSpPr/>
          <p:nvPr/>
        </p:nvCxnSpPr>
        <p:spPr>
          <a:xfrm flipH="1">
            <a:off x="1792730" y="3104937"/>
            <a:ext cx="4303117" cy="306523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بردار لوجیت"/>
          <p:cNvSpPr/>
          <p:nvPr/>
        </p:nvSpPr>
        <p:spPr>
          <a:xfrm>
            <a:off x="436954" y="4790815"/>
            <a:ext cx="2711553" cy="848834"/>
          </a:xfrm>
          <a:prstGeom prst="rect">
            <a:avLst/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289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بردار لوجیت</a:t>
            </a:r>
          </a:p>
          <a:p>
            <a:pPr algn="ctr" rtl="1"/>
            <a:r>
              <a:rPr sz="1289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(برای هر توکن)</a:t>
            </a:r>
          </a:p>
        </p:txBody>
      </p:sp>
      <p:sp>
        <p:nvSpPr>
          <p:cNvPr id="18" name="**گره‌بندی وزنی:** فعالیت بع"/>
          <p:cNvSpPr/>
          <p:nvPr/>
        </p:nvSpPr>
        <p:spPr>
          <a:xfrm>
            <a:off x="3030614" y="5969751"/>
            <a:ext cx="6130467" cy="589468"/>
          </a:xfrm>
          <a:prstGeom prst="roundRect">
            <a:avLst>
              <a:gd name="adj" fmla="val 12000"/>
            </a:avLst>
          </a:prstGeom>
          <a:solidFill>
            <a:srgbClr val="F8DCDC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18" b="1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گره‌بندی وزنی:</a:t>
            </a:r>
            <a:r>
              <a:rPr sz="1418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 فعالیت بعدی ↔ تعبیه فعالیت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۷: گره‌بندی وزنی "/>
          <p:cNvSpPr txBox="1"/>
          <p:nvPr/>
        </p:nvSpPr>
        <p:spPr>
          <a:xfrm>
            <a:off x="495901" y="570225"/>
            <a:ext cx="11199891" cy="49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93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۳.۱۷: گره‌بندی وزنی میان لایه تعبیه فعالیت و سر خروجی</a:t>
            </a:r>
          </a:p>
        </p:txBody>
      </p:sp>
      <p:sp>
        <p:nvSpPr>
          <p:cNvPr id="3" name="**لایه تعبیه فعالیت**"/>
          <p:cNvSpPr/>
          <p:nvPr/>
        </p:nvSpPr>
        <p:spPr>
          <a:xfrm>
            <a:off x="731688" y="1548742"/>
            <a:ext cx="4951531" cy="1237883"/>
          </a:xfrm>
          <a:prstGeom prst="roundRect">
            <a:avLst>
              <a:gd name="adj" fmla="val 5714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82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لایه تعبیه فعالیت</a:t>
            </a:r>
          </a:p>
          <a:p>
            <a:pPr algn="ctr" rtl="1"/>
            <a:r>
              <a:rPr sz="1482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(num_activities × d_model)</a:t>
            </a:r>
          </a:p>
        </p:txBody>
      </p:sp>
      <p:sp>
        <p:nvSpPr>
          <p:cNvPr id="4" name="**سر خروجی فعالیت**"/>
          <p:cNvSpPr/>
          <p:nvPr/>
        </p:nvSpPr>
        <p:spPr>
          <a:xfrm>
            <a:off x="6508475" y="1548742"/>
            <a:ext cx="4951531" cy="1237883"/>
          </a:xfrm>
          <a:prstGeom prst="roundRect">
            <a:avLst>
              <a:gd name="adj" fmla="val 5714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482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خروجی فعالیت</a:t>
            </a:r>
          </a:p>
          <a:p>
            <a:pPr algn="ctr" rtl="1"/>
            <a:r>
              <a:rPr sz="1482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(d_model × num_activities)</a:t>
            </a:r>
          </a:p>
        </p:txBody>
      </p:sp>
      <p:cxnSp>
        <p:nvCxnSpPr>
          <p:cNvPr id="5" name="line"/>
          <p:cNvCxnSpPr/>
          <p:nvPr/>
        </p:nvCxnSpPr>
        <p:spPr>
          <a:xfrm>
            <a:off x="5801114" y="2161789"/>
            <a:ext cx="589468" cy="0"/>
          </a:xfrm>
          <a:prstGeom prst="line">
            <a:avLst/>
          </a:prstGeom>
          <a:ln w="254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**اشتراک وزن**"/>
          <p:cNvSpPr/>
          <p:nvPr/>
        </p:nvSpPr>
        <p:spPr>
          <a:xfrm>
            <a:off x="5211646" y="959274"/>
            <a:ext cx="1768404" cy="495153"/>
          </a:xfrm>
          <a:prstGeom prst="roundRect">
            <a:avLst>
              <a:gd name="adj" fmla="val 14285"/>
            </a:avLst>
          </a:prstGeom>
          <a:solidFill>
            <a:srgbClr val="F8DCDC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353" b="1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اشتراک وزن</a:t>
            </a:r>
          </a:p>
        </p:txBody>
      </p:sp>
      <p:sp>
        <p:nvSpPr>
          <p:cNvPr id="7" name="txt **مزایای گره‌بندی وزنی:*"/>
          <p:cNvSpPr txBox="1"/>
          <p:nvPr/>
        </p:nvSpPr>
        <p:spPr>
          <a:xfrm>
            <a:off x="6095848" y="3140306"/>
            <a:ext cx="5423105" cy="400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547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مزایای گره‌بندی وزنی:</a:t>
            </a:r>
          </a:p>
        </p:txBody>
      </p:sp>
      <p:sp>
        <p:nvSpPr>
          <p:cNvPr id="8" name="txt • کاهش تعداد پارامترها ("/>
          <p:cNvSpPr txBox="1"/>
          <p:nvPr/>
        </p:nvSpPr>
        <p:spPr>
          <a:xfrm>
            <a:off x="1380103" y="3706195"/>
            <a:ext cx="10138849" cy="400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482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• کاهش تعداد پارامترها (۵۰٪ در این دو لایه)</a:t>
            </a:r>
          </a:p>
        </p:txBody>
      </p:sp>
      <p:sp>
        <p:nvSpPr>
          <p:cNvPr id="9" name="txt • بهبود تعمیم‌پذیری"/>
          <p:cNvSpPr txBox="1"/>
          <p:nvPr/>
        </p:nvSpPr>
        <p:spPr>
          <a:xfrm>
            <a:off x="1380103" y="4248505"/>
            <a:ext cx="10138849" cy="400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482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• بهبود تعمیم‌پذیری</a:t>
            </a:r>
          </a:p>
        </p:txBody>
      </p:sp>
      <p:sp>
        <p:nvSpPr>
          <p:cNvPr id="10" name="txt • هم‌راستایی فضای تعبیه "/>
          <p:cNvSpPr txBox="1"/>
          <p:nvPr/>
        </p:nvSpPr>
        <p:spPr>
          <a:xfrm>
            <a:off x="1380103" y="4790816"/>
            <a:ext cx="10138849" cy="400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482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• هم‌راستایی فضای تعبیه و فضای خروجی</a:t>
            </a:r>
          </a:p>
        </p:txBody>
      </p:sp>
      <p:sp>
        <p:nvSpPr>
          <p:cNvPr id="11" name="txt • کاهش حافظه مصرفی"/>
          <p:cNvSpPr txBox="1"/>
          <p:nvPr/>
        </p:nvSpPr>
        <p:spPr>
          <a:xfrm>
            <a:off x="1380103" y="5333126"/>
            <a:ext cx="10138849" cy="400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482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• کاهش حافظه مصرفی</a:t>
            </a:r>
          </a:p>
        </p:txBody>
      </p:sp>
      <p:sp>
        <p:nvSpPr>
          <p:cNvPr id="12" name="txt • جلوگیری از بیش‌برازش"/>
          <p:cNvSpPr txBox="1"/>
          <p:nvPr/>
        </p:nvSpPr>
        <p:spPr>
          <a:xfrm>
            <a:off x="1380103" y="5875437"/>
            <a:ext cx="10138849" cy="400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482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• جلوگیری از بیش‌برازش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۸: ساختار تابع زی"/>
          <p:cNvSpPr txBox="1"/>
          <p:nvPr/>
        </p:nvSpPr>
        <p:spPr>
          <a:xfrm>
            <a:off x="509336" y="342301"/>
            <a:ext cx="11173022" cy="4939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929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۳.۱۸: ساختار تابع زیان چندوظیفه‌ای و وزن‌های هر مؤلفه</a:t>
            </a:r>
          </a:p>
        </p:txBody>
      </p:sp>
      <p:sp>
        <p:nvSpPr>
          <p:cNvPr id="3" name="**L_activity**"/>
          <p:cNvSpPr/>
          <p:nvPr/>
        </p:nvSpPr>
        <p:spPr>
          <a:xfrm>
            <a:off x="9094921" y="930355"/>
            <a:ext cx="2705047" cy="1905294"/>
          </a:xfrm>
          <a:prstGeom prst="roundRect">
            <a:avLst>
              <a:gd name="adj" fmla="val 3703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41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L_activity</a:t>
            </a:r>
          </a:p>
          <a:p>
            <a:pPr algn="ctr" rtl="1"/>
            <a:r>
              <a:rPr sz="141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CrossEntropy</a:t>
            </a:r>
          </a:p>
          <a:p>
            <a:pPr algn="ctr" rtl="1"/>
            <a:r>
              <a:rPr sz="141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+ Label Smoothing</a:t>
            </a:r>
          </a:p>
          <a:p>
            <a:pPr algn="ctr" rtl="1"/>
            <a:r>
              <a:rPr sz="141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+ Class Weights</a:t>
            </a:r>
          </a:p>
        </p:txBody>
      </p:sp>
      <p:sp>
        <p:nvSpPr>
          <p:cNvPr id="4" name="**λ = 1.0**"/>
          <p:cNvSpPr/>
          <p:nvPr/>
        </p:nvSpPr>
        <p:spPr>
          <a:xfrm>
            <a:off x="9506559" y="3047348"/>
            <a:ext cx="1881772" cy="588054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414" b="1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λ = 1.0</a:t>
            </a:r>
          </a:p>
        </p:txBody>
      </p:sp>
      <p:sp>
        <p:nvSpPr>
          <p:cNvPr id="5" name="**L_remaining**"/>
          <p:cNvSpPr/>
          <p:nvPr/>
        </p:nvSpPr>
        <p:spPr>
          <a:xfrm>
            <a:off x="6213458" y="930355"/>
            <a:ext cx="2705047" cy="1905294"/>
          </a:xfrm>
          <a:prstGeom prst="roundRect">
            <a:avLst>
              <a:gd name="adj" fmla="val 3703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41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L_remaining</a:t>
            </a:r>
          </a:p>
          <a:p>
            <a:pPr algn="ctr" rtl="1"/>
            <a:r>
              <a:rPr sz="141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Huber Loss</a:t>
            </a:r>
          </a:p>
          <a:p>
            <a:pPr algn="ctr" rtl="1"/>
            <a:r>
              <a:rPr sz="141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(δ=1.0)</a:t>
            </a:r>
          </a:p>
        </p:txBody>
      </p:sp>
      <p:sp>
        <p:nvSpPr>
          <p:cNvPr id="6" name="**λ = 0.3**"/>
          <p:cNvSpPr/>
          <p:nvPr/>
        </p:nvSpPr>
        <p:spPr>
          <a:xfrm>
            <a:off x="6625095" y="3047348"/>
            <a:ext cx="1881772" cy="588054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414" b="1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λ = 0.3</a:t>
            </a:r>
          </a:p>
        </p:txBody>
      </p:sp>
      <p:sp>
        <p:nvSpPr>
          <p:cNvPr id="7" name="**L_improvement**"/>
          <p:cNvSpPr/>
          <p:nvPr/>
        </p:nvSpPr>
        <p:spPr>
          <a:xfrm>
            <a:off x="3331994" y="930355"/>
            <a:ext cx="2705047" cy="1905294"/>
          </a:xfrm>
          <a:prstGeom prst="roundRect">
            <a:avLst>
              <a:gd name="adj" fmla="val 3703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41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L_improvement</a:t>
            </a:r>
          </a:p>
          <a:p>
            <a:pPr algn="ctr" rtl="1"/>
            <a:r>
              <a:rPr sz="141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Huber Loss</a:t>
            </a:r>
          </a:p>
          <a:p>
            <a:pPr algn="ctr" rtl="1"/>
            <a:r>
              <a:rPr sz="141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+ tanh</a:t>
            </a:r>
          </a:p>
        </p:txBody>
      </p:sp>
      <p:sp>
        <p:nvSpPr>
          <p:cNvPr id="8" name="**λ = 0.3**"/>
          <p:cNvSpPr/>
          <p:nvPr/>
        </p:nvSpPr>
        <p:spPr>
          <a:xfrm>
            <a:off x="3743632" y="3047348"/>
            <a:ext cx="1881772" cy="588054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414" b="1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λ = 0.3</a:t>
            </a:r>
          </a:p>
        </p:txBody>
      </p:sp>
      <p:sp>
        <p:nvSpPr>
          <p:cNvPr id="9" name="**L_bottleneck**"/>
          <p:cNvSpPr/>
          <p:nvPr/>
        </p:nvSpPr>
        <p:spPr>
          <a:xfrm>
            <a:off x="450531" y="930355"/>
            <a:ext cx="2705047" cy="1905294"/>
          </a:xfrm>
          <a:prstGeom prst="roundRect">
            <a:avLst>
              <a:gd name="adj" fmla="val 3703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414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L_bottleneck</a:t>
            </a:r>
          </a:p>
          <a:p>
            <a:pPr algn="ctr" rtl="1"/>
            <a:r>
              <a:rPr sz="141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Binary CE</a:t>
            </a:r>
          </a:p>
          <a:p>
            <a:pPr algn="ctr" rtl="1"/>
            <a:r>
              <a:rPr sz="141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(میانه زمان)</a:t>
            </a:r>
          </a:p>
        </p:txBody>
      </p:sp>
      <p:sp>
        <p:nvSpPr>
          <p:cNvPr id="10" name="**λ = 0.1**"/>
          <p:cNvSpPr/>
          <p:nvPr/>
        </p:nvSpPr>
        <p:spPr>
          <a:xfrm>
            <a:off x="862168" y="3047348"/>
            <a:ext cx="1881772" cy="588054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414" b="1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λ = 0.1</a:t>
            </a:r>
          </a:p>
        </p:txBody>
      </p:sp>
      <p:sp>
        <p:nvSpPr>
          <p:cNvPr id="11" name="**L_total = λ_activity · L_a"/>
          <p:cNvSpPr/>
          <p:nvPr/>
        </p:nvSpPr>
        <p:spPr>
          <a:xfrm>
            <a:off x="1215000" y="4376350"/>
            <a:ext cx="9761693" cy="1058497"/>
          </a:xfrm>
          <a:prstGeom prst="roundRect">
            <a:avLst>
              <a:gd name="adj" fmla="val 6666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221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L_total = λ_activity · L_activity + λ_remaining · L_remaining + λ_improvement · L_improvement + λ_bottleneck · L_bottleneck</a:t>
            </a:r>
          </a:p>
        </p:txBody>
      </p:sp>
      <p:cxnSp>
        <p:nvCxnSpPr>
          <p:cNvPr id="12" name="arrow"/>
          <p:cNvCxnSpPr/>
          <p:nvPr/>
        </p:nvCxnSpPr>
        <p:spPr>
          <a:xfrm>
            <a:off x="10447445" y="3658924"/>
            <a:ext cx="0" cy="717426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row"/>
          <p:cNvCxnSpPr/>
          <p:nvPr/>
        </p:nvCxnSpPr>
        <p:spPr>
          <a:xfrm>
            <a:off x="7565981" y="3658924"/>
            <a:ext cx="0" cy="717426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rrow"/>
          <p:cNvCxnSpPr/>
          <p:nvPr/>
        </p:nvCxnSpPr>
        <p:spPr>
          <a:xfrm>
            <a:off x="4684518" y="3658924"/>
            <a:ext cx="0" cy="717426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arrow"/>
          <p:cNvCxnSpPr/>
          <p:nvPr/>
        </p:nvCxnSpPr>
        <p:spPr>
          <a:xfrm>
            <a:off x="1803054" y="3658924"/>
            <a:ext cx="0" cy="717426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**پس‌انتشار و به‌روزرسانی وز"/>
          <p:cNvSpPr/>
          <p:nvPr/>
        </p:nvSpPr>
        <p:spPr>
          <a:xfrm>
            <a:off x="3273189" y="5964095"/>
            <a:ext cx="5645316" cy="729187"/>
          </a:xfrm>
          <a:prstGeom prst="roundRect">
            <a:avLst>
              <a:gd name="adj" fmla="val 9677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566" rIns="70566" tIns="35283" bIns="35283"/>
          <a:lstStyle/>
          <a:p>
            <a:pPr algn="ctr" rtl="1"/>
            <a:r>
              <a:rPr sz="154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پس‌انتشار و به‌روزرسانی وزن‌ها</a:t>
            </a:r>
          </a:p>
        </p:txBody>
      </p:sp>
      <p:cxnSp>
        <p:nvCxnSpPr>
          <p:cNvPr id="17" name="arrow"/>
          <p:cNvCxnSpPr/>
          <p:nvPr/>
        </p:nvCxnSpPr>
        <p:spPr>
          <a:xfrm>
            <a:off x="6095847" y="5434847"/>
            <a:ext cx="0" cy="529248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۹: زمان‌بند نرخ ی"/>
          <p:cNvSpPr txBox="1"/>
          <p:nvPr/>
        </p:nvSpPr>
        <p:spPr>
          <a:xfrm>
            <a:off x="495901" y="923905"/>
            <a:ext cx="11199891" cy="49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93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۳.۱۹: زمان‌بند نرخ یادگیری — گرم‌کردن خطی + کاهش کسینوسی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62209" y="1631267"/>
          <a:ext cx="8252551" cy="412627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Base LR = 3.0e-04"/>
          <p:cNvSpPr/>
          <p:nvPr/>
        </p:nvSpPr>
        <p:spPr>
          <a:xfrm>
            <a:off x="9750549" y="2138209"/>
            <a:ext cx="2004191" cy="589468"/>
          </a:xfrm>
          <a:prstGeom prst="rect">
            <a:avLst/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224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Base LR = 3.0e-04</a:t>
            </a:r>
          </a:p>
        </p:txBody>
      </p:sp>
      <p:sp>
        <p:nvSpPr>
          <p:cNvPr id="5" name="**Warmup = 150 steps**"/>
          <p:cNvSpPr/>
          <p:nvPr/>
        </p:nvSpPr>
        <p:spPr>
          <a:xfrm>
            <a:off x="9750549" y="2904518"/>
            <a:ext cx="2004191" cy="1002096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736" rIns="70736" tIns="35368" bIns="35368"/>
          <a:lstStyle/>
          <a:p>
            <a:pPr algn="ctr" rtl="1"/>
            <a:r>
              <a:rPr sz="1224" b="1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Warmup = 150 steps</a:t>
            </a:r>
          </a:p>
          <a:p>
            <a:pPr algn="ctr" rtl="1"/>
            <a:r>
              <a:rPr sz="1224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(افزایش خطی)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۲۰: فرآیند میانگین"/>
          <p:cNvSpPr txBox="1"/>
          <p:nvPr/>
        </p:nvSpPr>
        <p:spPr>
          <a:xfrm>
            <a:off x="495901" y="511278"/>
            <a:ext cx="11199891" cy="49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93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۳.۲۰: فرآیند میانگین‌گیری وزنی تصادفی (SWA) در طول آموزش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62209" y="1218640"/>
          <a:ext cx="9667275" cy="442101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xt فعال‌سازی SWA از دوره ۸۰"/>
          <p:cNvSpPr txBox="1"/>
          <p:nvPr/>
        </p:nvSpPr>
        <p:spPr>
          <a:xfrm>
            <a:off x="672741" y="5969752"/>
            <a:ext cx="10846210" cy="3772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89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فعال‌سازی SWA از دوره ۸۰؛ میانگین وزن‌ها در ۳۰ دوره پایانی گرفته می‌شود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۲۱: نمودار شناسایی"/>
          <p:cNvSpPr txBox="1"/>
          <p:nvPr/>
        </p:nvSpPr>
        <p:spPr>
          <a:xfrm>
            <a:off x="495901" y="511278"/>
            <a:ext cx="11199891" cy="49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933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۳.۲۱: نمودار شناسایی گلوگاه‌ها بر اساس میانگین زمان انتظار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80103" y="1171482"/>
          <a:ext cx="10138849" cy="471574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xt ستون‌های قرمز: بالاتر از"/>
          <p:cNvSpPr txBox="1"/>
          <p:nvPr/>
        </p:nvSpPr>
        <p:spPr>
          <a:xfrm>
            <a:off x="554848" y="6052277"/>
            <a:ext cx="11081998" cy="3536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89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ستون‌های قرمز: بالاتر از آستانه گلوگاه (صدک ۷۰ ≈ ۷۱٫۵ دقیقه)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۲۲: نمونه‌ای از پی"/>
          <p:cNvSpPr txBox="1"/>
          <p:nvPr/>
        </p:nvSpPr>
        <p:spPr>
          <a:xfrm>
            <a:off x="1033072" y="329070"/>
            <a:ext cx="10125551" cy="447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748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۳.۲۲: نمونه‌ای از پیشنهاد فعالیت‌های بعدی برای یک پیشوند دلخواه</a:t>
            </a:r>
          </a:p>
        </p:txBody>
      </p:sp>
      <p:sp>
        <p:nvSpPr>
          <p:cNvPr id="3" name="**پیشوند ورودی:** [A, B, C, "/>
          <p:cNvSpPr/>
          <p:nvPr/>
        </p:nvSpPr>
        <p:spPr>
          <a:xfrm>
            <a:off x="3218059" y="861993"/>
            <a:ext cx="5755576" cy="746093"/>
          </a:xfrm>
          <a:prstGeom prst="roundRect">
            <a:avLst>
              <a:gd name="adj" fmla="val 8571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ctr" rtl="1"/>
            <a:r>
              <a:rPr sz="1398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پیشوند ورودی:</a:t>
            </a:r>
            <a:r>
              <a:rPr sz="1398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 [A, B, C, D]</a:t>
            </a:r>
          </a:p>
        </p:txBody>
      </p:sp>
      <p:sp>
        <p:nvSpPr>
          <p:cNvPr id="4" name="**مدل سه‌جریانه**"/>
          <p:cNvSpPr/>
          <p:nvPr/>
        </p:nvSpPr>
        <p:spPr>
          <a:xfrm>
            <a:off x="3964152" y="2013109"/>
            <a:ext cx="4263390" cy="852678"/>
          </a:xfrm>
          <a:prstGeom prst="roundRect">
            <a:avLst>
              <a:gd name="adj" fmla="val 75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ctr" rtl="1"/>
            <a:r>
              <a:rPr sz="1457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مدل سه‌جریانه</a:t>
            </a:r>
          </a:p>
        </p:txBody>
      </p:sp>
      <p:cxnSp>
        <p:nvCxnSpPr>
          <p:cNvPr id="5" name="arrow"/>
          <p:cNvCxnSpPr/>
          <p:nvPr/>
        </p:nvCxnSpPr>
        <p:spPr>
          <a:xfrm>
            <a:off x="6095848" y="1608087"/>
            <a:ext cx="0" cy="405022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xt **پیشنهاد فعالیت‌های بعد"/>
          <p:cNvSpPr txBox="1"/>
          <p:nvPr/>
        </p:nvSpPr>
        <p:spPr>
          <a:xfrm>
            <a:off x="6682064" y="3164224"/>
            <a:ext cx="4476560" cy="362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34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پیشنهاد فعالیت‌های بعدی:</a:t>
            </a:r>
          </a:p>
        </p:txBody>
      </p:sp>
      <p:sp>
        <p:nvSpPr>
          <p:cNvPr id="7" name="txt **خروجی‌های جانبی:**"/>
          <p:cNvSpPr txBox="1"/>
          <p:nvPr/>
        </p:nvSpPr>
        <p:spPr>
          <a:xfrm>
            <a:off x="1086364" y="3164224"/>
            <a:ext cx="5329238" cy="362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34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خروجی‌های جانبی:</a:t>
            </a:r>
          </a:p>
        </p:txBody>
      </p:sp>
      <p:sp>
        <p:nvSpPr>
          <p:cNvPr id="8" name="**فعالیت E**"/>
          <p:cNvSpPr/>
          <p:nvPr/>
        </p:nvSpPr>
        <p:spPr>
          <a:xfrm>
            <a:off x="8920343" y="3665172"/>
            <a:ext cx="2131695" cy="511607"/>
          </a:xfrm>
          <a:prstGeom prst="roundRect">
            <a:avLst>
              <a:gd name="adj" fmla="val 12500"/>
            </a:avLst>
          </a:prstGeom>
          <a:solidFill>
            <a:srgbClr val="2E9E5B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ctr" rtl="1"/>
            <a:r>
              <a:rPr sz="1282" b="1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فعالیت E</a:t>
            </a:r>
          </a:p>
        </p:txBody>
      </p:sp>
      <p:sp>
        <p:nvSpPr>
          <p:cNvPr id="9" name="احتمال: ۵۲٫۰٪"/>
          <p:cNvSpPr/>
          <p:nvPr/>
        </p:nvSpPr>
        <p:spPr>
          <a:xfrm>
            <a:off x="6788648" y="3665172"/>
            <a:ext cx="2025110" cy="511607"/>
          </a:xfrm>
          <a:prstGeom prst="rect">
            <a:avLst/>
          </a:prstGeom>
          <a:solidFill>
            <a:srgbClr val="F2F2F2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ctr" rtl="1"/>
            <a:r>
              <a:rPr sz="1165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احتمال: ۵۲٫۰٪</a:t>
            </a:r>
          </a:p>
        </p:txBody>
      </p:sp>
      <p:sp>
        <p:nvSpPr>
          <p:cNvPr id="10" name="**فعالیت F**"/>
          <p:cNvSpPr/>
          <p:nvPr/>
        </p:nvSpPr>
        <p:spPr>
          <a:xfrm>
            <a:off x="8920343" y="4251388"/>
            <a:ext cx="2131695" cy="511607"/>
          </a:xfrm>
          <a:prstGeom prst="roundRect">
            <a:avLst>
              <a:gd name="adj" fmla="val 12500"/>
            </a:avLst>
          </a:prstGeom>
          <a:solidFill>
            <a:srgbClr val="2F5597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ctr" rtl="1"/>
            <a:r>
              <a:rPr sz="1282" b="1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فعالیت F</a:t>
            </a:r>
          </a:p>
        </p:txBody>
      </p:sp>
      <p:sp>
        <p:nvSpPr>
          <p:cNvPr id="11" name="احتمال: ۲۴٫۰٪"/>
          <p:cNvSpPr/>
          <p:nvPr/>
        </p:nvSpPr>
        <p:spPr>
          <a:xfrm>
            <a:off x="6788648" y="4251388"/>
            <a:ext cx="2025110" cy="511607"/>
          </a:xfrm>
          <a:prstGeom prst="rect">
            <a:avLst/>
          </a:prstGeom>
          <a:solidFill>
            <a:srgbClr val="F2F2F2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ctr" rtl="1"/>
            <a:r>
              <a:rPr sz="1165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احتمال: ۲۴٫۰٪</a:t>
            </a:r>
          </a:p>
        </p:txBody>
      </p:sp>
      <p:sp>
        <p:nvSpPr>
          <p:cNvPr id="12" name="**فعالیت G**"/>
          <p:cNvSpPr/>
          <p:nvPr/>
        </p:nvSpPr>
        <p:spPr>
          <a:xfrm>
            <a:off x="8920343" y="4837605"/>
            <a:ext cx="2131695" cy="511607"/>
          </a:xfrm>
          <a:prstGeom prst="roundRect">
            <a:avLst>
              <a:gd name="adj" fmla="val 12500"/>
            </a:avLst>
          </a:prstGeom>
          <a:solidFill>
            <a:srgbClr val="C55A11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ctr" rtl="1"/>
            <a:r>
              <a:rPr sz="1282" b="1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فعالیت G</a:t>
            </a:r>
          </a:p>
        </p:txBody>
      </p:sp>
      <p:sp>
        <p:nvSpPr>
          <p:cNvPr id="13" name="احتمال: ۱۳٫۰٪"/>
          <p:cNvSpPr/>
          <p:nvPr/>
        </p:nvSpPr>
        <p:spPr>
          <a:xfrm>
            <a:off x="6788648" y="4837605"/>
            <a:ext cx="2025110" cy="511607"/>
          </a:xfrm>
          <a:prstGeom prst="rect">
            <a:avLst/>
          </a:prstGeom>
          <a:solidFill>
            <a:srgbClr val="F2F2F2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ctr" rtl="1"/>
            <a:r>
              <a:rPr sz="1165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احتمال: ۱۳٫۰٪</a:t>
            </a:r>
          </a:p>
        </p:txBody>
      </p:sp>
      <p:sp>
        <p:nvSpPr>
          <p:cNvPr id="14" name="**فعالیت H**"/>
          <p:cNvSpPr/>
          <p:nvPr/>
        </p:nvSpPr>
        <p:spPr>
          <a:xfrm>
            <a:off x="8920343" y="5423821"/>
            <a:ext cx="2131695" cy="511607"/>
          </a:xfrm>
          <a:prstGeom prst="roundRect">
            <a:avLst>
              <a:gd name="adj" fmla="val 12500"/>
            </a:avLst>
          </a:prstGeom>
          <a:solidFill>
            <a:srgbClr val="833C0B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ctr" rtl="1"/>
            <a:r>
              <a:rPr sz="1282" b="1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فعالیت H</a:t>
            </a:r>
          </a:p>
        </p:txBody>
      </p:sp>
      <p:sp>
        <p:nvSpPr>
          <p:cNvPr id="15" name="احتمال: ۷٫۰٪"/>
          <p:cNvSpPr/>
          <p:nvPr/>
        </p:nvSpPr>
        <p:spPr>
          <a:xfrm>
            <a:off x="6788648" y="5423821"/>
            <a:ext cx="2025110" cy="511607"/>
          </a:xfrm>
          <a:prstGeom prst="rect">
            <a:avLst/>
          </a:prstGeom>
          <a:solidFill>
            <a:srgbClr val="F2F2F2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ctr" rtl="1"/>
            <a:r>
              <a:rPr sz="1165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احتمال: ۷٫۰٪</a:t>
            </a:r>
          </a:p>
        </p:txBody>
      </p:sp>
      <p:sp>
        <p:nvSpPr>
          <p:cNvPr id="16" name="**فعالیت I**"/>
          <p:cNvSpPr/>
          <p:nvPr/>
        </p:nvSpPr>
        <p:spPr>
          <a:xfrm>
            <a:off x="8920343" y="6010037"/>
            <a:ext cx="2131695" cy="511607"/>
          </a:xfrm>
          <a:prstGeom prst="roundRect">
            <a:avLst>
              <a:gd name="adj" fmla="val 12500"/>
            </a:avLst>
          </a:prstGeom>
          <a:solidFill>
            <a:srgbClr val="59595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ctr" rtl="1"/>
            <a:r>
              <a:rPr sz="1282" b="1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فعالیت I</a:t>
            </a:r>
          </a:p>
        </p:txBody>
      </p:sp>
      <p:sp>
        <p:nvSpPr>
          <p:cNvPr id="17" name="احتمال: ۴٫۰٪"/>
          <p:cNvSpPr/>
          <p:nvPr/>
        </p:nvSpPr>
        <p:spPr>
          <a:xfrm>
            <a:off x="6788648" y="6010037"/>
            <a:ext cx="2025110" cy="511607"/>
          </a:xfrm>
          <a:prstGeom prst="rect">
            <a:avLst/>
          </a:prstGeom>
          <a:solidFill>
            <a:srgbClr val="F2F2F2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ctr" rtl="1"/>
            <a:r>
              <a:rPr sz="1165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احتمال: ۴٫۰٪</a:t>
            </a:r>
          </a:p>
        </p:txBody>
      </p:sp>
      <p:sp>
        <p:nvSpPr>
          <p:cNvPr id="18" name="پتانسیل بهبود: +۰٫۱۸۰ (زمان "/>
          <p:cNvSpPr/>
          <p:nvPr/>
        </p:nvSpPr>
        <p:spPr>
          <a:xfrm>
            <a:off x="1086364" y="3665172"/>
            <a:ext cx="5489115" cy="511607"/>
          </a:xfrm>
          <a:prstGeom prst="roundRect">
            <a:avLst>
              <a:gd name="adj" fmla="val 12500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r" rtl="1"/>
            <a:r>
              <a:rPr sz="1165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پتانسیل بهبود: +۰٫۱۸۰ (زمان باقی‌مانده تخمینی: ۴٫۵ دقیقه)</a:t>
            </a:r>
          </a:p>
        </p:txBody>
      </p:sp>
      <p:sp>
        <p:nvSpPr>
          <p:cNvPr id="19" name="پتانسیل بهبود: +۰٫۱۲۰ (پتانس"/>
          <p:cNvSpPr/>
          <p:nvPr/>
        </p:nvSpPr>
        <p:spPr>
          <a:xfrm>
            <a:off x="1086364" y="4251388"/>
            <a:ext cx="5489115" cy="511607"/>
          </a:xfrm>
          <a:prstGeom prst="roundRect">
            <a:avLst>
              <a:gd name="adj" fmla="val 1250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r" rtl="1"/>
            <a:r>
              <a:rPr sz="1165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پتانسیل بهبود: +۰٫۱۲۰ (پتانسیل بهبود کل: +۰٫۱۵)</a:t>
            </a:r>
          </a:p>
        </p:txBody>
      </p:sp>
      <p:sp>
        <p:nvSpPr>
          <p:cNvPr id="20" name="پتانسیل بهبود: −۰٫۰۵۰ (گلوگا"/>
          <p:cNvSpPr/>
          <p:nvPr/>
        </p:nvSpPr>
        <p:spPr>
          <a:xfrm>
            <a:off x="1086364" y="4837605"/>
            <a:ext cx="5489115" cy="511607"/>
          </a:xfrm>
          <a:prstGeom prst="roundRect">
            <a:avLst>
              <a:gd name="adj" fmla="val 1250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r" rtl="1"/>
            <a:r>
              <a:rPr sz="1165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پتانسیل بهبود: −۰٫۰۵۰ (گلوگاه‌های شناسایی‌شده: ۲ مورد)</a:t>
            </a:r>
          </a:p>
        </p:txBody>
      </p:sp>
      <p:sp>
        <p:nvSpPr>
          <p:cNvPr id="21" name="پتانسیل بهبود: +۰٫۰۲۰"/>
          <p:cNvSpPr/>
          <p:nvPr/>
        </p:nvSpPr>
        <p:spPr>
          <a:xfrm>
            <a:off x="1086364" y="5423821"/>
            <a:ext cx="5489115" cy="511607"/>
          </a:xfrm>
          <a:prstGeom prst="roundRect">
            <a:avLst>
              <a:gd name="adj" fmla="val 12500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951" rIns="63951" tIns="31975" bIns="31975"/>
          <a:lstStyle/>
          <a:p>
            <a:pPr algn="r" rtl="1"/>
            <a:r>
              <a:rPr sz="1165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پتانسیل بهبود: +۰٫۰۲۰</a:t>
            </a:r>
          </a:p>
        </p:txBody>
      </p:sp>
      <p:cxnSp>
        <p:nvCxnSpPr>
          <p:cNvPr id="22" name="arrow"/>
          <p:cNvCxnSpPr/>
          <p:nvPr/>
        </p:nvCxnSpPr>
        <p:spPr>
          <a:xfrm>
            <a:off x="6095848" y="2865787"/>
            <a:ext cx="3837050" cy="778068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rrow"/>
          <p:cNvCxnSpPr/>
          <p:nvPr/>
        </p:nvCxnSpPr>
        <p:spPr>
          <a:xfrm flipH="1">
            <a:off x="3750983" y="2865787"/>
            <a:ext cx="2344865" cy="778068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