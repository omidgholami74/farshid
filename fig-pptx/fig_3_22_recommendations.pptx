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852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۲۲: نمونه‌ای از پی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۳.۲۲: نمونه‌ای از پیشنهاد فعالیت‌های بعدی برای یک پیشوند دلخواه</a:t>
            </a:r>
          </a:p>
        </p:txBody>
      </p:sp>
      <p:sp>
        <p:nvSpPr>
          <p:cNvPr id="3" name="**پیشوند ورودی:** [A, B, C, "/>
          <p:cNvSpPr/>
          <p:nvPr/>
        </p:nvSpPr>
        <p:spPr>
          <a:xfrm>
            <a:off x="2103120" y="566928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پیشوند ورودی:</a:t>
            </a:r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 [A, B, C, D]</a:t>
            </a:r>
          </a:p>
        </p:txBody>
      </p:sp>
      <p:sp>
        <p:nvSpPr>
          <p:cNvPr id="4" name="**مدل سه‌جریانه**"/>
          <p:cNvSpPr/>
          <p:nvPr/>
        </p:nvSpPr>
        <p:spPr>
          <a:xfrm>
            <a:off x="2743200" y="155448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مدل سه‌جریانه</a:t>
            </a:r>
          </a:p>
        </p:txBody>
      </p:sp>
      <p:cxnSp>
        <p:nvCxnSpPr>
          <p:cNvPr id="5" name="arrow"/>
          <p:cNvCxnSpPr/>
          <p:nvPr/>
        </p:nvCxnSpPr>
        <p:spPr>
          <a:xfrm>
            <a:off x="4572000" y="1207008"/>
            <a:ext cx="0" cy="347472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 **پیشنهاد فعالیت‌های بعد"/>
          <p:cNvSpPr txBox="1"/>
          <p:nvPr/>
        </p:nvSpPr>
        <p:spPr>
          <a:xfrm>
            <a:off x="5074920" y="254203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پیشنهاد فعالیت‌های بعدی:</a:t>
            </a:r>
          </a:p>
        </p:txBody>
      </p:sp>
      <p:sp>
        <p:nvSpPr>
          <p:cNvPr id="7" name="txt **خروجی‌های جانبی:**"/>
          <p:cNvSpPr txBox="1"/>
          <p:nvPr/>
        </p:nvSpPr>
        <p:spPr>
          <a:xfrm>
            <a:off x="274320" y="254203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خروجی‌های جانبی:</a:t>
            </a:r>
          </a:p>
        </p:txBody>
      </p:sp>
      <p:sp>
        <p:nvSpPr>
          <p:cNvPr id="8" name="**فعالیت E**"/>
          <p:cNvSpPr/>
          <p:nvPr/>
        </p:nvSpPr>
        <p:spPr>
          <a:xfrm>
            <a:off x="6995160" y="297180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2E9E5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E</a:t>
            </a:r>
          </a:p>
        </p:txBody>
      </p:sp>
      <p:sp>
        <p:nvSpPr>
          <p:cNvPr id="9" name="احتمال: ۵۲٫۰٪"/>
          <p:cNvSpPr/>
          <p:nvPr/>
        </p:nvSpPr>
        <p:spPr>
          <a:xfrm>
            <a:off x="5166360" y="2971800"/>
            <a:ext cx="1737360" cy="438912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۵۲٫۰٪</a:t>
            </a:r>
          </a:p>
        </p:txBody>
      </p:sp>
      <p:sp>
        <p:nvSpPr>
          <p:cNvPr id="10" name="**فعالیت F**"/>
          <p:cNvSpPr/>
          <p:nvPr/>
        </p:nvSpPr>
        <p:spPr>
          <a:xfrm>
            <a:off x="6995160" y="347472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2F5597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F</a:t>
            </a:r>
          </a:p>
        </p:txBody>
      </p:sp>
      <p:sp>
        <p:nvSpPr>
          <p:cNvPr id="11" name="احتمال: ۲۴٫۰٪"/>
          <p:cNvSpPr/>
          <p:nvPr/>
        </p:nvSpPr>
        <p:spPr>
          <a:xfrm>
            <a:off x="5166360" y="3474720"/>
            <a:ext cx="1737360" cy="438912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۲۴٫۰٪</a:t>
            </a:r>
          </a:p>
        </p:txBody>
      </p:sp>
      <p:sp>
        <p:nvSpPr>
          <p:cNvPr id="12" name="**فعالیت G**"/>
          <p:cNvSpPr/>
          <p:nvPr/>
        </p:nvSpPr>
        <p:spPr>
          <a:xfrm>
            <a:off x="6995160" y="397764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C55A11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G</a:t>
            </a:r>
          </a:p>
        </p:txBody>
      </p:sp>
      <p:sp>
        <p:nvSpPr>
          <p:cNvPr id="13" name="احتمال: ۱۳٫۰٪"/>
          <p:cNvSpPr/>
          <p:nvPr/>
        </p:nvSpPr>
        <p:spPr>
          <a:xfrm>
            <a:off x="5166360" y="3977640"/>
            <a:ext cx="1737360" cy="438912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۱۳٫۰٪</a:t>
            </a:r>
          </a:p>
        </p:txBody>
      </p:sp>
      <p:sp>
        <p:nvSpPr>
          <p:cNvPr id="14" name="**فعالیت H**"/>
          <p:cNvSpPr/>
          <p:nvPr/>
        </p:nvSpPr>
        <p:spPr>
          <a:xfrm>
            <a:off x="6995160" y="448056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833C0B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H</a:t>
            </a:r>
          </a:p>
        </p:txBody>
      </p:sp>
      <p:sp>
        <p:nvSpPr>
          <p:cNvPr id="15" name="احتمال: ۷٫۰٪"/>
          <p:cNvSpPr/>
          <p:nvPr/>
        </p:nvSpPr>
        <p:spPr>
          <a:xfrm>
            <a:off x="5166360" y="4480560"/>
            <a:ext cx="1737360" cy="438912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۷٫۰٪</a:t>
            </a:r>
          </a:p>
        </p:txBody>
      </p:sp>
      <p:sp>
        <p:nvSpPr>
          <p:cNvPr id="16" name="**فعالیت I**"/>
          <p:cNvSpPr/>
          <p:nvPr/>
        </p:nvSpPr>
        <p:spPr>
          <a:xfrm>
            <a:off x="6995160" y="498348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59595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1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فعالیت I</a:t>
            </a:r>
          </a:p>
        </p:txBody>
      </p:sp>
      <p:sp>
        <p:nvSpPr>
          <p:cNvPr id="17" name="احتمال: ۴٫۰٪"/>
          <p:cNvSpPr/>
          <p:nvPr/>
        </p:nvSpPr>
        <p:spPr>
          <a:xfrm>
            <a:off x="5166360" y="4983480"/>
            <a:ext cx="1737360" cy="438912"/>
          </a:xfrm>
          <a:prstGeom prst="rect">
            <a:avLst/>
          </a:prstGeom>
          <a:solidFill>
            <a:srgbClr val="F2F2F2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احتمال: ۴٫۰٪</a:t>
            </a:r>
          </a:p>
        </p:txBody>
      </p:sp>
      <p:sp>
        <p:nvSpPr>
          <p:cNvPr id="18" name="پتانسیل بهبود: +۰٫۱۸۰ (زمان "/>
          <p:cNvSpPr/>
          <p:nvPr/>
        </p:nvSpPr>
        <p:spPr>
          <a:xfrm>
            <a:off x="274320" y="2971800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+۰٫۱۸۰ (زمان باقی‌مانده تخمینی: ۴٫۵ دقیقه)</a:t>
            </a:r>
          </a:p>
        </p:txBody>
      </p:sp>
      <p:sp>
        <p:nvSpPr>
          <p:cNvPr id="19" name="پتانسیل بهبود: +۰٫۱۲۰ (پتانس"/>
          <p:cNvSpPr/>
          <p:nvPr/>
        </p:nvSpPr>
        <p:spPr>
          <a:xfrm>
            <a:off x="274320" y="3474720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+۰٫۱۲۰ (پتانسیل بهبود کل: +۰٫۱۵)</a:t>
            </a:r>
          </a:p>
        </p:txBody>
      </p:sp>
      <p:sp>
        <p:nvSpPr>
          <p:cNvPr id="20" name="پتانسیل بهبود: −۰٫۰۵۰ (گلوگا"/>
          <p:cNvSpPr/>
          <p:nvPr/>
        </p:nvSpPr>
        <p:spPr>
          <a:xfrm>
            <a:off x="274320" y="3977640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−۰٫۰۵۰ (گلوگاه‌های شناسایی‌شده: ۲ مورد)</a:t>
            </a:r>
          </a:p>
        </p:txBody>
      </p:sp>
      <p:sp>
        <p:nvSpPr>
          <p:cNvPr id="21" name="پتانسیل بهبود: +۰٫۰۲۰"/>
          <p:cNvSpPr/>
          <p:nvPr/>
        </p:nvSpPr>
        <p:spPr>
          <a:xfrm>
            <a:off x="274320" y="4480560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پتانسیل بهبود: +۰٫۰۲۰</a:t>
            </a:r>
          </a:p>
        </p:txBody>
      </p:sp>
      <p:cxnSp>
        <p:nvCxnSpPr>
          <p:cNvPr id="22" name="arrow"/>
          <p:cNvCxnSpPr/>
          <p:nvPr/>
        </p:nvCxnSpPr>
        <p:spPr>
          <a:xfrm>
            <a:off x="4572000" y="2286000"/>
            <a:ext cx="3291840" cy="667512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"/>
          <p:cNvCxnSpPr/>
          <p:nvPr/>
        </p:nvCxnSpPr>
        <p:spPr>
          <a:xfrm flipH="1">
            <a:off x="2560320" y="2286000"/>
            <a:ext cx="2011680" cy="667512"/>
          </a:xfrm>
          <a:prstGeom prst="line">
            <a:avLst/>
          </a:prstGeom>
          <a:ln w="1651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