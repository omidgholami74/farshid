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12648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xt شکل ۳.۲: جریان پیش‌پرداز"/>
          <p:cNvSpPr txBox="1"/>
          <p:nvPr/>
        </p:nvSpPr>
        <p:spPr>
          <a:xfrm>
            <a:off x="228600" y="109728"/>
            <a:ext cx="8686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rtl="1"/>
            <a:r>
              <a:rPr sz="150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شکل ۳.۲: جریان پیش‌پردازش رویدادنگار و استخراج پیشوندها</a:t>
            </a:r>
          </a:p>
        </p:txBody>
      </p:sp>
      <p:sp>
        <p:nvSpPr>
          <p:cNvPr id="3" name="**رویدادنگار خام**"/>
          <p:cNvSpPr/>
          <p:nvPr/>
        </p:nvSpPr>
        <p:spPr>
          <a:xfrm>
            <a:off x="6995160" y="777240"/>
            <a:ext cx="2011680" cy="822960"/>
          </a:xfrm>
          <a:prstGeom prst="roundRect">
            <a:avLst>
              <a:gd name="adj" fmla="val 6666"/>
            </a:avLst>
          </a:prstGeom>
          <a:solidFill>
            <a:srgbClr val="FFF2CC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رویدادنگار خام</a:t>
            </a:r>
          </a:p>
          <a:p>
            <a:pPr algn="ctr" rtl="1"/>
            <a:r>
              <a:rPr sz="11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(BPI Challenge 2012)</a:t>
            </a:r>
          </a:p>
        </p:txBody>
      </p:sp>
      <p:sp>
        <p:nvSpPr>
          <p:cNvPr id="4" name="استخراج Caseها"/>
          <p:cNvSpPr/>
          <p:nvPr/>
        </p:nvSpPr>
        <p:spPr>
          <a:xfrm>
            <a:off x="4709160" y="777240"/>
            <a:ext cx="2011680" cy="822960"/>
          </a:xfrm>
          <a:prstGeom prst="roundRect">
            <a:avLst>
              <a:gd name="adj" fmla="val 6666"/>
            </a:avLst>
          </a:prstGeom>
          <a:solidFill>
            <a:srgbClr val="DEEAF6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استخراج Caseها</a:t>
            </a:r>
          </a:p>
          <a:p>
            <a:pPr algn="ctr" rtl="1"/>
            <a:r>
              <a:rPr sz="11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و رویدادها</a:t>
            </a:r>
          </a:p>
        </p:txBody>
      </p:sp>
      <p:sp>
        <p:nvSpPr>
          <p:cNvPr id="5" name="مرتب‌سازی"/>
          <p:cNvSpPr/>
          <p:nvPr/>
        </p:nvSpPr>
        <p:spPr>
          <a:xfrm>
            <a:off x="2423160" y="777240"/>
            <a:ext cx="2011680" cy="822960"/>
          </a:xfrm>
          <a:prstGeom prst="roundRect">
            <a:avLst>
              <a:gd name="adj" fmla="val 6666"/>
            </a:avLst>
          </a:prstGeom>
          <a:solidFill>
            <a:srgbClr val="DEEAF6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مرتب‌سازی</a:t>
            </a:r>
          </a:p>
          <a:p>
            <a:pPr algn="ctr" rtl="1"/>
            <a:r>
              <a:rPr sz="11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بر اساس زمان</a:t>
            </a:r>
          </a:p>
        </p:txBody>
      </p:sp>
      <p:sp>
        <p:nvSpPr>
          <p:cNvPr id="6" name="توالی مرتب"/>
          <p:cNvSpPr/>
          <p:nvPr/>
        </p:nvSpPr>
        <p:spPr>
          <a:xfrm>
            <a:off x="137160" y="777240"/>
            <a:ext cx="2011680" cy="822960"/>
          </a:xfrm>
          <a:prstGeom prst="roundRect">
            <a:avLst>
              <a:gd name="adj" fmla="val 6666"/>
            </a:avLst>
          </a:prstGeom>
          <a:solidFill>
            <a:srgbClr val="E2EFDA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توالی مرتب</a:t>
            </a:r>
          </a:p>
        </p:txBody>
      </p:sp>
      <p:cxnSp>
        <p:nvCxnSpPr>
          <p:cNvPr id="7" name="arrow"/>
          <p:cNvCxnSpPr/>
          <p:nvPr/>
        </p:nvCxnSpPr>
        <p:spPr>
          <a:xfrm flipH="1">
            <a:off x="6720840" y="1188720"/>
            <a:ext cx="274320" cy="0"/>
          </a:xfrm>
          <a:prstGeom prst="line">
            <a:avLst/>
          </a:prstGeom>
          <a:ln w="16510">
            <a:solidFill>
              <a:srgbClr val="2F55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arrow"/>
          <p:cNvCxnSpPr/>
          <p:nvPr/>
        </p:nvCxnSpPr>
        <p:spPr>
          <a:xfrm flipH="1">
            <a:off x="4434840" y="1188720"/>
            <a:ext cx="274320" cy="0"/>
          </a:xfrm>
          <a:prstGeom prst="line">
            <a:avLst/>
          </a:prstGeom>
          <a:ln w="16510">
            <a:solidFill>
              <a:srgbClr val="2F55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arrow"/>
          <p:cNvCxnSpPr/>
          <p:nvPr/>
        </p:nvCxnSpPr>
        <p:spPr>
          <a:xfrm flipH="1">
            <a:off x="2148840" y="1188720"/>
            <a:ext cx="274320" cy="0"/>
          </a:xfrm>
          <a:prstGeom prst="line">
            <a:avLst/>
          </a:prstGeom>
          <a:ln w="16510">
            <a:solidFill>
              <a:srgbClr val="2F55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**محاسبه آمار Case**"/>
          <p:cNvSpPr/>
          <p:nvPr/>
        </p:nvSpPr>
        <p:spPr>
          <a:xfrm>
            <a:off x="137160" y="1965960"/>
            <a:ext cx="4206240" cy="868680"/>
          </a:xfrm>
          <a:prstGeom prst="roundRect">
            <a:avLst>
              <a:gd name="adj" fmla="val 6315"/>
            </a:avLst>
          </a:prstGeom>
          <a:solidFill>
            <a:srgbClr val="FFF2CC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05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محاسبه آمار Case</a:t>
            </a:r>
          </a:p>
          <a:p>
            <a:pPr algn="ctr" rtl="1"/>
            <a:r>
              <a:rPr sz="105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(مدت کل، مدت هر فعالیت، فراوانی، زمان انتظار)</a:t>
            </a:r>
          </a:p>
        </p:txBody>
      </p:sp>
      <p:cxnSp>
        <p:nvCxnSpPr>
          <p:cNvPr id="11" name="arrow"/>
          <p:cNvCxnSpPr/>
          <p:nvPr/>
        </p:nvCxnSpPr>
        <p:spPr>
          <a:xfrm>
            <a:off x="1143000" y="1600200"/>
            <a:ext cx="0" cy="365760"/>
          </a:xfrm>
          <a:prstGeom prst="line">
            <a:avLst/>
          </a:prstGeom>
          <a:ln w="19050">
            <a:solidFill>
              <a:srgbClr val="2F55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**شناسایی گلوگاه‌ها**"/>
          <p:cNvSpPr/>
          <p:nvPr/>
        </p:nvSpPr>
        <p:spPr>
          <a:xfrm>
            <a:off x="137160" y="3154680"/>
            <a:ext cx="4206240" cy="868680"/>
          </a:xfrm>
          <a:prstGeom prst="roundRect">
            <a:avLst>
              <a:gd name="adj" fmla="val 6315"/>
            </a:avLst>
          </a:prstGeom>
          <a:solidFill>
            <a:srgbClr val="F8DCDC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05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شناسایی گلوگاه‌ها</a:t>
            </a:r>
          </a:p>
          <a:p>
            <a:pPr algn="ctr" rtl="1"/>
            <a:r>
              <a:rPr sz="105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(صدک ۷۵ زمان انتظار)</a:t>
            </a:r>
          </a:p>
        </p:txBody>
      </p:sp>
      <p:cxnSp>
        <p:nvCxnSpPr>
          <p:cNvPr id="13" name="arrow"/>
          <p:cNvCxnSpPr/>
          <p:nvPr/>
        </p:nvCxnSpPr>
        <p:spPr>
          <a:xfrm>
            <a:off x="2240280" y="2834640"/>
            <a:ext cx="0" cy="320040"/>
          </a:xfrm>
          <a:prstGeom prst="line">
            <a:avLst/>
          </a:prstGeom>
          <a:ln w="19050">
            <a:solidFill>
              <a:srgbClr val="2F55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**استخراج پیشوندها**"/>
          <p:cNvSpPr/>
          <p:nvPr/>
        </p:nvSpPr>
        <p:spPr>
          <a:xfrm>
            <a:off x="4709160" y="3154680"/>
            <a:ext cx="4297680" cy="868680"/>
          </a:xfrm>
          <a:prstGeom prst="roundRect">
            <a:avLst>
              <a:gd name="adj" fmla="val 6315"/>
            </a:avLst>
          </a:prstGeom>
          <a:solidFill>
            <a:srgbClr val="E4DFEC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05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استخراج پیشوندها</a:t>
            </a:r>
          </a:p>
          <a:p>
            <a:pPr algn="ctr" rtl="1"/>
            <a:r>
              <a:rPr sz="105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(min_prefix_len = 2)</a:t>
            </a:r>
          </a:p>
        </p:txBody>
      </p:sp>
      <p:cxnSp>
        <p:nvCxnSpPr>
          <p:cNvPr id="15" name="arrow"/>
          <p:cNvCxnSpPr/>
          <p:nvPr/>
        </p:nvCxnSpPr>
        <p:spPr>
          <a:xfrm>
            <a:off x="4343400" y="3589020"/>
            <a:ext cx="365760" cy="0"/>
          </a:xfrm>
          <a:prstGeom prst="line">
            <a:avLst/>
          </a:prstGeom>
          <a:ln w="19050">
            <a:solidFill>
              <a:srgbClr val="2F55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**برچسب‌های چندوظیفه‌ای:** ف"/>
          <p:cNvSpPr/>
          <p:nvPr/>
        </p:nvSpPr>
        <p:spPr>
          <a:xfrm>
            <a:off x="137160" y="4434840"/>
            <a:ext cx="8869680" cy="731520"/>
          </a:xfrm>
          <a:prstGeom prst="roundRect">
            <a:avLst>
              <a:gd name="adj" fmla="val 7500"/>
            </a:avLst>
          </a:prstGeom>
          <a:solidFill>
            <a:srgbClr val="F8DCDC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برچسب‌های چندوظیفه‌ای:</a:t>
            </a:r>
            <a:r>
              <a:rPr sz="11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 فعالیت بعدی + زمان باقی‌مانده + پتانسیل بهبود تأخیر + بردار گلوگاه</a:t>
            </a:r>
          </a:p>
        </p:txBody>
      </p:sp>
      <p:cxnSp>
        <p:nvCxnSpPr>
          <p:cNvPr id="17" name="arrow"/>
          <p:cNvCxnSpPr/>
          <p:nvPr/>
        </p:nvCxnSpPr>
        <p:spPr>
          <a:xfrm>
            <a:off x="6858000" y="4023360"/>
            <a:ext cx="0" cy="411480"/>
          </a:xfrm>
          <a:prstGeom prst="line">
            <a:avLst/>
          </a:prstGeom>
          <a:ln w="19050">
            <a:solidFill>
              <a:srgbClr val="2F55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**نمونه‌های آموزشی آماده**"/>
          <p:cNvSpPr/>
          <p:nvPr/>
        </p:nvSpPr>
        <p:spPr>
          <a:xfrm>
            <a:off x="2194560" y="5486400"/>
            <a:ext cx="4754880" cy="548640"/>
          </a:xfrm>
          <a:prstGeom prst="roundRect">
            <a:avLst>
              <a:gd name="adj" fmla="val 10000"/>
            </a:avLst>
          </a:prstGeom>
          <a:solidFill>
            <a:srgbClr val="E2EFDA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20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نمونه‌های آموزشی آماده</a:t>
            </a:r>
          </a:p>
        </p:txBody>
      </p:sp>
      <p:cxnSp>
        <p:nvCxnSpPr>
          <p:cNvPr id="19" name="arrow"/>
          <p:cNvCxnSpPr/>
          <p:nvPr/>
        </p:nvCxnSpPr>
        <p:spPr>
          <a:xfrm>
            <a:off x="4572000" y="5166360"/>
            <a:ext cx="0" cy="320040"/>
          </a:xfrm>
          <a:prstGeom prst="line">
            <a:avLst/>
          </a:prstGeom>
          <a:ln w="19050">
            <a:solidFill>
              <a:srgbClr val="2F55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