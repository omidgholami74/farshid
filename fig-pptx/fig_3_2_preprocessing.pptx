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126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۲: جریان پیش‌پرداز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۳.۲: جریان پیش‌پردازش رویدادنگار و استخراج پیشوندها</a:t>
            </a:r>
          </a:p>
        </p:txBody>
      </p:sp>
      <p:sp>
        <p:nvSpPr>
          <p:cNvPr id="3" name="**رویدادنگار خام**"/>
          <p:cNvSpPr/>
          <p:nvPr/>
        </p:nvSpPr>
        <p:spPr>
          <a:xfrm>
            <a:off x="6995160" y="777240"/>
            <a:ext cx="2011680" cy="822960"/>
          </a:xfrm>
          <a:prstGeom prst="roundRect">
            <a:avLst>
              <a:gd name="adj" fmla="val 6666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رویدادنگار خام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(BPI Challenge 2012)</a:t>
            </a:r>
          </a:p>
        </p:txBody>
      </p:sp>
      <p:sp>
        <p:nvSpPr>
          <p:cNvPr id="4" name="استخراج Caseها"/>
          <p:cNvSpPr/>
          <p:nvPr/>
        </p:nvSpPr>
        <p:spPr>
          <a:xfrm>
            <a:off x="4709160" y="777240"/>
            <a:ext cx="2011680" cy="822960"/>
          </a:xfrm>
          <a:prstGeom prst="roundRect">
            <a:avLst>
              <a:gd name="adj" fmla="val 6666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استخراج Caseها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 رویدادها</a:t>
            </a:r>
          </a:p>
        </p:txBody>
      </p:sp>
      <p:sp>
        <p:nvSpPr>
          <p:cNvPr id="5" name="مرتب‌سازی"/>
          <p:cNvSpPr/>
          <p:nvPr/>
        </p:nvSpPr>
        <p:spPr>
          <a:xfrm>
            <a:off x="2423160" y="777240"/>
            <a:ext cx="2011680" cy="822960"/>
          </a:xfrm>
          <a:prstGeom prst="roundRect">
            <a:avLst>
              <a:gd name="adj" fmla="val 6666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مرتب‌سازی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بر اساس زمان</a:t>
            </a:r>
          </a:p>
        </p:txBody>
      </p:sp>
      <p:sp>
        <p:nvSpPr>
          <p:cNvPr id="6" name="توالی مرتب"/>
          <p:cNvSpPr/>
          <p:nvPr/>
        </p:nvSpPr>
        <p:spPr>
          <a:xfrm>
            <a:off x="137160" y="777240"/>
            <a:ext cx="2011680" cy="822960"/>
          </a:xfrm>
          <a:prstGeom prst="roundRect">
            <a:avLst>
              <a:gd name="adj" fmla="val 6666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توالی مرتب</a:t>
            </a:r>
          </a:p>
        </p:txBody>
      </p:sp>
      <p:cxnSp>
        <p:nvCxnSpPr>
          <p:cNvPr id="7" name="arrow"/>
          <p:cNvCxnSpPr/>
          <p:nvPr/>
        </p:nvCxnSpPr>
        <p:spPr>
          <a:xfrm flipH="1">
            <a:off x="6720840" y="1188720"/>
            <a:ext cx="274320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row"/>
          <p:cNvCxnSpPr/>
          <p:nvPr/>
        </p:nvCxnSpPr>
        <p:spPr>
          <a:xfrm flipH="1">
            <a:off x="4434840" y="1188720"/>
            <a:ext cx="274320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"/>
          <p:cNvCxnSpPr/>
          <p:nvPr/>
        </p:nvCxnSpPr>
        <p:spPr>
          <a:xfrm flipH="1">
            <a:off x="2148840" y="1188720"/>
            <a:ext cx="274320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**محاسبه آمار Case**"/>
          <p:cNvSpPr/>
          <p:nvPr/>
        </p:nvSpPr>
        <p:spPr>
          <a:xfrm>
            <a:off x="137160" y="1965960"/>
            <a:ext cx="4206240" cy="868680"/>
          </a:xfrm>
          <a:prstGeom prst="roundRect">
            <a:avLst>
              <a:gd name="adj" fmla="val 6315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محاسبه آمار Case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(مدت کل، مدت هر فعالیت، فراوانی، زمان انتظار)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1143000" y="1600200"/>
            <a:ext cx="0" cy="36576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**شناسایی گلوگاه‌ها**"/>
          <p:cNvSpPr/>
          <p:nvPr/>
        </p:nvSpPr>
        <p:spPr>
          <a:xfrm>
            <a:off x="137160" y="3154680"/>
            <a:ext cx="4206240" cy="868680"/>
          </a:xfrm>
          <a:prstGeom prst="roundRect">
            <a:avLst>
              <a:gd name="adj" fmla="val 6315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شناسایی گلوگاه‌ها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(صدک ۷۵ زمان انتظار)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2240280" y="2834640"/>
            <a:ext cx="0" cy="32004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**استخراج پیشوندها**"/>
          <p:cNvSpPr/>
          <p:nvPr/>
        </p:nvSpPr>
        <p:spPr>
          <a:xfrm>
            <a:off x="4709160" y="3154680"/>
            <a:ext cx="4297680" cy="868680"/>
          </a:xfrm>
          <a:prstGeom prst="roundRect">
            <a:avLst>
              <a:gd name="adj" fmla="val 6315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استخراج پیشوندها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(min_prefix_len = 2)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4343400" y="3589020"/>
            <a:ext cx="365760" cy="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**برچسب‌های چندوظیفه‌ای:** ف"/>
          <p:cNvSpPr/>
          <p:nvPr/>
        </p:nvSpPr>
        <p:spPr>
          <a:xfrm>
            <a:off x="137160" y="4434840"/>
            <a:ext cx="8869680" cy="731520"/>
          </a:xfrm>
          <a:prstGeom prst="roundRect">
            <a:avLst>
              <a:gd name="adj" fmla="val 75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برچسب‌های چندوظیفه‌ای:</a:t>
            </a:r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فعالیت بعدی + زمان باقی‌مانده + پتانسیل بهبود تأخیر + بردار گلوگاه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6858000" y="4023360"/>
            <a:ext cx="0" cy="41148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**نمونه‌های آموزشی آماده**"/>
          <p:cNvSpPr/>
          <p:nvPr/>
        </p:nvSpPr>
        <p:spPr>
          <a:xfrm>
            <a:off x="2194560" y="54864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نمونه‌های آموزشی آماده</a:t>
            </a:r>
          </a:p>
        </p:txBody>
      </p:sp>
      <p:cxnSp>
        <p:nvCxnSpPr>
          <p:cNvPr id="19" name="arrow"/>
          <p:cNvCxnSpPr/>
          <p:nvPr/>
        </p:nvCxnSpPr>
        <p:spPr>
          <a:xfrm>
            <a:off x="4572000" y="5166360"/>
            <a:ext cx="0" cy="32004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