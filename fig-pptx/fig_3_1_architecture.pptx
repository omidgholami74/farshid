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: نمای کلی معماری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۳.۱: نمای کلی معماری مدل سه‌جریانه پیشنهادی و جریان داده</a:t>
            </a:r>
          </a:p>
        </p:txBody>
      </p:sp>
      <p:sp>
        <p:nvSpPr>
          <p:cNvPr id="3" name="**ورودی: پیشوند رویدادها**"/>
          <p:cNvSpPr/>
          <p:nvPr/>
        </p:nvSpPr>
        <p:spPr>
          <a:xfrm>
            <a:off x="1691640" y="621792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ورودی: پیشوند رویدادها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(فعالیت، فعالیت پیشین، زمان، نقش، فراوانی، موقعیت نسبی)</a:t>
            </a:r>
          </a:p>
        </p:txBody>
      </p:sp>
      <p:sp>
        <p:nvSpPr>
          <p:cNvPr id="4" name="**لایه تعبیه ورودی چندوجهی**"/>
          <p:cNvSpPr/>
          <p:nvPr/>
        </p:nvSpPr>
        <p:spPr>
          <a:xfrm>
            <a:off x="777240" y="1517904"/>
            <a:ext cx="7589520" cy="841248"/>
          </a:xfrm>
          <a:prstGeom prst="roundRect">
            <a:avLst>
              <a:gd name="adj" fmla="val 6521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تعبیه ورودی چندوجهی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(Activity + PrevActivity + Position + TimeDelta + CumTime + Role + Freq + RelPos)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4572000" y="1335024"/>
            <a:ext cx="0" cy="18288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xt سه جریان موازی پردازش"/>
          <p:cNvSpPr txBox="1"/>
          <p:nvPr/>
        </p:nvSpPr>
        <p:spPr>
          <a:xfrm>
            <a:off x="2743200" y="23591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00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سه جریان موازی پردازش</a:t>
            </a:r>
          </a:p>
        </p:txBody>
      </p:sp>
      <p:sp>
        <p:nvSpPr>
          <p:cNvPr id="7" name="txt سه جریان موازی پردازش"/>
          <p:cNvSpPr txBox="1"/>
          <p:nvPr/>
        </p:nvSpPr>
        <p:spPr>
          <a:xfrm>
            <a:off x="2743200" y="23591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00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سه جریان موازی پردازش</a:t>
            </a:r>
          </a:p>
        </p:txBody>
      </p:sp>
      <p:sp>
        <p:nvSpPr>
          <p:cNvPr id="8" name="stream"/>
          <p:cNvSpPr/>
          <p:nvPr/>
        </p:nvSpPr>
        <p:spPr>
          <a:xfrm>
            <a:off x="320040" y="2761488"/>
            <a:ext cx="2651760" cy="3291840"/>
          </a:xfrm>
          <a:prstGeom prst="roundRect">
            <a:avLst>
              <a:gd name="adj" fmla="val 1666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9" name="stream"/>
          <p:cNvSpPr/>
          <p:nvPr/>
        </p:nvSpPr>
        <p:spPr>
          <a:xfrm>
            <a:off x="3246120" y="2761488"/>
            <a:ext cx="2651760" cy="3291840"/>
          </a:xfrm>
          <a:prstGeom prst="roundRect">
            <a:avLst>
              <a:gd name="adj" fmla="val 1666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0" name="stream"/>
          <p:cNvSpPr/>
          <p:nvPr/>
        </p:nvSpPr>
        <p:spPr>
          <a:xfrm>
            <a:off x="6172200" y="2761488"/>
            <a:ext cx="2651760" cy="3291840"/>
          </a:xfrm>
          <a:prstGeom prst="roundRect">
            <a:avLst>
              <a:gd name="adj" fmla="val 1666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1" name="**جریان ۱: ترانسفورمر**"/>
          <p:cNvSpPr/>
          <p:nvPr/>
        </p:nvSpPr>
        <p:spPr>
          <a:xfrm>
            <a:off x="320040" y="2761488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جریان ۱: ترانسفورمر</a:t>
            </a:r>
          </a:p>
        </p:txBody>
      </p:sp>
      <p:sp>
        <p:nvSpPr>
          <p:cNvPr id="12" name="**جریان ۲: TCN**"/>
          <p:cNvSpPr/>
          <p:nvPr/>
        </p:nvSpPr>
        <p:spPr>
          <a:xfrm>
            <a:off x="3246120" y="2761488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جریان ۲: TCN</a:t>
            </a:r>
          </a:p>
        </p:txBody>
      </p:sp>
      <p:sp>
        <p:nvSpPr>
          <p:cNvPr id="13" name="**جریان ۳: GNN**"/>
          <p:cNvSpPr/>
          <p:nvPr/>
        </p:nvSpPr>
        <p:spPr>
          <a:xfrm>
            <a:off x="6172200" y="2761488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E4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جریان ۳: GNN</a:t>
            </a:r>
          </a:p>
        </p:txBody>
      </p:sp>
      <p:sp>
        <p:nvSpPr>
          <p:cNvPr id="14" name="لایه 1: خودتوجهی علی + FFN"/>
          <p:cNvSpPr/>
          <p:nvPr/>
        </p:nvSpPr>
        <p:spPr>
          <a:xfrm>
            <a:off x="502920" y="3218688"/>
            <a:ext cx="2286000" cy="38404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1: خودتوجهی علی + FFN</a:t>
            </a:r>
          </a:p>
        </p:txBody>
      </p:sp>
      <p:sp>
        <p:nvSpPr>
          <p:cNvPr id="15" name="لایه 2: خودتوجهی علی + FFN"/>
          <p:cNvSpPr/>
          <p:nvPr/>
        </p:nvSpPr>
        <p:spPr>
          <a:xfrm>
            <a:off x="502920" y="3675888"/>
            <a:ext cx="2286000" cy="38404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2: خودتوجهی علی + FFN</a:t>
            </a:r>
          </a:p>
        </p:txBody>
      </p:sp>
      <p:sp>
        <p:nvSpPr>
          <p:cNvPr id="16" name="لایه 3: خودتوجهی علی + FFN"/>
          <p:cNvSpPr/>
          <p:nvPr/>
        </p:nvSpPr>
        <p:spPr>
          <a:xfrm>
            <a:off x="502920" y="4133088"/>
            <a:ext cx="2286000" cy="38404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3: خودتوجهی علی + FFN</a:t>
            </a:r>
          </a:p>
        </p:txBody>
      </p:sp>
      <p:sp>
        <p:nvSpPr>
          <p:cNvPr id="17" name="لایه 4: خودتوجهی علی + FFN"/>
          <p:cNvSpPr/>
          <p:nvPr/>
        </p:nvSpPr>
        <p:spPr>
          <a:xfrm>
            <a:off x="502920" y="4590288"/>
            <a:ext cx="2286000" cy="38404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4: خودتوجهی علی + FFN</a:t>
            </a:r>
          </a:p>
        </p:txBody>
      </p:sp>
      <p:sp>
        <p:nvSpPr>
          <p:cNvPr id="18" name="لایه 5: خودتوجهی علی + FFN"/>
          <p:cNvSpPr/>
          <p:nvPr/>
        </p:nvSpPr>
        <p:spPr>
          <a:xfrm>
            <a:off x="502920" y="5047488"/>
            <a:ext cx="2286000" cy="38404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5: خودتوجهی علی + FFN</a:t>
            </a:r>
          </a:p>
        </p:txBody>
      </p:sp>
      <p:sp>
        <p:nvSpPr>
          <p:cNvPr id="19" name="لایه 6: خودتوجهی علی + FFN"/>
          <p:cNvSpPr/>
          <p:nvPr/>
        </p:nvSpPr>
        <p:spPr>
          <a:xfrm>
            <a:off x="502920" y="5504688"/>
            <a:ext cx="2286000" cy="384048"/>
          </a:xfrm>
          <a:prstGeom prst="roundRect">
            <a:avLst>
              <a:gd name="adj" fmla="val 7142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6: خودتوجهی علی + FFN</a:t>
            </a:r>
          </a:p>
        </p:txBody>
      </p:sp>
      <p:sp>
        <p:nvSpPr>
          <p:cNvPr id="20" name="Conv1D (d=4)"/>
          <p:cNvSpPr/>
          <p:nvPr/>
        </p:nvSpPr>
        <p:spPr>
          <a:xfrm>
            <a:off x="3429000" y="37033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(d=4)</a:t>
            </a:r>
          </a:p>
        </p:txBody>
      </p:sp>
      <p:sp>
        <p:nvSpPr>
          <p:cNvPr id="21" name="Conv1D (d=2)"/>
          <p:cNvSpPr/>
          <p:nvPr/>
        </p:nvSpPr>
        <p:spPr>
          <a:xfrm>
            <a:off x="3429000" y="4270248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(d=2)</a:t>
            </a:r>
          </a:p>
        </p:txBody>
      </p:sp>
      <p:sp>
        <p:nvSpPr>
          <p:cNvPr id="22" name="Conv1D (d=1)"/>
          <p:cNvSpPr/>
          <p:nvPr/>
        </p:nvSpPr>
        <p:spPr>
          <a:xfrm>
            <a:off x="3429000" y="4837176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(d=1)</a:t>
            </a:r>
          </a:p>
        </p:txBody>
      </p:sp>
      <p:sp>
        <p:nvSpPr>
          <p:cNvPr id="23" name="گراف پیشوند"/>
          <p:cNvSpPr/>
          <p:nvPr/>
        </p:nvSpPr>
        <p:spPr>
          <a:xfrm>
            <a:off x="6355080" y="32461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گراف پیشوند</a:t>
            </a:r>
          </a:p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(CLS + رویدادها + یال‌ها)</a:t>
            </a:r>
          </a:p>
        </p:txBody>
      </p:sp>
      <p:sp>
        <p:nvSpPr>
          <p:cNvPr id="24" name="دو لایه پیچش گرافی"/>
          <p:cNvSpPr/>
          <p:nvPr/>
        </p:nvSpPr>
        <p:spPr>
          <a:xfrm>
            <a:off x="6355080" y="4315968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دو لایه پیچش گرافی</a:t>
            </a:r>
          </a:p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با مکانیزم دروازه‌ای</a:t>
            </a:r>
          </a:p>
        </p:txBody>
      </p:sp>
      <p:cxnSp>
        <p:nvCxnSpPr>
          <p:cNvPr id="25" name="arrow"/>
          <p:cNvCxnSpPr/>
          <p:nvPr/>
        </p:nvCxnSpPr>
        <p:spPr>
          <a:xfrm flipH="1">
            <a:off x="1645920" y="2359152"/>
            <a:ext cx="2926080" cy="40233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row"/>
          <p:cNvCxnSpPr/>
          <p:nvPr/>
        </p:nvCxnSpPr>
        <p:spPr>
          <a:xfrm>
            <a:off x="4572000" y="2359152"/>
            <a:ext cx="0" cy="40233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row"/>
          <p:cNvCxnSpPr/>
          <p:nvPr/>
        </p:nvCxnSpPr>
        <p:spPr>
          <a:xfrm>
            <a:off x="4572000" y="2359152"/>
            <a:ext cx="2926080" cy="402336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**ماژول ادغام سه‌گانه**"/>
          <p:cNvSpPr/>
          <p:nvPr/>
        </p:nvSpPr>
        <p:spPr>
          <a:xfrm>
            <a:off x="2057400" y="6309360"/>
            <a:ext cx="5029200" cy="804672"/>
          </a:xfrm>
          <a:prstGeom prst="roundRect">
            <a:avLst>
              <a:gd name="adj" fmla="val 6818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ماژول ادغام سه‌گانه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(توجه متقابل Transformer + TCN، ادغام با GNN)</a:t>
            </a:r>
          </a:p>
        </p:txBody>
      </p:sp>
      <p:cxnSp>
        <p:nvCxnSpPr>
          <p:cNvPr id="29" name="arrow"/>
          <p:cNvCxnSpPr/>
          <p:nvPr/>
        </p:nvCxnSpPr>
        <p:spPr>
          <a:xfrm>
            <a:off x="1645920" y="6053328"/>
            <a:ext cx="1188720" cy="25603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rrow"/>
          <p:cNvCxnSpPr/>
          <p:nvPr/>
        </p:nvCxnSpPr>
        <p:spPr>
          <a:xfrm>
            <a:off x="4572000" y="6053328"/>
            <a:ext cx="0" cy="25603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rrow"/>
          <p:cNvCxnSpPr/>
          <p:nvPr/>
        </p:nvCxnSpPr>
        <p:spPr>
          <a:xfrm flipH="1">
            <a:off x="6309360" y="6053328"/>
            <a:ext cx="1188720" cy="25603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**سر مشترک**"/>
          <p:cNvSpPr/>
          <p:nvPr/>
        </p:nvSpPr>
        <p:spPr>
          <a:xfrm>
            <a:off x="1965960" y="7360920"/>
            <a:ext cx="5212080" cy="603504"/>
          </a:xfrm>
          <a:prstGeom prst="roundRect">
            <a:avLst>
              <a:gd name="adj" fmla="val 909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مشترک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→ Linear → GELU → Dropout → Linear → GELU</a:t>
            </a:r>
          </a:p>
        </p:txBody>
      </p:sp>
      <p:cxnSp>
        <p:nvCxnSpPr>
          <p:cNvPr id="33" name="arrow"/>
          <p:cNvCxnSpPr/>
          <p:nvPr/>
        </p:nvCxnSpPr>
        <p:spPr>
          <a:xfrm>
            <a:off x="4572000" y="7114032"/>
            <a:ext cx="0" cy="24688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**سر ۱:**"/>
          <p:cNvSpPr/>
          <p:nvPr/>
        </p:nvSpPr>
        <p:spPr>
          <a:xfrm>
            <a:off x="6848856" y="813816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۱: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بعدی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(Softmax)</a:t>
            </a:r>
          </a:p>
        </p:txBody>
      </p:sp>
      <p:cxnSp>
        <p:nvCxnSpPr>
          <p:cNvPr id="35" name="arrow"/>
          <p:cNvCxnSpPr/>
          <p:nvPr/>
        </p:nvCxnSpPr>
        <p:spPr>
          <a:xfrm>
            <a:off x="4572000" y="7964424"/>
            <a:ext cx="3305556" cy="155448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**سر ۲:**"/>
          <p:cNvSpPr/>
          <p:nvPr/>
        </p:nvSpPr>
        <p:spPr>
          <a:xfrm>
            <a:off x="4681728" y="813816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۲: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(رگرسیون)</a:t>
            </a:r>
          </a:p>
        </p:txBody>
      </p:sp>
      <p:cxnSp>
        <p:nvCxnSpPr>
          <p:cNvPr id="37" name="arrow"/>
          <p:cNvCxnSpPr/>
          <p:nvPr/>
        </p:nvCxnSpPr>
        <p:spPr>
          <a:xfrm>
            <a:off x="4572000" y="7964424"/>
            <a:ext cx="1138428" cy="155448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**سر ۳:**"/>
          <p:cNvSpPr/>
          <p:nvPr/>
        </p:nvSpPr>
        <p:spPr>
          <a:xfrm>
            <a:off x="2514600" y="813816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۳: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(tanh)</a:t>
            </a:r>
          </a:p>
        </p:txBody>
      </p:sp>
      <p:cxnSp>
        <p:nvCxnSpPr>
          <p:cNvPr id="39" name="arrow"/>
          <p:cNvCxnSpPr/>
          <p:nvPr/>
        </p:nvCxnSpPr>
        <p:spPr>
          <a:xfrm flipH="1">
            <a:off x="3543300" y="7964424"/>
            <a:ext cx="1028700" cy="155448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**سر ۴:**"/>
          <p:cNvSpPr/>
          <p:nvPr/>
        </p:nvSpPr>
        <p:spPr>
          <a:xfrm>
            <a:off x="347472" y="813816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۴: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گلوگاه</a:t>
            </a:r>
          </a:p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(Sigmoid)</a:t>
            </a:r>
          </a:p>
        </p:txBody>
      </p:sp>
      <p:cxnSp>
        <p:nvCxnSpPr>
          <p:cNvPr id="41" name="arrow"/>
          <p:cNvCxnSpPr/>
          <p:nvPr/>
        </p:nvCxnSpPr>
        <p:spPr>
          <a:xfrm flipH="1">
            <a:off x="1376172" y="7964424"/>
            <a:ext cx="3195828" cy="155448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xt گره‌بندی وزنی: وزن سر فع"/>
          <p:cNvSpPr txBox="1"/>
          <p:nvPr/>
        </p:nvSpPr>
        <p:spPr>
          <a:xfrm>
            <a:off x="548640" y="9015984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گره‌بندی وزنی: وزن سر فعالیت همان ماتریس تعبیه فعالیت است</a:t>
            </a:r>
          </a:p>
        </p:txBody>
      </p:sp>
      <p:sp>
        <p:nvSpPr>
          <p:cNvPr id="43" name="**خروجی: توزیع احتمال فعالیت"/>
          <p:cNvSpPr/>
          <p:nvPr/>
        </p:nvSpPr>
        <p:spPr>
          <a:xfrm>
            <a:off x="1188720" y="9290304"/>
            <a:ext cx="6766560" cy="530352"/>
          </a:xfrm>
          <a:prstGeom prst="roundRect">
            <a:avLst>
              <a:gd name="adj" fmla="val 10344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خروجی: توزیع احتمال فعالیت + زمان باقی‌مانده + بهبود تأخیر + بردار گلوگاه</a:t>
            </a:r>
          </a:p>
        </p:txBody>
      </p:sp>
      <p:sp>
        <p:nvSpPr>
          <p:cNvPr id="44" name="mask"/>
          <p:cNvSpPr/>
          <p:nvPr/>
        </p:nvSpPr>
        <p:spPr>
          <a:xfrm>
            <a:off x="2880360" y="2350008"/>
            <a:ext cx="33832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45" name="txt سه جریان موازی پردازش"/>
          <p:cNvSpPr txBox="1"/>
          <p:nvPr/>
        </p:nvSpPr>
        <p:spPr>
          <a:xfrm>
            <a:off x="2743200" y="23225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00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سه جریان موازی پردازش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