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3931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فراوانی</c:v>
                </c:pt>
              </c:strCache>
            </c:strRef>
          </c:tx>
          <c:spPr>
            <a:solidFill>
              <a:srgbClr val="9DC3E6"/>
            </a:solidFill>
            <a:ln w="6350">
              <a:solidFill>
                <a:srgbClr val="2F5597"/>
              </a:solidFill>
            </a:ln>
          </c:spPr>
          <c:cat>
            <c:strRef>
              <c:f>Sheet1!$A$2:$A$41</c:f>
              <c:strCache>
                <c:ptCount val="4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20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40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>60</c:v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>80</c:v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100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480</c:v>
                </c:pt>
                <c:pt idx="1">
                  <c:v>990</c:v>
                </c:pt>
                <c:pt idx="2">
                  <c:v>1385</c:v>
                </c:pt>
                <c:pt idx="3">
                  <c:v>1750</c:v>
                </c:pt>
                <c:pt idx="4">
                  <c:v>1790</c:v>
                </c:pt>
                <c:pt idx="5">
                  <c:v>1780</c:v>
                </c:pt>
                <c:pt idx="6">
                  <c:v>850</c:v>
                </c:pt>
                <c:pt idx="7">
                  <c:v>1670</c:v>
                </c:pt>
                <c:pt idx="8">
                  <c:v>1480</c:v>
                </c:pt>
                <c:pt idx="9">
                  <c:v>1300</c:v>
                </c:pt>
                <c:pt idx="10">
                  <c:v>1130</c:v>
                </c:pt>
                <c:pt idx="11">
                  <c:v>1015</c:v>
                </c:pt>
                <c:pt idx="12">
                  <c:v>440</c:v>
                </c:pt>
                <c:pt idx="13">
                  <c:v>715</c:v>
                </c:pt>
                <c:pt idx="14">
                  <c:v>635</c:v>
                </c:pt>
                <c:pt idx="15">
                  <c:v>520</c:v>
                </c:pt>
                <c:pt idx="16">
                  <c:v>430</c:v>
                </c:pt>
                <c:pt idx="17">
                  <c:v>310</c:v>
                </c:pt>
                <c:pt idx="18">
                  <c:v>205</c:v>
                </c:pt>
                <c:pt idx="19">
                  <c:v>270</c:v>
                </c:pt>
                <c:pt idx="20">
                  <c:v>170</c:v>
                </c:pt>
                <c:pt idx="21">
                  <c:v>135</c:v>
                </c:pt>
                <c:pt idx="22">
                  <c:v>95</c:v>
                </c:pt>
                <c:pt idx="23">
                  <c:v>60</c:v>
                </c:pt>
                <c:pt idx="24">
                  <c:v>50</c:v>
                </c:pt>
                <c:pt idx="25">
                  <c:v>35</c:v>
                </c:pt>
                <c:pt idx="26">
                  <c:v>30</c:v>
                </c:pt>
                <c:pt idx="27">
                  <c:v>20</c:v>
                </c:pt>
                <c:pt idx="28">
                  <c:v>15</c:v>
                </c:pt>
                <c:pt idx="29">
                  <c:v>12</c:v>
                </c:pt>
                <c:pt idx="30">
                  <c:v>8</c:v>
                </c:pt>
                <c:pt idx="31">
                  <c:v>6</c:v>
                </c:pt>
                <c:pt idx="32">
                  <c:v>5</c:v>
                </c:pt>
                <c:pt idx="33">
                  <c:v>4</c:v>
                </c:pt>
                <c:pt idx="34">
                  <c:v>3</c:v>
                </c:pt>
                <c:pt idx="35">
                  <c:v>2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0</c:v>
                </c:pt>
              </c:numCache>
            </c:numRef>
          </c:val>
        </c:ser>
        <c:gapWidth val="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>
                    <a:solidFill>
                      <a:srgbClr val="404040"/>
                    </a:solidFill>
                    <a:latin typeface="B Nazanin"/>
                  </a:rPr>
                  <a:t>طول پیشوند (تعداد رویدادها)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latin typeface="B Nazani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>
                    <a:solidFill>
                      <a:srgbClr val="404040"/>
                    </a:solidFill>
                    <a:latin typeface="B Nazanin"/>
                  </a:rPr>
                  <a:t>فراوانی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04040"/>
            </a:solidFill>
          </a:ln>
        </c:spPr>
        <c:txPr>
          <a:bodyPr/>
          <a:lstStyle/>
          <a:p>
            <a:pPr>
              <a:defRPr sz="900">
                <a:latin typeface="B Nazanin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B Nazanin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۵: توزیع طول پیشون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۳.۵: توزیع طول پیشوندها و استراتژی برش از انتها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51560" y="548640"/>
          <a:ext cx="681228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**ناحیه برش از انتها**"/>
          <p:cNvSpPr/>
          <p:nvPr/>
        </p:nvSpPr>
        <p:spPr>
          <a:xfrm>
            <a:off x="8001000" y="1234440"/>
            <a:ext cx="1097280" cy="685800"/>
          </a:xfrm>
          <a:prstGeom prst="roundRect">
            <a:avLst>
              <a:gd name="adj" fmla="val 8000"/>
            </a:avLst>
          </a:prstGeom>
          <a:solidFill>
            <a:srgbClr val="F8DCDC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950" b="1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ناحیه برش از انتها</a:t>
            </a:r>
          </a:p>
          <a:p>
            <a:pPr algn="ctr" rtl="1"/>
            <a:r>
              <a:rPr sz="95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(Truncation)</a:t>
            </a:r>
          </a:p>
        </p:txBody>
      </p:sp>
      <p:sp>
        <p:nvSpPr>
          <p:cNvPr id="5" name="txt حداکثر طول مجاز پیشوند ۱"/>
          <p:cNvSpPr txBox="1"/>
          <p:nvPr/>
        </p:nvSpPr>
        <p:spPr>
          <a:xfrm>
            <a:off x="274320" y="3401568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50" b="0" i="0">
                <a:solidFill>
                  <a:srgbClr val="404040"/>
                </a:solidFill>
                <a:latin typeface="Arial"/>
                <a:ea typeface="B Nazanin"/>
                <a:cs typeface="B Nazanin"/>
              </a:rPr>
              <a:t>حداکثر طول مجاز پیشوند ۱۰۰ رویداد است؛ نمونه‌های بلندتر از انتها برش می‌خورند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