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۹: ساختار یک لایه 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۳.۹: ساختار یک لایه رمزگذار ترانسفورمر و اجزای آن</a:t>
            </a:r>
          </a:p>
        </p:txBody>
      </p:sp>
      <p:sp>
        <p:nvSpPr>
          <p:cNvPr id="3" name="**ورودی لایه** (d_model)"/>
          <p:cNvSpPr/>
          <p:nvPr/>
        </p:nvSpPr>
        <p:spPr>
          <a:xfrm>
            <a:off x="2194560" y="594360"/>
            <a:ext cx="4389120" cy="530352"/>
          </a:xfrm>
          <a:prstGeom prst="roundRect">
            <a:avLst>
              <a:gd name="adj" fmla="val 10344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ورودی لایه</a:t>
            </a:r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 (d_model)</a:t>
            </a:r>
          </a:p>
        </p:txBody>
      </p:sp>
      <p:sp>
        <p:nvSpPr>
          <p:cNvPr id="4" name="**خودتوجهی چندسری**"/>
          <p:cNvSpPr/>
          <p:nvPr/>
        </p:nvSpPr>
        <p:spPr>
          <a:xfrm>
            <a:off x="1463040" y="1417320"/>
            <a:ext cx="5852160" cy="777240"/>
          </a:xfrm>
          <a:prstGeom prst="roundRect">
            <a:avLst>
              <a:gd name="adj" fmla="val 7058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خودتوجهی چندسری</a:t>
            </a:r>
          </a:p>
          <a:p>
            <a:pPr algn="ctr" rtl="1"/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(Multi-Head Self-Attention)</a:t>
            </a:r>
          </a:p>
        </p:txBody>
      </p:sp>
      <p:sp>
        <p:nvSpPr>
          <p:cNvPr id="5" name="اتصال باقی‌مانده + LayerNorm"/>
          <p:cNvSpPr/>
          <p:nvPr/>
        </p:nvSpPr>
        <p:spPr>
          <a:xfrm>
            <a:off x="1463040" y="2487168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اتصال باقی‌مانده + LayerNorm</a:t>
            </a:r>
          </a:p>
        </p:txBody>
      </p:sp>
      <p:sp>
        <p:nvSpPr>
          <p:cNvPr id="6" name="**شبکه پیش‌خور**"/>
          <p:cNvSpPr/>
          <p:nvPr/>
        </p:nvSpPr>
        <p:spPr>
          <a:xfrm>
            <a:off x="1463040" y="3291840"/>
            <a:ext cx="5852160" cy="777240"/>
          </a:xfrm>
          <a:prstGeom prst="roundRect">
            <a:avLst>
              <a:gd name="adj" fmla="val 7058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شبکه پیش‌خور</a:t>
            </a:r>
          </a:p>
          <a:p>
            <a:pPr algn="ctr" rtl="1"/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Linear → GELU → Linear</a:t>
            </a:r>
          </a:p>
        </p:txBody>
      </p:sp>
      <p:sp>
        <p:nvSpPr>
          <p:cNvPr id="7" name="اتصال باقی‌مانده + LayerNorm"/>
          <p:cNvSpPr/>
          <p:nvPr/>
        </p:nvSpPr>
        <p:spPr>
          <a:xfrm>
            <a:off x="1463040" y="43434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اتصال باقی‌مانده + LayerNorm</a:t>
            </a:r>
          </a:p>
        </p:txBody>
      </p:sp>
      <p:sp>
        <p:nvSpPr>
          <p:cNvPr id="8" name="**خروجی لایه**"/>
          <p:cNvSpPr/>
          <p:nvPr/>
        </p:nvSpPr>
        <p:spPr>
          <a:xfrm>
            <a:off x="1965960" y="5138928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 لایه</a:t>
            </a:r>
          </a:p>
        </p:txBody>
      </p:sp>
      <p:cxnSp>
        <p:nvCxnSpPr>
          <p:cNvPr id="9" name="arrow"/>
          <p:cNvCxnSpPr/>
          <p:nvPr/>
        </p:nvCxnSpPr>
        <p:spPr>
          <a:xfrm>
            <a:off x="4389120" y="1124712"/>
            <a:ext cx="0" cy="29260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arrow"/>
          <p:cNvCxnSpPr/>
          <p:nvPr/>
        </p:nvCxnSpPr>
        <p:spPr>
          <a:xfrm>
            <a:off x="4389120" y="2194560"/>
            <a:ext cx="0" cy="29260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arrow"/>
          <p:cNvCxnSpPr/>
          <p:nvPr/>
        </p:nvCxnSpPr>
        <p:spPr>
          <a:xfrm>
            <a:off x="4389120" y="3054096"/>
            <a:ext cx="0" cy="237744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arrow"/>
          <p:cNvCxnSpPr/>
          <p:nvPr/>
        </p:nvCxnSpPr>
        <p:spPr>
          <a:xfrm>
            <a:off x="4389120" y="4069080"/>
            <a:ext cx="0" cy="27432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arrow"/>
          <p:cNvCxnSpPr/>
          <p:nvPr/>
        </p:nvCxnSpPr>
        <p:spPr>
          <a:xfrm>
            <a:off x="4389120" y="4910328"/>
            <a:ext cx="0" cy="22860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• محاسبه ماتریس توجه"/>
          <p:cNvSpPr/>
          <p:nvPr/>
        </p:nvSpPr>
        <p:spPr>
          <a:xfrm>
            <a:off x="7635240" y="1371600"/>
            <a:ext cx="1371600" cy="868680"/>
          </a:xfrm>
          <a:prstGeom prst="roundRect">
            <a:avLst>
              <a:gd name="adj" fmla="val 2105"/>
            </a:avLst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محاسبه ماتریس توجه</a:t>
            </a:r>
          </a:p>
          <a:p>
            <a:pPr algn="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۸ سر توجه</a:t>
            </a:r>
          </a:p>
          <a:p>
            <a:pPr algn="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ماسک علّی</a:t>
            </a:r>
          </a:p>
        </p:txBody>
      </p:sp>
      <p:sp>
        <p:nvSpPr>
          <p:cNvPr id="15" name="• گسترش به ۱٫۰۲۴"/>
          <p:cNvSpPr/>
          <p:nvPr/>
        </p:nvSpPr>
        <p:spPr>
          <a:xfrm>
            <a:off x="7635240" y="3200400"/>
            <a:ext cx="1371600" cy="868680"/>
          </a:xfrm>
          <a:prstGeom prst="roundRect">
            <a:avLst>
              <a:gd name="adj" fmla="val 2105"/>
            </a:avLst>
          </a:prstGeom>
          <a:noFill/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گسترش به ۱٫۰۲۴</a:t>
            </a:r>
          </a:p>
          <a:p>
            <a:pPr algn="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فعال‌سازی GELU</a:t>
            </a:r>
          </a:p>
          <a:p>
            <a:pPr algn="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فشرده‌سازی به ۲۵۶</a:t>
            </a:r>
          </a:p>
        </p:txBody>
      </p:sp>
      <p:sp>
        <p:nvSpPr>
          <p:cNvPr id="16" name="**۶ لایه به‌صورت پشته‌ای**"/>
          <p:cNvSpPr/>
          <p:nvPr/>
        </p:nvSpPr>
        <p:spPr>
          <a:xfrm>
            <a:off x="2377440" y="612648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۶ لایه به‌صورت پشته‌ای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