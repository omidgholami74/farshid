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xt شکل ۳.۹: ساختار یک لایه "/>
          <p:cNvSpPr txBox="1"/>
          <p:nvPr/>
        </p:nvSpPr>
        <p:spPr>
          <a:xfrm>
            <a:off x="228600" y="109728"/>
            <a:ext cx="8686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/>
            <a:r>
              <a:rPr sz="1500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شکل ۳.۹: ساختار یک لایه رمزگذار ترانسفورمر و اجزای آن</a:t>
            </a:r>
          </a:p>
        </p:txBody>
      </p:sp>
      <p:sp>
        <p:nvSpPr>
          <p:cNvPr id="3" name="**ورودی لایه** (d_model)"/>
          <p:cNvSpPr/>
          <p:nvPr/>
        </p:nvSpPr>
        <p:spPr>
          <a:xfrm>
            <a:off x="2194560" y="594360"/>
            <a:ext cx="4389120" cy="530352"/>
          </a:xfrm>
          <a:prstGeom prst="roundRect">
            <a:avLst>
              <a:gd name="adj" fmla="val 10344"/>
            </a:avLst>
          </a:prstGeom>
          <a:solidFill>
            <a:srgbClr val="FFF2CC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200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ورودی لایه</a:t>
            </a:r>
            <a:r>
              <a:rPr sz="120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 (d_model)</a:t>
            </a:r>
          </a:p>
        </p:txBody>
      </p:sp>
      <p:sp>
        <p:nvSpPr>
          <p:cNvPr id="4" name="**خودتوجهی چندسری**"/>
          <p:cNvSpPr/>
          <p:nvPr/>
        </p:nvSpPr>
        <p:spPr>
          <a:xfrm>
            <a:off x="1463040" y="1417320"/>
            <a:ext cx="5852160" cy="777240"/>
          </a:xfrm>
          <a:prstGeom prst="roundRect">
            <a:avLst>
              <a:gd name="adj" fmla="val 7058"/>
            </a:avLst>
          </a:prstGeom>
          <a:solidFill>
            <a:srgbClr val="DEEAF6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200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خودتوجهی چندسری</a:t>
            </a:r>
          </a:p>
          <a:p>
            <a:pPr algn="ctr" rtl="1"/>
            <a:r>
              <a:rPr sz="120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(Multi-Head Self-Attention)</a:t>
            </a:r>
          </a:p>
        </p:txBody>
      </p:sp>
      <p:sp>
        <p:nvSpPr>
          <p:cNvPr id="5" name="اتصال باقی‌مانده + LayerNorm"/>
          <p:cNvSpPr/>
          <p:nvPr/>
        </p:nvSpPr>
        <p:spPr>
          <a:xfrm>
            <a:off x="1463040" y="2487168"/>
            <a:ext cx="5852160" cy="566928"/>
          </a:xfrm>
          <a:prstGeom prst="roundRect">
            <a:avLst>
              <a:gd name="adj" fmla="val 9677"/>
            </a:avLst>
          </a:prstGeom>
          <a:solidFill>
            <a:srgbClr val="E2EFDA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15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اتصال باقی‌مانده + LayerNorm</a:t>
            </a:r>
          </a:p>
        </p:txBody>
      </p:sp>
      <p:sp>
        <p:nvSpPr>
          <p:cNvPr id="6" name="**شبکه پیش‌خور**"/>
          <p:cNvSpPr/>
          <p:nvPr/>
        </p:nvSpPr>
        <p:spPr>
          <a:xfrm>
            <a:off x="1463040" y="3291840"/>
            <a:ext cx="5852160" cy="777240"/>
          </a:xfrm>
          <a:prstGeom prst="roundRect">
            <a:avLst>
              <a:gd name="adj" fmla="val 7058"/>
            </a:avLst>
          </a:prstGeom>
          <a:solidFill>
            <a:srgbClr val="FFF2CC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200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شبکه پیش‌خور</a:t>
            </a:r>
          </a:p>
          <a:p>
            <a:pPr algn="ctr" rtl="1"/>
            <a:r>
              <a:rPr sz="120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Linear → GELU → Linear</a:t>
            </a:r>
          </a:p>
        </p:txBody>
      </p:sp>
      <p:sp>
        <p:nvSpPr>
          <p:cNvPr id="7" name="اتصال باقی‌مانده + LayerNorm"/>
          <p:cNvSpPr/>
          <p:nvPr/>
        </p:nvSpPr>
        <p:spPr>
          <a:xfrm>
            <a:off x="1463040" y="4343400"/>
            <a:ext cx="5852160" cy="566928"/>
          </a:xfrm>
          <a:prstGeom prst="roundRect">
            <a:avLst>
              <a:gd name="adj" fmla="val 9677"/>
            </a:avLst>
          </a:prstGeom>
          <a:solidFill>
            <a:srgbClr val="E2EFDA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15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اتصال باقی‌مانده + LayerNorm</a:t>
            </a:r>
          </a:p>
        </p:txBody>
      </p:sp>
      <p:sp>
        <p:nvSpPr>
          <p:cNvPr id="8" name="**خروجی لایه**"/>
          <p:cNvSpPr/>
          <p:nvPr/>
        </p:nvSpPr>
        <p:spPr>
          <a:xfrm>
            <a:off x="1965960" y="5138928"/>
            <a:ext cx="4846320" cy="548640"/>
          </a:xfrm>
          <a:prstGeom prst="roundRect">
            <a:avLst>
              <a:gd name="adj" fmla="val 10000"/>
            </a:avLst>
          </a:prstGeom>
          <a:solidFill>
            <a:srgbClr val="F8DCDC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200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خروجی لایه</a:t>
            </a:r>
          </a:p>
        </p:txBody>
      </p:sp>
      <p:cxnSp>
        <p:nvCxnSpPr>
          <p:cNvPr id="9" name="arrow"/>
          <p:cNvCxnSpPr/>
          <p:nvPr/>
        </p:nvCxnSpPr>
        <p:spPr>
          <a:xfrm>
            <a:off x="4389120" y="1124712"/>
            <a:ext cx="0" cy="292608"/>
          </a:xfrm>
          <a:prstGeom prst="line">
            <a:avLst/>
          </a:prstGeom>
          <a:ln w="1905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arrow"/>
          <p:cNvCxnSpPr/>
          <p:nvPr/>
        </p:nvCxnSpPr>
        <p:spPr>
          <a:xfrm>
            <a:off x="4389120" y="2194560"/>
            <a:ext cx="0" cy="292608"/>
          </a:xfrm>
          <a:prstGeom prst="line">
            <a:avLst/>
          </a:prstGeom>
          <a:ln w="1905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arrow"/>
          <p:cNvCxnSpPr/>
          <p:nvPr/>
        </p:nvCxnSpPr>
        <p:spPr>
          <a:xfrm>
            <a:off x="4389120" y="3054096"/>
            <a:ext cx="0" cy="237744"/>
          </a:xfrm>
          <a:prstGeom prst="line">
            <a:avLst/>
          </a:prstGeom>
          <a:ln w="1905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arrow"/>
          <p:cNvCxnSpPr/>
          <p:nvPr/>
        </p:nvCxnSpPr>
        <p:spPr>
          <a:xfrm>
            <a:off x="4389120" y="4069080"/>
            <a:ext cx="0" cy="274320"/>
          </a:xfrm>
          <a:prstGeom prst="line">
            <a:avLst/>
          </a:prstGeom>
          <a:ln w="1905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arrow"/>
          <p:cNvCxnSpPr/>
          <p:nvPr/>
        </p:nvCxnSpPr>
        <p:spPr>
          <a:xfrm>
            <a:off x="4389120" y="4910328"/>
            <a:ext cx="0" cy="228600"/>
          </a:xfrm>
          <a:prstGeom prst="line">
            <a:avLst/>
          </a:prstGeom>
          <a:ln w="1905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• محاسبه ماتریس توجه"/>
          <p:cNvSpPr/>
          <p:nvPr/>
        </p:nvSpPr>
        <p:spPr>
          <a:xfrm>
            <a:off x="7635240" y="1371600"/>
            <a:ext cx="1371600" cy="868680"/>
          </a:xfrm>
          <a:prstGeom prst="roundRect">
            <a:avLst>
              <a:gd name="adj" fmla="val 2105"/>
            </a:avLst>
          </a:prstGeom>
          <a:noFill/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r" rtl="1"/>
            <a:r>
              <a:rPr sz="950" b="0" i="0">
                <a:solidFill>
                  <a:srgbClr val="404040"/>
                </a:solidFill>
                <a:latin typeface="Arial"/>
                <a:ea typeface="B Nazanin"/>
                <a:cs typeface="B Nazanin"/>
              </a:rPr>
              <a:t>• محاسبه ماتریس توجه</a:t>
            </a:r>
          </a:p>
          <a:p>
            <a:pPr algn="r" rtl="1"/>
            <a:r>
              <a:rPr sz="950" b="0" i="0">
                <a:solidFill>
                  <a:srgbClr val="404040"/>
                </a:solidFill>
                <a:latin typeface="Arial"/>
                <a:ea typeface="B Nazanin"/>
                <a:cs typeface="B Nazanin"/>
              </a:rPr>
              <a:t>• ۸ سر توجه</a:t>
            </a:r>
          </a:p>
          <a:p>
            <a:pPr algn="r" rtl="1"/>
            <a:r>
              <a:rPr sz="950" b="0" i="0">
                <a:solidFill>
                  <a:srgbClr val="404040"/>
                </a:solidFill>
                <a:latin typeface="Arial"/>
                <a:ea typeface="B Nazanin"/>
                <a:cs typeface="B Nazanin"/>
              </a:rPr>
              <a:t>• ماسک علّی</a:t>
            </a:r>
          </a:p>
        </p:txBody>
      </p:sp>
      <p:sp>
        <p:nvSpPr>
          <p:cNvPr id="15" name="• گسترش به ۱٫۰۲۴"/>
          <p:cNvSpPr/>
          <p:nvPr/>
        </p:nvSpPr>
        <p:spPr>
          <a:xfrm>
            <a:off x="7635240" y="3200400"/>
            <a:ext cx="1371600" cy="868680"/>
          </a:xfrm>
          <a:prstGeom prst="roundRect">
            <a:avLst>
              <a:gd name="adj" fmla="val 2105"/>
            </a:avLst>
          </a:prstGeom>
          <a:noFill/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r" rtl="1"/>
            <a:r>
              <a:rPr sz="950" b="0" i="0">
                <a:solidFill>
                  <a:srgbClr val="404040"/>
                </a:solidFill>
                <a:latin typeface="Arial"/>
                <a:ea typeface="B Nazanin"/>
                <a:cs typeface="B Nazanin"/>
              </a:rPr>
              <a:t>• گسترش به ۱٫۰۲۴</a:t>
            </a:r>
          </a:p>
          <a:p>
            <a:pPr algn="r" rtl="1"/>
            <a:r>
              <a:rPr sz="950" b="0" i="0">
                <a:solidFill>
                  <a:srgbClr val="404040"/>
                </a:solidFill>
                <a:latin typeface="Arial"/>
                <a:ea typeface="B Nazanin"/>
                <a:cs typeface="B Nazanin"/>
              </a:rPr>
              <a:t>• فعال‌سازی GELU</a:t>
            </a:r>
          </a:p>
          <a:p>
            <a:pPr algn="r" rtl="1"/>
            <a:r>
              <a:rPr sz="950" b="0" i="0">
                <a:solidFill>
                  <a:srgbClr val="404040"/>
                </a:solidFill>
                <a:latin typeface="Arial"/>
                <a:ea typeface="B Nazanin"/>
                <a:cs typeface="B Nazanin"/>
              </a:rPr>
              <a:t>• فشرده‌سازی به ۲۵۶</a:t>
            </a:r>
          </a:p>
        </p:txBody>
      </p:sp>
      <p:sp>
        <p:nvSpPr>
          <p:cNvPr id="16" name="**۶ لایه به‌صورت پشته‌ای**"/>
          <p:cNvSpPr/>
          <p:nvPr/>
        </p:nvSpPr>
        <p:spPr>
          <a:xfrm>
            <a:off x="2377440" y="6126480"/>
            <a:ext cx="4023360" cy="475488"/>
          </a:xfrm>
          <a:prstGeom prst="roundRect">
            <a:avLst>
              <a:gd name="adj" fmla="val 11538"/>
            </a:avLst>
          </a:prstGeom>
          <a:solidFill>
            <a:srgbClr val="DEEAF6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200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۶ لایه به‌صورت پشته‌ای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