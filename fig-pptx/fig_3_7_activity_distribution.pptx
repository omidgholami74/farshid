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475488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فراوانی</c:v>
                </c:pt>
              </c:strCache>
            </c:strRef>
          </c:tx>
          <c:spPr>
            <a:solidFill>
              <a:srgbClr val="5B9BD5"/>
            </a:solidFill>
            <a:ln w="6350">
              <a:solidFill>
                <a:srgbClr val="2F5597"/>
              </a:solidFill>
            </a:ln>
          </c:spPr>
          <c:cat>
            <c:strRef>
              <c:f>Sheet1!$A$2:$A$21</c:f>
              <c:strCache>
                <c:ptCount val="20"/>
                <c:pt idx="0">
                  <c:v>A20</c:v>
                </c:pt>
                <c:pt idx="1">
                  <c:v>A19</c:v>
                </c:pt>
                <c:pt idx="2">
                  <c:v>A18</c:v>
                </c:pt>
                <c:pt idx="3">
                  <c:v>A17</c:v>
                </c:pt>
                <c:pt idx="4">
                  <c:v>A16</c:v>
                </c:pt>
                <c:pt idx="5">
                  <c:v>A15</c:v>
                </c:pt>
                <c:pt idx="6">
                  <c:v>A14</c:v>
                </c:pt>
                <c:pt idx="7">
                  <c:v>A13</c:v>
                </c:pt>
                <c:pt idx="8">
                  <c:v>A12</c:v>
                </c:pt>
                <c:pt idx="9">
                  <c:v>A11</c:v>
                </c:pt>
                <c:pt idx="10">
                  <c:v>A10</c:v>
                </c:pt>
                <c:pt idx="11">
                  <c:v>A9</c:v>
                </c:pt>
                <c:pt idx="12">
                  <c:v>A8</c:v>
                </c:pt>
                <c:pt idx="13">
                  <c:v>A7</c:v>
                </c:pt>
                <c:pt idx="14">
                  <c:v>A6</c:v>
                </c:pt>
                <c:pt idx="15">
                  <c:v>A5</c:v>
                </c:pt>
                <c:pt idx="16">
                  <c:v>A4</c:v>
                </c:pt>
                <c:pt idx="17">
                  <c:v>A3</c:v>
                </c:pt>
                <c:pt idx="18">
                  <c:v>A2</c:v>
                </c:pt>
                <c:pt idx="19">
                  <c:v>A1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  <c:pt idx="6">
                  <c:v>100</c:v>
                </c:pt>
                <c:pt idx="7">
                  <c:v>100</c:v>
                </c:pt>
                <c:pt idx="8">
                  <c:v>100</c:v>
                </c:pt>
                <c:pt idx="9">
                  <c:v>100</c:v>
                </c:pt>
                <c:pt idx="10">
                  <c:v>100</c:v>
                </c:pt>
                <c:pt idx="11">
                  <c:v>100</c:v>
                </c:pt>
                <c:pt idx="12">
                  <c:v>100</c:v>
                </c:pt>
                <c:pt idx="13">
                  <c:v>200</c:v>
                </c:pt>
                <c:pt idx="14">
                  <c:v>300</c:v>
                </c:pt>
                <c:pt idx="15">
                  <c:v>300</c:v>
                </c:pt>
                <c:pt idx="16">
                  <c:v>300</c:v>
                </c:pt>
                <c:pt idx="17">
                  <c:v>500</c:v>
                </c:pt>
                <c:pt idx="18">
                  <c:v>600</c:v>
                </c:pt>
                <c:pt idx="19">
                  <c:v>1200</c:v>
                </c:pt>
              </c:numCache>
            </c:numRef>
          </c:val>
        </c:ser>
        <c:dLbls>
          <c:txPr>
            <a:bodyPr/>
            <a:lstStyle/>
            <a:p>
              <a:pPr>
                <a:defRPr sz="900">
                  <a:latin typeface="B Nazanin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000">
                    <a:solidFill>
                      <a:srgbClr val="404040"/>
                    </a:solidFill>
                    <a:latin typeface="B Nazanin"/>
                  </a:rPr>
                  <a:t>فعالیت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404040"/>
            </a:solidFill>
          </a:ln>
        </c:spPr>
        <c:txPr>
          <a:bodyPr/>
          <a:lstStyle/>
          <a:p>
            <a:pPr>
              <a:defRPr sz="900">
                <a:latin typeface="B Nazanin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300.0"/>
          <c:min val="0.0"/>
        </c:scaling>
        <c:delete val="0"/>
        <c:axPos val="l"/>
        <c:majorGridlines>
          <c:spPr>
            <a:ln w="6350">
              <a:solidFill>
                <a:srgbClr val="E0E0E0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000">
                    <a:solidFill>
                      <a:srgbClr val="404040"/>
                    </a:solidFill>
                    <a:latin typeface="B Nazanin"/>
                  </a:rPr>
                  <a:t>فراوانی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404040"/>
            </a:solidFill>
          </a:ln>
        </c:spPr>
        <c:txPr>
          <a:bodyPr/>
          <a:lstStyle/>
          <a:p>
            <a:pPr>
              <a:defRPr sz="900">
                <a:latin typeface="B Nazanin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900">
          <a:latin typeface="B Nazanin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xt شکل ۳.۷: توزیع فراوانی ف"/>
          <p:cNvSpPr txBox="1"/>
          <p:nvPr/>
        </p:nvSpPr>
        <p:spPr>
          <a:xfrm>
            <a:off x="228600" y="109728"/>
            <a:ext cx="8686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/>
            <a:r>
              <a:rPr sz="150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شکل ۳.۷: توزیع فراوانی فعالیت‌ها و کلاس‌های کم‌فراوان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548640"/>
          <a:ext cx="8321040" cy="3429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xt خط مبنای صدک ۳۰ فراوانی "/>
          <p:cNvSpPr txBox="1"/>
          <p:nvPr/>
        </p:nvSpPr>
        <p:spPr>
          <a:xfrm>
            <a:off x="274320" y="4114800"/>
            <a:ext cx="8595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/>
            <a:r>
              <a:rPr sz="1000" b="0" i="0">
                <a:solidFill>
                  <a:srgbClr val="404040"/>
                </a:solidFill>
                <a:latin typeface="Arial"/>
                <a:ea typeface="B Nazanin"/>
                <a:cs typeface="B Nazanin"/>
              </a:rPr>
              <a:t>خط مبنای صدک ۳۰ فراوانی برابر ۱۰۰ است؛ کلاس‌های A8 تا A20 کم‌فراوان‌اند و در زیان آنتروپی متقاطع وزن بیشتری می‌گیرند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