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126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۳: ساختار گراف پی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۳.۱۳: ساختار گراف پیشوند با انواع یال‌ها</a:t>
            </a:r>
          </a:p>
        </p:txBody>
      </p:sp>
      <p:sp>
        <p:nvSpPr>
          <p:cNvPr id="3" name="txt **گراف پیشوند: انواع یال"/>
          <p:cNvSpPr txBox="1"/>
          <p:nvPr/>
        </p:nvSpPr>
        <p:spPr>
          <a:xfrm>
            <a:off x="2743200" y="384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گراف پیشوند: انواع یال‌ها</a:t>
            </a:r>
          </a:p>
        </p:txBody>
      </p:sp>
      <p:sp>
        <p:nvSpPr>
          <p:cNvPr id="4" name="**CLS**"/>
          <p:cNvSpPr/>
          <p:nvPr/>
        </p:nvSpPr>
        <p:spPr>
          <a:xfrm>
            <a:off x="4206240" y="868680"/>
            <a:ext cx="731520" cy="640080"/>
          </a:xfrm>
          <a:prstGeom prst="roundRect">
            <a:avLst>
              <a:gd name="adj" fmla="val 48571"/>
            </a:avLst>
          </a:prstGeom>
          <a:solidFill>
            <a:srgbClr val="F8DCDC"/>
          </a:solidFill>
          <a:ln w="2286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CLS</a:t>
            </a:r>
          </a:p>
        </p:txBody>
      </p:sp>
      <p:sp>
        <p:nvSpPr>
          <p:cNvPr id="5" name="**A**"/>
          <p:cNvSpPr/>
          <p:nvPr/>
        </p:nvSpPr>
        <p:spPr>
          <a:xfrm>
            <a:off x="777240" y="2286000"/>
            <a:ext cx="685800" cy="685800"/>
          </a:xfrm>
          <a:prstGeom prst="roundRect">
            <a:avLst>
              <a:gd name="adj" fmla="val 48000"/>
            </a:avLst>
          </a:prstGeom>
          <a:solidFill>
            <a:srgbClr val="DEEAF6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6" name="**B**"/>
          <p:cNvSpPr/>
          <p:nvPr/>
        </p:nvSpPr>
        <p:spPr>
          <a:xfrm>
            <a:off x="2267712" y="2286000"/>
            <a:ext cx="685800" cy="685800"/>
          </a:xfrm>
          <a:prstGeom prst="roundRect">
            <a:avLst>
              <a:gd name="adj" fmla="val 48000"/>
            </a:avLst>
          </a:prstGeom>
          <a:solidFill>
            <a:srgbClr val="E2EFDA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7" name="**C**"/>
          <p:cNvSpPr/>
          <p:nvPr/>
        </p:nvSpPr>
        <p:spPr>
          <a:xfrm>
            <a:off x="3758184" y="2286000"/>
            <a:ext cx="685800" cy="685800"/>
          </a:xfrm>
          <a:prstGeom prst="roundRect">
            <a:avLst>
              <a:gd name="adj" fmla="val 48000"/>
            </a:avLst>
          </a:prstGeom>
          <a:solidFill>
            <a:srgbClr val="FFF2CC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8" name="**A**"/>
          <p:cNvSpPr/>
          <p:nvPr/>
        </p:nvSpPr>
        <p:spPr>
          <a:xfrm>
            <a:off x="5248656" y="2286000"/>
            <a:ext cx="685800" cy="685800"/>
          </a:xfrm>
          <a:prstGeom prst="roundRect">
            <a:avLst>
              <a:gd name="adj" fmla="val 48000"/>
            </a:avLst>
          </a:prstGeom>
          <a:solidFill>
            <a:srgbClr val="DEEAF6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9" name="**D**"/>
          <p:cNvSpPr/>
          <p:nvPr/>
        </p:nvSpPr>
        <p:spPr>
          <a:xfrm>
            <a:off x="6739128" y="2286000"/>
            <a:ext cx="685800" cy="685800"/>
          </a:xfrm>
          <a:prstGeom prst="roundRect">
            <a:avLst>
              <a:gd name="adj" fmla="val 48000"/>
            </a:avLst>
          </a:prstGeom>
          <a:solidFill>
            <a:srgbClr val="E4DFEC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10" name="**A**"/>
          <p:cNvSpPr/>
          <p:nvPr/>
        </p:nvSpPr>
        <p:spPr>
          <a:xfrm>
            <a:off x="8229600" y="2286000"/>
            <a:ext cx="685800" cy="685800"/>
          </a:xfrm>
          <a:prstGeom prst="roundRect">
            <a:avLst>
              <a:gd name="adj" fmla="val 48000"/>
            </a:avLst>
          </a:prstGeom>
          <a:solidFill>
            <a:srgbClr val="DEEAF6"/>
          </a:solidFill>
          <a:ln w="2032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cxnSp>
        <p:nvCxnSpPr>
          <p:cNvPr id="11" name="line"/>
          <p:cNvCxnSpPr/>
          <p:nvPr/>
        </p:nvCxnSpPr>
        <p:spPr>
          <a:xfrm flipH="1">
            <a:off x="1120140" y="1508760"/>
            <a:ext cx="3451860" cy="777240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ne"/>
          <p:cNvCxnSpPr/>
          <p:nvPr/>
        </p:nvCxnSpPr>
        <p:spPr>
          <a:xfrm flipH="1">
            <a:off x="2610612" y="1508760"/>
            <a:ext cx="1961388" cy="777240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ne"/>
          <p:cNvCxnSpPr/>
          <p:nvPr/>
        </p:nvCxnSpPr>
        <p:spPr>
          <a:xfrm flipH="1">
            <a:off x="4101084" y="1508760"/>
            <a:ext cx="470916" cy="777240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"/>
          <p:cNvCxnSpPr/>
          <p:nvPr/>
        </p:nvCxnSpPr>
        <p:spPr>
          <a:xfrm>
            <a:off x="4572000" y="1508760"/>
            <a:ext cx="1019556" cy="777240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"/>
          <p:cNvCxnSpPr/>
          <p:nvPr/>
        </p:nvCxnSpPr>
        <p:spPr>
          <a:xfrm>
            <a:off x="4572000" y="1508760"/>
            <a:ext cx="2510028" cy="777240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"/>
          <p:cNvCxnSpPr/>
          <p:nvPr/>
        </p:nvCxnSpPr>
        <p:spPr>
          <a:xfrm>
            <a:off x="4572000" y="1508760"/>
            <a:ext cx="4000500" cy="777240"/>
          </a:xfrm>
          <a:prstGeom prst="line">
            <a:avLst/>
          </a:prstGeom>
          <a:ln w="15240">
            <a:solidFill>
              <a:srgbClr val="E8A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"/>
          <p:cNvCxnSpPr/>
          <p:nvPr/>
        </p:nvCxnSpPr>
        <p:spPr>
          <a:xfrm>
            <a:off x="1463040" y="2583180"/>
            <a:ext cx="804672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"/>
          <p:cNvCxnSpPr/>
          <p:nvPr/>
        </p:nvCxnSpPr>
        <p:spPr>
          <a:xfrm>
            <a:off x="2953512" y="2583180"/>
            <a:ext cx="804672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ne"/>
          <p:cNvCxnSpPr/>
          <p:nvPr/>
        </p:nvCxnSpPr>
        <p:spPr>
          <a:xfrm>
            <a:off x="4443984" y="2583180"/>
            <a:ext cx="804672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e"/>
          <p:cNvCxnSpPr/>
          <p:nvPr/>
        </p:nvCxnSpPr>
        <p:spPr>
          <a:xfrm>
            <a:off x="5934456" y="2583180"/>
            <a:ext cx="804672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"/>
          <p:cNvCxnSpPr/>
          <p:nvPr/>
        </p:nvCxnSpPr>
        <p:spPr>
          <a:xfrm>
            <a:off x="7424928" y="2583180"/>
            <a:ext cx="804672" cy="0"/>
          </a:xfrm>
          <a:prstGeom prst="line">
            <a:avLst/>
          </a:prstGeom>
          <a:ln w="1651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"/>
          <p:cNvCxnSpPr/>
          <p:nvPr/>
        </p:nvCxnSpPr>
        <p:spPr>
          <a:xfrm>
            <a:off x="1120140" y="2971800"/>
            <a:ext cx="0" cy="22860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"/>
          <p:cNvCxnSpPr/>
          <p:nvPr/>
        </p:nvCxnSpPr>
        <p:spPr>
          <a:xfrm>
            <a:off x="1120140" y="3200400"/>
            <a:ext cx="4471416" cy="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e"/>
          <p:cNvCxnSpPr/>
          <p:nvPr/>
        </p:nvCxnSpPr>
        <p:spPr>
          <a:xfrm flipV="1">
            <a:off x="5591556" y="2971800"/>
            <a:ext cx="0" cy="22860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e"/>
          <p:cNvCxnSpPr/>
          <p:nvPr/>
        </p:nvCxnSpPr>
        <p:spPr>
          <a:xfrm>
            <a:off x="5591556" y="2971800"/>
            <a:ext cx="0" cy="22860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e"/>
          <p:cNvCxnSpPr/>
          <p:nvPr/>
        </p:nvCxnSpPr>
        <p:spPr>
          <a:xfrm>
            <a:off x="5591556" y="3200400"/>
            <a:ext cx="2980944" cy="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e"/>
          <p:cNvCxnSpPr/>
          <p:nvPr/>
        </p:nvCxnSpPr>
        <p:spPr>
          <a:xfrm flipV="1">
            <a:off x="8572500" y="2971800"/>
            <a:ext cx="0" cy="228600"/>
          </a:xfrm>
          <a:prstGeom prst="line">
            <a:avLst/>
          </a:prstGeom>
          <a:ln w="2032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"/>
          <p:cNvCxnSpPr/>
          <p:nvPr/>
        </p:nvCxnSpPr>
        <p:spPr>
          <a:xfrm>
            <a:off x="2610612" y="2971800"/>
            <a:ext cx="0" cy="457200"/>
          </a:xfrm>
          <a:prstGeom prst="line">
            <a:avLst/>
          </a:prstGeom>
          <a:ln w="2032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"/>
          <p:cNvCxnSpPr/>
          <p:nvPr/>
        </p:nvCxnSpPr>
        <p:spPr>
          <a:xfrm>
            <a:off x="2610612" y="3429000"/>
            <a:ext cx="1490472" cy="0"/>
          </a:xfrm>
          <a:prstGeom prst="line">
            <a:avLst/>
          </a:prstGeom>
          <a:ln w="2032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"/>
          <p:cNvCxnSpPr/>
          <p:nvPr/>
        </p:nvCxnSpPr>
        <p:spPr>
          <a:xfrm flipV="1">
            <a:off x="4101084" y="2971800"/>
            <a:ext cx="0" cy="457200"/>
          </a:xfrm>
          <a:prstGeom prst="line">
            <a:avLst/>
          </a:prstGeom>
          <a:ln w="2032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"/>
          <p:cNvCxnSpPr/>
          <p:nvPr/>
        </p:nvCxnSpPr>
        <p:spPr>
          <a:xfrm>
            <a:off x="502920" y="3977640"/>
            <a:ext cx="822960" cy="0"/>
          </a:xfrm>
          <a:prstGeom prst="line">
            <a:avLst/>
          </a:prstGeom>
          <a:ln w="1651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xt یال CLS (سراسری)"/>
          <p:cNvSpPr txBox="1"/>
          <p:nvPr/>
        </p:nvSpPr>
        <p:spPr>
          <a:xfrm>
            <a:off x="1463040" y="383133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CLS (سراسری)</a:t>
            </a:r>
          </a:p>
        </p:txBody>
      </p:sp>
      <p:cxnSp>
        <p:nvCxnSpPr>
          <p:cNvPr id="33" name="line"/>
          <p:cNvCxnSpPr/>
          <p:nvPr/>
        </p:nvCxnSpPr>
        <p:spPr>
          <a:xfrm>
            <a:off x="502920" y="4389120"/>
            <a:ext cx="822960" cy="0"/>
          </a:xfrm>
          <a:prstGeom prst="line">
            <a:avLst/>
          </a:prstGeom>
          <a:ln w="254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xt یال پیروی مستقیم"/>
          <p:cNvSpPr txBox="1"/>
          <p:nvPr/>
        </p:nvSpPr>
        <p:spPr>
          <a:xfrm>
            <a:off x="1463040" y="424281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پیروی مستقیم</a:t>
            </a:r>
          </a:p>
        </p:txBody>
      </p:sp>
      <p:cxnSp>
        <p:nvCxnSpPr>
          <p:cNvPr id="35" name="line"/>
          <p:cNvCxnSpPr/>
          <p:nvPr/>
        </p:nvCxnSpPr>
        <p:spPr>
          <a:xfrm>
            <a:off x="502920" y="4800600"/>
            <a:ext cx="82296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xt یال تکرار فعالیت"/>
          <p:cNvSpPr txBox="1"/>
          <p:nvPr/>
        </p:nvSpPr>
        <p:spPr>
          <a:xfrm>
            <a:off x="1463040" y="465429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تکرار فعالیت</a:t>
            </a:r>
          </a:p>
        </p:txBody>
      </p:sp>
      <p:cxnSp>
        <p:nvCxnSpPr>
          <p:cNvPr id="37" name="line"/>
          <p:cNvCxnSpPr/>
          <p:nvPr/>
        </p:nvCxnSpPr>
        <p:spPr>
          <a:xfrm>
            <a:off x="502920" y="5212080"/>
            <a:ext cx="82296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xt یال مجاورت زمانی"/>
          <p:cNvSpPr txBox="1"/>
          <p:nvPr/>
        </p:nvSpPr>
        <p:spPr>
          <a:xfrm>
            <a:off x="1463040" y="506577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یال مجاورت زمانی</a:t>
            </a:r>
          </a:p>
        </p:txBody>
      </p:sp>
      <p:sp>
        <p:nvSpPr>
          <p:cNvPr id="39" name="**ویژگی گره:** فعالیت + بازه"/>
          <p:cNvSpPr/>
          <p:nvPr/>
        </p:nvSpPr>
        <p:spPr>
          <a:xfrm>
            <a:off x="2286000" y="54864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ویژگی گره:</a:t>
            </a:r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فعالیت + بازه زمانی نرمال + موقعیت نرمال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