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8521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۲: ماژول ادغام تو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۳.۱۲: ماژول ادغام توجه متقابل میان جریان ترانسفورمر و TCN</a:t>
            </a:r>
          </a:p>
        </p:txBody>
      </p:sp>
      <p:sp>
        <p:nvSpPr>
          <p:cNvPr id="3" name="**خروجی ترانسفورمر**"/>
          <p:cNvSpPr/>
          <p:nvPr/>
        </p:nvSpPr>
        <p:spPr>
          <a:xfrm>
            <a:off x="6400800" y="1097280"/>
            <a:ext cx="2606040" cy="777240"/>
          </a:xfrm>
          <a:prstGeom prst="roundRect">
            <a:avLst>
              <a:gd name="adj" fmla="val 7058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ترانسفورمر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(Query)</a:t>
            </a:r>
          </a:p>
        </p:txBody>
      </p:sp>
      <p:sp>
        <p:nvSpPr>
          <p:cNvPr id="4" name="**خروجی TCN**"/>
          <p:cNvSpPr/>
          <p:nvPr/>
        </p:nvSpPr>
        <p:spPr>
          <a:xfrm>
            <a:off x="6400800" y="2194560"/>
            <a:ext cx="2606040" cy="777240"/>
          </a:xfrm>
          <a:prstGeom prst="roundRect">
            <a:avLst>
              <a:gd name="adj" fmla="val 7058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5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خروجی TCN</a:t>
            </a:r>
          </a:p>
          <a:p>
            <a:pPr algn="ctr" rtl="1"/>
            <a:r>
              <a:rPr sz="11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(Key, Value)</a:t>
            </a:r>
          </a:p>
        </p:txBody>
      </p:sp>
      <p:sp>
        <p:nvSpPr>
          <p:cNvPr id="5" name="**Multi-Head**"/>
          <p:cNvSpPr/>
          <p:nvPr/>
        </p:nvSpPr>
        <p:spPr>
          <a:xfrm>
            <a:off x="3246120" y="1645920"/>
            <a:ext cx="2697480" cy="868680"/>
          </a:xfrm>
          <a:prstGeom prst="roundRect">
            <a:avLst>
              <a:gd name="adj" fmla="val 6315"/>
            </a:avLst>
          </a:prstGeom>
          <a:solidFill>
            <a:srgbClr val="F8DCD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Multi-Head</a:t>
            </a:r>
          </a:p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Cross-Attention</a:t>
            </a:r>
          </a:p>
        </p:txBody>
      </p:sp>
      <p:cxnSp>
        <p:nvCxnSpPr>
          <p:cNvPr id="6" name="arrow"/>
          <p:cNvCxnSpPr/>
          <p:nvPr/>
        </p:nvCxnSpPr>
        <p:spPr>
          <a:xfrm flipH="1">
            <a:off x="5961888" y="1485900"/>
            <a:ext cx="438912" cy="36118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arrow"/>
          <p:cNvCxnSpPr/>
          <p:nvPr/>
        </p:nvCxnSpPr>
        <p:spPr>
          <a:xfrm flipH="1" flipV="1">
            <a:off x="5961888" y="2313432"/>
            <a:ext cx="438912" cy="26974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dd &amp; Norm"/>
          <p:cNvSpPr/>
          <p:nvPr/>
        </p:nvSpPr>
        <p:spPr>
          <a:xfrm>
            <a:off x="2468880" y="2880360"/>
            <a:ext cx="4206240" cy="621792"/>
          </a:xfrm>
          <a:prstGeom prst="roundRect">
            <a:avLst>
              <a:gd name="adj" fmla="val 8823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Add &amp; Norm</a:t>
            </a:r>
          </a:p>
        </p:txBody>
      </p:sp>
      <p:cxnSp>
        <p:nvCxnSpPr>
          <p:cNvPr id="9" name="arrow"/>
          <p:cNvCxnSpPr/>
          <p:nvPr/>
        </p:nvCxnSpPr>
        <p:spPr>
          <a:xfrm flipH="1">
            <a:off x="4572000" y="2514600"/>
            <a:ext cx="22860" cy="36576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eed-Forward + Add &amp; Norm"/>
          <p:cNvSpPr/>
          <p:nvPr/>
        </p:nvSpPr>
        <p:spPr>
          <a:xfrm>
            <a:off x="2468880" y="3840480"/>
            <a:ext cx="4206240" cy="621792"/>
          </a:xfrm>
          <a:prstGeom prst="roundRect">
            <a:avLst>
              <a:gd name="adj" fmla="val 8823"/>
            </a:avLst>
          </a:prstGeom>
          <a:solidFill>
            <a:srgbClr val="FFF2CC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Feed-Forward + Add &amp; Norm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4572000" y="3502152"/>
            <a:ext cx="0" cy="33832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**نمایش ترکیبی ۱۲**"/>
          <p:cNvSpPr/>
          <p:nvPr/>
        </p:nvSpPr>
        <p:spPr>
          <a:xfrm>
            <a:off x="2926080" y="480060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2EFDA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نمایش ترکیبی ۱۲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4572000" y="4462272"/>
            <a:ext cx="0" cy="338328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ادغام اطلاعات سراسری و محلی"/>
          <p:cNvSpPr/>
          <p:nvPr/>
        </p:nvSpPr>
        <p:spPr>
          <a:xfrm>
            <a:off x="6446520" y="320040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05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ادغام اطلاعات سراسری و محلی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