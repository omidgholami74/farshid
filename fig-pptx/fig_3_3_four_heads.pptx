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303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۳: ساختار چهار سر "/>
          <p:cNvSpPr txBox="1"/>
          <p:nvPr/>
        </p:nvSpPr>
        <p:spPr>
          <a:xfrm>
            <a:off x="228600" y="109728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5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۳.۳: ساختار چهار سر خروجی مدل چندوظیفه‌ای و برچسب‌های هر وظیفه</a:t>
            </a:r>
          </a:p>
        </p:txBody>
      </p:sp>
      <p:sp>
        <p:nvSpPr>
          <p:cNvPr id="3" name="**نمایش تجمیع‌شده** (d_model"/>
          <p:cNvSpPr/>
          <p:nvPr/>
        </p:nvSpPr>
        <p:spPr>
          <a:xfrm>
            <a:off x="2834640" y="566928"/>
            <a:ext cx="3474720" cy="566928"/>
          </a:xfrm>
          <a:prstGeom prst="roundRect">
            <a:avLst>
              <a:gd name="adj" fmla="val 9677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2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نمایش تجمیع‌شده</a:t>
            </a:r>
            <a:r>
              <a:rPr sz="12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 (d_model)</a:t>
            </a:r>
          </a:p>
        </p:txBody>
      </p:sp>
      <p:sp>
        <p:nvSpPr>
          <p:cNvPr id="4" name="**سر مشترک چندلایه**"/>
          <p:cNvSpPr/>
          <p:nvPr/>
        </p:nvSpPr>
        <p:spPr>
          <a:xfrm>
            <a:off x="2377440" y="1371600"/>
            <a:ext cx="4389120" cy="658368"/>
          </a:xfrm>
          <a:prstGeom prst="roundRect">
            <a:avLst>
              <a:gd name="adj" fmla="val 8333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2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سر مشترک چندلایه</a:t>
            </a:r>
          </a:p>
        </p:txBody>
      </p:sp>
      <p:cxnSp>
        <p:nvCxnSpPr>
          <p:cNvPr id="5" name="arrow"/>
          <p:cNvCxnSpPr/>
          <p:nvPr/>
        </p:nvCxnSpPr>
        <p:spPr>
          <a:xfrm>
            <a:off x="4572000" y="1133856"/>
            <a:ext cx="0" cy="237744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**سر ۱:**"/>
          <p:cNvSpPr/>
          <p:nvPr/>
        </p:nvSpPr>
        <p:spPr>
          <a:xfrm>
            <a:off x="6880860" y="2331720"/>
            <a:ext cx="2103120" cy="868680"/>
          </a:xfrm>
          <a:prstGeom prst="roundRect">
            <a:avLst>
              <a:gd name="adj" fmla="val 6315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5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سر ۱:</a:t>
            </a:r>
          </a:p>
          <a:p>
            <a:pPr algn="ctr" rtl="1"/>
            <a:r>
              <a:rPr sz="11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فعالیت بعدی</a:t>
            </a:r>
          </a:p>
        </p:txBody>
      </p:sp>
      <p:cxnSp>
        <p:nvCxnSpPr>
          <p:cNvPr id="7" name="arrow"/>
          <p:cNvCxnSpPr/>
          <p:nvPr/>
        </p:nvCxnSpPr>
        <p:spPr>
          <a:xfrm>
            <a:off x="4572000" y="2029968"/>
            <a:ext cx="3360420" cy="283464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rossEntropy"/>
          <p:cNvSpPr/>
          <p:nvPr/>
        </p:nvSpPr>
        <p:spPr>
          <a:xfrm>
            <a:off x="6880860" y="3456432"/>
            <a:ext cx="2103120" cy="713232"/>
          </a:xfrm>
          <a:prstGeom prst="rect">
            <a:avLst/>
          </a:prstGeom>
          <a:noFill/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950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CrossEntropy</a:t>
            </a:r>
          </a:p>
          <a:p>
            <a:pPr algn="ctr" rtl="1"/>
            <a:r>
              <a:rPr sz="950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+ Label Smoothing</a:t>
            </a:r>
          </a:p>
          <a:p>
            <a:pPr algn="ctr" rtl="1"/>
            <a:r>
              <a:rPr sz="950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+ Class Weights</a:t>
            </a:r>
          </a:p>
        </p:txBody>
      </p:sp>
      <p:sp>
        <p:nvSpPr>
          <p:cNvPr id="9" name="**سر ۲:**"/>
          <p:cNvSpPr/>
          <p:nvPr/>
        </p:nvSpPr>
        <p:spPr>
          <a:xfrm>
            <a:off x="4640580" y="2331720"/>
            <a:ext cx="2103120" cy="868680"/>
          </a:xfrm>
          <a:prstGeom prst="roundRect">
            <a:avLst>
              <a:gd name="adj" fmla="val 6315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5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سر ۲:</a:t>
            </a:r>
          </a:p>
          <a:p>
            <a:pPr algn="ctr" rtl="1"/>
            <a:r>
              <a:rPr sz="11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زمان باقی‌مانده</a:t>
            </a:r>
          </a:p>
        </p:txBody>
      </p:sp>
      <p:cxnSp>
        <p:nvCxnSpPr>
          <p:cNvPr id="10" name="arrow"/>
          <p:cNvCxnSpPr/>
          <p:nvPr/>
        </p:nvCxnSpPr>
        <p:spPr>
          <a:xfrm>
            <a:off x="4572000" y="2029968"/>
            <a:ext cx="1120140" cy="283464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uber Loss"/>
          <p:cNvSpPr/>
          <p:nvPr/>
        </p:nvSpPr>
        <p:spPr>
          <a:xfrm>
            <a:off x="4640580" y="3456432"/>
            <a:ext cx="2103120" cy="713232"/>
          </a:xfrm>
          <a:prstGeom prst="rect">
            <a:avLst/>
          </a:prstGeom>
          <a:noFill/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950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Huber Loss</a:t>
            </a:r>
          </a:p>
          <a:p>
            <a:pPr algn="ctr" rtl="1"/>
            <a:r>
              <a:rPr sz="950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(رگرسیون)</a:t>
            </a:r>
          </a:p>
        </p:txBody>
      </p:sp>
      <p:sp>
        <p:nvSpPr>
          <p:cNvPr id="12" name="**سر ۳:**"/>
          <p:cNvSpPr/>
          <p:nvPr/>
        </p:nvSpPr>
        <p:spPr>
          <a:xfrm>
            <a:off x="2400300" y="2331720"/>
            <a:ext cx="2103120" cy="868680"/>
          </a:xfrm>
          <a:prstGeom prst="roundRect">
            <a:avLst>
              <a:gd name="adj" fmla="val 6315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5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سر ۳:</a:t>
            </a:r>
          </a:p>
          <a:p>
            <a:pPr algn="ctr" rtl="1"/>
            <a:r>
              <a:rPr sz="11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پتانسیل بهبود</a:t>
            </a:r>
          </a:p>
        </p:txBody>
      </p:sp>
      <p:cxnSp>
        <p:nvCxnSpPr>
          <p:cNvPr id="13" name="arrow"/>
          <p:cNvCxnSpPr/>
          <p:nvPr/>
        </p:nvCxnSpPr>
        <p:spPr>
          <a:xfrm flipH="1">
            <a:off x="3451860" y="2029968"/>
            <a:ext cx="1120140" cy="283464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uber Loss"/>
          <p:cNvSpPr/>
          <p:nvPr/>
        </p:nvSpPr>
        <p:spPr>
          <a:xfrm>
            <a:off x="2400300" y="3456432"/>
            <a:ext cx="2103120" cy="713232"/>
          </a:xfrm>
          <a:prstGeom prst="rect">
            <a:avLst/>
          </a:prstGeom>
          <a:noFill/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950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Huber Loss</a:t>
            </a:r>
          </a:p>
          <a:p>
            <a:pPr algn="ctr" rtl="1"/>
            <a:r>
              <a:rPr sz="950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+ tanh</a:t>
            </a:r>
          </a:p>
        </p:txBody>
      </p:sp>
      <p:sp>
        <p:nvSpPr>
          <p:cNvPr id="15" name="**سر ۴:**"/>
          <p:cNvSpPr/>
          <p:nvPr/>
        </p:nvSpPr>
        <p:spPr>
          <a:xfrm>
            <a:off x="160020" y="2331720"/>
            <a:ext cx="2103120" cy="868680"/>
          </a:xfrm>
          <a:prstGeom prst="roundRect">
            <a:avLst>
              <a:gd name="adj" fmla="val 6315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5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سر ۴:</a:t>
            </a:r>
          </a:p>
          <a:p>
            <a:pPr algn="ctr" rtl="1"/>
            <a:r>
              <a:rPr sz="11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گلوگاه</a:t>
            </a:r>
          </a:p>
        </p:txBody>
      </p:sp>
      <p:cxnSp>
        <p:nvCxnSpPr>
          <p:cNvPr id="16" name="arrow"/>
          <p:cNvCxnSpPr/>
          <p:nvPr/>
        </p:nvCxnSpPr>
        <p:spPr>
          <a:xfrm flipH="1">
            <a:off x="1211580" y="2029968"/>
            <a:ext cx="3360420" cy="283464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BCE Loss"/>
          <p:cNvSpPr/>
          <p:nvPr/>
        </p:nvSpPr>
        <p:spPr>
          <a:xfrm>
            <a:off x="160020" y="3456432"/>
            <a:ext cx="2103120" cy="713232"/>
          </a:xfrm>
          <a:prstGeom prst="rect">
            <a:avLst/>
          </a:prstGeom>
          <a:noFill/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950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BCE Loss</a:t>
            </a:r>
          </a:p>
          <a:p>
            <a:pPr algn="ctr" rtl="1"/>
            <a:r>
              <a:rPr sz="950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(دودویی)</a:t>
            </a:r>
          </a:p>
        </p:txBody>
      </p:sp>
      <p:sp>
        <p:nvSpPr>
          <p:cNvPr id="18" name="ضرایب: λ_activity=1.0، λ_rem"/>
          <p:cNvSpPr/>
          <p:nvPr/>
        </p:nvSpPr>
        <p:spPr>
          <a:xfrm>
            <a:off x="1417320" y="4434840"/>
            <a:ext cx="6309360" cy="402336"/>
          </a:xfrm>
          <a:prstGeom prst="roundRect">
            <a:avLst>
              <a:gd name="adj" fmla="val 4545"/>
            </a:avLst>
          </a:prstGeom>
          <a:noFill/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050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ضرایب: λ_activity=1.0، λ_remaining=0.3، λ_improvement=0.3، λ_bottleneck=0.1</a:t>
            </a:r>
          </a:p>
        </p:txBody>
      </p:sp>
      <p:sp>
        <p:nvSpPr>
          <p:cNvPr id="19" name="txt **خروجی نهایی: تابع زیان"/>
          <p:cNvSpPr txBox="1"/>
          <p:nvPr/>
        </p:nvSpPr>
        <p:spPr>
          <a:xfrm>
            <a:off x="365760" y="4937760"/>
            <a:ext cx="8412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2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خروجی نهایی: تابع زیان چندوظیفه‌ای = مجموع وزنی چهار مؤلفه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