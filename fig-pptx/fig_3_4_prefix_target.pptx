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6235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۴: فرآیند ساخت نمو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۳.۴: فرآیند ساخت نمونه‌های پیشوند-به-هدف با برچسب‌های چندوظیفه‌ای</a:t>
            </a:r>
          </a:p>
        </p:txBody>
      </p:sp>
      <p:sp>
        <p:nvSpPr>
          <p:cNvPr id="3" name="txt **توالی کامل (Case):**"/>
          <p:cNvSpPr txBox="1"/>
          <p:nvPr/>
        </p:nvSpPr>
        <p:spPr>
          <a:xfrm>
            <a:off x="137160" y="658368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توالی کامل (Case):</a:t>
            </a:r>
          </a:p>
        </p:txBody>
      </p:sp>
      <p:sp>
        <p:nvSpPr>
          <p:cNvPr id="4" name="A"/>
          <p:cNvSpPr/>
          <p:nvPr/>
        </p:nvSpPr>
        <p:spPr>
          <a:xfrm>
            <a:off x="2743200" y="640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5" name="B"/>
          <p:cNvSpPr/>
          <p:nvPr/>
        </p:nvSpPr>
        <p:spPr>
          <a:xfrm>
            <a:off x="3456432" y="640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6" name="C"/>
          <p:cNvSpPr/>
          <p:nvPr/>
        </p:nvSpPr>
        <p:spPr>
          <a:xfrm>
            <a:off x="4169664" y="640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sp>
        <p:nvSpPr>
          <p:cNvPr id="7" name="D"/>
          <p:cNvSpPr/>
          <p:nvPr/>
        </p:nvSpPr>
        <p:spPr>
          <a:xfrm>
            <a:off x="4882896" y="640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D</a:t>
            </a:r>
          </a:p>
        </p:txBody>
      </p:sp>
      <p:sp>
        <p:nvSpPr>
          <p:cNvPr id="8" name="E"/>
          <p:cNvSpPr/>
          <p:nvPr/>
        </p:nvSpPr>
        <p:spPr>
          <a:xfrm>
            <a:off x="5596128" y="640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E</a:t>
            </a:r>
          </a:p>
        </p:txBody>
      </p:sp>
      <p:sp>
        <p:nvSpPr>
          <p:cNvPr id="9" name="F"/>
          <p:cNvSpPr/>
          <p:nvPr/>
        </p:nvSpPr>
        <p:spPr>
          <a:xfrm>
            <a:off x="6309360" y="64008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F</a:t>
            </a:r>
          </a:p>
        </p:txBody>
      </p:sp>
      <p:sp>
        <p:nvSpPr>
          <p:cNvPr id="10" name="txt **ساخت نمونه‌های"/>
          <p:cNvSpPr txBox="1"/>
          <p:nvPr/>
        </p:nvSpPr>
        <p:spPr>
          <a:xfrm>
            <a:off x="137160" y="132588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ساخت نمونه‌های</a:t>
            </a:r>
          </a:p>
          <a:p>
            <a:pPr algn="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چندوظیفه‌ای:</a:t>
            </a:r>
          </a:p>
        </p:txBody>
      </p:sp>
      <p:sp>
        <p:nvSpPr>
          <p:cNvPr id="11" name="txt **پیشوند 1:**"/>
          <p:cNvSpPr txBox="1"/>
          <p:nvPr/>
        </p:nvSpPr>
        <p:spPr>
          <a:xfrm>
            <a:off x="137160" y="1920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پیشوند 1:</a:t>
            </a:r>
          </a:p>
        </p:txBody>
      </p:sp>
      <p:sp>
        <p:nvSpPr>
          <p:cNvPr id="12" name="A"/>
          <p:cNvSpPr/>
          <p:nvPr/>
        </p:nvSpPr>
        <p:spPr>
          <a:xfrm>
            <a:off x="2743200" y="187452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13" name="B"/>
          <p:cNvSpPr/>
          <p:nvPr/>
        </p:nvSpPr>
        <p:spPr>
          <a:xfrm>
            <a:off x="3456432" y="187452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14" name="C"/>
          <p:cNvSpPr/>
          <p:nvPr/>
        </p:nvSpPr>
        <p:spPr>
          <a:xfrm>
            <a:off x="4169664" y="187452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4133088" y="2148840"/>
            <a:ext cx="54864" cy="0"/>
          </a:xfrm>
          <a:prstGeom prst="line">
            <a:avLst/>
          </a:prstGeom>
          <a:ln w="1524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xt **پیشوند 2:**"/>
          <p:cNvSpPr txBox="1"/>
          <p:nvPr/>
        </p:nvSpPr>
        <p:spPr>
          <a:xfrm>
            <a:off x="137160" y="252374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پیشوند 2:</a:t>
            </a:r>
          </a:p>
        </p:txBody>
      </p:sp>
      <p:sp>
        <p:nvSpPr>
          <p:cNvPr id="17" name="A"/>
          <p:cNvSpPr/>
          <p:nvPr/>
        </p:nvSpPr>
        <p:spPr>
          <a:xfrm>
            <a:off x="2743200" y="2478024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18" name="B"/>
          <p:cNvSpPr/>
          <p:nvPr/>
        </p:nvSpPr>
        <p:spPr>
          <a:xfrm>
            <a:off x="3456432" y="2478024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19" name="C"/>
          <p:cNvSpPr/>
          <p:nvPr/>
        </p:nvSpPr>
        <p:spPr>
          <a:xfrm>
            <a:off x="4169664" y="2478024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sp>
        <p:nvSpPr>
          <p:cNvPr id="20" name="D"/>
          <p:cNvSpPr/>
          <p:nvPr/>
        </p:nvSpPr>
        <p:spPr>
          <a:xfrm>
            <a:off x="4882896" y="2478024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D</a:t>
            </a:r>
          </a:p>
        </p:txBody>
      </p:sp>
      <p:cxnSp>
        <p:nvCxnSpPr>
          <p:cNvPr id="21" name="arrow"/>
          <p:cNvCxnSpPr/>
          <p:nvPr/>
        </p:nvCxnSpPr>
        <p:spPr>
          <a:xfrm>
            <a:off x="4846320" y="2752344"/>
            <a:ext cx="54864" cy="0"/>
          </a:xfrm>
          <a:prstGeom prst="line">
            <a:avLst/>
          </a:prstGeom>
          <a:ln w="1524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xt **پیشوند 3:**"/>
          <p:cNvSpPr txBox="1"/>
          <p:nvPr/>
        </p:nvSpPr>
        <p:spPr>
          <a:xfrm>
            <a:off x="137160" y="3127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پیشوند 3:</a:t>
            </a:r>
          </a:p>
        </p:txBody>
      </p:sp>
      <p:sp>
        <p:nvSpPr>
          <p:cNvPr id="23" name="A"/>
          <p:cNvSpPr/>
          <p:nvPr/>
        </p:nvSpPr>
        <p:spPr>
          <a:xfrm>
            <a:off x="2743200" y="3081528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24" name="B"/>
          <p:cNvSpPr/>
          <p:nvPr/>
        </p:nvSpPr>
        <p:spPr>
          <a:xfrm>
            <a:off x="3456432" y="3081528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25" name="C"/>
          <p:cNvSpPr/>
          <p:nvPr/>
        </p:nvSpPr>
        <p:spPr>
          <a:xfrm>
            <a:off x="4169664" y="3081528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sp>
        <p:nvSpPr>
          <p:cNvPr id="26" name="D"/>
          <p:cNvSpPr/>
          <p:nvPr/>
        </p:nvSpPr>
        <p:spPr>
          <a:xfrm>
            <a:off x="4882896" y="3081528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D</a:t>
            </a:r>
          </a:p>
        </p:txBody>
      </p:sp>
      <p:sp>
        <p:nvSpPr>
          <p:cNvPr id="27" name="E"/>
          <p:cNvSpPr/>
          <p:nvPr/>
        </p:nvSpPr>
        <p:spPr>
          <a:xfrm>
            <a:off x="5596128" y="3081528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E</a:t>
            </a:r>
          </a:p>
        </p:txBody>
      </p:sp>
      <p:cxnSp>
        <p:nvCxnSpPr>
          <p:cNvPr id="28" name="arrow"/>
          <p:cNvCxnSpPr/>
          <p:nvPr/>
        </p:nvCxnSpPr>
        <p:spPr>
          <a:xfrm>
            <a:off x="5559552" y="3355848"/>
            <a:ext cx="54864" cy="0"/>
          </a:xfrm>
          <a:prstGeom prst="line">
            <a:avLst/>
          </a:prstGeom>
          <a:ln w="1524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xt **پیشوند 4:**"/>
          <p:cNvSpPr txBox="1"/>
          <p:nvPr/>
        </p:nvSpPr>
        <p:spPr>
          <a:xfrm>
            <a:off x="137160" y="3730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پیشوند 4:</a:t>
            </a:r>
          </a:p>
        </p:txBody>
      </p:sp>
      <p:sp>
        <p:nvSpPr>
          <p:cNvPr id="30" name="A"/>
          <p:cNvSpPr/>
          <p:nvPr/>
        </p:nvSpPr>
        <p:spPr>
          <a:xfrm>
            <a:off x="2743200" y="3685032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</a:t>
            </a:r>
          </a:p>
        </p:txBody>
      </p:sp>
      <p:sp>
        <p:nvSpPr>
          <p:cNvPr id="31" name="B"/>
          <p:cNvSpPr/>
          <p:nvPr/>
        </p:nvSpPr>
        <p:spPr>
          <a:xfrm>
            <a:off x="3456432" y="3685032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</a:t>
            </a:r>
          </a:p>
        </p:txBody>
      </p:sp>
      <p:sp>
        <p:nvSpPr>
          <p:cNvPr id="32" name="C"/>
          <p:cNvSpPr/>
          <p:nvPr/>
        </p:nvSpPr>
        <p:spPr>
          <a:xfrm>
            <a:off x="4169664" y="3685032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</a:t>
            </a:r>
          </a:p>
        </p:txBody>
      </p:sp>
      <p:sp>
        <p:nvSpPr>
          <p:cNvPr id="33" name="D"/>
          <p:cNvSpPr/>
          <p:nvPr/>
        </p:nvSpPr>
        <p:spPr>
          <a:xfrm>
            <a:off x="4882896" y="3685032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D</a:t>
            </a:r>
          </a:p>
        </p:txBody>
      </p:sp>
      <p:sp>
        <p:nvSpPr>
          <p:cNvPr id="34" name="E"/>
          <p:cNvSpPr/>
          <p:nvPr/>
        </p:nvSpPr>
        <p:spPr>
          <a:xfrm>
            <a:off x="5596128" y="3685032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E</a:t>
            </a:r>
          </a:p>
        </p:txBody>
      </p:sp>
      <p:sp>
        <p:nvSpPr>
          <p:cNvPr id="35" name="F"/>
          <p:cNvSpPr/>
          <p:nvPr/>
        </p:nvSpPr>
        <p:spPr>
          <a:xfrm>
            <a:off x="6309360" y="3685032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F</a:t>
            </a:r>
          </a:p>
        </p:txBody>
      </p:sp>
      <p:cxnSp>
        <p:nvCxnSpPr>
          <p:cNvPr id="36" name="arrow"/>
          <p:cNvCxnSpPr/>
          <p:nvPr/>
        </p:nvCxnSpPr>
        <p:spPr>
          <a:xfrm>
            <a:off x="6272784" y="3959352"/>
            <a:ext cx="54864" cy="0"/>
          </a:xfrm>
          <a:prstGeom prst="line">
            <a:avLst/>
          </a:prstGeom>
          <a:ln w="1524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xt **برچسب‌ها:**"/>
          <p:cNvSpPr txBox="1"/>
          <p:nvPr/>
        </p:nvSpPr>
        <p:spPr>
          <a:xfrm>
            <a:off x="137160" y="4526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برچسب‌ها:</a:t>
            </a:r>
          </a:p>
        </p:txBody>
      </p:sp>
      <p:sp>
        <p:nvSpPr>
          <p:cNvPr id="38" name="فعالیت هدف"/>
          <p:cNvSpPr/>
          <p:nvPr/>
        </p:nvSpPr>
        <p:spPr>
          <a:xfrm>
            <a:off x="2377440" y="44805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فعالیت هدف</a:t>
            </a:r>
          </a:p>
        </p:txBody>
      </p:sp>
      <p:sp>
        <p:nvSpPr>
          <p:cNvPr id="39" name="زمان باقی‌مانده"/>
          <p:cNvSpPr/>
          <p:nvPr/>
        </p:nvSpPr>
        <p:spPr>
          <a:xfrm>
            <a:off x="4041648" y="44805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زمان باقی‌مانده</a:t>
            </a:r>
          </a:p>
        </p:txBody>
      </p:sp>
      <p:sp>
        <p:nvSpPr>
          <p:cNvPr id="40" name="پتانسیل بهبود"/>
          <p:cNvSpPr/>
          <p:nvPr/>
        </p:nvSpPr>
        <p:spPr>
          <a:xfrm>
            <a:off x="5705856" y="44805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</a:t>
            </a:r>
          </a:p>
        </p:txBody>
      </p:sp>
      <p:sp>
        <p:nvSpPr>
          <p:cNvPr id="41" name="بردار گلوگاه"/>
          <p:cNvSpPr/>
          <p:nvPr/>
        </p:nvSpPr>
        <p:spPr>
          <a:xfrm>
            <a:off x="7370064" y="44805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بردار گلوگاه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