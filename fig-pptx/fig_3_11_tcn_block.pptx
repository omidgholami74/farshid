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806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۱: ساختار بلوک‌ها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۳.۱۱: ساختار بلوک‌های پیچشی زمانی با dilations مختلف</a:t>
            </a:r>
          </a:p>
        </p:txBody>
      </p:sp>
      <p:sp>
        <p:nvSpPr>
          <p:cNvPr id="3" name="**ورودی جریان TCN**"/>
          <p:cNvSpPr/>
          <p:nvPr/>
        </p:nvSpPr>
        <p:spPr>
          <a:xfrm>
            <a:off x="3108960" y="59436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 جریان TCN</a:t>
            </a:r>
          </a:p>
        </p:txBody>
      </p:sp>
      <p:sp>
        <p:nvSpPr>
          <p:cNvPr id="4" name="**Conv1D (kernel=3, dilation"/>
          <p:cNvSpPr/>
          <p:nvPr/>
        </p:nvSpPr>
        <p:spPr>
          <a:xfrm>
            <a:off x="2377440" y="1371600"/>
            <a:ext cx="4389120" cy="777240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(kernel=3, dilation=1)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4572000" y="109728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ayerNorm + GELU + Residual "/>
          <p:cNvSpPr/>
          <p:nvPr/>
        </p:nvSpPr>
        <p:spPr>
          <a:xfrm>
            <a:off x="2377440" y="2194560"/>
            <a:ext cx="4389120" cy="320040"/>
          </a:xfrm>
          <a:prstGeom prst="roundRect">
            <a:avLst>
              <a:gd name="adj" fmla="val 1714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Residual + Mask</a:t>
            </a:r>
          </a:p>
        </p:txBody>
      </p:sp>
      <p:sp>
        <p:nvSpPr>
          <p:cNvPr id="7" name="**Conv1D (kernel=3, dilation"/>
          <p:cNvSpPr/>
          <p:nvPr/>
        </p:nvSpPr>
        <p:spPr>
          <a:xfrm>
            <a:off x="2377440" y="2606040"/>
            <a:ext cx="4389120" cy="777240"/>
          </a:xfrm>
          <a:prstGeom prst="roundRect">
            <a:avLst>
              <a:gd name="adj" fmla="val 7058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(kernel=3, dilation=2)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4572000" y="2514600"/>
            <a:ext cx="0" cy="9144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ayerNorm + GELU + Residual "/>
          <p:cNvSpPr/>
          <p:nvPr/>
        </p:nvSpPr>
        <p:spPr>
          <a:xfrm>
            <a:off x="2377440" y="3429000"/>
            <a:ext cx="4389120" cy="320040"/>
          </a:xfrm>
          <a:prstGeom prst="roundRect">
            <a:avLst>
              <a:gd name="adj" fmla="val 1714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Residual + Mask</a:t>
            </a:r>
          </a:p>
        </p:txBody>
      </p:sp>
      <p:sp>
        <p:nvSpPr>
          <p:cNvPr id="10" name="**Conv1D (kernel=3, dilation"/>
          <p:cNvSpPr/>
          <p:nvPr/>
        </p:nvSpPr>
        <p:spPr>
          <a:xfrm>
            <a:off x="2377440" y="3840480"/>
            <a:ext cx="4389120" cy="777240"/>
          </a:xfrm>
          <a:prstGeom prst="roundRect">
            <a:avLst>
              <a:gd name="adj" fmla="val 7058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Conv1D (kernel=3, dilation=4)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4572000" y="3749040"/>
            <a:ext cx="0" cy="9144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yerNorm + GELU + Residual "/>
          <p:cNvSpPr/>
          <p:nvPr/>
        </p:nvSpPr>
        <p:spPr>
          <a:xfrm>
            <a:off x="2377440" y="4663440"/>
            <a:ext cx="4389120" cy="320040"/>
          </a:xfrm>
          <a:prstGeom prst="roundRect">
            <a:avLst>
              <a:gd name="adj" fmla="val 17142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Residual + Mask</a:t>
            </a:r>
          </a:p>
        </p:txBody>
      </p:sp>
      <p:sp>
        <p:nvSpPr>
          <p:cNvPr id="13" name="**خروجی جریان TCN**"/>
          <p:cNvSpPr/>
          <p:nvPr/>
        </p:nvSpPr>
        <p:spPr>
          <a:xfrm>
            <a:off x="2697480" y="4956048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جریان TCN</a:t>
            </a:r>
          </a:p>
        </p:txBody>
      </p:sp>
      <p:cxnSp>
        <p:nvCxnSpPr>
          <p:cNvPr id="14" name="arrow"/>
          <p:cNvCxnSpPr/>
          <p:nvPr/>
        </p:nvCxnSpPr>
        <p:spPr>
          <a:xfrm flipV="1">
            <a:off x="4572000" y="4956048"/>
            <a:ext cx="0" cy="2743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• میدان پذیرش: ۱+۲+۴ = ۷ روی"/>
          <p:cNvSpPr/>
          <p:nvPr/>
        </p:nvSpPr>
        <p:spPr>
          <a:xfrm>
            <a:off x="7178040" y="2331720"/>
            <a:ext cx="1783080" cy="1097280"/>
          </a:xfrm>
          <a:prstGeom prst="roundRect">
            <a:avLst>
              <a:gd name="adj" fmla="val 1666"/>
            </a:avLst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میدان پذیرش: ۱+۲+۴ = ۷ رویداد</a:t>
            </a:r>
          </a:p>
          <a:p>
            <a:pPr algn="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پردازش موازی</a:t>
            </a:r>
          </a:p>
          <a:p>
            <a:pPr algn="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• الگوهای محلی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