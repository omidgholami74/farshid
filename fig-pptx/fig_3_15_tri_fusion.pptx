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۵: ماژول ادغام سه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۳.۱۵: ماژول ادغام سه‌گانه و نحوه ترکیب سه جریان</a:t>
            </a:r>
          </a:p>
        </p:txBody>
      </p:sp>
      <p:sp>
        <p:nvSpPr>
          <p:cNvPr id="3" name="**خروجی ترکیبی**"/>
          <p:cNvSpPr/>
          <p:nvPr/>
        </p:nvSpPr>
        <p:spPr>
          <a:xfrm>
            <a:off x="6126480" y="1005840"/>
            <a:ext cx="2743200" cy="777240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ترکیبی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(Transformer + TCN (h_12</a:t>
            </a:r>
          </a:p>
        </p:txBody>
      </p:sp>
      <p:sp>
        <p:nvSpPr>
          <p:cNvPr id="4" name="**خروجی GNN**"/>
          <p:cNvSpPr/>
          <p:nvPr/>
        </p:nvSpPr>
        <p:spPr>
          <a:xfrm>
            <a:off x="320040" y="1005840"/>
            <a:ext cx="2560320" cy="777240"/>
          </a:xfrm>
          <a:prstGeom prst="roundRect">
            <a:avLst>
              <a:gd name="adj" fmla="val 7058"/>
            </a:avLst>
          </a:prstGeom>
          <a:solidFill>
            <a:srgbClr val="E4DFE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GNN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(h_gnn)</a:t>
            </a:r>
          </a:p>
        </p:txBody>
      </p:sp>
      <p:sp>
        <p:nvSpPr>
          <p:cNvPr id="5" name="**الحاق + حاصل‌ضرب عنصری**"/>
          <p:cNvSpPr/>
          <p:nvPr/>
        </p:nvSpPr>
        <p:spPr>
          <a:xfrm>
            <a:off x="2971800" y="2148840"/>
            <a:ext cx="3657600" cy="868680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الحاق + حاصل‌ضرب عنصری</a:t>
            </a:r>
          </a:p>
          <a:p>
            <a:pPr algn="ctr" rtl="1"/>
            <a:r>
              <a:rPr sz="11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[h_12 ; h_gnn ; h_12 ⊙ h_gnn]</a:t>
            </a:r>
          </a:p>
        </p:txBody>
      </p:sp>
      <p:cxnSp>
        <p:nvCxnSpPr>
          <p:cNvPr id="6" name="arrow"/>
          <p:cNvCxnSpPr/>
          <p:nvPr/>
        </p:nvCxnSpPr>
        <p:spPr>
          <a:xfrm>
            <a:off x="6126480" y="1394460"/>
            <a:ext cx="182880" cy="7543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row"/>
          <p:cNvCxnSpPr/>
          <p:nvPr/>
        </p:nvCxnSpPr>
        <p:spPr>
          <a:xfrm>
            <a:off x="2880360" y="1394460"/>
            <a:ext cx="411480" cy="7543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**Linear (3·d → 2·d)**"/>
          <p:cNvSpPr/>
          <p:nvPr/>
        </p:nvSpPr>
        <p:spPr>
          <a:xfrm>
            <a:off x="3108960" y="3291840"/>
            <a:ext cx="3383280" cy="777240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(3·d → 2·d)</a:t>
            </a:r>
          </a:p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GELU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4800600" y="301752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**Linear (2·d → d)**"/>
          <p:cNvSpPr/>
          <p:nvPr/>
        </p:nvSpPr>
        <p:spPr>
          <a:xfrm>
            <a:off x="3108960" y="4297680"/>
            <a:ext cx="3383280" cy="777240"/>
          </a:xfrm>
          <a:prstGeom prst="roundRect">
            <a:avLst>
              <a:gd name="adj" fmla="val 7058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Linear (2·d → d)</a:t>
            </a:r>
          </a:p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+ LayerNorm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4800600" y="4069080"/>
            <a:ext cx="0" cy="22860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**نمایش ادغام‌شده نهایی**"/>
          <p:cNvSpPr/>
          <p:nvPr/>
        </p:nvSpPr>
        <p:spPr>
          <a:xfrm>
            <a:off x="3200400" y="52578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ادغام‌شده نهایی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4800600" y="5074920"/>
            <a:ext cx="0" cy="18288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