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02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فراوانی</c:v>
                </c:pt>
              </c:strCache>
            </c:strRef>
          </c:tx>
          <c:spPr>
            <a:solidFill>
              <a:srgbClr val="5B9BD5"/>
            </a:solidFill>
            <a:ln w="6350">
              <a:solidFill>
                <a:srgbClr val="2F5597"/>
              </a:solidFill>
            </a:ln>
          </c:spPr>
          <c:cat>
            <c:strRef>
              <c:f>Sheet1!$A$2:$A$16</c:f>
              <c:strCache>
                <c:ptCount val="15"/>
                <c:pt idx="0">
                  <c:v>A15</c:v>
                </c:pt>
                <c:pt idx="1">
                  <c:v>A14</c:v>
                </c:pt>
                <c:pt idx="2">
                  <c:v>A13</c:v>
                </c:pt>
                <c:pt idx="3">
                  <c:v>A12</c:v>
                </c:pt>
                <c:pt idx="4">
                  <c:v>A11</c:v>
                </c:pt>
                <c:pt idx="5">
                  <c:v>A10</c:v>
                </c:pt>
                <c:pt idx="6">
                  <c:v>A9</c:v>
                </c:pt>
                <c:pt idx="7">
                  <c:v>A8</c:v>
                </c:pt>
                <c:pt idx="8">
                  <c:v>A7</c:v>
                </c:pt>
                <c:pt idx="9">
                  <c:v>A6</c:v>
                </c:pt>
                <c:pt idx="10">
                  <c:v>A5</c:v>
                </c:pt>
                <c:pt idx="11">
                  <c:v>A4</c:v>
                </c:pt>
                <c:pt idx="12">
                  <c:v>A3</c:v>
                </c:pt>
                <c:pt idx="13">
                  <c:v>A2</c:v>
                </c:pt>
                <c:pt idx="14">
                  <c:v>A1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6.5</c:v>
                </c:pt>
                <c:pt idx="1">
                  <c:v>20.1</c:v>
                </c:pt>
                <c:pt idx="2">
                  <c:v>31.7</c:v>
                </c:pt>
                <c:pt idx="3">
                  <c:v>33.9</c:v>
                </c:pt>
                <c:pt idx="4">
                  <c:v>41.5</c:v>
                </c:pt>
                <c:pt idx="5">
                  <c:v>41.5</c:v>
                </c:pt>
                <c:pt idx="6">
                  <c:v>41.8</c:v>
                </c:pt>
                <c:pt idx="7">
                  <c:v>44.8</c:v>
                </c:pt>
                <c:pt idx="8">
                  <c:v>60.0</c:v>
                </c:pt>
                <c:pt idx="9">
                  <c:v>63.2</c:v>
                </c:pt>
                <c:pt idx="10">
                  <c:v>71.8</c:v>
                </c:pt>
                <c:pt idx="11">
                  <c:v>74.1</c:v>
                </c:pt>
                <c:pt idx="12">
                  <c:v>86.0</c:v>
                </c:pt>
                <c:pt idx="13">
                  <c:v>131.0</c:v>
                </c:pt>
                <c:pt idx="14">
                  <c:v>139.5</c:v>
                </c:pt>
              </c:numCache>
            </c:numRef>
          </c:val>
        </c:ser>
        <c:dLbls>
          <c:numFmt formatCode="0.0&quot; دقیقه&quot;" sourceLinked="0"/>
          <c:txPr>
            <a:bodyPr/>
            <a:lstStyle/>
            <a:p>
              <a:pPr>
                <a:defRPr sz="900">
                  <a:latin typeface="B Nazani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1000">
                    <a:solidFill>
                      <a:srgbClr val="404040"/>
                    </a:solidFill>
                    <a:latin typeface="B Nazanin"/>
                  </a:rPr>
                  <a:t>فعالیت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latin typeface="B Nazani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>
                    <a:solidFill>
                      <a:srgbClr val="404040"/>
                    </a:solidFill>
                    <a:latin typeface="B Nazanin"/>
                  </a:rPr>
                  <a:t>میانگین زمان انتظار (دقیقه)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latin typeface="B Nazani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B Nazanin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۲۱: نمودار شناسایی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۳.۲۱: نمودار شناسایی گلوگاه‌ها بر اساس میانگین زمان انتظار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621792"/>
          <a:ext cx="78638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xt ستون‌های قرمز: بالاتر از"/>
          <p:cNvSpPr txBox="1"/>
          <p:nvPr/>
        </p:nvSpPr>
        <p:spPr>
          <a:xfrm>
            <a:off x="274320" y="440740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ستون‌های قرمز: بالاتر از آستانه گلوگاه (صدک ۷۰ ≈ ۷۱٫۵ دقیقه)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