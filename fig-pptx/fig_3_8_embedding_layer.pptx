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669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۸: ساختار لایه تعب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۳.۸: ساختار لایه تعبیه ورودی چندوجهی و اجزای آن</a:t>
            </a:r>
          </a:p>
        </p:txBody>
      </p:sp>
      <p:sp>
        <p:nvSpPr>
          <p:cNvPr id="3" name="**تعبیه فعالیت**"/>
          <p:cNvSpPr/>
          <p:nvPr/>
        </p:nvSpPr>
        <p:spPr>
          <a:xfrm>
            <a:off x="320040" y="621792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تعبیه فعالیت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(Activity Embedding)</a:t>
            </a:r>
          </a:p>
        </p:txBody>
      </p:sp>
      <p:sp>
        <p:nvSpPr>
          <p:cNvPr id="4" name="**تعبیه فعالیت پیشین**"/>
          <p:cNvSpPr/>
          <p:nvPr/>
        </p:nvSpPr>
        <p:spPr>
          <a:xfrm>
            <a:off x="320040" y="1197864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تعبیه فعالیت پیشین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(Prev Activity Embedding)</a:t>
            </a:r>
          </a:p>
        </p:txBody>
      </p:sp>
      <p:sp>
        <p:nvSpPr>
          <p:cNvPr id="5" name="**تعبیه موقعیت مطلق**"/>
          <p:cNvSpPr/>
          <p:nvPr/>
        </p:nvSpPr>
        <p:spPr>
          <a:xfrm>
            <a:off x="320040" y="1773936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تعبیه موقعیت مطلق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(Position Embedding)</a:t>
            </a:r>
          </a:p>
        </p:txBody>
      </p:sp>
      <p:sp>
        <p:nvSpPr>
          <p:cNvPr id="6" name="**رمزگذاری بازه زمانی**"/>
          <p:cNvSpPr/>
          <p:nvPr/>
        </p:nvSpPr>
        <p:spPr>
          <a:xfrm>
            <a:off x="320040" y="2350008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بازه زمانی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(Time Delta Encoding)</a:t>
            </a:r>
          </a:p>
        </p:txBody>
      </p:sp>
      <p:sp>
        <p:nvSpPr>
          <p:cNvPr id="7" name="**رمزگذاری زمان تجمعی**"/>
          <p:cNvSpPr/>
          <p:nvPr/>
        </p:nvSpPr>
        <p:spPr>
          <a:xfrm>
            <a:off x="320040" y="29260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زمان تجمعی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(Cumulative Time Encoding)</a:t>
            </a:r>
          </a:p>
        </p:txBody>
      </p:sp>
      <p:sp>
        <p:nvSpPr>
          <p:cNvPr id="8" name="**رمزگذاری نقش رویداد**"/>
          <p:cNvSpPr/>
          <p:nvPr/>
        </p:nvSpPr>
        <p:spPr>
          <a:xfrm>
            <a:off x="320040" y="3502152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BE5D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نقش رویداد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(Role: First/Last)</a:t>
            </a:r>
          </a:p>
        </p:txBody>
      </p:sp>
      <p:sp>
        <p:nvSpPr>
          <p:cNvPr id="9" name="**رمزگذاری فراوانی**"/>
          <p:cNvSpPr/>
          <p:nvPr/>
        </p:nvSpPr>
        <p:spPr>
          <a:xfrm>
            <a:off x="320040" y="4078224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D6E9E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فراوانی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(Activity Frequency)</a:t>
            </a:r>
          </a:p>
        </p:txBody>
      </p:sp>
      <p:sp>
        <p:nvSpPr>
          <p:cNvPr id="10" name="**رمزگذاری موقعیت نسبی**"/>
          <p:cNvSpPr/>
          <p:nvPr/>
        </p:nvSpPr>
        <p:spPr>
          <a:xfrm>
            <a:off x="320040" y="4654296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رمزگذاری موقعیت نسبی</a:t>
            </a:r>
          </a:p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(Relative Position)</a:t>
            </a:r>
          </a:p>
        </p:txBody>
      </p:sp>
      <p:sp>
        <p:nvSpPr>
          <p:cNvPr id="11" name="**Σ**"/>
          <p:cNvSpPr/>
          <p:nvPr/>
        </p:nvSpPr>
        <p:spPr>
          <a:xfrm>
            <a:off x="4526280" y="260604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F8DCDC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8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Σ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3977640" y="873252"/>
            <a:ext cx="530352" cy="2061972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3977640" y="1449324"/>
            <a:ext cx="530352" cy="1485900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>
            <a:off x="3977640" y="2025396"/>
            <a:ext cx="530352" cy="909828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row"/>
          <p:cNvCxnSpPr/>
          <p:nvPr/>
        </p:nvCxnSpPr>
        <p:spPr>
          <a:xfrm>
            <a:off x="3977640" y="2601468"/>
            <a:ext cx="530352" cy="333756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"/>
          <p:cNvCxnSpPr/>
          <p:nvPr/>
        </p:nvCxnSpPr>
        <p:spPr>
          <a:xfrm flipV="1">
            <a:off x="3977640" y="2935224"/>
            <a:ext cx="530352" cy="242316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"/>
          <p:cNvCxnSpPr/>
          <p:nvPr/>
        </p:nvCxnSpPr>
        <p:spPr>
          <a:xfrm flipV="1">
            <a:off x="3977640" y="2935224"/>
            <a:ext cx="530352" cy="818388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 flipV="1">
            <a:off x="3977640" y="2935224"/>
            <a:ext cx="530352" cy="1394460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row"/>
          <p:cNvCxnSpPr/>
          <p:nvPr/>
        </p:nvCxnSpPr>
        <p:spPr>
          <a:xfrm flipV="1">
            <a:off x="3977640" y="2935224"/>
            <a:ext cx="530352" cy="1970532"/>
          </a:xfrm>
          <a:prstGeom prst="line">
            <a:avLst/>
          </a:prstGeom>
          <a:ln w="1524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**LayerNorm**"/>
          <p:cNvSpPr/>
          <p:nvPr/>
        </p:nvSpPr>
        <p:spPr>
          <a:xfrm>
            <a:off x="5623560" y="2578608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</a:t>
            </a:r>
          </a:p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Dropout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5184648" y="2935224"/>
            <a:ext cx="438912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**به**"/>
          <p:cNvSpPr/>
          <p:nvPr/>
        </p:nvSpPr>
        <p:spPr>
          <a:xfrm>
            <a:off x="7635240" y="2578608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به</a:t>
            </a:r>
          </a:p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رمزگذار</a:t>
            </a:r>
          </a:p>
        </p:txBody>
      </p:sp>
      <p:cxnSp>
        <p:nvCxnSpPr>
          <p:cNvPr id="23" name="arrow"/>
          <p:cNvCxnSpPr/>
          <p:nvPr/>
        </p:nvCxnSpPr>
        <p:spPr>
          <a:xfrm>
            <a:off x="7315200" y="2935224"/>
            <a:ext cx="320040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