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8978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۱۴: ساختار یک لایه"/>
          <p:cNvSpPr txBox="1"/>
          <p:nvPr/>
        </p:nvSpPr>
        <p:spPr>
          <a:xfrm>
            <a:off x="228600" y="109728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۳.۱۴: ساختار یک لایه پیچش گرافی با مکانیزم دروازه‌ای</a:t>
            </a:r>
          </a:p>
        </p:txBody>
      </p:sp>
      <p:sp>
        <p:nvSpPr>
          <p:cNvPr id="3" name="**ورودی لایه (نمایش گره‌ها)*"/>
          <p:cNvSpPr/>
          <p:nvPr/>
        </p:nvSpPr>
        <p:spPr>
          <a:xfrm>
            <a:off x="2926080" y="59436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ورودی لایه (نمایش گره‌ها)</a:t>
            </a:r>
          </a:p>
        </p:txBody>
      </p:sp>
      <p:sp>
        <p:nvSpPr>
          <p:cNvPr id="4" name="**تجمیع پیام از گره‌های همسا"/>
          <p:cNvSpPr/>
          <p:nvPr/>
        </p:nvSpPr>
        <p:spPr>
          <a:xfrm>
            <a:off x="1645920" y="1371600"/>
            <a:ext cx="5852160" cy="777240"/>
          </a:xfrm>
          <a:prstGeom prst="roundRect">
            <a:avLst>
              <a:gd name="adj" fmla="val 7058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تجمیع پیام از گره‌های همسایه</a:t>
            </a:r>
          </a:p>
          <a:p>
            <a:pPr algn="ctr" rtl="1"/>
            <a:r>
              <a:rPr sz="11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(Mean Aggregation)</a:t>
            </a:r>
          </a:p>
        </p:txBody>
      </p:sp>
      <p:sp>
        <p:nvSpPr>
          <p:cNvPr id="5" name="**لایه خطی + مکانیزم دروازه‌"/>
          <p:cNvSpPr/>
          <p:nvPr/>
        </p:nvSpPr>
        <p:spPr>
          <a:xfrm>
            <a:off x="1645920" y="2423160"/>
            <a:ext cx="5852160" cy="777240"/>
          </a:xfrm>
          <a:prstGeom prst="roundRect">
            <a:avLst>
              <a:gd name="adj" fmla="val 7058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لایه خطی + مکانیزم دروازه‌ای</a:t>
            </a:r>
            <a:r>
              <a:rPr sz="11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 (Sigmoid Gate)</a:t>
            </a:r>
          </a:p>
        </p:txBody>
      </p:sp>
      <p:sp>
        <p:nvSpPr>
          <p:cNvPr id="6" name="**LayerNorm + GELU + Dropout"/>
          <p:cNvSpPr/>
          <p:nvPr/>
        </p:nvSpPr>
        <p:spPr>
          <a:xfrm>
            <a:off x="1645920" y="3474720"/>
            <a:ext cx="5852160" cy="640080"/>
          </a:xfrm>
          <a:prstGeom prst="roundRect">
            <a:avLst>
              <a:gd name="adj" fmla="val 8571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LayerNorm + GELU + Dropout</a:t>
            </a:r>
          </a:p>
        </p:txBody>
      </p:sp>
      <p:sp>
        <p:nvSpPr>
          <p:cNvPr id="7" name="اتصال باقی‌مانده"/>
          <p:cNvSpPr/>
          <p:nvPr/>
        </p:nvSpPr>
        <p:spPr>
          <a:xfrm>
            <a:off x="2468880" y="438912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اتصال باقی‌مانده</a:t>
            </a:r>
          </a:p>
        </p:txBody>
      </p:sp>
      <p:sp>
        <p:nvSpPr>
          <p:cNvPr id="8" name="**خروجی لایه (نمایش به‌روز گ"/>
          <p:cNvSpPr/>
          <p:nvPr/>
        </p:nvSpPr>
        <p:spPr>
          <a:xfrm>
            <a:off x="2377440" y="5212080"/>
            <a:ext cx="4389120" cy="548640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خروجی لایه (نمایش به‌روز گره‌ها)</a:t>
            </a:r>
          </a:p>
        </p:txBody>
      </p:sp>
      <p:cxnSp>
        <p:nvCxnSpPr>
          <p:cNvPr id="9" name="arrow"/>
          <p:cNvCxnSpPr/>
          <p:nvPr/>
        </p:nvCxnSpPr>
        <p:spPr>
          <a:xfrm>
            <a:off x="4572000" y="1143000"/>
            <a:ext cx="0" cy="22860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rrow"/>
          <p:cNvCxnSpPr/>
          <p:nvPr/>
        </p:nvCxnSpPr>
        <p:spPr>
          <a:xfrm>
            <a:off x="4572000" y="2148840"/>
            <a:ext cx="0" cy="27432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rrow"/>
          <p:cNvCxnSpPr/>
          <p:nvPr/>
        </p:nvCxnSpPr>
        <p:spPr>
          <a:xfrm>
            <a:off x="4572000" y="3200400"/>
            <a:ext cx="0" cy="27432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row"/>
          <p:cNvCxnSpPr/>
          <p:nvPr/>
        </p:nvCxnSpPr>
        <p:spPr>
          <a:xfrm>
            <a:off x="4572000" y="4114800"/>
            <a:ext cx="0" cy="27432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rrow"/>
          <p:cNvCxnSpPr/>
          <p:nvPr/>
        </p:nvCxnSpPr>
        <p:spPr>
          <a:xfrm>
            <a:off x="4572000" y="4937760"/>
            <a:ext cx="0" cy="27432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**مکانیزم دروازه‌ای:**"/>
          <p:cNvSpPr/>
          <p:nvPr/>
        </p:nvSpPr>
        <p:spPr>
          <a:xfrm>
            <a:off x="7452360" y="2331720"/>
            <a:ext cx="1508760" cy="960120"/>
          </a:xfrm>
          <a:prstGeom prst="roundRect">
            <a:avLst>
              <a:gd name="adj" fmla="val 1904"/>
            </a:avLst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r" rtl="1"/>
            <a:r>
              <a:rPr sz="900" b="1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مکانیزم دروازه‌ای:</a:t>
            </a:r>
          </a:p>
          <a:p>
            <a:pPr algn="r" rtl="1"/>
            <a:r>
              <a:rPr sz="90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g = σ(W_g · x)</a:t>
            </a:r>
          </a:p>
          <a:p>
            <a:pPr algn="r" rtl="1"/>
            <a:r>
              <a:rPr sz="90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h = g ⊙ (W_l · agg)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