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457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xt شکل ۳.۶: طرح تقسیم‌بندی "/>
          <p:cNvSpPr txBox="1"/>
          <p:nvPr/>
        </p:nvSpPr>
        <p:spPr>
          <a:xfrm>
            <a:off x="228600" y="109728"/>
            <a:ext cx="8686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15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شکل ۳.۶: طرح تقسیم‌بندی داده‌ها بر اساس شناسه نمونه</a:t>
            </a:r>
          </a:p>
        </p:txBody>
      </p:sp>
      <p:sp>
        <p:nvSpPr>
          <p:cNvPr id="3" name="**کل Caseها**"/>
          <p:cNvSpPr/>
          <p:nvPr/>
        </p:nvSpPr>
        <p:spPr>
          <a:xfrm>
            <a:off x="2468880" y="566928"/>
            <a:ext cx="4206240" cy="603504"/>
          </a:xfrm>
          <a:prstGeom prst="roundRect">
            <a:avLst>
              <a:gd name="adj" fmla="val 9090"/>
            </a:avLst>
          </a:prstGeom>
          <a:solidFill>
            <a:srgbClr val="FFF2C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3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کل Caseها</a:t>
            </a:r>
          </a:p>
        </p:txBody>
      </p:sp>
      <p:sp>
        <p:nvSpPr>
          <p:cNvPr id="4" name="**مجموعه آموزش**"/>
          <p:cNvSpPr/>
          <p:nvPr/>
        </p:nvSpPr>
        <p:spPr>
          <a:xfrm>
            <a:off x="4663440" y="1600200"/>
            <a:ext cx="4297680" cy="868680"/>
          </a:xfrm>
          <a:prstGeom prst="roundRect">
            <a:avLst>
              <a:gd name="adj" fmla="val 6315"/>
            </a:avLst>
          </a:prstGeom>
          <a:solidFill>
            <a:srgbClr val="E2EFDA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2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مجموعه آموزش</a:t>
            </a:r>
          </a:p>
          <a:p>
            <a:pPr algn="ctr" rtl="1"/>
            <a:r>
              <a:rPr sz="12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۶۷٪</a:t>
            </a:r>
          </a:p>
        </p:txBody>
      </p:sp>
      <p:sp>
        <p:nvSpPr>
          <p:cNvPr id="5" name="**مجموعه موقت**"/>
          <p:cNvSpPr/>
          <p:nvPr/>
        </p:nvSpPr>
        <p:spPr>
          <a:xfrm>
            <a:off x="182880" y="1600200"/>
            <a:ext cx="4297680" cy="868680"/>
          </a:xfrm>
          <a:prstGeom prst="roundRect">
            <a:avLst>
              <a:gd name="adj" fmla="val 6315"/>
            </a:avLst>
          </a:prstGeom>
          <a:solidFill>
            <a:srgbClr val="FFF2C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2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مجموعه موقت</a:t>
            </a:r>
          </a:p>
          <a:p>
            <a:pPr algn="ctr" rtl="1"/>
            <a:r>
              <a:rPr sz="12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۳۳٪</a:t>
            </a:r>
          </a:p>
        </p:txBody>
      </p:sp>
      <p:sp>
        <p:nvSpPr>
          <p:cNvPr id="6" name="txt تقسیم اول: ۶۷٪ / ۳۳٪"/>
          <p:cNvSpPr txBox="1"/>
          <p:nvPr/>
        </p:nvSpPr>
        <p:spPr>
          <a:xfrm>
            <a:off x="320040" y="1243584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/>
            <a:r>
              <a:rPr sz="1000" b="0" i="0">
                <a:solidFill>
                  <a:srgbClr val="2F5597"/>
                </a:solidFill>
                <a:latin typeface="Arial"/>
                <a:ea typeface="B Nazanin"/>
                <a:cs typeface="B Nazanin"/>
              </a:rPr>
              <a:t>تقسیم اول: ۶۷٪ / ۳۳٪</a:t>
            </a:r>
          </a:p>
        </p:txBody>
      </p:sp>
      <p:cxnSp>
        <p:nvCxnSpPr>
          <p:cNvPr id="7" name="arrow"/>
          <p:cNvCxnSpPr/>
          <p:nvPr/>
        </p:nvCxnSpPr>
        <p:spPr>
          <a:xfrm>
            <a:off x="4572000" y="1170432"/>
            <a:ext cx="0" cy="201168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arrow"/>
          <p:cNvCxnSpPr/>
          <p:nvPr/>
        </p:nvCxnSpPr>
        <p:spPr>
          <a:xfrm>
            <a:off x="4572000" y="1371600"/>
            <a:ext cx="2240280" cy="228600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arrow"/>
          <p:cNvCxnSpPr/>
          <p:nvPr/>
        </p:nvCxnSpPr>
        <p:spPr>
          <a:xfrm flipH="1">
            <a:off x="2331720" y="1371600"/>
            <a:ext cx="2240280" cy="228600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مجموعه آموزش"/>
          <p:cNvSpPr/>
          <p:nvPr/>
        </p:nvSpPr>
        <p:spPr>
          <a:xfrm>
            <a:off x="4663440" y="2834640"/>
            <a:ext cx="4297680" cy="640080"/>
          </a:xfrm>
          <a:prstGeom prst="roundRect">
            <a:avLst>
              <a:gd name="adj" fmla="val 8571"/>
            </a:avLst>
          </a:prstGeom>
          <a:solidFill>
            <a:srgbClr val="E2EFDA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مجموعه آموزش</a:t>
            </a:r>
          </a:p>
          <a:p>
            <a:pPr algn="ctr" rtl="1"/>
            <a:r>
              <a:rPr sz="11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(۶۷٪ کل)</a:t>
            </a:r>
          </a:p>
        </p:txBody>
      </p:sp>
      <p:cxnSp>
        <p:nvCxnSpPr>
          <p:cNvPr id="11" name="arrow"/>
          <p:cNvCxnSpPr/>
          <p:nvPr/>
        </p:nvCxnSpPr>
        <p:spPr>
          <a:xfrm>
            <a:off x="6812280" y="2468880"/>
            <a:ext cx="0" cy="365760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اعتبارسنجی"/>
          <p:cNvSpPr/>
          <p:nvPr/>
        </p:nvSpPr>
        <p:spPr>
          <a:xfrm>
            <a:off x="2423160" y="2834640"/>
            <a:ext cx="2057400" cy="640080"/>
          </a:xfrm>
          <a:prstGeom prst="roundRect">
            <a:avLst>
              <a:gd name="adj" fmla="val 8571"/>
            </a:avLst>
          </a:prstGeom>
          <a:solidFill>
            <a:srgbClr val="FFF2C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اعتبارسنجی</a:t>
            </a:r>
          </a:p>
          <a:p>
            <a:pPr algn="ctr" rtl="1"/>
            <a:r>
              <a:rPr sz="11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(۲۷٪ کل)</a:t>
            </a:r>
          </a:p>
        </p:txBody>
      </p:sp>
      <p:sp>
        <p:nvSpPr>
          <p:cNvPr id="13" name="آزمون"/>
          <p:cNvSpPr/>
          <p:nvPr/>
        </p:nvSpPr>
        <p:spPr>
          <a:xfrm>
            <a:off x="182880" y="2834640"/>
            <a:ext cx="2011680" cy="640080"/>
          </a:xfrm>
          <a:prstGeom prst="roundRect">
            <a:avLst>
              <a:gd name="adj" fmla="val 8571"/>
            </a:avLst>
          </a:prstGeom>
          <a:solidFill>
            <a:srgbClr val="F8DCD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آزمون</a:t>
            </a:r>
          </a:p>
          <a:p>
            <a:pPr algn="ctr" rtl="1"/>
            <a:r>
              <a:rPr sz="11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(۳۳٪ کل)</a:t>
            </a:r>
          </a:p>
        </p:txBody>
      </p:sp>
      <p:sp>
        <p:nvSpPr>
          <p:cNvPr id="14" name="txt تقسیم دوم: ۸۰٪ / ۲۰٪"/>
          <p:cNvSpPr txBox="1"/>
          <p:nvPr/>
        </p:nvSpPr>
        <p:spPr>
          <a:xfrm>
            <a:off x="182880" y="2542032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/>
            <a:r>
              <a:rPr sz="1000" b="0" i="0">
                <a:solidFill>
                  <a:srgbClr val="C00000"/>
                </a:solidFill>
                <a:latin typeface="Arial"/>
                <a:ea typeface="B Nazanin"/>
                <a:cs typeface="B Nazanin"/>
              </a:rPr>
              <a:t>تقسیم دوم: ۸۰٪ / ۲۰٪</a:t>
            </a:r>
          </a:p>
        </p:txBody>
      </p:sp>
      <p:cxnSp>
        <p:nvCxnSpPr>
          <p:cNvPr id="15" name="arrow"/>
          <p:cNvCxnSpPr/>
          <p:nvPr/>
        </p:nvCxnSpPr>
        <p:spPr>
          <a:xfrm>
            <a:off x="2331720" y="2468880"/>
            <a:ext cx="0" cy="201168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arrow"/>
          <p:cNvCxnSpPr/>
          <p:nvPr/>
        </p:nvCxnSpPr>
        <p:spPr>
          <a:xfrm flipH="1">
            <a:off x="1188720" y="2670048"/>
            <a:ext cx="1143000" cy="0"/>
          </a:xfrm>
          <a:prstGeom prst="line">
            <a:avLst/>
          </a:prstGeom>
          <a:ln w="1905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arrow"/>
          <p:cNvCxnSpPr/>
          <p:nvPr/>
        </p:nvCxnSpPr>
        <p:spPr>
          <a:xfrm>
            <a:off x="1188720" y="2670048"/>
            <a:ext cx="0" cy="164592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arrow"/>
          <p:cNvCxnSpPr/>
          <p:nvPr/>
        </p:nvCxnSpPr>
        <p:spPr>
          <a:xfrm>
            <a:off x="2331720" y="2670048"/>
            <a:ext cx="1115568" cy="0"/>
          </a:xfrm>
          <a:prstGeom prst="line">
            <a:avLst/>
          </a:prstGeom>
          <a:ln w="1905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arrow"/>
          <p:cNvCxnSpPr/>
          <p:nvPr/>
        </p:nvCxnSpPr>
        <p:spPr>
          <a:xfrm>
            <a:off x="3447288" y="2670048"/>
            <a:ext cx="0" cy="164592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**تقسیم بر اساس Case ID (نه "/>
          <p:cNvSpPr/>
          <p:nvPr/>
        </p:nvSpPr>
        <p:spPr>
          <a:xfrm>
            <a:off x="548640" y="3840480"/>
            <a:ext cx="8046720" cy="603504"/>
          </a:xfrm>
          <a:prstGeom prst="roundRect">
            <a:avLst>
              <a:gd name="adj" fmla="val 9090"/>
            </a:avLst>
          </a:prstGeom>
          <a:solidFill>
            <a:srgbClr val="F8DCD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تقسیم بر اساس Case ID (نه نمونه‌های منفرد)</a:t>
            </a:r>
            <a:r>
              <a:rPr sz="11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 برای جلوگیری از نشت اطلاعات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