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937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۷: گره‌بندی وزنی 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۳.۱۷: گره‌بندی وزنی میان لایه تعبیه فعالیت و سر خروجی</a:t>
            </a:r>
          </a:p>
        </p:txBody>
      </p:sp>
      <p:sp>
        <p:nvSpPr>
          <p:cNvPr id="3" name="**لایه تعبیه فعالیت**"/>
          <p:cNvSpPr/>
          <p:nvPr/>
        </p:nvSpPr>
        <p:spPr>
          <a:xfrm>
            <a:off x="411480" y="8686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تعبیه فعالیت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(num_activities × d_model)</a:t>
            </a:r>
          </a:p>
        </p:txBody>
      </p:sp>
      <p:sp>
        <p:nvSpPr>
          <p:cNvPr id="4" name="**سر خروجی فعالیت**"/>
          <p:cNvSpPr/>
          <p:nvPr/>
        </p:nvSpPr>
        <p:spPr>
          <a:xfrm>
            <a:off x="4892040" y="8686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خروجی فعالیت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(d_model × num_activities)</a:t>
            </a:r>
          </a:p>
        </p:txBody>
      </p:sp>
      <p:cxnSp>
        <p:nvCxnSpPr>
          <p:cNvPr id="5" name="line"/>
          <p:cNvCxnSpPr/>
          <p:nvPr/>
        </p:nvCxnSpPr>
        <p:spPr>
          <a:xfrm>
            <a:off x="4343400" y="1344168"/>
            <a:ext cx="457200" cy="0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**اشتراک وزن**"/>
          <p:cNvSpPr/>
          <p:nvPr/>
        </p:nvSpPr>
        <p:spPr>
          <a:xfrm>
            <a:off x="3886200" y="411480"/>
            <a:ext cx="1371600" cy="384048"/>
          </a:xfrm>
          <a:prstGeom prst="roundRect">
            <a:avLst>
              <a:gd name="adj" fmla="val 14285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اشتراک وزن</a:t>
            </a:r>
          </a:p>
        </p:txBody>
      </p:sp>
      <p:sp>
        <p:nvSpPr>
          <p:cNvPr id="7" name="txt **مزایای گره‌بندی وزنی:*"/>
          <p:cNvSpPr txBox="1"/>
          <p:nvPr/>
        </p:nvSpPr>
        <p:spPr>
          <a:xfrm>
            <a:off x="4572000" y="210312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مزایای گره‌بندی وزنی:</a:t>
            </a:r>
          </a:p>
        </p:txBody>
      </p:sp>
      <p:sp>
        <p:nvSpPr>
          <p:cNvPr id="8" name="txt • کاهش تعداد پارامترها ("/>
          <p:cNvSpPr txBox="1"/>
          <p:nvPr/>
        </p:nvSpPr>
        <p:spPr>
          <a:xfrm>
            <a:off x="914400" y="2542032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کاهش تعداد پارامترها (۵۰٪ در این دو لایه)</a:t>
            </a:r>
          </a:p>
        </p:txBody>
      </p:sp>
      <p:sp>
        <p:nvSpPr>
          <p:cNvPr id="9" name="txt • بهبود تعمیم‌پذیری"/>
          <p:cNvSpPr txBox="1"/>
          <p:nvPr/>
        </p:nvSpPr>
        <p:spPr>
          <a:xfrm>
            <a:off x="914400" y="2962656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بهبود تعمیم‌پذیری</a:t>
            </a:r>
          </a:p>
        </p:txBody>
      </p:sp>
      <p:sp>
        <p:nvSpPr>
          <p:cNvPr id="10" name="txt • هم‌راستایی فضای تعبیه "/>
          <p:cNvSpPr txBox="1"/>
          <p:nvPr/>
        </p:nvSpPr>
        <p:spPr>
          <a:xfrm>
            <a:off x="914400" y="338328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هم‌راستایی فضای تعبیه و فضای خروجی</a:t>
            </a:r>
          </a:p>
        </p:txBody>
      </p:sp>
      <p:sp>
        <p:nvSpPr>
          <p:cNvPr id="11" name="txt • کاهش حافظه مصرفی"/>
          <p:cNvSpPr txBox="1"/>
          <p:nvPr/>
        </p:nvSpPr>
        <p:spPr>
          <a:xfrm>
            <a:off x="914400" y="3803904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کاهش حافظه مصرفی</a:t>
            </a:r>
          </a:p>
        </p:txBody>
      </p:sp>
      <p:sp>
        <p:nvSpPr>
          <p:cNvPr id="12" name="txt • جلوگیری از بیش‌برازش"/>
          <p:cNvSpPr txBox="1"/>
          <p:nvPr/>
        </p:nvSpPr>
        <p:spPr>
          <a:xfrm>
            <a:off x="914400" y="422452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• جلوگیری از بیش‌برازش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