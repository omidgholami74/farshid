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2064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xt شکل ۳.۱۶: ساختار سر مشتر"/>
          <p:cNvSpPr txBox="1"/>
          <p:nvPr/>
        </p:nvSpPr>
        <p:spPr>
          <a:xfrm>
            <a:off x="228600" y="109728"/>
            <a:ext cx="8686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 rtl="1"/>
            <a:r>
              <a:rPr sz="15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شکل ۳.۱۶: ساختار سر مشترک و چهار سر تخصصی خروجی</a:t>
            </a:r>
          </a:p>
        </p:txBody>
      </p:sp>
      <p:sp>
        <p:nvSpPr>
          <p:cNvPr id="3" name="**نمایش ادغام‌شده**"/>
          <p:cNvSpPr/>
          <p:nvPr/>
        </p:nvSpPr>
        <p:spPr>
          <a:xfrm>
            <a:off x="2926080" y="566928"/>
            <a:ext cx="3291840" cy="548640"/>
          </a:xfrm>
          <a:prstGeom prst="roundRect">
            <a:avLst>
              <a:gd name="adj" fmla="val 10000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2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نمایش ادغام‌شده</a:t>
            </a:r>
          </a:p>
        </p:txBody>
      </p:sp>
      <p:sp>
        <p:nvSpPr>
          <p:cNvPr id="4" name="**سر مشترک**"/>
          <p:cNvSpPr/>
          <p:nvPr/>
        </p:nvSpPr>
        <p:spPr>
          <a:xfrm>
            <a:off x="1920240" y="1325880"/>
            <a:ext cx="5303520" cy="841248"/>
          </a:xfrm>
          <a:prstGeom prst="roundRect">
            <a:avLst>
              <a:gd name="adj" fmla="val 6521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5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سر مشترک</a:t>
            </a:r>
          </a:p>
          <a:p>
            <a:pPr algn="ctr" rtl="1"/>
            <a:r>
              <a:rPr sz="115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LayerNorm → Linear → GELU → Dropout → Linear → GELU</a:t>
            </a:r>
          </a:p>
        </p:txBody>
      </p:sp>
      <p:cxnSp>
        <p:nvCxnSpPr>
          <p:cNvPr id="5" name="arrow"/>
          <p:cNvCxnSpPr/>
          <p:nvPr/>
        </p:nvCxnSpPr>
        <p:spPr>
          <a:xfrm>
            <a:off x="4572000" y="1115568"/>
            <a:ext cx="0" cy="210312"/>
          </a:xfrm>
          <a:prstGeom prst="line">
            <a:avLst/>
          </a:prstGeom>
          <a:ln w="1905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**سر ۱**"/>
          <p:cNvSpPr/>
          <p:nvPr/>
        </p:nvSpPr>
        <p:spPr>
          <a:xfrm>
            <a:off x="6903720" y="2423160"/>
            <a:ext cx="2103120" cy="896112"/>
          </a:xfrm>
          <a:prstGeom prst="roundRect">
            <a:avLst>
              <a:gd name="adj" fmla="val 6122"/>
            </a:avLst>
          </a:prstGeom>
          <a:solidFill>
            <a:srgbClr val="DEEAF6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سر ۱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فعالیت بعدی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Linear → Softmax</a:t>
            </a:r>
          </a:p>
        </p:txBody>
      </p:sp>
      <p:cxnSp>
        <p:nvCxnSpPr>
          <p:cNvPr id="7" name="arrow"/>
          <p:cNvCxnSpPr/>
          <p:nvPr/>
        </p:nvCxnSpPr>
        <p:spPr>
          <a:xfrm>
            <a:off x="4572000" y="2167128"/>
            <a:ext cx="3383280" cy="237744"/>
          </a:xfrm>
          <a:prstGeom prst="line">
            <a:avLst/>
          </a:prstGeom>
          <a:ln w="1651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توزیع احتمال"/>
          <p:cNvSpPr/>
          <p:nvPr/>
        </p:nvSpPr>
        <p:spPr>
          <a:xfrm>
            <a:off x="6903720" y="3474720"/>
            <a:ext cx="2103120" cy="658368"/>
          </a:xfrm>
          <a:prstGeom prst="rect">
            <a:avLst/>
          </a:prstGeom>
          <a:noFill/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0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توزیع احتمال</a:t>
            </a:r>
          </a:p>
          <a:p>
            <a:pPr algn="ctr" rtl="1"/>
            <a:r>
              <a:rPr sz="100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(تعداد فعالیت)</a:t>
            </a:r>
          </a:p>
        </p:txBody>
      </p:sp>
      <p:sp>
        <p:nvSpPr>
          <p:cNvPr id="9" name="**سر ۲**"/>
          <p:cNvSpPr/>
          <p:nvPr/>
        </p:nvSpPr>
        <p:spPr>
          <a:xfrm>
            <a:off x="4663440" y="2423160"/>
            <a:ext cx="2103120" cy="896112"/>
          </a:xfrm>
          <a:prstGeom prst="roundRect">
            <a:avLst>
              <a:gd name="adj" fmla="val 6122"/>
            </a:avLst>
          </a:prstGeom>
          <a:solidFill>
            <a:srgbClr val="E2EFDA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سر ۲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زمان باقی‌مانده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Linear → Scalar</a:t>
            </a:r>
          </a:p>
        </p:txBody>
      </p:sp>
      <p:cxnSp>
        <p:nvCxnSpPr>
          <p:cNvPr id="10" name="arrow"/>
          <p:cNvCxnSpPr/>
          <p:nvPr/>
        </p:nvCxnSpPr>
        <p:spPr>
          <a:xfrm>
            <a:off x="4572000" y="2167128"/>
            <a:ext cx="1143000" cy="237744"/>
          </a:xfrm>
          <a:prstGeom prst="line">
            <a:avLst/>
          </a:prstGeom>
          <a:ln w="1651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مقدار اسکالر"/>
          <p:cNvSpPr/>
          <p:nvPr/>
        </p:nvSpPr>
        <p:spPr>
          <a:xfrm>
            <a:off x="4663440" y="3474720"/>
            <a:ext cx="2103120" cy="658368"/>
          </a:xfrm>
          <a:prstGeom prst="rect">
            <a:avLst/>
          </a:prstGeom>
          <a:noFill/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0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مقدار اسکالر</a:t>
            </a:r>
          </a:p>
          <a:p>
            <a:pPr algn="ctr" rtl="1"/>
            <a:r>
              <a:rPr sz="100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(log1p نرمال‌شده)</a:t>
            </a:r>
          </a:p>
        </p:txBody>
      </p:sp>
      <p:sp>
        <p:nvSpPr>
          <p:cNvPr id="12" name="**سر ۳**"/>
          <p:cNvSpPr/>
          <p:nvPr/>
        </p:nvSpPr>
        <p:spPr>
          <a:xfrm>
            <a:off x="2423160" y="2423160"/>
            <a:ext cx="2103120" cy="896112"/>
          </a:xfrm>
          <a:prstGeom prst="roundRect">
            <a:avLst>
              <a:gd name="adj" fmla="val 6122"/>
            </a:avLst>
          </a:prstGeom>
          <a:solidFill>
            <a:srgbClr val="FFF2C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سر ۳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بهبود تأخیر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Linear → tanh</a:t>
            </a:r>
          </a:p>
        </p:txBody>
      </p:sp>
      <p:cxnSp>
        <p:nvCxnSpPr>
          <p:cNvPr id="13" name="arrow"/>
          <p:cNvCxnSpPr/>
          <p:nvPr/>
        </p:nvCxnSpPr>
        <p:spPr>
          <a:xfrm flipH="1">
            <a:off x="3474720" y="2167128"/>
            <a:ext cx="1097280" cy="237744"/>
          </a:xfrm>
          <a:prstGeom prst="line">
            <a:avLst/>
          </a:prstGeom>
          <a:ln w="1651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مقدار اسکالر"/>
          <p:cNvSpPr/>
          <p:nvPr/>
        </p:nvSpPr>
        <p:spPr>
          <a:xfrm>
            <a:off x="2423160" y="3474720"/>
            <a:ext cx="2103120" cy="658368"/>
          </a:xfrm>
          <a:prstGeom prst="rect">
            <a:avLst/>
          </a:prstGeom>
          <a:noFill/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0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مقدار اسکالر</a:t>
            </a:r>
          </a:p>
          <a:p>
            <a:pPr algn="ctr" rtl="1"/>
            <a:r>
              <a:rPr sz="100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(tanh نرمال‌شده)</a:t>
            </a:r>
          </a:p>
        </p:txBody>
      </p:sp>
      <p:sp>
        <p:nvSpPr>
          <p:cNvPr id="15" name="**سر ۴**"/>
          <p:cNvSpPr/>
          <p:nvPr/>
        </p:nvSpPr>
        <p:spPr>
          <a:xfrm>
            <a:off x="182880" y="2423160"/>
            <a:ext cx="2103120" cy="896112"/>
          </a:xfrm>
          <a:prstGeom prst="roundRect">
            <a:avLst>
              <a:gd name="adj" fmla="val 6122"/>
            </a:avLst>
          </a:prstGeom>
          <a:solidFill>
            <a:srgbClr val="F8DCDC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سر ۴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گلوگاه</a:t>
            </a:r>
          </a:p>
          <a:p>
            <a:pPr algn="ctr" rtl="1"/>
            <a:r>
              <a:rPr sz="1100" b="0" i="0">
                <a:solidFill>
                  <a:srgbClr val="1F3864"/>
                </a:solidFill>
                <a:latin typeface="Arial"/>
                <a:ea typeface="B Nazanin"/>
                <a:cs typeface="B Nazanin"/>
              </a:rPr>
              <a:t>Linear → Logits</a:t>
            </a:r>
          </a:p>
        </p:txBody>
      </p:sp>
      <p:cxnSp>
        <p:nvCxnSpPr>
          <p:cNvPr id="16" name="arrow"/>
          <p:cNvCxnSpPr/>
          <p:nvPr/>
        </p:nvCxnSpPr>
        <p:spPr>
          <a:xfrm flipH="1">
            <a:off x="1234440" y="2167128"/>
            <a:ext cx="3337560" cy="237744"/>
          </a:xfrm>
          <a:prstGeom prst="line">
            <a:avLst/>
          </a:prstGeom>
          <a:ln w="16510">
            <a:solidFill>
              <a:srgbClr val="2F559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بردار لوجیت"/>
          <p:cNvSpPr/>
          <p:nvPr/>
        </p:nvSpPr>
        <p:spPr>
          <a:xfrm>
            <a:off x="182880" y="3474720"/>
            <a:ext cx="2103120" cy="658368"/>
          </a:xfrm>
          <a:prstGeom prst="rect">
            <a:avLst/>
          </a:prstGeom>
          <a:noFill/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00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بردار لوجیت</a:t>
            </a:r>
          </a:p>
          <a:p>
            <a:pPr algn="ctr" rtl="1"/>
            <a:r>
              <a:rPr sz="1000" b="0" i="0">
                <a:solidFill>
                  <a:srgbClr val="404040"/>
                </a:solidFill>
                <a:latin typeface="Arial"/>
                <a:ea typeface="B Nazanin"/>
                <a:cs typeface="B Nazanin"/>
              </a:rPr>
              <a:t>(برای هر توکن)</a:t>
            </a:r>
          </a:p>
        </p:txBody>
      </p:sp>
      <p:sp>
        <p:nvSpPr>
          <p:cNvPr id="18" name="**گره‌بندی وزنی:** فعالیت بع"/>
          <p:cNvSpPr/>
          <p:nvPr/>
        </p:nvSpPr>
        <p:spPr>
          <a:xfrm>
            <a:off x="2194560" y="4389120"/>
            <a:ext cx="4754880" cy="457200"/>
          </a:xfrm>
          <a:prstGeom prst="roundRect">
            <a:avLst>
              <a:gd name="adj" fmla="val 12000"/>
            </a:avLst>
          </a:prstGeom>
          <a:solidFill>
            <a:srgbClr val="F8DCDC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 rtl="1"/>
            <a:r>
              <a:rPr sz="1100" b="1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گره‌بندی وزنی:</a:t>
            </a:r>
            <a:r>
              <a:rPr sz="1100" b="0" i="0">
                <a:solidFill>
                  <a:srgbClr val="C00000"/>
                </a:solidFill>
                <a:latin typeface="Arial"/>
                <a:ea typeface="B Nazanin"/>
                <a:cs typeface="B Nazanin"/>
              </a:rPr>
              <a:t> فعالیت بعدی ↔ تعبیه فعالیت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