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20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۶: ساختار سر مشتر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۳.۱۶: ساختار سر مشترک و چهار سر تخصصی خروجی</a:t>
            </a:r>
          </a:p>
        </p:txBody>
      </p:sp>
      <p:sp>
        <p:nvSpPr>
          <p:cNvPr id="3" name="**نمایش ادغام‌شده**"/>
          <p:cNvSpPr/>
          <p:nvPr/>
        </p:nvSpPr>
        <p:spPr>
          <a:xfrm>
            <a:off x="2926080" y="566928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نمایش ادغام‌شده</a:t>
            </a:r>
          </a:p>
        </p:txBody>
      </p:sp>
      <p:sp>
        <p:nvSpPr>
          <p:cNvPr id="4" name="**سر مشترک**"/>
          <p:cNvSpPr/>
          <p:nvPr/>
        </p:nvSpPr>
        <p:spPr>
          <a:xfrm>
            <a:off x="1920240" y="1325880"/>
            <a:ext cx="5303520" cy="841248"/>
          </a:xfrm>
          <a:prstGeom prst="roundRect">
            <a:avLst>
              <a:gd name="adj" fmla="val 6521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مشترک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→ Linear → GELU → Dropout → Linear → GELU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4572000" y="1115568"/>
            <a:ext cx="0" cy="21031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**سر ۱**"/>
          <p:cNvSpPr/>
          <p:nvPr/>
        </p:nvSpPr>
        <p:spPr>
          <a:xfrm>
            <a:off x="6903720" y="2423160"/>
            <a:ext cx="2103120" cy="896112"/>
          </a:xfrm>
          <a:prstGeom prst="roundRect">
            <a:avLst>
              <a:gd name="adj" fmla="val 612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۱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فعالیت بعدی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Softmax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4572000" y="2167128"/>
            <a:ext cx="3383280" cy="23774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توزیع احتمال"/>
          <p:cNvSpPr/>
          <p:nvPr/>
        </p:nvSpPr>
        <p:spPr>
          <a:xfrm>
            <a:off x="6903720" y="3474720"/>
            <a:ext cx="2103120" cy="658368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توزیع احتمال</a:t>
            </a:r>
          </a:p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(تعداد فعالیت)</a:t>
            </a:r>
          </a:p>
        </p:txBody>
      </p:sp>
      <p:sp>
        <p:nvSpPr>
          <p:cNvPr id="9" name="**سر ۲**"/>
          <p:cNvSpPr/>
          <p:nvPr/>
        </p:nvSpPr>
        <p:spPr>
          <a:xfrm>
            <a:off x="4663440" y="2423160"/>
            <a:ext cx="2103120" cy="896112"/>
          </a:xfrm>
          <a:prstGeom prst="roundRect">
            <a:avLst>
              <a:gd name="adj" fmla="val 612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۲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زمان باقی‌مانده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Scalar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4572000" y="2167128"/>
            <a:ext cx="1143000" cy="23774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مقدار اسکالر"/>
          <p:cNvSpPr/>
          <p:nvPr/>
        </p:nvSpPr>
        <p:spPr>
          <a:xfrm>
            <a:off x="4663440" y="3474720"/>
            <a:ext cx="2103120" cy="658368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مقدار اسکالر</a:t>
            </a:r>
          </a:p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(log1p نرمال‌شده)</a:t>
            </a:r>
          </a:p>
        </p:txBody>
      </p:sp>
      <p:sp>
        <p:nvSpPr>
          <p:cNvPr id="12" name="**سر ۳**"/>
          <p:cNvSpPr/>
          <p:nvPr/>
        </p:nvSpPr>
        <p:spPr>
          <a:xfrm>
            <a:off x="2423160" y="2423160"/>
            <a:ext cx="2103120" cy="896112"/>
          </a:xfrm>
          <a:prstGeom prst="roundRect">
            <a:avLst>
              <a:gd name="adj" fmla="val 6122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۳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بهبود تأخیر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tanh</a:t>
            </a:r>
          </a:p>
        </p:txBody>
      </p:sp>
      <p:cxnSp>
        <p:nvCxnSpPr>
          <p:cNvPr id="13" name="arrow"/>
          <p:cNvCxnSpPr/>
          <p:nvPr/>
        </p:nvCxnSpPr>
        <p:spPr>
          <a:xfrm flipH="1">
            <a:off x="3474720" y="2167128"/>
            <a:ext cx="1097280" cy="23774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مقدار اسکالر"/>
          <p:cNvSpPr/>
          <p:nvPr/>
        </p:nvSpPr>
        <p:spPr>
          <a:xfrm>
            <a:off x="2423160" y="3474720"/>
            <a:ext cx="2103120" cy="658368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مقدار اسکالر</a:t>
            </a:r>
          </a:p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(tanh نرمال‌شده)</a:t>
            </a:r>
          </a:p>
        </p:txBody>
      </p:sp>
      <p:sp>
        <p:nvSpPr>
          <p:cNvPr id="15" name="**سر ۴**"/>
          <p:cNvSpPr/>
          <p:nvPr/>
        </p:nvSpPr>
        <p:spPr>
          <a:xfrm>
            <a:off x="182880" y="2423160"/>
            <a:ext cx="2103120" cy="896112"/>
          </a:xfrm>
          <a:prstGeom prst="roundRect">
            <a:avLst>
              <a:gd name="adj" fmla="val 6122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۴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گلوگاه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→ Logits</a:t>
            </a:r>
          </a:p>
        </p:txBody>
      </p:sp>
      <p:cxnSp>
        <p:nvCxnSpPr>
          <p:cNvPr id="16" name="arrow"/>
          <p:cNvCxnSpPr/>
          <p:nvPr/>
        </p:nvCxnSpPr>
        <p:spPr>
          <a:xfrm flipH="1">
            <a:off x="1234440" y="2167128"/>
            <a:ext cx="3337560" cy="23774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بردار لوجیت"/>
          <p:cNvSpPr/>
          <p:nvPr/>
        </p:nvSpPr>
        <p:spPr>
          <a:xfrm>
            <a:off x="182880" y="3474720"/>
            <a:ext cx="2103120" cy="658368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بردار لوجیت</a:t>
            </a:r>
          </a:p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(برای هر توکن)</a:t>
            </a:r>
          </a:p>
        </p:txBody>
      </p:sp>
      <p:sp>
        <p:nvSpPr>
          <p:cNvPr id="18" name="**گره‌بندی وزنی:** فعالیت بع"/>
          <p:cNvSpPr/>
          <p:nvPr/>
        </p:nvSpPr>
        <p:spPr>
          <a:xfrm>
            <a:off x="2194560" y="438912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گره‌بندی وزنی:</a:t>
            </a:r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 فعالیت بعدی ↔ تعبیه فعالیت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