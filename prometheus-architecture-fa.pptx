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rule"/>
          <p:cNvSpPr/>
          <p:nvPr/>
        </p:nvSpPr>
        <p:spPr>
          <a:xfrm>
            <a:off x="411480" y="1051560"/>
            <a:ext cx="9646920" cy="5486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yebrow"/>
          <p:cNvSpPr txBox="1"/>
          <p:nvPr/>
        </p:nvSpPr>
        <p:spPr>
          <a:xfrm>
            <a:off x="411480" y="1325880"/>
            <a:ext cx="9646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8DB8"/>
                </a:solidFill>
                <a:latin typeface="Tahoma"/>
                <a:ea typeface="Tahoma"/>
                <a:cs typeface="Tahoma"/>
              </a:rPr>
              <a:t>معماری سیستم — سه فاز</a:t>
            </a:r>
          </a:p>
        </p:txBody>
      </p:sp>
      <p:sp>
        <p:nvSpPr>
          <p:cNvPr id="4" name="main_title"/>
          <p:cNvSpPr txBox="1"/>
          <p:nvPr/>
        </p:nvSpPr>
        <p:spPr>
          <a:xfrm>
            <a:off x="411480" y="1828800"/>
            <a:ext cx="9646920" cy="1371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پرامتئوس: پیش‌بینی فرآیند با درک تأخیر و سه جریان موازی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411480" y="3154680"/>
            <a:ext cx="964692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ساختار کامل مدل در سه فاز — نسخهٔ پاورپوینت، همهٔ متن‌ها و شکل‌ها قابل ویرایش</a:t>
            </a:r>
          </a:p>
        </p:txBody>
      </p:sp>
      <p:sp>
        <p:nvSpPr>
          <p:cNvPr id="6" name="chip_فاز ۱"/>
          <p:cNvSpPr/>
          <p:nvPr/>
        </p:nvSpPr>
        <p:spPr>
          <a:xfrm>
            <a:off x="6918960" y="4160520"/>
            <a:ext cx="3139440" cy="960120"/>
          </a:xfrm>
          <a:prstGeom prst="roundRect">
            <a:avLst>
              <a:gd name="adj" fmla="val 8095"/>
            </a:avLst>
          </a:prstGeom>
          <a:solidFill>
            <a:srgbClr val="E7ECF5"/>
          </a:solidFill>
          <a:ln w="1778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فاز ۱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950" b="0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مشخصات سیستم</a:t>
            </a:r>
          </a:p>
        </p:txBody>
      </p:sp>
      <p:sp>
        <p:nvSpPr>
          <p:cNvPr id="7" name="chip_فاز ۲"/>
          <p:cNvSpPr/>
          <p:nvPr/>
        </p:nvSpPr>
        <p:spPr>
          <a:xfrm>
            <a:off x="3459479" y="4160520"/>
            <a:ext cx="3139440" cy="960120"/>
          </a:xfrm>
          <a:prstGeom prst="roundRect">
            <a:avLst>
              <a:gd name="adj" fmla="val 8095"/>
            </a:avLst>
          </a:prstGeom>
          <a:solidFill>
            <a:srgbClr val="E7ECF5"/>
          </a:solidFill>
          <a:ln w="1778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فاز ۲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950" b="0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طراحی معماری</a:t>
            </a:r>
          </a:p>
        </p:txBody>
      </p:sp>
      <p:sp>
        <p:nvSpPr>
          <p:cNvPr id="8" name="chip_فاز ۳"/>
          <p:cNvSpPr/>
          <p:nvPr/>
        </p:nvSpPr>
        <p:spPr>
          <a:xfrm>
            <a:off x="411480" y="4160520"/>
            <a:ext cx="3139440" cy="960120"/>
          </a:xfrm>
          <a:prstGeom prst="roundRect">
            <a:avLst>
              <a:gd name="adj" fmla="val 8095"/>
            </a:avLst>
          </a:prstGeom>
          <a:solidFill>
            <a:srgbClr val="E7ECF5"/>
          </a:solidFill>
          <a:ln w="1778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فاز ۳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950" b="0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طراحی جزئی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411480" y="5989320"/>
            <a:ext cx="964692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بر پایهٔ main.py (مدل اصلی) و utils.py (پیاده‌سازی گراف عصبی پیشوند)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411480" y="384048"/>
            <a:ext cx="964692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نمای کلی: از داده خام تا پیش‌بینی</a:t>
            </a:r>
          </a:p>
        </p:txBody>
      </p:sp>
      <p:sp>
        <p:nvSpPr>
          <p:cNvPr id="3" name="slide_subtitle"/>
          <p:cNvSpPr txBox="1"/>
          <p:nvPr/>
        </p:nvSpPr>
        <p:spPr>
          <a:xfrm>
            <a:off x="411480" y="932688"/>
            <a:ext cx="9646920" cy="3291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سه فاز پشت سر هم؛ هر فاز ورودی فاز بعد را می‌سازد</a:t>
            </a:r>
          </a:p>
        </p:txBody>
      </p:sp>
      <p:sp>
        <p:nvSpPr>
          <p:cNvPr id="4" name="phase_فاز ۱"/>
          <p:cNvSpPr/>
          <p:nvPr/>
        </p:nvSpPr>
        <p:spPr>
          <a:xfrm>
            <a:off x="6918960" y="1691640"/>
            <a:ext cx="3139440" cy="2743200"/>
          </a:xfrm>
          <a:prstGeom prst="roundRect">
            <a:avLst>
              <a:gd name="adj" fmla="val 2833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فاز ۱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مشخصات سیستم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تعریف مسئله و خروجی‌ها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ورودی‌ها و آماده‌سازی داده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ساخت ویژگی‌ها و گراف پیشوند</a:t>
            </a:r>
          </a:p>
        </p:txBody>
      </p:sp>
      <p:sp>
        <p:nvSpPr>
          <p:cNvPr id="5" name="phase_فاز ۲"/>
          <p:cNvSpPr/>
          <p:nvPr/>
        </p:nvSpPr>
        <p:spPr>
          <a:xfrm>
            <a:off x="3459479" y="1691640"/>
            <a:ext cx="3139440" cy="2743200"/>
          </a:xfrm>
          <a:prstGeom prst="roundRect">
            <a:avLst>
              <a:gd name="adj" fmla="val 2833"/>
            </a:avLst>
          </a:prstGeom>
          <a:solidFill>
            <a:srgbClr val="E6F4EC"/>
          </a:solidFill>
          <a:ln w="13970">
            <a:solidFill>
              <a:srgbClr val="4E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فاز ۲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طراحی معماری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سه جریان موازی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Transformer + TCN + GNN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ادغام اطلاعات سه جریان</a:t>
            </a:r>
          </a:p>
        </p:txBody>
      </p:sp>
      <p:sp>
        <p:nvSpPr>
          <p:cNvPr id="6" name="phase_فاز ۳"/>
          <p:cNvSpPr/>
          <p:nvPr/>
        </p:nvSpPr>
        <p:spPr>
          <a:xfrm>
            <a:off x="411480" y="1691640"/>
            <a:ext cx="3139440" cy="2743200"/>
          </a:xfrm>
          <a:prstGeom prst="roundRect">
            <a:avLst>
              <a:gd name="adj" fmla="val 2833"/>
            </a:avLst>
          </a:prstGeom>
          <a:solidFill>
            <a:srgbClr val="EFECF9"/>
          </a:solidFill>
          <a:ln w="13970">
            <a:solidFill>
              <a:srgbClr val="7C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فاز ۳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طراحی جزئی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لایه‌ها، ابعاد و پارامترها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چهار سر خروجی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راه‌اندازی و آموزش مدل</a:t>
            </a:r>
          </a:p>
        </p:txBody>
      </p:sp>
      <p:cxnSp>
        <p:nvCxnSpPr>
          <p:cNvPr id="7" name="flow_arrow"/>
          <p:cNvCxnSpPr/>
          <p:nvPr/>
        </p:nvCxnSpPr>
        <p:spPr>
          <a:xfrm flipH="1">
            <a:off x="6598920" y="3063240"/>
            <a:ext cx="320040" cy="0"/>
          </a:xfrm>
          <a:prstGeom prst="line">
            <a:avLst/>
          </a:prstGeom>
          <a:ln w="25400">
            <a:solidFill>
              <a:srgbClr val="1F386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_arrow"/>
          <p:cNvCxnSpPr/>
          <p:nvPr/>
        </p:nvCxnSpPr>
        <p:spPr>
          <a:xfrm>
            <a:off x="3459479" y="3063240"/>
            <a:ext cx="91441" cy="0"/>
          </a:xfrm>
          <a:prstGeom prst="line">
            <a:avLst/>
          </a:prstGeom>
          <a:ln w="25400">
            <a:solidFill>
              <a:srgbClr val="1F386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"/>
          <p:cNvSpPr txBox="1"/>
          <p:nvPr/>
        </p:nvSpPr>
        <p:spPr>
          <a:xfrm>
            <a:off x="411480" y="4800600"/>
            <a:ext cx="96469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مسیر کار: داده ← ویژگی و گراف ← سه جریان موازی ← ادغام ← چهار خروجی</a:t>
            </a:r>
          </a:p>
        </p:txBody>
      </p:sp>
      <p:sp>
        <p:nvSpPr>
          <p:cNvPr id="10" name="note_bar"/>
          <p:cNvSpPr/>
          <p:nvPr/>
        </p:nvSpPr>
        <p:spPr>
          <a:xfrm>
            <a:off x="411480" y="5440680"/>
            <a:ext cx="9646920" cy="640080"/>
          </a:xfrm>
          <a:prstGeom prst="roundRect">
            <a:avLst>
              <a:gd name="adj" fmla="val 12142"/>
            </a:avLst>
          </a:prstGeom>
          <a:solidFill>
            <a:srgbClr val="F4F6F9"/>
          </a:solidFill>
          <a:ln w="13970">
            <a:solidFill>
              <a:srgbClr val="B0B8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همهٔ کادرها، فلش‌ها، رنگ‌ها و متن‌ها در پاورپوینت قابل ویرایش هستند.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hase_badge"/>
          <p:cNvSpPr/>
          <p:nvPr/>
        </p:nvSpPr>
        <p:spPr>
          <a:xfrm>
            <a:off x="10241280" y="228600"/>
            <a:ext cx="1536192" cy="9144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فاز ۱</a:t>
            </a:r>
          </a:p>
          <a:p>
            <a:pPr rt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D8E0EE"/>
                </a:solidFill>
                <a:latin typeface="Tahoma"/>
                <a:ea typeface="Tahoma"/>
                <a:cs typeface="Tahoma"/>
              </a:rPr>
              <a:t>مشخصات سیستم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411480" y="219456"/>
            <a:ext cx="964692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مشخصات سیستم: از لاگ رویداد تا وظایف یادگیری</a:t>
            </a:r>
          </a:p>
        </p:txBody>
      </p:sp>
      <p:sp>
        <p:nvSpPr>
          <p:cNvPr id="4" name="slide_subtitle"/>
          <p:cNvSpPr txBox="1"/>
          <p:nvPr/>
        </p:nvSpPr>
        <p:spPr>
          <a:xfrm>
            <a:off x="411480" y="786384"/>
            <a:ext cx="964692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ورودی‌ها، ویژگی‌ها و اهداف مدل، به زبان ساده</a:t>
            </a:r>
          </a:p>
        </p:txBody>
      </p:sp>
      <p:sp>
        <p:nvSpPr>
          <p:cNvPr id="5" name="p1_top_ورودی:"/>
          <p:cNvSpPr/>
          <p:nvPr/>
        </p:nvSpPr>
        <p:spPr>
          <a:xfrm>
            <a:off x="7783829" y="1371600"/>
            <a:ext cx="2274570" cy="1554480"/>
          </a:xfrm>
          <a:prstGeom prst="roundRect">
            <a:avLst>
              <a:gd name="adj" fmla="val 5000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ورودی: لاگ رویداد (XES)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پرونده‌ها، فعالیت‌ها، زمان‌ها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شناسهٔ هر پرونده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ترتیب رخدادها</a:t>
            </a:r>
          </a:p>
        </p:txBody>
      </p:sp>
      <p:sp>
        <p:nvSpPr>
          <p:cNvPr id="6" name="p1_top_ساخت پ"/>
          <p:cNvSpPr/>
          <p:nvPr/>
        </p:nvSpPr>
        <p:spPr>
          <a:xfrm>
            <a:off x="5189220" y="1371600"/>
            <a:ext cx="2274570" cy="1554480"/>
          </a:xfrm>
          <a:prstGeom prst="roundRect">
            <a:avLst>
              <a:gd name="adj" fmla="val 5000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ساخت پیشوند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بریدن هر پرونده به پیشوند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کمترین طول پیشوند: ۲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پیشوند = نقطهٔ پیش‌بینی</a:t>
            </a:r>
          </a:p>
        </p:txBody>
      </p:sp>
      <p:sp>
        <p:nvSpPr>
          <p:cNvPr id="7" name="p1_top_آمار ز"/>
          <p:cNvSpPr/>
          <p:nvPr/>
        </p:nvSpPr>
        <p:spPr>
          <a:xfrm>
            <a:off x="2594610" y="1371600"/>
            <a:ext cx="2274570" cy="1554480"/>
          </a:xfrm>
          <a:prstGeom prst="roundRect">
            <a:avLst>
              <a:gd name="adj" fmla="val 5000"/>
            </a:avLst>
          </a:prstGeom>
          <a:solidFill>
            <a:srgbClr val="E6F4EC"/>
          </a:solidFill>
          <a:ln w="13970">
            <a:solidFill>
              <a:srgbClr val="4E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آمار زمانی و موردی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زمان انتظار و مدت کل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زمان باقی‌مانده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نشانهٔ گلوگاه</a:t>
            </a:r>
          </a:p>
        </p:txBody>
      </p:sp>
      <p:sp>
        <p:nvSpPr>
          <p:cNvPr id="8" name="p1_top_اهداف "/>
          <p:cNvSpPr/>
          <p:nvPr/>
        </p:nvSpPr>
        <p:spPr>
          <a:xfrm>
            <a:off x="411480" y="1371600"/>
            <a:ext cx="2274570" cy="1554480"/>
          </a:xfrm>
          <a:prstGeom prst="roundRect">
            <a:avLst>
              <a:gd name="adj" fmla="val 5000"/>
            </a:avLst>
          </a:prstGeom>
          <a:solidFill>
            <a:srgbClr val="FDEEDF"/>
          </a:solidFill>
          <a:ln w="13970">
            <a:solidFill>
              <a:srgbClr val="D9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اهداف پیش‌بینی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فعالیت بعدی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زمان باقی‌مانده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کاهش تأخیر و تشخیص گلوگاه</a:t>
            </a:r>
          </a:p>
        </p:txBody>
      </p:sp>
      <p:cxnSp>
        <p:nvCxnSpPr>
          <p:cNvPr id="9" name="p1_chain"/>
          <p:cNvCxnSpPr/>
          <p:nvPr/>
        </p:nvCxnSpPr>
        <p:spPr>
          <a:xfrm flipH="1">
            <a:off x="7463790" y="2148840"/>
            <a:ext cx="320039" cy="0"/>
          </a:xfrm>
          <a:prstGeom prst="line">
            <a:avLst/>
          </a:prstGeom>
          <a:ln w="2032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1_chain"/>
          <p:cNvCxnSpPr/>
          <p:nvPr/>
        </p:nvCxnSpPr>
        <p:spPr>
          <a:xfrm flipH="1">
            <a:off x="4869180" y="2148840"/>
            <a:ext cx="320040" cy="0"/>
          </a:xfrm>
          <a:prstGeom prst="line">
            <a:avLst/>
          </a:prstGeom>
          <a:ln w="2032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p1_chain"/>
          <p:cNvCxnSpPr/>
          <p:nvPr/>
        </p:nvCxnSpPr>
        <p:spPr>
          <a:xfrm>
            <a:off x="2594610" y="2148840"/>
            <a:ext cx="91440" cy="0"/>
          </a:xfrm>
          <a:prstGeom prst="line">
            <a:avLst/>
          </a:prstGeom>
          <a:ln w="2032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1_bottom_ویژگی‌"/>
          <p:cNvSpPr/>
          <p:nvPr/>
        </p:nvSpPr>
        <p:spPr>
          <a:xfrm>
            <a:off x="5189220" y="3520440"/>
            <a:ext cx="2274570" cy="1554480"/>
          </a:xfrm>
          <a:prstGeom prst="roundRect">
            <a:avLst>
              <a:gd name="adj" fmla="val 5000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ویژگی‌های ترتیبی و زمانی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شناسهٔ فعالیت و فعالیت قبلی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موقعیت، فاصلهٔ زمانی، زمان تجمعی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نقش و فراوانی فعالیت</a:t>
            </a:r>
          </a:p>
        </p:txBody>
      </p:sp>
      <p:sp>
        <p:nvSpPr>
          <p:cNvPr id="13" name="p1_bottom_گراف پ"/>
          <p:cNvSpPr/>
          <p:nvPr/>
        </p:nvSpPr>
        <p:spPr>
          <a:xfrm>
            <a:off x="2594610" y="3520440"/>
            <a:ext cx="2274570" cy="1554480"/>
          </a:xfrm>
          <a:prstGeom prst="roundRect">
            <a:avLst>
              <a:gd name="adj" fmla="val 5000"/>
            </a:avLst>
          </a:prstGeom>
          <a:solidFill>
            <a:srgbClr val="EFECF9"/>
          </a:solidFill>
          <a:ln w="13970">
            <a:solidFill>
              <a:srgbClr val="7C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گراف پیشوند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گره‌ها: فعالیت + ویژگی زمان و موقعیت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یال‌ها: ترتیب و تکرار فعالیت‌ها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روابط زمانی میان گره‌ها</a:t>
            </a:r>
          </a:p>
        </p:txBody>
      </p:sp>
      <p:sp>
        <p:nvSpPr>
          <p:cNvPr id="14" name="p1_bottom_تنظیما"/>
          <p:cNvSpPr/>
          <p:nvPr/>
        </p:nvSpPr>
        <p:spPr>
          <a:xfrm>
            <a:off x="411480" y="3520440"/>
            <a:ext cx="2274570" cy="1554480"/>
          </a:xfrm>
          <a:prstGeom prst="roundRect">
            <a:avLst>
              <a:gd name="adj" fmla="val 5000"/>
            </a:avLst>
          </a:prstGeom>
          <a:solidFill>
            <a:srgbClr val="E6F4EC"/>
          </a:solidFill>
          <a:ln w="13970">
            <a:solidFill>
              <a:srgbClr val="4E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تنظیمات یادگیری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یادگیری چندوظیفه‌ای با نظارت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تقسیم آموزش / اعتبارسنجی / آزمون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بر اساس پرونده، بدون نشت داده</a:t>
            </a:r>
          </a:p>
        </p:txBody>
      </p:sp>
      <p:cxnSp>
        <p:nvCxnSpPr>
          <p:cNvPr id="15" name="p1_branch"/>
          <p:cNvCxnSpPr/>
          <p:nvPr/>
        </p:nvCxnSpPr>
        <p:spPr>
          <a:xfrm>
            <a:off x="6326505" y="2926080"/>
            <a:ext cx="0" cy="594360"/>
          </a:xfrm>
          <a:prstGeom prst="line">
            <a:avLst/>
          </a:prstGeom>
          <a:ln w="2032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p1_branch"/>
          <p:cNvCxnSpPr/>
          <p:nvPr/>
        </p:nvCxnSpPr>
        <p:spPr>
          <a:xfrm>
            <a:off x="3731895" y="2926080"/>
            <a:ext cx="0" cy="594360"/>
          </a:xfrm>
          <a:prstGeom prst="line">
            <a:avLst/>
          </a:prstGeom>
          <a:ln w="2032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p1_branch"/>
          <p:cNvCxnSpPr/>
          <p:nvPr/>
        </p:nvCxnSpPr>
        <p:spPr>
          <a:xfrm>
            <a:off x="1548764" y="2926080"/>
            <a:ext cx="0" cy="594360"/>
          </a:xfrm>
          <a:prstGeom prst="line">
            <a:avLst/>
          </a:prstGeom>
          <a:ln w="2032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1_note"/>
          <p:cNvSpPr/>
          <p:nvPr/>
        </p:nvSpPr>
        <p:spPr>
          <a:xfrm>
            <a:off x="7783829" y="3520440"/>
            <a:ext cx="2274570" cy="15544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3970">
            <a:solidFill>
              <a:srgbClr val="B0B8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نکته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هر پرونده به پیشوندهای کوتاه‌تر بریده می‌شود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تا مدل پیش‌بینی زودهنگام را یاد بگیرد</a:t>
            </a:r>
          </a:p>
        </p:txBody>
      </p:sp>
      <p:sp>
        <p:nvSpPr>
          <p:cNvPr id="19" name="p1_summary"/>
          <p:cNvSpPr/>
          <p:nvPr/>
        </p:nvSpPr>
        <p:spPr>
          <a:xfrm>
            <a:off x="411480" y="5486400"/>
            <a:ext cx="9646920" cy="658368"/>
          </a:xfrm>
          <a:prstGeom prst="roundRect">
            <a:avLst>
              <a:gd name="adj" fmla="val 1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خروجی فاز ۱: دادهٔ آماده برای آموزش + تعریف روشن چهار وظیفهٔ پیش‌بینی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hase_badge"/>
          <p:cNvSpPr/>
          <p:nvPr/>
        </p:nvSpPr>
        <p:spPr>
          <a:xfrm>
            <a:off x="10241280" y="228600"/>
            <a:ext cx="1536192" cy="9144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فاز ۲</a:t>
            </a:r>
          </a:p>
          <a:p>
            <a:pPr rt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D8E0EE"/>
                </a:solidFill>
                <a:latin typeface="Tahoma"/>
                <a:ea typeface="Tahoma"/>
                <a:cs typeface="Tahoma"/>
              </a:rPr>
              <a:t>طراحی معماری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411480" y="219456"/>
            <a:ext cx="964692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معماری: سه جریان موازی و ادغام آن‌ها</a:t>
            </a:r>
          </a:p>
        </p:txBody>
      </p:sp>
      <p:sp>
        <p:nvSpPr>
          <p:cNvPr id="4" name="slide_subtitle"/>
          <p:cNvSpPr txBox="1"/>
          <p:nvPr/>
        </p:nvSpPr>
        <p:spPr>
          <a:xfrm>
            <a:off x="411480" y="786384"/>
            <a:ext cx="964692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هر جریان یک دیدگاه متفاوت از پیشوند را می‌بیند</a:t>
            </a:r>
          </a:p>
        </p:txBody>
      </p:sp>
      <p:sp>
        <p:nvSpPr>
          <p:cNvPr id="5" name="p2_shared"/>
          <p:cNvSpPr/>
          <p:nvPr/>
        </p:nvSpPr>
        <p:spPr>
          <a:xfrm>
            <a:off x="2468880" y="1371600"/>
            <a:ext cx="5120640" cy="914400"/>
          </a:xfrm>
          <a:prstGeom prst="roundRect">
            <a:avLst>
              <a:gd name="adj" fmla="val 8500"/>
            </a:avLst>
          </a:prstGeom>
          <a:solidFill>
            <a:srgbClr val="E7ECF5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بازنمایی ورودی مشترک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فعالیت + فعالیت قبلی + موقعیت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کدگذاری زمان، نقش و فراوانی فعالیت</a:t>
            </a:r>
          </a:p>
        </p:txBody>
      </p:sp>
      <p:sp>
        <p:nvSpPr>
          <p:cNvPr id="6" name="p2_stream_جریان ۱ — "/>
          <p:cNvSpPr/>
          <p:nvPr/>
        </p:nvSpPr>
        <p:spPr>
          <a:xfrm>
            <a:off x="6918960" y="2743200"/>
            <a:ext cx="3139440" cy="1554480"/>
          </a:xfrm>
          <a:prstGeom prst="roundRect">
            <a:avLst>
              <a:gd name="adj" fmla="val 5000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جریان ۱ — Transformer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کدگذار علّی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یادگیری وابستگی‌های دوربرد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ترتیب فعالیت‌ها</a:t>
            </a:r>
          </a:p>
        </p:txBody>
      </p:sp>
      <p:sp>
        <p:nvSpPr>
          <p:cNvPr id="7" name="p2_stream_جریان ۲ — "/>
          <p:cNvSpPr/>
          <p:nvPr/>
        </p:nvSpPr>
        <p:spPr>
          <a:xfrm>
            <a:off x="3459479" y="2743200"/>
            <a:ext cx="3139440" cy="1554480"/>
          </a:xfrm>
          <a:prstGeom prst="roundRect">
            <a:avLst>
              <a:gd name="adj" fmla="val 5000"/>
            </a:avLst>
          </a:prstGeom>
          <a:solidFill>
            <a:srgbClr val="E6F4EC"/>
          </a:solidFill>
          <a:ln w="13970">
            <a:solidFill>
              <a:srgbClr val="4E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جریان ۲ — TCN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شبکهٔ پیچشی زمانی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الگوهای محلی در چند مقیاس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کرنل ۳ با گشودگی ۱، ۲، ۴</a:t>
            </a:r>
          </a:p>
        </p:txBody>
      </p:sp>
      <p:sp>
        <p:nvSpPr>
          <p:cNvPr id="8" name="p2_stream_جریان ۳ — "/>
          <p:cNvSpPr/>
          <p:nvPr/>
        </p:nvSpPr>
        <p:spPr>
          <a:xfrm>
            <a:off x="411480" y="2743200"/>
            <a:ext cx="3139440" cy="1554480"/>
          </a:xfrm>
          <a:prstGeom prst="roundRect">
            <a:avLst>
              <a:gd name="adj" fmla="val 5000"/>
            </a:avLst>
          </a:prstGeom>
          <a:solidFill>
            <a:srgbClr val="EFECF9"/>
          </a:solidFill>
          <a:ln w="13970">
            <a:solidFill>
              <a:srgbClr val="7C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جریان ۳ — GNN گراف پیشوند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شبکهٔ عصبی گراف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روابط بین فعالیت‌های پیشوند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ورودی: گره‌ها و یال‌های گراف</a:t>
            </a:r>
          </a:p>
        </p:txBody>
      </p:sp>
      <p:cxnSp>
        <p:nvCxnSpPr>
          <p:cNvPr id="9" name="p2_fan"/>
          <p:cNvCxnSpPr/>
          <p:nvPr/>
        </p:nvCxnSpPr>
        <p:spPr>
          <a:xfrm>
            <a:off x="5349240" y="2286000"/>
            <a:ext cx="3139440" cy="45720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2_fan"/>
          <p:cNvCxnSpPr/>
          <p:nvPr/>
        </p:nvCxnSpPr>
        <p:spPr>
          <a:xfrm>
            <a:off x="5029200" y="2286000"/>
            <a:ext cx="0" cy="45720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p2_fan"/>
          <p:cNvCxnSpPr/>
          <p:nvPr/>
        </p:nvCxnSpPr>
        <p:spPr>
          <a:xfrm flipH="1">
            <a:off x="1981200" y="2286000"/>
            <a:ext cx="2727960" cy="45720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2_cross"/>
          <p:cNvSpPr/>
          <p:nvPr/>
        </p:nvSpPr>
        <p:spPr>
          <a:xfrm>
            <a:off x="3459479" y="4663440"/>
            <a:ext cx="6598920" cy="1234440"/>
          </a:xfrm>
          <a:prstGeom prst="roundRect">
            <a:avLst>
              <a:gd name="adj" fmla="val 6296"/>
            </a:avLst>
          </a:prstGeom>
          <a:solidFill>
            <a:srgbClr val="FDEEDF"/>
          </a:solidFill>
          <a:ln w="13970">
            <a:solidFill>
              <a:srgbClr val="D9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ادغام توجه متقابل (Transformer و TCN)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هر جریان با توجه به خروجی جریان دیگر بازبینی می‌شود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توجه چندسری + اتصال باقیمانده</a:t>
            </a:r>
          </a:p>
        </p:txBody>
      </p:sp>
      <p:sp>
        <p:nvSpPr>
          <p:cNvPr id="13" name="p2_tri"/>
          <p:cNvSpPr/>
          <p:nvPr/>
        </p:nvSpPr>
        <p:spPr>
          <a:xfrm>
            <a:off x="411480" y="4663440"/>
            <a:ext cx="3139440" cy="1234440"/>
          </a:xfrm>
          <a:prstGeom prst="roundRect">
            <a:avLst>
              <a:gd name="adj" fmla="val 6296"/>
            </a:avLst>
          </a:prstGeom>
          <a:solidFill>
            <a:srgbClr val="FDEEDF"/>
          </a:solidFill>
          <a:ln w="13970">
            <a:solidFill>
              <a:srgbClr val="D9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ادغام سه‌جریانه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ترتیب + گراف + تعامل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5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ساخت بازنمایی نهایی</a:t>
            </a:r>
          </a:p>
        </p:txBody>
      </p:sp>
      <p:cxnSp>
        <p:nvCxnSpPr>
          <p:cNvPr id="14" name="p2_to_cross"/>
          <p:cNvCxnSpPr/>
          <p:nvPr/>
        </p:nvCxnSpPr>
        <p:spPr>
          <a:xfrm>
            <a:off x="8488680" y="4297680"/>
            <a:ext cx="0" cy="365760"/>
          </a:xfrm>
          <a:prstGeom prst="line">
            <a:avLst/>
          </a:prstGeom>
          <a:ln w="2032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p2_to_cross"/>
          <p:cNvCxnSpPr/>
          <p:nvPr/>
        </p:nvCxnSpPr>
        <p:spPr>
          <a:xfrm>
            <a:off x="5029200" y="4297680"/>
            <a:ext cx="0" cy="365760"/>
          </a:xfrm>
          <a:prstGeom prst="line">
            <a:avLst/>
          </a:prstGeom>
          <a:ln w="2032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p2_to_tri"/>
          <p:cNvCxnSpPr/>
          <p:nvPr/>
        </p:nvCxnSpPr>
        <p:spPr>
          <a:xfrm>
            <a:off x="1981200" y="4297680"/>
            <a:ext cx="0" cy="365760"/>
          </a:xfrm>
          <a:prstGeom prst="line">
            <a:avLst/>
          </a:prstGeom>
          <a:ln w="2032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p2_head"/>
          <p:cNvCxnSpPr/>
          <p:nvPr/>
        </p:nvCxnSpPr>
        <p:spPr>
          <a:xfrm>
            <a:off x="3459479" y="5280659"/>
            <a:ext cx="91441" cy="0"/>
          </a:xfrm>
          <a:prstGeom prst="line">
            <a:avLst/>
          </a:prstGeom>
          <a:ln w="25400">
            <a:solidFill>
              <a:srgbClr val="1F386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"/>
          <p:cNvSpPr txBox="1"/>
          <p:nvPr/>
        </p:nvSpPr>
        <p:spPr>
          <a:xfrm>
            <a:off x="411480" y="6053328"/>
            <a:ext cx="96469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سه جریان هم‌زمان و مستقل محاسبه می‌شوند؛ ادغام اول بین دو جریان و ادغام نهایی با جریان گراف انجام می‌شود.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hase_badge"/>
          <p:cNvSpPr/>
          <p:nvPr/>
        </p:nvSpPr>
        <p:spPr>
          <a:xfrm>
            <a:off x="10241280" y="228600"/>
            <a:ext cx="1536192" cy="9144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فاز ۳</a:t>
            </a:r>
          </a:p>
          <a:p>
            <a:pPr rt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 i="0">
                <a:solidFill>
                  <a:srgbClr val="D8E0EE"/>
                </a:solidFill>
                <a:latin typeface="Tahoma"/>
                <a:ea typeface="Tahoma"/>
                <a:cs typeface="Tahoma"/>
              </a:rPr>
              <a:t>طراحی جزئی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411480" y="219456"/>
            <a:ext cx="964692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طراحی جزئی: لایه‌ها، ابعاد و سرهای خروجی</a:t>
            </a:r>
          </a:p>
        </p:txBody>
      </p:sp>
      <p:sp>
        <p:nvSpPr>
          <p:cNvPr id="4" name="slide_subtitle"/>
          <p:cNvSpPr txBox="1"/>
          <p:nvPr/>
        </p:nvSpPr>
        <p:spPr>
          <a:xfrm>
            <a:off x="411480" y="786384"/>
            <a:ext cx="964692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ابعاد پایه: d_model = ۲۵۶</a:t>
            </a:r>
          </a:p>
        </p:txBody>
      </p:sp>
      <p:sp>
        <p:nvSpPr>
          <p:cNvPr id="5" name="p3_enc_کدگذاری "/>
          <p:cNvSpPr/>
          <p:nvPr/>
        </p:nvSpPr>
        <p:spPr>
          <a:xfrm>
            <a:off x="6918960" y="1325880"/>
            <a:ext cx="3139440" cy="77724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کدگذاری ورودی (d_model = ۲۵۶)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تعبیهٔ فعالیت و فعالیت قبلی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تعبیهٔ موقعیت و موقعیت نسبی</a:t>
            </a:r>
          </a:p>
        </p:txBody>
      </p:sp>
      <p:sp>
        <p:nvSpPr>
          <p:cNvPr id="6" name="p3_enc_کدگذاری "/>
          <p:cNvSpPr/>
          <p:nvPr/>
        </p:nvSpPr>
        <p:spPr>
          <a:xfrm>
            <a:off x="3459479" y="1325880"/>
            <a:ext cx="3139440" cy="77724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کدگذاری زمانی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لگاریتم فاصلهٔ زمانی و زمان تجمعی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کدگذار نقش و فراوانی فعالیت</a:t>
            </a:r>
          </a:p>
        </p:txBody>
      </p:sp>
      <p:sp>
        <p:nvSpPr>
          <p:cNvPr id="7" name="p3_enc_نرمال‌سا"/>
          <p:cNvSpPr/>
          <p:nvPr/>
        </p:nvSpPr>
        <p:spPr>
          <a:xfrm>
            <a:off x="411480" y="1325880"/>
            <a:ext cx="3139440" cy="77724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397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نرمال‌سازی و تنظیم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LayerNorm • Dropout ۰٫۰۵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ماسک پدینگ و ماسک علّی</a:t>
            </a:r>
          </a:p>
        </p:txBody>
      </p:sp>
      <p:sp>
        <p:nvSpPr>
          <p:cNvPr id="8" name="p3_enc2_کدگذار T"/>
          <p:cNvSpPr/>
          <p:nvPr/>
        </p:nvSpPr>
        <p:spPr>
          <a:xfrm>
            <a:off x="6918960" y="2377440"/>
            <a:ext cx="3139440" cy="960120"/>
          </a:xfrm>
          <a:prstGeom prst="roundRect">
            <a:avLst>
              <a:gd name="adj" fmla="val 8095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کدگذار Transformer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۶ لایه • ۸ سر توجه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بُعد پیش‌خور ۱۰۲۴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باقیمانده + LayerNorm</a:t>
            </a:r>
          </a:p>
        </p:txBody>
      </p:sp>
      <p:sp>
        <p:nvSpPr>
          <p:cNvPr id="9" name="p3_enc2_بلوک TCN"/>
          <p:cNvSpPr/>
          <p:nvPr/>
        </p:nvSpPr>
        <p:spPr>
          <a:xfrm>
            <a:off x="3459479" y="2377440"/>
            <a:ext cx="3139440" cy="960120"/>
          </a:xfrm>
          <a:prstGeom prst="roundRect">
            <a:avLst>
              <a:gd name="adj" fmla="val 8095"/>
            </a:avLst>
          </a:prstGeom>
          <a:solidFill>
            <a:srgbClr val="E6F4EC"/>
          </a:solidFill>
          <a:ln w="13970">
            <a:solidFill>
              <a:srgbClr val="4E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بلوک TCN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۱۰ پیچش • کرنل ۳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گشودگی ۱، ۲، ۴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باقیمانده + LayerNorm + GELU</a:t>
            </a:r>
          </a:p>
        </p:txBody>
      </p:sp>
      <p:sp>
        <p:nvSpPr>
          <p:cNvPr id="10" name="p3_enc2_گراف پیش"/>
          <p:cNvSpPr/>
          <p:nvPr/>
        </p:nvSpPr>
        <p:spPr>
          <a:xfrm>
            <a:off x="411480" y="2377440"/>
            <a:ext cx="3139440" cy="960120"/>
          </a:xfrm>
          <a:prstGeom prst="roundRect">
            <a:avLst>
              <a:gd name="adj" fmla="val 8095"/>
            </a:avLst>
          </a:prstGeom>
          <a:solidFill>
            <a:srgbClr val="EFECF9"/>
          </a:solidFill>
          <a:ln w="13970">
            <a:solidFill>
              <a:srgbClr val="7C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گراف پیشوند (GNN)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تعبیهٔ فعالیت + ویژگی گره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۲ لایهٔ GCN + LayerNorm + GELU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تجمیع میانگین ماسک‌شده</a:t>
            </a:r>
          </a:p>
        </p:txBody>
      </p:sp>
      <p:cxnSp>
        <p:nvCxnSpPr>
          <p:cNvPr id="11" name="p3_to_enc"/>
          <p:cNvCxnSpPr/>
          <p:nvPr/>
        </p:nvCxnSpPr>
        <p:spPr>
          <a:xfrm>
            <a:off x="8488680" y="2103120"/>
            <a:ext cx="0" cy="27432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p3_to_enc"/>
          <p:cNvCxnSpPr/>
          <p:nvPr/>
        </p:nvCxnSpPr>
        <p:spPr>
          <a:xfrm>
            <a:off x="5029200" y="2103120"/>
            <a:ext cx="0" cy="27432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p3_to_enc"/>
          <p:cNvCxnSpPr/>
          <p:nvPr/>
        </p:nvCxnSpPr>
        <p:spPr>
          <a:xfrm>
            <a:off x="1981200" y="2103120"/>
            <a:ext cx="0" cy="27432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3_cross"/>
          <p:cNvSpPr/>
          <p:nvPr/>
        </p:nvSpPr>
        <p:spPr>
          <a:xfrm>
            <a:off x="3459479" y="3611880"/>
            <a:ext cx="6598920" cy="822960"/>
          </a:xfrm>
          <a:prstGeom prst="roundRect">
            <a:avLst>
              <a:gd name="adj" fmla="val 9444"/>
            </a:avLst>
          </a:prstGeom>
          <a:solidFill>
            <a:srgbClr val="FDEEDF"/>
          </a:solidFill>
          <a:ln w="13970">
            <a:solidFill>
              <a:srgbClr val="D9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ادغام توجه متقابل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توجه چندسری + اتصال باقیمانده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FFN + LayerNorm</a:t>
            </a:r>
          </a:p>
        </p:txBody>
      </p:sp>
      <p:sp>
        <p:nvSpPr>
          <p:cNvPr id="15" name="p3_pool"/>
          <p:cNvSpPr/>
          <p:nvPr/>
        </p:nvSpPr>
        <p:spPr>
          <a:xfrm>
            <a:off x="411480" y="3611880"/>
            <a:ext cx="3139440" cy="822960"/>
          </a:xfrm>
          <a:prstGeom prst="roundRect">
            <a:avLst>
              <a:gd name="adj" fmla="val 9444"/>
            </a:avLst>
          </a:prstGeom>
          <a:solidFill>
            <a:srgbClr val="F4F6F9"/>
          </a:solidFill>
          <a:ln w="13970">
            <a:solidFill>
              <a:srgbClr val="B0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ادغام ترتیبی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آخرین موقعیت معتبر پیشوند (پیش‌فرض)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خروجی یک بردار برای هر پیشوند</a:t>
            </a:r>
          </a:p>
        </p:txBody>
      </p:sp>
      <p:cxnSp>
        <p:nvCxnSpPr>
          <p:cNvPr id="16" name="p3_to_fuse"/>
          <p:cNvCxnSpPr/>
          <p:nvPr/>
        </p:nvCxnSpPr>
        <p:spPr>
          <a:xfrm>
            <a:off x="8488680" y="3337560"/>
            <a:ext cx="0" cy="27432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p3_to_fuse"/>
          <p:cNvCxnSpPr/>
          <p:nvPr/>
        </p:nvCxnSpPr>
        <p:spPr>
          <a:xfrm>
            <a:off x="5029200" y="3337560"/>
            <a:ext cx="0" cy="27432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p3_to_fuse"/>
          <p:cNvCxnSpPr/>
          <p:nvPr/>
        </p:nvCxnSpPr>
        <p:spPr>
          <a:xfrm>
            <a:off x="1981200" y="3337560"/>
            <a:ext cx="0" cy="27432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3_mlp"/>
          <p:cNvSpPr/>
          <p:nvPr/>
        </p:nvSpPr>
        <p:spPr>
          <a:xfrm>
            <a:off x="411480" y="4709160"/>
            <a:ext cx="9646920" cy="685800"/>
          </a:xfrm>
          <a:prstGeom prst="roundRect">
            <a:avLst>
              <a:gd name="adj" fmla="val 11333"/>
            </a:avLst>
          </a:prstGeom>
          <a:solidFill>
            <a:srgbClr val="FDEEDF"/>
          </a:solidFill>
          <a:ln w="13970">
            <a:solidFill>
              <a:srgbClr val="D98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ادغام نهایی — MLP سه‌جریانه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الحاق [بازنمایی ترتیبی، گراف، تعامل] • ابعاد ۷۶۸ به ۵۱۲ به ۲۵۶  •  بازنمایی مشترک: LayerNorm + Linear + GELU</a:t>
            </a:r>
          </a:p>
        </p:txBody>
      </p:sp>
      <p:cxnSp>
        <p:nvCxnSpPr>
          <p:cNvPr id="20" name="p3_to_mlp_r"/>
          <p:cNvCxnSpPr/>
          <p:nvPr/>
        </p:nvCxnSpPr>
        <p:spPr>
          <a:xfrm>
            <a:off x="9494520" y="4434840"/>
            <a:ext cx="0" cy="27432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p3_to_mlp_l"/>
          <p:cNvCxnSpPr/>
          <p:nvPr/>
        </p:nvCxnSpPr>
        <p:spPr>
          <a:xfrm>
            <a:off x="1981200" y="4434840"/>
            <a:ext cx="0" cy="27432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3_head_سر فعالی"/>
          <p:cNvSpPr/>
          <p:nvPr/>
        </p:nvSpPr>
        <p:spPr>
          <a:xfrm>
            <a:off x="7852410" y="5669280"/>
            <a:ext cx="2205990" cy="77724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13970">
            <a:solidFill>
              <a:srgbClr val="5B8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سر فعالیت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فعالیت بعدی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خروجی دسته‌بندی</a:t>
            </a:r>
          </a:p>
        </p:txBody>
      </p:sp>
      <p:sp>
        <p:nvSpPr>
          <p:cNvPr id="23" name="p3_head_سر زمان "/>
          <p:cNvSpPr/>
          <p:nvPr/>
        </p:nvSpPr>
        <p:spPr>
          <a:xfrm>
            <a:off x="5417820" y="5669280"/>
            <a:ext cx="2205990" cy="77724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13970">
            <a:solidFill>
              <a:srgbClr val="4E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سر زمان باقی‌مانده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زمان باقی‌مانده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رگرسیون</a:t>
            </a:r>
          </a:p>
        </p:txBody>
      </p:sp>
      <p:sp>
        <p:nvSpPr>
          <p:cNvPr id="24" name="p3_head_سر بهبود"/>
          <p:cNvSpPr/>
          <p:nvPr/>
        </p:nvSpPr>
        <p:spPr>
          <a:xfrm>
            <a:off x="2983229" y="5669280"/>
            <a:ext cx="2205990" cy="777240"/>
          </a:xfrm>
          <a:prstGeom prst="roundRect">
            <a:avLst>
              <a:gd name="adj" fmla="val 10000"/>
            </a:avLst>
          </a:prstGeom>
          <a:solidFill>
            <a:srgbClr val="E6F4EC"/>
          </a:solidFill>
          <a:ln w="13970">
            <a:solidFill>
              <a:srgbClr val="4E9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سر بهبود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کاهش تأخیر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رگرسیون + Tanh</a:t>
            </a:r>
          </a:p>
        </p:txBody>
      </p:sp>
      <p:sp>
        <p:nvSpPr>
          <p:cNvPr id="25" name="p3_head_سر گلوگا"/>
          <p:cNvSpPr/>
          <p:nvPr/>
        </p:nvSpPr>
        <p:spPr>
          <a:xfrm>
            <a:off x="548639" y="5669280"/>
            <a:ext cx="2205990" cy="777240"/>
          </a:xfrm>
          <a:prstGeom prst="roundRect">
            <a:avLst>
              <a:gd name="adj" fmla="val 10000"/>
            </a:avLst>
          </a:prstGeom>
          <a:solidFill>
            <a:srgbClr val="EFECF9"/>
          </a:solidFill>
          <a:ln w="13970">
            <a:solidFill>
              <a:srgbClr val="7C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>
            <a:no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2A37"/>
                </a:solidFill>
                <a:latin typeface="Tahoma"/>
                <a:ea typeface="Tahoma"/>
                <a:cs typeface="Tahoma"/>
              </a:rPr>
              <a:t>سر گلوگاه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گلوگاه هر موقعیت</a:t>
            </a:r>
          </a:p>
          <a:p>
            <a:pPr rtl="1" algn="ctr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</a:pPr>
            <a:r>
              <a:rPr sz="800" b="0" i="0">
                <a:solidFill>
                  <a:srgbClr val="4B5563"/>
                </a:solidFill>
                <a:latin typeface="Tahoma"/>
                <a:ea typeface="Tahoma"/>
                <a:cs typeface="Tahoma"/>
              </a:rPr>
              <a:t>خروجی دسته‌بندی</a:t>
            </a:r>
          </a:p>
        </p:txBody>
      </p:sp>
      <p:cxnSp>
        <p:nvCxnSpPr>
          <p:cNvPr id="26" name="p3_to_head"/>
          <p:cNvCxnSpPr/>
          <p:nvPr/>
        </p:nvCxnSpPr>
        <p:spPr>
          <a:xfrm>
            <a:off x="8955405" y="5394960"/>
            <a:ext cx="0" cy="27432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p3_to_head"/>
          <p:cNvCxnSpPr/>
          <p:nvPr/>
        </p:nvCxnSpPr>
        <p:spPr>
          <a:xfrm>
            <a:off x="6520815" y="5394960"/>
            <a:ext cx="0" cy="27432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p3_to_head"/>
          <p:cNvCxnSpPr/>
          <p:nvPr/>
        </p:nvCxnSpPr>
        <p:spPr>
          <a:xfrm>
            <a:off x="4086224" y="5394960"/>
            <a:ext cx="0" cy="27432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p3_to_head"/>
          <p:cNvCxnSpPr/>
          <p:nvPr/>
        </p:nvCxnSpPr>
        <p:spPr>
          <a:xfrm>
            <a:off x="1651634" y="5394960"/>
            <a:ext cx="0" cy="274320"/>
          </a:xfrm>
          <a:prstGeom prst="line">
            <a:avLst/>
          </a:prstGeom>
          <a:ln w="17780">
            <a:solidFill>
              <a:srgbClr val="2E4A7A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"/>
          <p:cNvSpPr txBox="1"/>
          <p:nvPr/>
        </p:nvSpPr>
        <p:spPr>
          <a:xfrm>
            <a:off x="411480" y="6510528"/>
            <a:ext cx="964692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no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280"/>
                </a:solidFill>
                <a:latin typeface="Tahoma"/>
                <a:ea typeface="Tahoma"/>
                <a:cs typeface="Tahoma"/>
              </a:rPr>
              <a:t>آموزش: زیان وزنی چندوظیفه‌ای (Cross-Entropy + Huber + Huber + BCE) • بهینه‌ساز AdamW • Warmup + Cosine • برش گرادیان • SWA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