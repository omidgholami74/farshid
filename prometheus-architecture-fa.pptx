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_rule"/>
          <p:cNvSpPr/>
          <p:nvPr/>
        </p:nvSpPr>
        <p:spPr>
          <a:xfrm>
            <a:off x="411480" y="1051560"/>
            <a:ext cx="9646920" cy="5486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eyebrow"/>
          <p:cNvSpPr txBox="1"/>
          <p:nvPr/>
        </p:nvSpPr>
        <p:spPr>
          <a:xfrm>
            <a:off x="411480" y="1325880"/>
            <a:ext cx="964692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no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5B8DB8"/>
                </a:solidFill>
                <a:latin typeface="Tahoma"/>
                <a:ea typeface="Tahoma"/>
                <a:cs typeface="Tahoma"/>
              </a:rPr>
              <a:t>معماری سیستم — سه فاز</a:t>
            </a:r>
          </a:p>
        </p:txBody>
      </p:sp>
      <p:sp>
        <p:nvSpPr>
          <p:cNvPr id="4" name="main_title"/>
          <p:cNvSpPr txBox="1"/>
          <p:nvPr/>
        </p:nvSpPr>
        <p:spPr>
          <a:xfrm>
            <a:off x="411480" y="1828800"/>
            <a:ext cx="9646920" cy="1371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no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F3864"/>
                </a:solidFill>
                <a:latin typeface="Tahoma"/>
                <a:ea typeface="Tahoma"/>
                <a:cs typeface="Tahoma"/>
              </a:rPr>
              <a:t>پرامتئوس: پیش‌بینی فرآیند با درک تأخیر و سه جریان موازی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411480" y="3154680"/>
            <a:ext cx="9646920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no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B5563"/>
                </a:solidFill>
                <a:latin typeface="Tahoma"/>
                <a:ea typeface="Tahoma"/>
                <a:cs typeface="Tahoma"/>
              </a:rPr>
              <a:t>ساختار کامل مدل در سه فاز — نسخهٔ پاورپوینت، همهٔ متن‌ها و شکل‌ها قابل ویرایش</a:t>
            </a:r>
          </a:p>
        </p:txBody>
      </p:sp>
      <p:sp>
        <p:nvSpPr>
          <p:cNvPr id="6" name="chip_فاز ۱"/>
          <p:cNvSpPr/>
          <p:nvPr/>
        </p:nvSpPr>
        <p:spPr>
          <a:xfrm>
            <a:off x="7056120" y="4160520"/>
            <a:ext cx="3002280" cy="960120"/>
          </a:xfrm>
          <a:prstGeom prst="roundRect">
            <a:avLst>
              <a:gd name="adj" fmla="val 8095"/>
            </a:avLst>
          </a:prstGeom>
          <a:solidFill>
            <a:srgbClr val="E7ECF5"/>
          </a:solidFill>
          <a:ln w="1778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>
            <a:no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864"/>
                </a:solidFill>
                <a:latin typeface="Tahoma"/>
                <a:ea typeface="Tahoma"/>
                <a:cs typeface="Tahoma"/>
              </a:rPr>
              <a:t>فاز ۱</a:t>
            </a:r>
          </a:p>
          <a:p>
            <a:pPr rtl="1" algn="ctr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950" b="0" i="0">
                <a:solidFill>
                  <a:srgbClr val="1F3864"/>
                </a:solidFill>
                <a:latin typeface="Tahoma"/>
                <a:ea typeface="Tahoma"/>
                <a:cs typeface="Tahoma"/>
              </a:rPr>
              <a:t>مشخصات سیستم</a:t>
            </a:r>
          </a:p>
        </p:txBody>
      </p:sp>
      <p:sp>
        <p:nvSpPr>
          <p:cNvPr id="7" name="chip_فاز ۲"/>
          <p:cNvSpPr/>
          <p:nvPr/>
        </p:nvSpPr>
        <p:spPr>
          <a:xfrm>
            <a:off x="3733799" y="4160520"/>
            <a:ext cx="3002280" cy="960120"/>
          </a:xfrm>
          <a:prstGeom prst="roundRect">
            <a:avLst>
              <a:gd name="adj" fmla="val 8095"/>
            </a:avLst>
          </a:prstGeom>
          <a:solidFill>
            <a:srgbClr val="E7ECF5"/>
          </a:solidFill>
          <a:ln w="1778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>
            <a:no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864"/>
                </a:solidFill>
                <a:latin typeface="Tahoma"/>
                <a:ea typeface="Tahoma"/>
                <a:cs typeface="Tahoma"/>
              </a:rPr>
              <a:t>فاز ۲</a:t>
            </a:r>
          </a:p>
          <a:p>
            <a:pPr rtl="1" algn="ctr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950" b="0" i="0">
                <a:solidFill>
                  <a:srgbClr val="1F3864"/>
                </a:solidFill>
                <a:latin typeface="Tahoma"/>
                <a:ea typeface="Tahoma"/>
                <a:cs typeface="Tahoma"/>
              </a:rPr>
              <a:t>طراحی معماری</a:t>
            </a:r>
          </a:p>
        </p:txBody>
      </p:sp>
      <p:sp>
        <p:nvSpPr>
          <p:cNvPr id="8" name="chip_فاز ۳"/>
          <p:cNvSpPr/>
          <p:nvPr/>
        </p:nvSpPr>
        <p:spPr>
          <a:xfrm>
            <a:off x="411479" y="4160520"/>
            <a:ext cx="3002280" cy="960120"/>
          </a:xfrm>
          <a:prstGeom prst="roundRect">
            <a:avLst>
              <a:gd name="adj" fmla="val 8095"/>
            </a:avLst>
          </a:prstGeom>
          <a:solidFill>
            <a:srgbClr val="E7ECF5"/>
          </a:solidFill>
          <a:ln w="1778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>
            <a:no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864"/>
                </a:solidFill>
                <a:latin typeface="Tahoma"/>
                <a:ea typeface="Tahoma"/>
                <a:cs typeface="Tahoma"/>
              </a:rPr>
              <a:t>فاز ۳</a:t>
            </a:r>
          </a:p>
          <a:p>
            <a:pPr rtl="1" algn="ctr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950" b="0" i="0">
                <a:solidFill>
                  <a:srgbClr val="1F3864"/>
                </a:solidFill>
                <a:latin typeface="Tahoma"/>
                <a:ea typeface="Tahoma"/>
                <a:cs typeface="Tahoma"/>
              </a:rPr>
              <a:t>طراحی جزئی</a:t>
            </a:r>
          </a:p>
        </p:txBody>
      </p:sp>
      <p:sp>
        <p:nvSpPr>
          <p:cNvPr id="9" name="text"/>
          <p:cNvSpPr txBox="1"/>
          <p:nvPr/>
        </p:nvSpPr>
        <p:spPr>
          <a:xfrm>
            <a:off x="411480" y="5989320"/>
            <a:ext cx="964692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no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Tahoma"/>
                <a:ea typeface="Tahoma"/>
                <a:cs typeface="Tahoma"/>
              </a:rPr>
              <a:t>بر پایهٔ main.py (مدل اصلی) و utils.py (پیاده‌سازی گراف عصبی پیشوند)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411480" y="384048"/>
            <a:ext cx="9646920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no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Tahoma"/>
                <a:ea typeface="Tahoma"/>
                <a:cs typeface="Tahoma"/>
              </a:rPr>
              <a:t>نمای کلی: از داده خام تا پیش‌بینی</a:t>
            </a:r>
          </a:p>
        </p:txBody>
      </p:sp>
      <p:sp>
        <p:nvSpPr>
          <p:cNvPr id="3" name="slide_subtitle"/>
          <p:cNvSpPr txBox="1"/>
          <p:nvPr/>
        </p:nvSpPr>
        <p:spPr>
          <a:xfrm>
            <a:off x="411480" y="932688"/>
            <a:ext cx="964692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no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280"/>
                </a:solidFill>
                <a:latin typeface="Tahoma"/>
                <a:ea typeface="Tahoma"/>
                <a:cs typeface="Tahoma"/>
              </a:rPr>
              <a:t>سه فاز پشت سر هم؛ هر فاز ورودی فاز بعد را می‌سازد</a:t>
            </a:r>
          </a:p>
        </p:txBody>
      </p:sp>
      <p:sp>
        <p:nvSpPr>
          <p:cNvPr id="4" name="phase_فاز ۱"/>
          <p:cNvSpPr/>
          <p:nvPr/>
        </p:nvSpPr>
        <p:spPr>
          <a:xfrm>
            <a:off x="7056120" y="1691640"/>
            <a:ext cx="3002280" cy="2743200"/>
          </a:xfrm>
          <a:prstGeom prst="roundRect">
            <a:avLst>
              <a:gd name="adj" fmla="val 2833"/>
            </a:avLst>
          </a:prstGeom>
          <a:solidFill>
            <a:srgbClr val="EAF2F9"/>
          </a:solidFill>
          <a:ln w="13970">
            <a:solidFill>
              <a:srgbClr val="5B8D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>
            <a:no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2A37"/>
                </a:solidFill>
                <a:latin typeface="Tahoma"/>
                <a:ea typeface="Tahoma"/>
                <a:cs typeface="Tahoma"/>
              </a:rPr>
              <a:t>فاز ۱</a:t>
            </a:r>
          </a:p>
          <a:p>
            <a:pPr rtl="1" algn="ctr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1050" b="0" i="0">
                <a:solidFill>
                  <a:srgbClr val="4B5563"/>
                </a:solidFill>
                <a:latin typeface="Tahoma"/>
                <a:ea typeface="Tahoma"/>
                <a:cs typeface="Tahoma"/>
              </a:rPr>
              <a:t>مشخصات سیستم</a:t>
            </a:r>
          </a:p>
          <a:p>
            <a:pPr rtl="1" algn="ctr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1050" b="0" i="0">
                <a:solidFill>
                  <a:srgbClr val="4B5563"/>
                </a:solidFill>
                <a:latin typeface="Tahoma"/>
                <a:ea typeface="Tahoma"/>
                <a:cs typeface="Tahoma"/>
              </a:rPr>
              <a:t>تعریف مسئله و خروجی‌ها</a:t>
            </a:r>
          </a:p>
          <a:p>
            <a:pPr rtl="1" algn="ctr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1050" b="0" i="0">
                <a:solidFill>
                  <a:srgbClr val="4B5563"/>
                </a:solidFill>
                <a:latin typeface="Tahoma"/>
                <a:ea typeface="Tahoma"/>
                <a:cs typeface="Tahoma"/>
              </a:rPr>
              <a:t>ورودی‌ها و آماده‌سازی داده</a:t>
            </a:r>
          </a:p>
          <a:p>
            <a:pPr rtl="1" algn="ctr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1050" b="0" i="0">
                <a:solidFill>
                  <a:srgbClr val="4B5563"/>
                </a:solidFill>
                <a:latin typeface="Tahoma"/>
                <a:ea typeface="Tahoma"/>
                <a:cs typeface="Tahoma"/>
              </a:rPr>
              <a:t>ساخت ویژگی‌ها و گراف پیشوند</a:t>
            </a:r>
          </a:p>
        </p:txBody>
      </p:sp>
      <p:sp>
        <p:nvSpPr>
          <p:cNvPr id="5" name="phase_فاز ۲"/>
          <p:cNvSpPr/>
          <p:nvPr/>
        </p:nvSpPr>
        <p:spPr>
          <a:xfrm>
            <a:off x="3733799" y="1691640"/>
            <a:ext cx="3002280" cy="2743200"/>
          </a:xfrm>
          <a:prstGeom prst="roundRect">
            <a:avLst>
              <a:gd name="adj" fmla="val 2833"/>
            </a:avLst>
          </a:prstGeom>
          <a:solidFill>
            <a:srgbClr val="E6F4EC"/>
          </a:solidFill>
          <a:ln w="13970">
            <a:solidFill>
              <a:srgbClr val="4E9C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>
            <a:no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2A37"/>
                </a:solidFill>
                <a:latin typeface="Tahoma"/>
                <a:ea typeface="Tahoma"/>
                <a:cs typeface="Tahoma"/>
              </a:rPr>
              <a:t>فاز ۲</a:t>
            </a:r>
          </a:p>
          <a:p>
            <a:pPr rtl="1" algn="ctr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1050" b="0" i="0">
                <a:solidFill>
                  <a:srgbClr val="4B5563"/>
                </a:solidFill>
                <a:latin typeface="Tahoma"/>
                <a:ea typeface="Tahoma"/>
                <a:cs typeface="Tahoma"/>
              </a:rPr>
              <a:t>طراحی معماری</a:t>
            </a:r>
          </a:p>
          <a:p>
            <a:pPr rtl="1" algn="ctr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1050" b="0" i="0">
                <a:solidFill>
                  <a:srgbClr val="4B5563"/>
                </a:solidFill>
                <a:latin typeface="Tahoma"/>
                <a:ea typeface="Tahoma"/>
                <a:cs typeface="Tahoma"/>
              </a:rPr>
              <a:t>سه جریان موازی</a:t>
            </a:r>
          </a:p>
          <a:p>
            <a:pPr rtl="1" algn="ctr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1050" b="0" i="0">
                <a:solidFill>
                  <a:srgbClr val="4B5563"/>
                </a:solidFill>
                <a:latin typeface="Tahoma"/>
                <a:ea typeface="Tahoma"/>
                <a:cs typeface="Tahoma"/>
              </a:rPr>
              <a:t>Transformer + TCN + GNN</a:t>
            </a:r>
          </a:p>
          <a:p>
            <a:pPr rtl="1" algn="ctr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1050" b="0" i="0">
                <a:solidFill>
                  <a:srgbClr val="4B5563"/>
                </a:solidFill>
                <a:latin typeface="Tahoma"/>
                <a:ea typeface="Tahoma"/>
                <a:cs typeface="Tahoma"/>
              </a:rPr>
              <a:t>ادغام اطلاعات سه جریان</a:t>
            </a:r>
          </a:p>
        </p:txBody>
      </p:sp>
      <p:sp>
        <p:nvSpPr>
          <p:cNvPr id="6" name="phase_فاز ۳"/>
          <p:cNvSpPr/>
          <p:nvPr/>
        </p:nvSpPr>
        <p:spPr>
          <a:xfrm>
            <a:off x="411479" y="1691640"/>
            <a:ext cx="3002280" cy="2743200"/>
          </a:xfrm>
          <a:prstGeom prst="roundRect">
            <a:avLst>
              <a:gd name="adj" fmla="val 2833"/>
            </a:avLst>
          </a:prstGeom>
          <a:solidFill>
            <a:srgbClr val="EFECF9"/>
          </a:solidFill>
          <a:ln w="13970">
            <a:solidFill>
              <a:srgbClr val="7C6B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>
            <a:no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2A37"/>
                </a:solidFill>
                <a:latin typeface="Tahoma"/>
                <a:ea typeface="Tahoma"/>
                <a:cs typeface="Tahoma"/>
              </a:rPr>
              <a:t>فاز ۳</a:t>
            </a:r>
          </a:p>
          <a:p>
            <a:pPr rtl="1" algn="ctr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1050" b="0" i="0">
                <a:solidFill>
                  <a:srgbClr val="4B5563"/>
                </a:solidFill>
                <a:latin typeface="Tahoma"/>
                <a:ea typeface="Tahoma"/>
                <a:cs typeface="Tahoma"/>
              </a:rPr>
              <a:t>طراحی جزئی</a:t>
            </a:r>
          </a:p>
          <a:p>
            <a:pPr rtl="1" algn="ctr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1050" b="0" i="0">
                <a:solidFill>
                  <a:srgbClr val="4B5563"/>
                </a:solidFill>
                <a:latin typeface="Tahoma"/>
                <a:ea typeface="Tahoma"/>
                <a:cs typeface="Tahoma"/>
              </a:rPr>
              <a:t>لایه‌ها، ابعاد و پارامترها</a:t>
            </a:r>
          </a:p>
          <a:p>
            <a:pPr rtl="1" algn="ctr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1050" b="0" i="0">
                <a:solidFill>
                  <a:srgbClr val="4B5563"/>
                </a:solidFill>
                <a:latin typeface="Tahoma"/>
                <a:ea typeface="Tahoma"/>
                <a:cs typeface="Tahoma"/>
              </a:rPr>
              <a:t>چهار سر خروجی</a:t>
            </a:r>
          </a:p>
          <a:p>
            <a:pPr rtl="1" algn="ctr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1050" b="0" i="0">
                <a:solidFill>
                  <a:srgbClr val="4B5563"/>
                </a:solidFill>
                <a:latin typeface="Tahoma"/>
                <a:ea typeface="Tahoma"/>
                <a:cs typeface="Tahoma"/>
              </a:rPr>
              <a:t>راه‌اندازی و آموزش مدل</a:t>
            </a:r>
          </a:p>
        </p:txBody>
      </p:sp>
      <p:cxnSp>
        <p:nvCxnSpPr>
          <p:cNvPr id="7" name="flow_arrow"/>
          <p:cNvCxnSpPr/>
          <p:nvPr/>
        </p:nvCxnSpPr>
        <p:spPr>
          <a:xfrm flipH="1">
            <a:off x="6736080" y="3063240"/>
            <a:ext cx="320040" cy="0"/>
          </a:xfrm>
          <a:prstGeom prst="line">
            <a:avLst/>
          </a:prstGeom>
          <a:ln w="25400">
            <a:solidFill>
              <a:srgbClr val="1F3864"/>
            </a:solidFill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flow_arrow"/>
          <p:cNvCxnSpPr/>
          <p:nvPr/>
        </p:nvCxnSpPr>
        <p:spPr>
          <a:xfrm flipH="1">
            <a:off x="3413759" y="3063240"/>
            <a:ext cx="320040" cy="0"/>
          </a:xfrm>
          <a:prstGeom prst="line">
            <a:avLst/>
          </a:prstGeom>
          <a:ln w="25400">
            <a:solidFill>
              <a:srgbClr val="1F3864"/>
            </a:solidFill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"/>
          <p:cNvSpPr txBox="1"/>
          <p:nvPr/>
        </p:nvSpPr>
        <p:spPr>
          <a:xfrm>
            <a:off x="411480" y="4800600"/>
            <a:ext cx="964692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no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B5563"/>
                </a:solidFill>
                <a:latin typeface="Tahoma"/>
                <a:ea typeface="Tahoma"/>
                <a:cs typeface="Tahoma"/>
              </a:rPr>
              <a:t>مسیر کار: داده ← ویژگی و گراف ← سه جریان موازی ← ادغام ← چهار خروجی</a:t>
            </a:r>
          </a:p>
        </p:txBody>
      </p:sp>
      <p:sp>
        <p:nvSpPr>
          <p:cNvPr id="10" name="note_bar"/>
          <p:cNvSpPr/>
          <p:nvPr/>
        </p:nvSpPr>
        <p:spPr>
          <a:xfrm>
            <a:off x="411480" y="5440680"/>
            <a:ext cx="9646920" cy="640080"/>
          </a:xfrm>
          <a:prstGeom prst="roundRect">
            <a:avLst>
              <a:gd name="adj" fmla="val 12142"/>
            </a:avLst>
          </a:prstGeom>
          <a:solidFill>
            <a:srgbClr val="F4F6F9"/>
          </a:solidFill>
          <a:ln w="13970">
            <a:solidFill>
              <a:srgbClr val="B0B8C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>
            <a:no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2A37"/>
                </a:solidFill>
                <a:latin typeface="Tahoma"/>
                <a:ea typeface="Tahoma"/>
                <a:cs typeface="Tahoma"/>
              </a:rPr>
              <a:t>همهٔ کادرها، فلش‌ها، رنگ‌ها و متن‌ها در پاورپوینت قابل ویرایش هستند.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hase_badge"/>
          <p:cNvSpPr/>
          <p:nvPr/>
        </p:nvSpPr>
        <p:spPr>
          <a:xfrm>
            <a:off x="10241280" y="228600"/>
            <a:ext cx="1536192" cy="91440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فاز ۱</a:t>
            </a:r>
          </a:p>
          <a:p>
            <a:pPr rtl="1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850" b="0" i="0">
                <a:solidFill>
                  <a:srgbClr val="D8E0EE"/>
                </a:solidFill>
                <a:latin typeface="Tahoma"/>
                <a:ea typeface="Tahoma"/>
                <a:cs typeface="Tahoma"/>
              </a:rPr>
              <a:t>مشخصات سیستم</a:t>
            </a:r>
          </a:p>
        </p:txBody>
      </p:sp>
      <p:sp>
        <p:nvSpPr>
          <p:cNvPr id="3" name="slide_title"/>
          <p:cNvSpPr txBox="1"/>
          <p:nvPr/>
        </p:nvSpPr>
        <p:spPr>
          <a:xfrm>
            <a:off x="411480" y="219456"/>
            <a:ext cx="9646920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no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F3864"/>
                </a:solidFill>
                <a:latin typeface="Tahoma"/>
                <a:ea typeface="Tahoma"/>
                <a:cs typeface="Tahoma"/>
              </a:rPr>
              <a:t>مشخصات سیستم: از لاگ رویداد تا وظایف یادگیری</a:t>
            </a:r>
          </a:p>
        </p:txBody>
      </p:sp>
      <p:sp>
        <p:nvSpPr>
          <p:cNvPr id="4" name="slide_subtitle"/>
          <p:cNvSpPr txBox="1"/>
          <p:nvPr/>
        </p:nvSpPr>
        <p:spPr>
          <a:xfrm>
            <a:off x="411480" y="786384"/>
            <a:ext cx="964692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no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280"/>
                </a:solidFill>
                <a:latin typeface="Tahoma"/>
                <a:ea typeface="Tahoma"/>
                <a:cs typeface="Tahoma"/>
              </a:rPr>
              <a:t>ورودی‌ها، ویژگی‌ها و اهداف مدل، به زبان ساده</a:t>
            </a:r>
          </a:p>
        </p:txBody>
      </p:sp>
      <p:sp>
        <p:nvSpPr>
          <p:cNvPr id="5" name="p1_top_ورودی:"/>
          <p:cNvSpPr/>
          <p:nvPr/>
        </p:nvSpPr>
        <p:spPr>
          <a:xfrm>
            <a:off x="7886700" y="1371600"/>
            <a:ext cx="2171700" cy="1554480"/>
          </a:xfrm>
          <a:prstGeom prst="roundRect">
            <a:avLst>
              <a:gd name="adj" fmla="val 5000"/>
            </a:avLst>
          </a:prstGeom>
          <a:solidFill>
            <a:srgbClr val="EAF2F9"/>
          </a:solidFill>
          <a:ln w="13970">
            <a:solidFill>
              <a:srgbClr val="5B8D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>
            <a:no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F2A37"/>
                </a:solidFill>
                <a:latin typeface="Tahoma"/>
                <a:ea typeface="Tahoma"/>
                <a:cs typeface="Tahoma"/>
              </a:rPr>
              <a:t>ورودی: لاگ رویداد (XES)</a:t>
            </a:r>
          </a:p>
          <a:p>
            <a:pPr rtl="1" algn="ctr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850" b="0" i="0">
                <a:solidFill>
                  <a:srgbClr val="4B5563"/>
                </a:solidFill>
                <a:latin typeface="Tahoma"/>
                <a:ea typeface="Tahoma"/>
                <a:cs typeface="Tahoma"/>
              </a:rPr>
              <a:t>پرونده‌ها، فعالیت‌ها، زمان‌ها</a:t>
            </a:r>
          </a:p>
          <a:p>
            <a:pPr rtl="1" algn="ctr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850" b="0" i="0">
                <a:solidFill>
                  <a:srgbClr val="4B5563"/>
                </a:solidFill>
                <a:latin typeface="Tahoma"/>
                <a:ea typeface="Tahoma"/>
                <a:cs typeface="Tahoma"/>
              </a:rPr>
              <a:t>شناسهٔ هر پرونده</a:t>
            </a:r>
          </a:p>
          <a:p>
            <a:pPr rtl="1" algn="ctr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850" b="0" i="0">
                <a:solidFill>
                  <a:srgbClr val="4B5563"/>
                </a:solidFill>
                <a:latin typeface="Tahoma"/>
                <a:ea typeface="Tahoma"/>
                <a:cs typeface="Tahoma"/>
              </a:rPr>
              <a:t>ترتیب رخدادها</a:t>
            </a:r>
          </a:p>
        </p:txBody>
      </p:sp>
      <p:sp>
        <p:nvSpPr>
          <p:cNvPr id="6" name="p1_top_ساخت پ"/>
          <p:cNvSpPr/>
          <p:nvPr/>
        </p:nvSpPr>
        <p:spPr>
          <a:xfrm>
            <a:off x="5394960" y="1371600"/>
            <a:ext cx="2171700" cy="1554480"/>
          </a:xfrm>
          <a:prstGeom prst="roundRect">
            <a:avLst>
              <a:gd name="adj" fmla="val 5000"/>
            </a:avLst>
          </a:prstGeom>
          <a:solidFill>
            <a:srgbClr val="EAF2F9"/>
          </a:solidFill>
          <a:ln w="13970">
            <a:solidFill>
              <a:srgbClr val="5B8D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>
            <a:no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F2A37"/>
                </a:solidFill>
                <a:latin typeface="Tahoma"/>
                <a:ea typeface="Tahoma"/>
                <a:cs typeface="Tahoma"/>
              </a:rPr>
              <a:t>ساخت پیشوند</a:t>
            </a:r>
          </a:p>
          <a:p>
            <a:pPr rtl="1" algn="ctr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850" b="0" i="0">
                <a:solidFill>
                  <a:srgbClr val="4B5563"/>
                </a:solidFill>
                <a:latin typeface="Tahoma"/>
                <a:ea typeface="Tahoma"/>
                <a:cs typeface="Tahoma"/>
              </a:rPr>
              <a:t>بریدن هر پرونده به پیشوند</a:t>
            </a:r>
          </a:p>
          <a:p>
            <a:pPr rtl="1" algn="ctr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850" b="0" i="0">
                <a:solidFill>
                  <a:srgbClr val="4B5563"/>
                </a:solidFill>
                <a:latin typeface="Tahoma"/>
                <a:ea typeface="Tahoma"/>
                <a:cs typeface="Tahoma"/>
              </a:rPr>
              <a:t>کمترین طول پیشوند: ۲</a:t>
            </a:r>
          </a:p>
          <a:p>
            <a:pPr rtl="1" algn="ctr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850" b="0" i="0">
                <a:solidFill>
                  <a:srgbClr val="4B5563"/>
                </a:solidFill>
                <a:latin typeface="Tahoma"/>
                <a:ea typeface="Tahoma"/>
                <a:cs typeface="Tahoma"/>
              </a:rPr>
              <a:t>پیشوند = نقطهٔ پیش‌بینی</a:t>
            </a:r>
          </a:p>
        </p:txBody>
      </p:sp>
      <p:sp>
        <p:nvSpPr>
          <p:cNvPr id="7" name="p1_top_آمار ز"/>
          <p:cNvSpPr/>
          <p:nvPr/>
        </p:nvSpPr>
        <p:spPr>
          <a:xfrm>
            <a:off x="2903220" y="1371600"/>
            <a:ext cx="2171700" cy="1554480"/>
          </a:xfrm>
          <a:prstGeom prst="roundRect">
            <a:avLst>
              <a:gd name="adj" fmla="val 5000"/>
            </a:avLst>
          </a:prstGeom>
          <a:solidFill>
            <a:srgbClr val="E6F4EC"/>
          </a:solidFill>
          <a:ln w="13970">
            <a:solidFill>
              <a:srgbClr val="4E9C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>
            <a:no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F2A37"/>
                </a:solidFill>
                <a:latin typeface="Tahoma"/>
                <a:ea typeface="Tahoma"/>
                <a:cs typeface="Tahoma"/>
              </a:rPr>
              <a:t>آمار زمانی و موردی</a:t>
            </a:r>
          </a:p>
          <a:p>
            <a:pPr rtl="1" algn="ctr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850" b="0" i="0">
                <a:solidFill>
                  <a:srgbClr val="4B5563"/>
                </a:solidFill>
                <a:latin typeface="Tahoma"/>
                <a:ea typeface="Tahoma"/>
                <a:cs typeface="Tahoma"/>
              </a:rPr>
              <a:t>زمان انتظار و مدت کل</a:t>
            </a:r>
          </a:p>
          <a:p>
            <a:pPr rtl="1" algn="ctr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850" b="0" i="0">
                <a:solidFill>
                  <a:srgbClr val="4B5563"/>
                </a:solidFill>
                <a:latin typeface="Tahoma"/>
                <a:ea typeface="Tahoma"/>
                <a:cs typeface="Tahoma"/>
              </a:rPr>
              <a:t>زمان باقی‌مانده</a:t>
            </a:r>
          </a:p>
          <a:p>
            <a:pPr rtl="1" algn="ctr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850" b="0" i="0">
                <a:solidFill>
                  <a:srgbClr val="4B5563"/>
                </a:solidFill>
                <a:latin typeface="Tahoma"/>
                <a:ea typeface="Tahoma"/>
                <a:cs typeface="Tahoma"/>
              </a:rPr>
              <a:t>نشانهٔ گلوگاه</a:t>
            </a:r>
          </a:p>
        </p:txBody>
      </p:sp>
      <p:sp>
        <p:nvSpPr>
          <p:cNvPr id="8" name="p1_top_اهداف "/>
          <p:cNvSpPr/>
          <p:nvPr/>
        </p:nvSpPr>
        <p:spPr>
          <a:xfrm>
            <a:off x="411479" y="1371600"/>
            <a:ext cx="2171700" cy="1554480"/>
          </a:xfrm>
          <a:prstGeom prst="roundRect">
            <a:avLst>
              <a:gd name="adj" fmla="val 5000"/>
            </a:avLst>
          </a:prstGeom>
          <a:solidFill>
            <a:srgbClr val="FDEEDF"/>
          </a:solidFill>
          <a:ln w="13970">
            <a:solidFill>
              <a:srgbClr val="D98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>
            <a:no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F2A37"/>
                </a:solidFill>
                <a:latin typeface="Tahoma"/>
                <a:ea typeface="Tahoma"/>
                <a:cs typeface="Tahoma"/>
              </a:rPr>
              <a:t>اهداف پیش‌بینی</a:t>
            </a:r>
          </a:p>
          <a:p>
            <a:pPr rtl="1" algn="ctr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850" b="0" i="0">
                <a:solidFill>
                  <a:srgbClr val="4B5563"/>
                </a:solidFill>
                <a:latin typeface="Tahoma"/>
                <a:ea typeface="Tahoma"/>
                <a:cs typeface="Tahoma"/>
              </a:rPr>
              <a:t>فعالیت بعدی</a:t>
            </a:r>
          </a:p>
          <a:p>
            <a:pPr rtl="1" algn="ctr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850" b="0" i="0">
                <a:solidFill>
                  <a:srgbClr val="4B5563"/>
                </a:solidFill>
                <a:latin typeface="Tahoma"/>
                <a:ea typeface="Tahoma"/>
                <a:cs typeface="Tahoma"/>
              </a:rPr>
              <a:t>زمان باقی‌مانده</a:t>
            </a:r>
          </a:p>
          <a:p>
            <a:pPr rtl="1" algn="ctr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850" b="0" i="0">
                <a:solidFill>
                  <a:srgbClr val="4B5563"/>
                </a:solidFill>
                <a:latin typeface="Tahoma"/>
                <a:ea typeface="Tahoma"/>
                <a:cs typeface="Tahoma"/>
              </a:rPr>
              <a:t>کاهش تأخیر و تشخیص گلوگاه</a:t>
            </a:r>
          </a:p>
        </p:txBody>
      </p:sp>
      <p:cxnSp>
        <p:nvCxnSpPr>
          <p:cNvPr id="9" name="p1_chain"/>
          <p:cNvCxnSpPr/>
          <p:nvPr/>
        </p:nvCxnSpPr>
        <p:spPr>
          <a:xfrm flipH="1">
            <a:off x="7566660" y="2148840"/>
            <a:ext cx="320040" cy="0"/>
          </a:xfrm>
          <a:prstGeom prst="line">
            <a:avLst/>
          </a:prstGeom>
          <a:ln w="20320">
            <a:solidFill>
              <a:srgbClr val="2E4A7A"/>
            </a:solidFill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p1_chain"/>
          <p:cNvCxnSpPr/>
          <p:nvPr/>
        </p:nvCxnSpPr>
        <p:spPr>
          <a:xfrm flipH="1">
            <a:off x="5074920" y="2148840"/>
            <a:ext cx="320040" cy="0"/>
          </a:xfrm>
          <a:prstGeom prst="line">
            <a:avLst/>
          </a:prstGeom>
          <a:ln w="20320">
            <a:solidFill>
              <a:srgbClr val="2E4A7A"/>
            </a:solidFill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p1_chain"/>
          <p:cNvCxnSpPr/>
          <p:nvPr/>
        </p:nvCxnSpPr>
        <p:spPr>
          <a:xfrm flipH="1">
            <a:off x="2583179" y="2148840"/>
            <a:ext cx="320041" cy="0"/>
          </a:xfrm>
          <a:prstGeom prst="line">
            <a:avLst/>
          </a:prstGeom>
          <a:ln w="20320">
            <a:solidFill>
              <a:srgbClr val="2E4A7A"/>
            </a:solidFill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p1_bottom_ویژگی‌"/>
          <p:cNvSpPr/>
          <p:nvPr/>
        </p:nvSpPr>
        <p:spPr>
          <a:xfrm>
            <a:off x="5394960" y="3520440"/>
            <a:ext cx="2171700" cy="1554480"/>
          </a:xfrm>
          <a:prstGeom prst="roundRect">
            <a:avLst>
              <a:gd name="adj" fmla="val 5000"/>
            </a:avLst>
          </a:prstGeom>
          <a:solidFill>
            <a:srgbClr val="EAF2F9"/>
          </a:solidFill>
          <a:ln w="13970">
            <a:solidFill>
              <a:srgbClr val="5B8D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>
            <a:no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F2A37"/>
                </a:solidFill>
                <a:latin typeface="Tahoma"/>
                <a:ea typeface="Tahoma"/>
                <a:cs typeface="Tahoma"/>
              </a:rPr>
              <a:t>ویژگی‌های ترتیبی و زمانی</a:t>
            </a:r>
          </a:p>
          <a:p>
            <a:pPr rtl="1" algn="ctr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850" b="0" i="0">
                <a:solidFill>
                  <a:srgbClr val="4B5563"/>
                </a:solidFill>
                <a:latin typeface="Tahoma"/>
                <a:ea typeface="Tahoma"/>
                <a:cs typeface="Tahoma"/>
              </a:rPr>
              <a:t>شناسهٔ فعالیت و فعالیت قبلی</a:t>
            </a:r>
          </a:p>
          <a:p>
            <a:pPr rtl="1" algn="ctr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850" b="0" i="0">
                <a:solidFill>
                  <a:srgbClr val="4B5563"/>
                </a:solidFill>
                <a:latin typeface="Tahoma"/>
                <a:ea typeface="Tahoma"/>
                <a:cs typeface="Tahoma"/>
              </a:rPr>
              <a:t>موقعیت، فاصلهٔ زمانی، زمان تجمعی</a:t>
            </a:r>
          </a:p>
          <a:p>
            <a:pPr rtl="1" algn="ctr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850" b="0" i="0">
                <a:solidFill>
                  <a:srgbClr val="4B5563"/>
                </a:solidFill>
                <a:latin typeface="Tahoma"/>
                <a:ea typeface="Tahoma"/>
                <a:cs typeface="Tahoma"/>
              </a:rPr>
              <a:t>نقش و فراوانی فعالیت</a:t>
            </a:r>
          </a:p>
        </p:txBody>
      </p:sp>
      <p:sp>
        <p:nvSpPr>
          <p:cNvPr id="13" name="p1_bottom_گراف پ"/>
          <p:cNvSpPr/>
          <p:nvPr/>
        </p:nvSpPr>
        <p:spPr>
          <a:xfrm>
            <a:off x="2903220" y="3520440"/>
            <a:ext cx="2171700" cy="1554480"/>
          </a:xfrm>
          <a:prstGeom prst="roundRect">
            <a:avLst>
              <a:gd name="adj" fmla="val 5000"/>
            </a:avLst>
          </a:prstGeom>
          <a:solidFill>
            <a:srgbClr val="EFECF9"/>
          </a:solidFill>
          <a:ln w="13970">
            <a:solidFill>
              <a:srgbClr val="7C6B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>
            <a:no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F2A37"/>
                </a:solidFill>
                <a:latin typeface="Tahoma"/>
                <a:ea typeface="Tahoma"/>
                <a:cs typeface="Tahoma"/>
              </a:rPr>
              <a:t>گراف پیشوند</a:t>
            </a:r>
          </a:p>
          <a:p>
            <a:pPr rtl="1" algn="ctr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850" b="0" i="0">
                <a:solidFill>
                  <a:srgbClr val="4B5563"/>
                </a:solidFill>
                <a:latin typeface="Tahoma"/>
                <a:ea typeface="Tahoma"/>
                <a:cs typeface="Tahoma"/>
              </a:rPr>
              <a:t>گره‌ها: فعالیت + ویژگی زمان و موقعیت</a:t>
            </a:r>
          </a:p>
          <a:p>
            <a:pPr rtl="1" algn="ctr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850" b="0" i="0">
                <a:solidFill>
                  <a:srgbClr val="4B5563"/>
                </a:solidFill>
                <a:latin typeface="Tahoma"/>
                <a:ea typeface="Tahoma"/>
                <a:cs typeface="Tahoma"/>
              </a:rPr>
              <a:t>یال‌ها: ترتیب و تکرار فعالیت‌ها</a:t>
            </a:r>
          </a:p>
          <a:p>
            <a:pPr rtl="1" algn="ctr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850" b="0" i="0">
                <a:solidFill>
                  <a:srgbClr val="4B5563"/>
                </a:solidFill>
                <a:latin typeface="Tahoma"/>
                <a:ea typeface="Tahoma"/>
                <a:cs typeface="Tahoma"/>
              </a:rPr>
              <a:t>روابط زمانی میان گره‌ها</a:t>
            </a:r>
          </a:p>
        </p:txBody>
      </p:sp>
      <p:sp>
        <p:nvSpPr>
          <p:cNvPr id="14" name="p1_bottom_تنظیما"/>
          <p:cNvSpPr/>
          <p:nvPr/>
        </p:nvSpPr>
        <p:spPr>
          <a:xfrm>
            <a:off x="411479" y="3520440"/>
            <a:ext cx="2171700" cy="1554480"/>
          </a:xfrm>
          <a:prstGeom prst="roundRect">
            <a:avLst>
              <a:gd name="adj" fmla="val 5000"/>
            </a:avLst>
          </a:prstGeom>
          <a:solidFill>
            <a:srgbClr val="E6F4EC"/>
          </a:solidFill>
          <a:ln w="13970">
            <a:solidFill>
              <a:srgbClr val="4E9C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>
            <a:no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F2A37"/>
                </a:solidFill>
                <a:latin typeface="Tahoma"/>
                <a:ea typeface="Tahoma"/>
                <a:cs typeface="Tahoma"/>
              </a:rPr>
              <a:t>تنظیمات یادگیری</a:t>
            </a:r>
          </a:p>
          <a:p>
            <a:pPr rtl="1" algn="ctr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850" b="0" i="0">
                <a:solidFill>
                  <a:srgbClr val="4B5563"/>
                </a:solidFill>
                <a:latin typeface="Tahoma"/>
                <a:ea typeface="Tahoma"/>
                <a:cs typeface="Tahoma"/>
              </a:rPr>
              <a:t>یادگیری چندوظیفه‌ای با نظارت</a:t>
            </a:r>
          </a:p>
          <a:p>
            <a:pPr rtl="1" algn="ctr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850" b="0" i="0">
                <a:solidFill>
                  <a:srgbClr val="4B5563"/>
                </a:solidFill>
                <a:latin typeface="Tahoma"/>
                <a:ea typeface="Tahoma"/>
                <a:cs typeface="Tahoma"/>
              </a:rPr>
              <a:t>تقسیم آموزش / اعتبارسنجی / آزمون</a:t>
            </a:r>
          </a:p>
          <a:p>
            <a:pPr rtl="1" algn="ctr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850" b="0" i="0">
                <a:solidFill>
                  <a:srgbClr val="4B5563"/>
                </a:solidFill>
                <a:latin typeface="Tahoma"/>
                <a:ea typeface="Tahoma"/>
                <a:cs typeface="Tahoma"/>
              </a:rPr>
              <a:t>بر اساس پرونده، بدون نشت داده</a:t>
            </a:r>
          </a:p>
        </p:txBody>
      </p:sp>
      <p:cxnSp>
        <p:nvCxnSpPr>
          <p:cNvPr id="15" name="p1_branch"/>
          <p:cNvCxnSpPr/>
          <p:nvPr/>
        </p:nvCxnSpPr>
        <p:spPr>
          <a:xfrm>
            <a:off x="6480810" y="2926080"/>
            <a:ext cx="0" cy="594360"/>
          </a:xfrm>
          <a:prstGeom prst="line">
            <a:avLst/>
          </a:prstGeom>
          <a:ln w="20320">
            <a:solidFill>
              <a:srgbClr val="2E4A7A"/>
            </a:solidFill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p1_branch"/>
          <p:cNvCxnSpPr/>
          <p:nvPr/>
        </p:nvCxnSpPr>
        <p:spPr>
          <a:xfrm>
            <a:off x="3989070" y="2926080"/>
            <a:ext cx="0" cy="594360"/>
          </a:xfrm>
          <a:prstGeom prst="line">
            <a:avLst/>
          </a:prstGeom>
          <a:ln w="20320">
            <a:solidFill>
              <a:srgbClr val="2E4A7A"/>
            </a:solidFill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p1_branch"/>
          <p:cNvCxnSpPr/>
          <p:nvPr/>
        </p:nvCxnSpPr>
        <p:spPr>
          <a:xfrm>
            <a:off x="1497329" y="2926080"/>
            <a:ext cx="0" cy="594360"/>
          </a:xfrm>
          <a:prstGeom prst="line">
            <a:avLst/>
          </a:prstGeom>
          <a:ln w="20320">
            <a:solidFill>
              <a:srgbClr val="2E4A7A"/>
            </a:solidFill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p1_note"/>
          <p:cNvSpPr/>
          <p:nvPr/>
        </p:nvSpPr>
        <p:spPr>
          <a:xfrm>
            <a:off x="7886700" y="3520440"/>
            <a:ext cx="2171700" cy="1554480"/>
          </a:xfrm>
          <a:prstGeom prst="roundRect">
            <a:avLst>
              <a:gd name="adj" fmla="val 5000"/>
            </a:avLst>
          </a:prstGeom>
          <a:solidFill>
            <a:srgbClr val="F4F6F9"/>
          </a:solidFill>
          <a:ln w="13970">
            <a:solidFill>
              <a:srgbClr val="B0B8C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>
            <a:no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2A37"/>
                </a:solidFill>
                <a:latin typeface="Tahoma"/>
                <a:ea typeface="Tahoma"/>
                <a:cs typeface="Tahoma"/>
              </a:rPr>
              <a:t>نکته</a:t>
            </a:r>
          </a:p>
          <a:p>
            <a:pPr rtl="1" algn="ctr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850" b="0" i="0">
                <a:solidFill>
                  <a:srgbClr val="4B5563"/>
                </a:solidFill>
                <a:latin typeface="Tahoma"/>
                <a:ea typeface="Tahoma"/>
                <a:cs typeface="Tahoma"/>
              </a:rPr>
              <a:t>هر پرونده به پیشوندهای کوتاه‌تر بریده می‌شود</a:t>
            </a:r>
          </a:p>
          <a:p>
            <a:pPr rtl="1" algn="ctr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850" b="0" i="0">
                <a:solidFill>
                  <a:srgbClr val="4B5563"/>
                </a:solidFill>
                <a:latin typeface="Tahoma"/>
                <a:ea typeface="Tahoma"/>
                <a:cs typeface="Tahoma"/>
              </a:rPr>
              <a:t>تا مدل پیش‌بینی زودهنگام را یاد بگیرد</a:t>
            </a:r>
          </a:p>
        </p:txBody>
      </p:sp>
      <p:sp>
        <p:nvSpPr>
          <p:cNvPr id="19" name="p1_summary"/>
          <p:cNvSpPr/>
          <p:nvPr/>
        </p:nvSpPr>
        <p:spPr>
          <a:xfrm>
            <a:off x="411480" y="5486400"/>
            <a:ext cx="9646920" cy="658368"/>
          </a:xfrm>
          <a:prstGeom prst="roundRect">
            <a:avLst>
              <a:gd name="adj" fmla="val 16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خروجی فاز ۱: دادهٔ آماده برای آموزش + تعریف روشن چهار وظیفهٔ پیش‌بینی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hase_badge"/>
          <p:cNvSpPr/>
          <p:nvPr/>
        </p:nvSpPr>
        <p:spPr>
          <a:xfrm>
            <a:off x="10241280" y="228600"/>
            <a:ext cx="1536192" cy="91440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فاز ۲</a:t>
            </a:r>
          </a:p>
          <a:p>
            <a:pPr rtl="1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850" b="0" i="0">
                <a:solidFill>
                  <a:srgbClr val="D8E0EE"/>
                </a:solidFill>
                <a:latin typeface="Tahoma"/>
                <a:ea typeface="Tahoma"/>
                <a:cs typeface="Tahoma"/>
              </a:rPr>
              <a:t>طراحی معماری</a:t>
            </a:r>
          </a:p>
        </p:txBody>
      </p:sp>
      <p:sp>
        <p:nvSpPr>
          <p:cNvPr id="3" name="slide_title"/>
          <p:cNvSpPr txBox="1"/>
          <p:nvPr/>
        </p:nvSpPr>
        <p:spPr>
          <a:xfrm>
            <a:off x="411480" y="219456"/>
            <a:ext cx="9646920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no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F3864"/>
                </a:solidFill>
                <a:latin typeface="Tahoma"/>
                <a:ea typeface="Tahoma"/>
                <a:cs typeface="Tahoma"/>
              </a:rPr>
              <a:t>معماری: سه جریان موازی و ادغام آن‌ها</a:t>
            </a:r>
          </a:p>
        </p:txBody>
      </p:sp>
      <p:sp>
        <p:nvSpPr>
          <p:cNvPr id="4" name="slide_subtitle"/>
          <p:cNvSpPr txBox="1"/>
          <p:nvPr/>
        </p:nvSpPr>
        <p:spPr>
          <a:xfrm>
            <a:off x="411480" y="786384"/>
            <a:ext cx="964692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no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280"/>
                </a:solidFill>
                <a:latin typeface="Tahoma"/>
                <a:ea typeface="Tahoma"/>
                <a:cs typeface="Tahoma"/>
              </a:rPr>
              <a:t>هر جریان یک دیدگاه متفاوت از پیشوند را می‌بیند</a:t>
            </a:r>
          </a:p>
        </p:txBody>
      </p:sp>
      <p:sp>
        <p:nvSpPr>
          <p:cNvPr id="5" name="p2_shared"/>
          <p:cNvSpPr/>
          <p:nvPr/>
        </p:nvSpPr>
        <p:spPr>
          <a:xfrm>
            <a:off x="2674620" y="1371600"/>
            <a:ext cx="5120640" cy="914400"/>
          </a:xfrm>
          <a:prstGeom prst="roundRect">
            <a:avLst>
              <a:gd name="adj" fmla="val 8500"/>
            </a:avLst>
          </a:prstGeom>
          <a:solidFill>
            <a:srgbClr val="E7ECF5"/>
          </a:solidFill>
          <a:ln w="1397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>
            <a:no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3864"/>
                </a:solidFill>
                <a:latin typeface="Tahoma"/>
                <a:ea typeface="Tahoma"/>
                <a:cs typeface="Tahoma"/>
              </a:rPr>
              <a:t>بازنمایی ورودی مشترک</a:t>
            </a:r>
          </a:p>
          <a:p>
            <a:pPr rtl="1" algn="ctr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850" b="0" i="0">
                <a:solidFill>
                  <a:srgbClr val="4B5563"/>
                </a:solidFill>
                <a:latin typeface="Tahoma"/>
                <a:ea typeface="Tahoma"/>
                <a:cs typeface="Tahoma"/>
              </a:rPr>
              <a:t>فعالیت + فعالیت قبلی + موقعیت</a:t>
            </a:r>
          </a:p>
          <a:p>
            <a:pPr rtl="1" algn="ctr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850" b="0" i="0">
                <a:solidFill>
                  <a:srgbClr val="4B5563"/>
                </a:solidFill>
                <a:latin typeface="Tahoma"/>
                <a:ea typeface="Tahoma"/>
                <a:cs typeface="Tahoma"/>
              </a:rPr>
              <a:t>کدگذاری زمان، نقش و فراوانی فعالیت</a:t>
            </a:r>
          </a:p>
        </p:txBody>
      </p:sp>
      <p:sp>
        <p:nvSpPr>
          <p:cNvPr id="6" name="p2_stream_جریان ۱ — "/>
          <p:cNvSpPr/>
          <p:nvPr/>
        </p:nvSpPr>
        <p:spPr>
          <a:xfrm>
            <a:off x="7056120" y="2743200"/>
            <a:ext cx="3002280" cy="1554480"/>
          </a:xfrm>
          <a:prstGeom prst="roundRect">
            <a:avLst>
              <a:gd name="adj" fmla="val 5000"/>
            </a:avLst>
          </a:prstGeom>
          <a:solidFill>
            <a:srgbClr val="EAF2F9"/>
          </a:solidFill>
          <a:ln w="13970">
            <a:solidFill>
              <a:srgbClr val="5B8D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>
            <a:no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2A37"/>
                </a:solidFill>
                <a:latin typeface="Tahoma"/>
                <a:ea typeface="Tahoma"/>
                <a:cs typeface="Tahoma"/>
              </a:rPr>
              <a:t>جریان ۱ — Transformer</a:t>
            </a:r>
          </a:p>
          <a:p>
            <a:pPr rtl="1" algn="ctr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850" b="0" i="0">
                <a:solidFill>
                  <a:srgbClr val="4B5563"/>
                </a:solidFill>
                <a:latin typeface="Tahoma"/>
                <a:ea typeface="Tahoma"/>
                <a:cs typeface="Tahoma"/>
              </a:rPr>
              <a:t>کدگذار علّی</a:t>
            </a:r>
          </a:p>
          <a:p>
            <a:pPr rtl="1" algn="ctr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850" b="0" i="0">
                <a:solidFill>
                  <a:srgbClr val="4B5563"/>
                </a:solidFill>
                <a:latin typeface="Tahoma"/>
                <a:ea typeface="Tahoma"/>
                <a:cs typeface="Tahoma"/>
              </a:rPr>
              <a:t>یادگیری وابستگی‌های دوربرد</a:t>
            </a:r>
          </a:p>
          <a:p>
            <a:pPr rtl="1" algn="ctr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850" b="0" i="0">
                <a:solidFill>
                  <a:srgbClr val="4B5563"/>
                </a:solidFill>
                <a:latin typeface="Tahoma"/>
                <a:ea typeface="Tahoma"/>
                <a:cs typeface="Tahoma"/>
              </a:rPr>
              <a:t>ترتیب فعالیت‌ها</a:t>
            </a:r>
          </a:p>
        </p:txBody>
      </p:sp>
      <p:sp>
        <p:nvSpPr>
          <p:cNvPr id="7" name="p2_stream_جریان ۲ — "/>
          <p:cNvSpPr/>
          <p:nvPr/>
        </p:nvSpPr>
        <p:spPr>
          <a:xfrm>
            <a:off x="3733799" y="2743200"/>
            <a:ext cx="3002280" cy="1554480"/>
          </a:xfrm>
          <a:prstGeom prst="roundRect">
            <a:avLst>
              <a:gd name="adj" fmla="val 5000"/>
            </a:avLst>
          </a:prstGeom>
          <a:solidFill>
            <a:srgbClr val="E6F4EC"/>
          </a:solidFill>
          <a:ln w="13970">
            <a:solidFill>
              <a:srgbClr val="4E9C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>
            <a:no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2A37"/>
                </a:solidFill>
                <a:latin typeface="Tahoma"/>
                <a:ea typeface="Tahoma"/>
                <a:cs typeface="Tahoma"/>
              </a:rPr>
              <a:t>جریان ۲ — TCN</a:t>
            </a:r>
          </a:p>
          <a:p>
            <a:pPr rtl="1" algn="ctr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850" b="0" i="0">
                <a:solidFill>
                  <a:srgbClr val="4B5563"/>
                </a:solidFill>
                <a:latin typeface="Tahoma"/>
                <a:ea typeface="Tahoma"/>
                <a:cs typeface="Tahoma"/>
              </a:rPr>
              <a:t>شبکهٔ پیچشی زمانی</a:t>
            </a:r>
          </a:p>
          <a:p>
            <a:pPr rtl="1" algn="ctr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850" b="0" i="0">
                <a:solidFill>
                  <a:srgbClr val="4B5563"/>
                </a:solidFill>
                <a:latin typeface="Tahoma"/>
                <a:ea typeface="Tahoma"/>
                <a:cs typeface="Tahoma"/>
              </a:rPr>
              <a:t>الگوهای محلی در چند مقیاس</a:t>
            </a:r>
          </a:p>
          <a:p>
            <a:pPr rtl="1" algn="ctr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850" b="0" i="0">
                <a:solidFill>
                  <a:srgbClr val="4B5563"/>
                </a:solidFill>
                <a:latin typeface="Tahoma"/>
                <a:ea typeface="Tahoma"/>
                <a:cs typeface="Tahoma"/>
              </a:rPr>
              <a:t>کرنل ۳ با گشودگی ۱، ۲، ۴</a:t>
            </a:r>
          </a:p>
        </p:txBody>
      </p:sp>
      <p:sp>
        <p:nvSpPr>
          <p:cNvPr id="8" name="p2_stream_جریان ۳ — "/>
          <p:cNvSpPr/>
          <p:nvPr/>
        </p:nvSpPr>
        <p:spPr>
          <a:xfrm>
            <a:off x="411479" y="2743200"/>
            <a:ext cx="3002280" cy="1554480"/>
          </a:xfrm>
          <a:prstGeom prst="roundRect">
            <a:avLst>
              <a:gd name="adj" fmla="val 5000"/>
            </a:avLst>
          </a:prstGeom>
          <a:solidFill>
            <a:srgbClr val="EFECF9"/>
          </a:solidFill>
          <a:ln w="13970">
            <a:solidFill>
              <a:srgbClr val="7C6B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>
            <a:no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2A37"/>
                </a:solidFill>
                <a:latin typeface="Tahoma"/>
                <a:ea typeface="Tahoma"/>
                <a:cs typeface="Tahoma"/>
              </a:rPr>
              <a:t>جریان ۳ — GNN گراف پیشوند</a:t>
            </a:r>
          </a:p>
          <a:p>
            <a:pPr rtl="1" algn="ctr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850" b="0" i="0">
                <a:solidFill>
                  <a:srgbClr val="4B5563"/>
                </a:solidFill>
                <a:latin typeface="Tahoma"/>
                <a:ea typeface="Tahoma"/>
                <a:cs typeface="Tahoma"/>
              </a:rPr>
              <a:t>شبکهٔ عصبی گراف</a:t>
            </a:r>
          </a:p>
          <a:p>
            <a:pPr rtl="1" algn="ctr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850" b="0" i="0">
                <a:solidFill>
                  <a:srgbClr val="4B5563"/>
                </a:solidFill>
                <a:latin typeface="Tahoma"/>
                <a:ea typeface="Tahoma"/>
                <a:cs typeface="Tahoma"/>
              </a:rPr>
              <a:t>روابط بین فعالیت‌های پیشوند</a:t>
            </a:r>
          </a:p>
          <a:p>
            <a:pPr rtl="1" algn="ctr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850" b="0" i="0">
                <a:solidFill>
                  <a:srgbClr val="4B5563"/>
                </a:solidFill>
                <a:latin typeface="Tahoma"/>
                <a:ea typeface="Tahoma"/>
                <a:cs typeface="Tahoma"/>
              </a:rPr>
              <a:t>ورودی: گره‌ها و یال‌های گراف</a:t>
            </a:r>
          </a:p>
        </p:txBody>
      </p:sp>
      <p:cxnSp>
        <p:nvCxnSpPr>
          <p:cNvPr id="9" name="p2_fan"/>
          <p:cNvCxnSpPr/>
          <p:nvPr/>
        </p:nvCxnSpPr>
        <p:spPr>
          <a:xfrm>
            <a:off x="5554979" y="2286000"/>
            <a:ext cx="3002281" cy="457200"/>
          </a:xfrm>
          <a:prstGeom prst="line">
            <a:avLst/>
          </a:prstGeom>
          <a:ln w="17780">
            <a:solidFill>
              <a:srgbClr val="2E4A7A"/>
            </a:solidFill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p2_fan"/>
          <p:cNvCxnSpPr/>
          <p:nvPr/>
        </p:nvCxnSpPr>
        <p:spPr>
          <a:xfrm>
            <a:off x="5234940" y="2286000"/>
            <a:ext cx="0" cy="457200"/>
          </a:xfrm>
          <a:prstGeom prst="line">
            <a:avLst/>
          </a:prstGeom>
          <a:ln w="17780">
            <a:solidFill>
              <a:srgbClr val="2E4A7A"/>
            </a:solidFill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p2_fan"/>
          <p:cNvCxnSpPr/>
          <p:nvPr/>
        </p:nvCxnSpPr>
        <p:spPr>
          <a:xfrm flipH="1">
            <a:off x="1912619" y="2286000"/>
            <a:ext cx="3002281" cy="457200"/>
          </a:xfrm>
          <a:prstGeom prst="line">
            <a:avLst/>
          </a:prstGeom>
          <a:ln w="17780">
            <a:solidFill>
              <a:srgbClr val="2E4A7A"/>
            </a:solidFill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p2_cross"/>
          <p:cNvSpPr/>
          <p:nvPr/>
        </p:nvSpPr>
        <p:spPr>
          <a:xfrm>
            <a:off x="3733799" y="4663440"/>
            <a:ext cx="6324600" cy="1234440"/>
          </a:xfrm>
          <a:prstGeom prst="roundRect">
            <a:avLst>
              <a:gd name="adj" fmla="val 6296"/>
            </a:avLst>
          </a:prstGeom>
          <a:solidFill>
            <a:srgbClr val="FDEEDF"/>
          </a:solidFill>
          <a:ln w="13970">
            <a:solidFill>
              <a:srgbClr val="D98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>
            <a:no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F2A37"/>
                </a:solidFill>
                <a:latin typeface="Tahoma"/>
                <a:ea typeface="Tahoma"/>
                <a:cs typeface="Tahoma"/>
              </a:rPr>
              <a:t>ادغام توجه متقابل (Transformer و TCN)</a:t>
            </a:r>
          </a:p>
          <a:p>
            <a:pPr rtl="1" algn="ctr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850" b="0" i="0">
                <a:solidFill>
                  <a:srgbClr val="4B5563"/>
                </a:solidFill>
                <a:latin typeface="Tahoma"/>
                <a:ea typeface="Tahoma"/>
                <a:cs typeface="Tahoma"/>
              </a:rPr>
              <a:t>هر جریان با توجه به خروجی جریان دیگر بازبینی می‌شود</a:t>
            </a:r>
          </a:p>
          <a:p>
            <a:pPr rtl="1" algn="ctr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850" b="0" i="0">
                <a:solidFill>
                  <a:srgbClr val="4B5563"/>
                </a:solidFill>
                <a:latin typeface="Tahoma"/>
                <a:ea typeface="Tahoma"/>
                <a:cs typeface="Tahoma"/>
              </a:rPr>
              <a:t>توجه چندسری + اتصال باقیمانده</a:t>
            </a:r>
          </a:p>
        </p:txBody>
      </p:sp>
      <p:sp>
        <p:nvSpPr>
          <p:cNvPr id="13" name="p2_tri"/>
          <p:cNvSpPr/>
          <p:nvPr/>
        </p:nvSpPr>
        <p:spPr>
          <a:xfrm>
            <a:off x="411479" y="4663440"/>
            <a:ext cx="3002280" cy="1234440"/>
          </a:xfrm>
          <a:prstGeom prst="roundRect">
            <a:avLst>
              <a:gd name="adj" fmla="val 6296"/>
            </a:avLst>
          </a:prstGeom>
          <a:solidFill>
            <a:srgbClr val="FDEEDF"/>
          </a:solidFill>
          <a:ln w="13970">
            <a:solidFill>
              <a:srgbClr val="D98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>
            <a:no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F2A37"/>
                </a:solidFill>
                <a:latin typeface="Tahoma"/>
                <a:ea typeface="Tahoma"/>
                <a:cs typeface="Tahoma"/>
              </a:rPr>
              <a:t>ادغام سه‌جریانه</a:t>
            </a:r>
          </a:p>
          <a:p>
            <a:pPr rtl="1" algn="ctr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850" b="0" i="0">
                <a:solidFill>
                  <a:srgbClr val="4B5563"/>
                </a:solidFill>
                <a:latin typeface="Tahoma"/>
                <a:ea typeface="Tahoma"/>
                <a:cs typeface="Tahoma"/>
              </a:rPr>
              <a:t>ترتیب + گراف + تعامل</a:t>
            </a:r>
          </a:p>
          <a:p>
            <a:pPr rtl="1" algn="ctr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850" b="0" i="0">
                <a:solidFill>
                  <a:srgbClr val="4B5563"/>
                </a:solidFill>
                <a:latin typeface="Tahoma"/>
                <a:ea typeface="Tahoma"/>
                <a:cs typeface="Tahoma"/>
              </a:rPr>
              <a:t>ساخت بازنمایی نهایی</a:t>
            </a:r>
          </a:p>
        </p:txBody>
      </p:sp>
      <p:cxnSp>
        <p:nvCxnSpPr>
          <p:cNvPr id="14" name="p2_to_cross"/>
          <p:cNvCxnSpPr/>
          <p:nvPr/>
        </p:nvCxnSpPr>
        <p:spPr>
          <a:xfrm>
            <a:off x="8557260" y="4297680"/>
            <a:ext cx="0" cy="365760"/>
          </a:xfrm>
          <a:prstGeom prst="line">
            <a:avLst/>
          </a:prstGeom>
          <a:ln w="20320">
            <a:solidFill>
              <a:srgbClr val="2E4A7A"/>
            </a:solidFill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p2_to_cross"/>
          <p:cNvCxnSpPr/>
          <p:nvPr/>
        </p:nvCxnSpPr>
        <p:spPr>
          <a:xfrm>
            <a:off x="5234940" y="4297680"/>
            <a:ext cx="0" cy="365760"/>
          </a:xfrm>
          <a:prstGeom prst="line">
            <a:avLst/>
          </a:prstGeom>
          <a:ln w="20320">
            <a:solidFill>
              <a:srgbClr val="2E4A7A"/>
            </a:solidFill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p2_to_tri"/>
          <p:cNvCxnSpPr/>
          <p:nvPr/>
        </p:nvCxnSpPr>
        <p:spPr>
          <a:xfrm>
            <a:off x="1912619" y="4297680"/>
            <a:ext cx="0" cy="365760"/>
          </a:xfrm>
          <a:prstGeom prst="line">
            <a:avLst/>
          </a:prstGeom>
          <a:ln w="20320">
            <a:solidFill>
              <a:srgbClr val="2E4A7A"/>
            </a:solidFill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p2_head"/>
          <p:cNvCxnSpPr/>
          <p:nvPr/>
        </p:nvCxnSpPr>
        <p:spPr>
          <a:xfrm flipH="1">
            <a:off x="3413759" y="5280659"/>
            <a:ext cx="320040" cy="0"/>
          </a:xfrm>
          <a:prstGeom prst="line">
            <a:avLst/>
          </a:prstGeom>
          <a:ln w="25400">
            <a:solidFill>
              <a:srgbClr val="1F3864"/>
            </a:solidFill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"/>
          <p:cNvSpPr txBox="1"/>
          <p:nvPr/>
        </p:nvSpPr>
        <p:spPr>
          <a:xfrm>
            <a:off x="411480" y="6053328"/>
            <a:ext cx="964692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no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Tahoma"/>
                <a:ea typeface="Tahoma"/>
                <a:cs typeface="Tahoma"/>
              </a:rPr>
              <a:t>سه جریان هم‌زمان و مستقل محاسبه می‌شوند؛ ادغام اول بین دو جریان و ادغام نهایی با جریان گراف انجام می‌شود.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hase_badge"/>
          <p:cNvSpPr/>
          <p:nvPr/>
        </p:nvSpPr>
        <p:spPr>
          <a:xfrm>
            <a:off x="10241280" y="228600"/>
            <a:ext cx="1536192" cy="91440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فاز ۳</a:t>
            </a:r>
          </a:p>
          <a:p>
            <a:pPr rtl="1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850" b="0" i="0">
                <a:solidFill>
                  <a:srgbClr val="D8E0EE"/>
                </a:solidFill>
                <a:latin typeface="Tahoma"/>
                <a:ea typeface="Tahoma"/>
                <a:cs typeface="Tahoma"/>
              </a:rPr>
              <a:t>طراحی جزئی</a:t>
            </a:r>
          </a:p>
        </p:txBody>
      </p:sp>
      <p:sp>
        <p:nvSpPr>
          <p:cNvPr id="3" name="slide_title"/>
          <p:cNvSpPr txBox="1"/>
          <p:nvPr/>
        </p:nvSpPr>
        <p:spPr>
          <a:xfrm>
            <a:off x="411480" y="219456"/>
            <a:ext cx="9646920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no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F3864"/>
                </a:solidFill>
                <a:latin typeface="Tahoma"/>
                <a:ea typeface="Tahoma"/>
                <a:cs typeface="Tahoma"/>
              </a:rPr>
              <a:t>طراحی جزئی: لایه‌ها، ابعاد و سرهای خروجی</a:t>
            </a:r>
          </a:p>
        </p:txBody>
      </p:sp>
      <p:sp>
        <p:nvSpPr>
          <p:cNvPr id="4" name="slide_subtitle"/>
          <p:cNvSpPr txBox="1"/>
          <p:nvPr/>
        </p:nvSpPr>
        <p:spPr>
          <a:xfrm>
            <a:off x="411480" y="786384"/>
            <a:ext cx="964692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no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280"/>
                </a:solidFill>
                <a:latin typeface="Tahoma"/>
                <a:ea typeface="Tahoma"/>
                <a:cs typeface="Tahoma"/>
              </a:rPr>
              <a:t>ابعاد پایه: d_model = ۲۵۶</a:t>
            </a:r>
          </a:p>
        </p:txBody>
      </p:sp>
      <p:sp>
        <p:nvSpPr>
          <p:cNvPr id="5" name="p3_enc_کدگذاری "/>
          <p:cNvSpPr/>
          <p:nvPr/>
        </p:nvSpPr>
        <p:spPr>
          <a:xfrm>
            <a:off x="7056120" y="1325880"/>
            <a:ext cx="3002280" cy="777240"/>
          </a:xfrm>
          <a:prstGeom prst="roundRect">
            <a:avLst>
              <a:gd name="adj" fmla="val 10000"/>
            </a:avLst>
          </a:prstGeom>
          <a:solidFill>
            <a:srgbClr val="EAF2F9"/>
          </a:solidFill>
          <a:ln w="13970">
            <a:solidFill>
              <a:srgbClr val="5B8D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>
            <a:no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2A37"/>
                </a:solidFill>
                <a:latin typeface="Tahoma"/>
                <a:ea typeface="Tahoma"/>
                <a:cs typeface="Tahoma"/>
              </a:rPr>
              <a:t>کدگذاری ورودی (d_model = ۲۵۶)</a:t>
            </a:r>
          </a:p>
          <a:p>
            <a:pPr rtl="1" algn="ctr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800" b="0" i="0">
                <a:solidFill>
                  <a:srgbClr val="4B5563"/>
                </a:solidFill>
                <a:latin typeface="Tahoma"/>
                <a:ea typeface="Tahoma"/>
                <a:cs typeface="Tahoma"/>
              </a:rPr>
              <a:t>تعبیهٔ فعالیت و فعالیت قبلی</a:t>
            </a:r>
          </a:p>
          <a:p>
            <a:pPr rtl="1" algn="ctr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800" b="0" i="0">
                <a:solidFill>
                  <a:srgbClr val="4B5563"/>
                </a:solidFill>
                <a:latin typeface="Tahoma"/>
                <a:ea typeface="Tahoma"/>
                <a:cs typeface="Tahoma"/>
              </a:rPr>
              <a:t>تعبیهٔ موقعیت و موقعیت نسبی</a:t>
            </a:r>
          </a:p>
        </p:txBody>
      </p:sp>
      <p:sp>
        <p:nvSpPr>
          <p:cNvPr id="6" name="p3_enc_کدگذاری "/>
          <p:cNvSpPr/>
          <p:nvPr/>
        </p:nvSpPr>
        <p:spPr>
          <a:xfrm>
            <a:off x="3733799" y="1325880"/>
            <a:ext cx="3002280" cy="777240"/>
          </a:xfrm>
          <a:prstGeom prst="roundRect">
            <a:avLst>
              <a:gd name="adj" fmla="val 10000"/>
            </a:avLst>
          </a:prstGeom>
          <a:solidFill>
            <a:srgbClr val="EAF2F9"/>
          </a:solidFill>
          <a:ln w="13970">
            <a:solidFill>
              <a:srgbClr val="5B8D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>
            <a:no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2A37"/>
                </a:solidFill>
                <a:latin typeface="Tahoma"/>
                <a:ea typeface="Tahoma"/>
                <a:cs typeface="Tahoma"/>
              </a:rPr>
              <a:t>کدگذاری زمانی</a:t>
            </a:r>
          </a:p>
          <a:p>
            <a:pPr rtl="1" algn="ctr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800" b="0" i="0">
                <a:solidFill>
                  <a:srgbClr val="4B5563"/>
                </a:solidFill>
                <a:latin typeface="Tahoma"/>
                <a:ea typeface="Tahoma"/>
                <a:cs typeface="Tahoma"/>
              </a:rPr>
              <a:t>لگاریتم فاصلهٔ زمانی و زمان تجمعی</a:t>
            </a:r>
          </a:p>
          <a:p>
            <a:pPr rtl="1" algn="ctr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800" b="0" i="0">
                <a:solidFill>
                  <a:srgbClr val="4B5563"/>
                </a:solidFill>
                <a:latin typeface="Tahoma"/>
                <a:ea typeface="Tahoma"/>
                <a:cs typeface="Tahoma"/>
              </a:rPr>
              <a:t>کدگذار نقش و فراوانی فعالیت</a:t>
            </a:r>
          </a:p>
        </p:txBody>
      </p:sp>
      <p:sp>
        <p:nvSpPr>
          <p:cNvPr id="7" name="p3_enc_نرمال‌سا"/>
          <p:cNvSpPr/>
          <p:nvPr/>
        </p:nvSpPr>
        <p:spPr>
          <a:xfrm>
            <a:off x="411479" y="1325880"/>
            <a:ext cx="3002280" cy="777240"/>
          </a:xfrm>
          <a:prstGeom prst="roundRect">
            <a:avLst>
              <a:gd name="adj" fmla="val 10000"/>
            </a:avLst>
          </a:prstGeom>
          <a:solidFill>
            <a:srgbClr val="F4F6F9"/>
          </a:solidFill>
          <a:ln w="13970">
            <a:solidFill>
              <a:srgbClr val="B0B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>
            <a:no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2A37"/>
                </a:solidFill>
                <a:latin typeface="Tahoma"/>
                <a:ea typeface="Tahoma"/>
                <a:cs typeface="Tahoma"/>
              </a:rPr>
              <a:t>نرمال‌سازی و تنظیم</a:t>
            </a:r>
          </a:p>
          <a:p>
            <a:pPr rtl="1" algn="ctr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800" b="0" i="0">
                <a:solidFill>
                  <a:srgbClr val="4B5563"/>
                </a:solidFill>
                <a:latin typeface="Tahoma"/>
                <a:ea typeface="Tahoma"/>
                <a:cs typeface="Tahoma"/>
              </a:rPr>
              <a:t>LayerNorm • Dropout ۰٫۰۵</a:t>
            </a:r>
          </a:p>
          <a:p>
            <a:pPr rtl="1" algn="ctr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800" b="0" i="0">
                <a:solidFill>
                  <a:srgbClr val="4B5563"/>
                </a:solidFill>
                <a:latin typeface="Tahoma"/>
                <a:ea typeface="Tahoma"/>
                <a:cs typeface="Tahoma"/>
              </a:rPr>
              <a:t>ماسک پدینگ و ماسک علّی</a:t>
            </a:r>
          </a:p>
        </p:txBody>
      </p:sp>
      <p:sp>
        <p:nvSpPr>
          <p:cNvPr id="8" name="p3_enc2_کدگذار T"/>
          <p:cNvSpPr/>
          <p:nvPr/>
        </p:nvSpPr>
        <p:spPr>
          <a:xfrm>
            <a:off x="7056120" y="2377440"/>
            <a:ext cx="3002280" cy="960120"/>
          </a:xfrm>
          <a:prstGeom prst="roundRect">
            <a:avLst>
              <a:gd name="adj" fmla="val 8095"/>
            </a:avLst>
          </a:prstGeom>
          <a:solidFill>
            <a:srgbClr val="EAF2F9"/>
          </a:solidFill>
          <a:ln w="13970">
            <a:solidFill>
              <a:srgbClr val="5B8D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>
            <a:no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2A37"/>
                </a:solidFill>
                <a:latin typeface="Tahoma"/>
                <a:ea typeface="Tahoma"/>
                <a:cs typeface="Tahoma"/>
              </a:rPr>
              <a:t>کدگذار Transformer</a:t>
            </a:r>
          </a:p>
          <a:p>
            <a:pPr rtl="1" algn="ctr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800" b="0" i="0">
                <a:solidFill>
                  <a:srgbClr val="4B5563"/>
                </a:solidFill>
                <a:latin typeface="Tahoma"/>
                <a:ea typeface="Tahoma"/>
                <a:cs typeface="Tahoma"/>
              </a:rPr>
              <a:t>۶ لایه • ۸ سر توجه</a:t>
            </a:r>
          </a:p>
          <a:p>
            <a:pPr rtl="1" algn="ctr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800" b="0" i="0">
                <a:solidFill>
                  <a:srgbClr val="4B5563"/>
                </a:solidFill>
                <a:latin typeface="Tahoma"/>
                <a:ea typeface="Tahoma"/>
                <a:cs typeface="Tahoma"/>
              </a:rPr>
              <a:t>بُعد پیش‌خور ۱۰۲۴</a:t>
            </a:r>
          </a:p>
          <a:p>
            <a:pPr rtl="1" algn="ctr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800" b="0" i="0">
                <a:solidFill>
                  <a:srgbClr val="4B5563"/>
                </a:solidFill>
                <a:latin typeface="Tahoma"/>
                <a:ea typeface="Tahoma"/>
                <a:cs typeface="Tahoma"/>
              </a:rPr>
              <a:t>باقیمانده + LayerNorm</a:t>
            </a:r>
          </a:p>
        </p:txBody>
      </p:sp>
      <p:sp>
        <p:nvSpPr>
          <p:cNvPr id="9" name="p3_enc2_بلوک TCN"/>
          <p:cNvSpPr/>
          <p:nvPr/>
        </p:nvSpPr>
        <p:spPr>
          <a:xfrm>
            <a:off x="3733799" y="2377440"/>
            <a:ext cx="3002280" cy="960120"/>
          </a:xfrm>
          <a:prstGeom prst="roundRect">
            <a:avLst>
              <a:gd name="adj" fmla="val 8095"/>
            </a:avLst>
          </a:prstGeom>
          <a:solidFill>
            <a:srgbClr val="E6F4EC"/>
          </a:solidFill>
          <a:ln w="13970">
            <a:solidFill>
              <a:srgbClr val="4E9C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>
            <a:no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2A37"/>
                </a:solidFill>
                <a:latin typeface="Tahoma"/>
                <a:ea typeface="Tahoma"/>
                <a:cs typeface="Tahoma"/>
              </a:rPr>
              <a:t>بلوک TCN</a:t>
            </a:r>
          </a:p>
          <a:p>
            <a:pPr rtl="1" algn="ctr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800" b="0" i="0">
                <a:solidFill>
                  <a:srgbClr val="4B5563"/>
                </a:solidFill>
                <a:latin typeface="Tahoma"/>
                <a:ea typeface="Tahoma"/>
                <a:cs typeface="Tahoma"/>
              </a:rPr>
              <a:t>۱۰ پیچش • کرنل ۳</a:t>
            </a:r>
          </a:p>
          <a:p>
            <a:pPr rtl="1" algn="ctr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800" b="0" i="0">
                <a:solidFill>
                  <a:srgbClr val="4B5563"/>
                </a:solidFill>
                <a:latin typeface="Tahoma"/>
                <a:ea typeface="Tahoma"/>
                <a:cs typeface="Tahoma"/>
              </a:rPr>
              <a:t>گشودگی ۱، ۲، ۴</a:t>
            </a:r>
          </a:p>
          <a:p>
            <a:pPr rtl="1" algn="ctr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800" b="0" i="0">
                <a:solidFill>
                  <a:srgbClr val="4B5563"/>
                </a:solidFill>
                <a:latin typeface="Tahoma"/>
                <a:ea typeface="Tahoma"/>
                <a:cs typeface="Tahoma"/>
              </a:rPr>
              <a:t>باقیمانده + LayerNorm + GELU</a:t>
            </a:r>
          </a:p>
        </p:txBody>
      </p:sp>
      <p:sp>
        <p:nvSpPr>
          <p:cNvPr id="10" name="p3_enc2_گراف پیش"/>
          <p:cNvSpPr/>
          <p:nvPr/>
        </p:nvSpPr>
        <p:spPr>
          <a:xfrm>
            <a:off x="411479" y="2377440"/>
            <a:ext cx="3002280" cy="960120"/>
          </a:xfrm>
          <a:prstGeom prst="roundRect">
            <a:avLst>
              <a:gd name="adj" fmla="val 8095"/>
            </a:avLst>
          </a:prstGeom>
          <a:solidFill>
            <a:srgbClr val="EFECF9"/>
          </a:solidFill>
          <a:ln w="13970">
            <a:solidFill>
              <a:srgbClr val="7C6B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>
            <a:no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2A37"/>
                </a:solidFill>
                <a:latin typeface="Tahoma"/>
                <a:ea typeface="Tahoma"/>
                <a:cs typeface="Tahoma"/>
              </a:rPr>
              <a:t>گراف پیشوند (GNN)</a:t>
            </a:r>
          </a:p>
          <a:p>
            <a:pPr rtl="1" algn="ctr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800" b="0" i="0">
                <a:solidFill>
                  <a:srgbClr val="4B5563"/>
                </a:solidFill>
                <a:latin typeface="Tahoma"/>
                <a:ea typeface="Tahoma"/>
                <a:cs typeface="Tahoma"/>
              </a:rPr>
              <a:t>تعبیهٔ فعالیت + ویژگی گره</a:t>
            </a:r>
          </a:p>
          <a:p>
            <a:pPr rtl="1" algn="ctr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800" b="0" i="0">
                <a:solidFill>
                  <a:srgbClr val="4B5563"/>
                </a:solidFill>
                <a:latin typeface="Tahoma"/>
                <a:ea typeface="Tahoma"/>
                <a:cs typeface="Tahoma"/>
              </a:rPr>
              <a:t>۲ لایهٔ GCN + LayerNorm + GELU</a:t>
            </a:r>
          </a:p>
          <a:p>
            <a:pPr rtl="1" algn="ctr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800" b="0" i="0">
                <a:solidFill>
                  <a:srgbClr val="4B5563"/>
                </a:solidFill>
                <a:latin typeface="Tahoma"/>
                <a:ea typeface="Tahoma"/>
                <a:cs typeface="Tahoma"/>
              </a:rPr>
              <a:t>تجمیع میانگین ماسک‌شده</a:t>
            </a:r>
          </a:p>
        </p:txBody>
      </p:sp>
      <p:cxnSp>
        <p:nvCxnSpPr>
          <p:cNvPr id="11" name="p3_to_enc"/>
          <p:cNvCxnSpPr/>
          <p:nvPr/>
        </p:nvCxnSpPr>
        <p:spPr>
          <a:xfrm>
            <a:off x="8557260" y="2103120"/>
            <a:ext cx="0" cy="274320"/>
          </a:xfrm>
          <a:prstGeom prst="line">
            <a:avLst/>
          </a:prstGeom>
          <a:ln w="17780">
            <a:solidFill>
              <a:srgbClr val="2E4A7A"/>
            </a:solidFill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p3_to_enc"/>
          <p:cNvCxnSpPr/>
          <p:nvPr/>
        </p:nvCxnSpPr>
        <p:spPr>
          <a:xfrm>
            <a:off x="5234940" y="2103120"/>
            <a:ext cx="0" cy="274320"/>
          </a:xfrm>
          <a:prstGeom prst="line">
            <a:avLst/>
          </a:prstGeom>
          <a:ln w="17780">
            <a:solidFill>
              <a:srgbClr val="2E4A7A"/>
            </a:solidFill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p3_to_enc"/>
          <p:cNvCxnSpPr/>
          <p:nvPr/>
        </p:nvCxnSpPr>
        <p:spPr>
          <a:xfrm>
            <a:off x="1912619" y="2103120"/>
            <a:ext cx="0" cy="274320"/>
          </a:xfrm>
          <a:prstGeom prst="line">
            <a:avLst/>
          </a:prstGeom>
          <a:ln w="17780">
            <a:solidFill>
              <a:srgbClr val="2E4A7A"/>
            </a:solidFill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3_cross"/>
          <p:cNvSpPr/>
          <p:nvPr/>
        </p:nvSpPr>
        <p:spPr>
          <a:xfrm>
            <a:off x="3733799" y="3611880"/>
            <a:ext cx="6324600" cy="822960"/>
          </a:xfrm>
          <a:prstGeom prst="roundRect">
            <a:avLst>
              <a:gd name="adj" fmla="val 9444"/>
            </a:avLst>
          </a:prstGeom>
          <a:solidFill>
            <a:srgbClr val="FDEEDF"/>
          </a:solidFill>
          <a:ln w="13970">
            <a:solidFill>
              <a:srgbClr val="D98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>
            <a:no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2A37"/>
                </a:solidFill>
                <a:latin typeface="Tahoma"/>
                <a:ea typeface="Tahoma"/>
                <a:cs typeface="Tahoma"/>
              </a:rPr>
              <a:t>ادغام توجه متقابل</a:t>
            </a:r>
          </a:p>
          <a:p>
            <a:pPr rtl="1" algn="ctr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800" b="0" i="0">
                <a:solidFill>
                  <a:srgbClr val="4B5563"/>
                </a:solidFill>
                <a:latin typeface="Tahoma"/>
                <a:ea typeface="Tahoma"/>
                <a:cs typeface="Tahoma"/>
              </a:rPr>
              <a:t>توجه چندسری + اتصال باقیمانده</a:t>
            </a:r>
          </a:p>
          <a:p>
            <a:pPr rtl="1" algn="ctr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800" b="0" i="0">
                <a:solidFill>
                  <a:srgbClr val="4B5563"/>
                </a:solidFill>
                <a:latin typeface="Tahoma"/>
                <a:ea typeface="Tahoma"/>
                <a:cs typeface="Tahoma"/>
              </a:rPr>
              <a:t>FFN + LayerNorm</a:t>
            </a:r>
          </a:p>
        </p:txBody>
      </p:sp>
      <p:sp>
        <p:nvSpPr>
          <p:cNvPr id="15" name="p3_pool"/>
          <p:cNvSpPr/>
          <p:nvPr/>
        </p:nvSpPr>
        <p:spPr>
          <a:xfrm>
            <a:off x="411479" y="3611880"/>
            <a:ext cx="3002280" cy="822960"/>
          </a:xfrm>
          <a:prstGeom prst="roundRect">
            <a:avLst>
              <a:gd name="adj" fmla="val 9444"/>
            </a:avLst>
          </a:prstGeom>
          <a:solidFill>
            <a:srgbClr val="F4F6F9"/>
          </a:solidFill>
          <a:ln w="13970">
            <a:solidFill>
              <a:srgbClr val="B0B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>
            <a:no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2A37"/>
                </a:solidFill>
                <a:latin typeface="Tahoma"/>
                <a:ea typeface="Tahoma"/>
                <a:cs typeface="Tahoma"/>
              </a:rPr>
              <a:t>ادغام ترتیبی</a:t>
            </a:r>
          </a:p>
          <a:p>
            <a:pPr rtl="1" algn="ctr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800" b="0" i="0">
                <a:solidFill>
                  <a:srgbClr val="4B5563"/>
                </a:solidFill>
                <a:latin typeface="Tahoma"/>
                <a:ea typeface="Tahoma"/>
                <a:cs typeface="Tahoma"/>
              </a:rPr>
              <a:t>آخرین موقعیت معتبر پیشوند (پیش‌فرض)</a:t>
            </a:r>
          </a:p>
          <a:p>
            <a:pPr rtl="1" algn="ctr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800" b="0" i="0">
                <a:solidFill>
                  <a:srgbClr val="4B5563"/>
                </a:solidFill>
                <a:latin typeface="Tahoma"/>
                <a:ea typeface="Tahoma"/>
                <a:cs typeface="Tahoma"/>
              </a:rPr>
              <a:t>خروجی یک بردار برای هر پیشوند</a:t>
            </a:r>
          </a:p>
        </p:txBody>
      </p:sp>
      <p:cxnSp>
        <p:nvCxnSpPr>
          <p:cNvPr id="16" name="p3_to_fuse"/>
          <p:cNvCxnSpPr/>
          <p:nvPr/>
        </p:nvCxnSpPr>
        <p:spPr>
          <a:xfrm>
            <a:off x="8557260" y="3337560"/>
            <a:ext cx="0" cy="274320"/>
          </a:xfrm>
          <a:prstGeom prst="line">
            <a:avLst/>
          </a:prstGeom>
          <a:ln w="17780">
            <a:solidFill>
              <a:srgbClr val="2E4A7A"/>
            </a:solidFill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p3_to_fuse"/>
          <p:cNvCxnSpPr/>
          <p:nvPr/>
        </p:nvCxnSpPr>
        <p:spPr>
          <a:xfrm>
            <a:off x="5234940" y="3337560"/>
            <a:ext cx="0" cy="274320"/>
          </a:xfrm>
          <a:prstGeom prst="line">
            <a:avLst/>
          </a:prstGeom>
          <a:ln w="17780">
            <a:solidFill>
              <a:srgbClr val="2E4A7A"/>
            </a:solidFill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p3_to_fuse"/>
          <p:cNvCxnSpPr/>
          <p:nvPr/>
        </p:nvCxnSpPr>
        <p:spPr>
          <a:xfrm>
            <a:off x="1912619" y="3337560"/>
            <a:ext cx="0" cy="274320"/>
          </a:xfrm>
          <a:prstGeom prst="line">
            <a:avLst/>
          </a:prstGeom>
          <a:ln w="17780">
            <a:solidFill>
              <a:srgbClr val="2E4A7A"/>
            </a:solidFill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p3_mlp"/>
          <p:cNvSpPr/>
          <p:nvPr/>
        </p:nvSpPr>
        <p:spPr>
          <a:xfrm>
            <a:off x="411480" y="4709160"/>
            <a:ext cx="9646920" cy="685800"/>
          </a:xfrm>
          <a:prstGeom prst="roundRect">
            <a:avLst>
              <a:gd name="adj" fmla="val 11333"/>
            </a:avLst>
          </a:prstGeom>
          <a:solidFill>
            <a:srgbClr val="FDEEDF"/>
          </a:solidFill>
          <a:ln w="13970">
            <a:solidFill>
              <a:srgbClr val="D98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>
            <a:no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2A37"/>
                </a:solidFill>
                <a:latin typeface="Tahoma"/>
                <a:ea typeface="Tahoma"/>
                <a:cs typeface="Tahoma"/>
              </a:rPr>
              <a:t>ادغام نهایی — MLP سه‌جریانه</a:t>
            </a:r>
          </a:p>
          <a:p>
            <a:pPr rtl="1" algn="ctr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800" b="0" i="0">
                <a:solidFill>
                  <a:srgbClr val="4B5563"/>
                </a:solidFill>
                <a:latin typeface="Tahoma"/>
                <a:ea typeface="Tahoma"/>
                <a:cs typeface="Tahoma"/>
              </a:rPr>
              <a:t>الحاق [بازنمایی ترتیبی، گراف، تعامل] • ابعاد ۷۶۸ به ۵۱۲ به ۲۵۶  •  بازنمایی مشترک: LayerNorm + Linear + GELU</a:t>
            </a:r>
          </a:p>
        </p:txBody>
      </p:sp>
      <p:cxnSp>
        <p:nvCxnSpPr>
          <p:cNvPr id="20" name="p3_to_mlp_r"/>
          <p:cNvCxnSpPr/>
          <p:nvPr/>
        </p:nvCxnSpPr>
        <p:spPr>
          <a:xfrm>
            <a:off x="9563100" y="4434840"/>
            <a:ext cx="0" cy="274320"/>
          </a:xfrm>
          <a:prstGeom prst="line">
            <a:avLst/>
          </a:prstGeom>
          <a:ln w="17780">
            <a:solidFill>
              <a:srgbClr val="2E4A7A"/>
            </a:solidFill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p3_to_mlp_l"/>
          <p:cNvCxnSpPr/>
          <p:nvPr/>
        </p:nvCxnSpPr>
        <p:spPr>
          <a:xfrm>
            <a:off x="1912619" y="4434840"/>
            <a:ext cx="0" cy="274320"/>
          </a:xfrm>
          <a:prstGeom prst="line">
            <a:avLst/>
          </a:prstGeom>
          <a:ln w="17780">
            <a:solidFill>
              <a:srgbClr val="2E4A7A"/>
            </a:solidFill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p3_head_سر فعالی"/>
          <p:cNvSpPr/>
          <p:nvPr/>
        </p:nvSpPr>
        <p:spPr>
          <a:xfrm>
            <a:off x="7818120" y="5669280"/>
            <a:ext cx="2240280" cy="777240"/>
          </a:xfrm>
          <a:prstGeom prst="roundRect">
            <a:avLst>
              <a:gd name="adj" fmla="val 10000"/>
            </a:avLst>
          </a:prstGeom>
          <a:solidFill>
            <a:srgbClr val="EAF2F9"/>
          </a:solidFill>
          <a:ln w="13970">
            <a:solidFill>
              <a:srgbClr val="5B8D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>
            <a:no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2A37"/>
                </a:solidFill>
                <a:latin typeface="Tahoma"/>
                <a:ea typeface="Tahoma"/>
                <a:cs typeface="Tahoma"/>
              </a:rPr>
              <a:t>سر فعالیت</a:t>
            </a:r>
          </a:p>
          <a:p>
            <a:pPr rtl="1" algn="ctr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800" b="0" i="0">
                <a:solidFill>
                  <a:srgbClr val="4B5563"/>
                </a:solidFill>
                <a:latin typeface="Tahoma"/>
                <a:ea typeface="Tahoma"/>
                <a:cs typeface="Tahoma"/>
              </a:rPr>
              <a:t>فعالیت بعدی</a:t>
            </a:r>
          </a:p>
          <a:p>
            <a:pPr rtl="1" algn="ctr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800" b="0" i="0">
                <a:solidFill>
                  <a:srgbClr val="4B5563"/>
                </a:solidFill>
                <a:latin typeface="Tahoma"/>
                <a:ea typeface="Tahoma"/>
                <a:cs typeface="Tahoma"/>
              </a:rPr>
              <a:t>خروجی دسته‌بندی</a:t>
            </a:r>
          </a:p>
        </p:txBody>
      </p:sp>
      <p:sp>
        <p:nvSpPr>
          <p:cNvPr id="23" name="p3_head_سر زمان "/>
          <p:cNvSpPr/>
          <p:nvPr/>
        </p:nvSpPr>
        <p:spPr>
          <a:xfrm>
            <a:off x="5349240" y="5669280"/>
            <a:ext cx="2240280" cy="777240"/>
          </a:xfrm>
          <a:prstGeom prst="roundRect">
            <a:avLst>
              <a:gd name="adj" fmla="val 10000"/>
            </a:avLst>
          </a:prstGeom>
          <a:solidFill>
            <a:srgbClr val="E6F4EC"/>
          </a:solidFill>
          <a:ln w="13970">
            <a:solidFill>
              <a:srgbClr val="4E9C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>
            <a:no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2A37"/>
                </a:solidFill>
                <a:latin typeface="Tahoma"/>
                <a:ea typeface="Tahoma"/>
                <a:cs typeface="Tahoma"/>
              </a:rPr>
              <a:t>سر زمان باقی‌مانده</a:t>
            </a:r>
          </a:p>
          <a:p>
            <a:pPr rtl="1" algn="ctr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800" b="0" i="0">
                <a:solidFill>
                  <a:srgbClr val="4B5563"/>
                </a:solidFill>
                <a:latin typeface="Tahoma"/>
                <a:ea typeface="Tahoma"/>
                <a:cs typeface="Tahoma"/>
              </a:rPr>
              <a:t>زمان باقی‌مانده</a:t>
            </a:r>
          </a:p>
          <a:p>
            <a:pPr rtl="1" algn="ctr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800" b="0" i="0">
                <a:solidFill>
                  <a:srgbClr val="4B5563"/>
                </a:solidFill>
                <a:latin typeface="Tahoma"/>
                <a:ea typeface="Tahoma"/>
                <a:cs typeface="Tahoma"/>
              </a:rPr>
              <a:t>رگرسیون</a:t>
            </a:r>
          </a:p>
        </p:txBody>
      </p:sp>
      <p:sp>
        <p:nvSpPr>
          <p:cNvPr id="24" name="p3_head_سر بهبود"/>
          <p:cNvSpPr/>
          <p:nvPr/>
        </p:nvSpPr>
        <p:spPr>
          <a:xfrm>
            <a:off x="2880359" y="5669280"/>
            <a:ext cx="2240280" cy="777240"/>
          </a:xfrm>
          <a:prstGeom prst="roundRect">
            <a:avLst>
              <a:gd name="adj" fmla="val 10000"/>
            </a:avLst>
          </a:prstGeom>
          <a:solidFill>
            <a:srgbClr val="E6F4EC"/>
          </a:solidFill>
          <a:ln w="13970">
            <a:solidFill>
              <a:srgbClr val="4E9C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>
            <a:no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2A37"/>
                </a:solidFill>
                <a:latin typeface="Tahoma"/>
                <a:ea typeface="Tahoma"/>
                <a:cs typeface="Tahoma"/>
              </a:rPr>
              <a:t>سر بهبود</a:t>
            </a:r>
          </a:p>
          <a:p>
            <a:pPr rtl="1" algn="ctr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800" b="0" i="0">
                <a:solidFill>
                  <a:srgbClr val="4B5563"/>
                </a:solidFill>
                <a:latin typeface="Tahoma"/>
                <a:ea typeface="Tahoma"/>
                <a:cs typeface="Tahoma"/>
              </a:rPr>
              <a:t>کاهش تأخیر</a:t>
            </a:r>
          </a:p>
          <a:p>
            <a:pPr rtl="1" algn="ctr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800" b="0" i="0">
                <a:solidFill>
                  <a:srgbClr val="4B5563"/>
                </a:solidFill>
                <a:latin typeface="Tahoma"/>
                <a:ea typeface="Tahoma"/>
                <a:cs typeface="Tahoma"/>
              </a:rPr>
              <a:t>رگرسیون + Tanh</a:t>
            </a:r>
          </a:p>
        </p:txBody>
      </p:sp>
      <p:sp>
        <p:nvSpPr>
          <p:cNvPr id="25" name="p3_head_سر گلوگا"/>
          <p:cNvSpPr/>
          <p:nvPr/>
        </p:nvSpPr>
        <p:spPr>
          <a:xfrm>
            <a:off x="411479" y="5669280"/>
            <a:ext cx="2240280" cy="777240"/>
          </a:xfrm>
          <a:prstGeom prst="roundRect">
            <a:avLst>
              <a:gd name="adj" fmla="val 10000"/>
            </a:avLst>
          </a:prstGeom>
          <a:solidFill>
            <a:srgbClr val="EFECF9"/>
          </a:solidFill>
          <a:ln w="13970">
            <a:solidFill>
              <a:srgbClr val="7C6B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>
            <a:no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2A37"/>
                </a:solidFill>
                <a:latin typeface="Tahoma"/>
                <a:ea typeface="Tahoma"/>
                <a:cs typeface="Tahoma"/>
              </a:rPr>
              <a:t>سر گلوگاه</a:t>
            </a:r>
          </a:p>
          <a:p>
            <a:pPr rtl="1" algn="ctr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800" b="0" i="0">
                <a:solidFill>
                  <a:srgbClr val="4B5563"/>
                </a:solidFill>
                <a:latin typeface="Tahoma"/>
                <a:ea typeface="Tahoma"/>
                <a:cs typeface="Tahoma"/>
              </a:rPr>
              <a:t>گلوگاه هر موقعیت</a:t>
            </a:r>
          </a:p>
          <a:p>
            <a:pPr rtl="1" algn="ctr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800" b="0" i="0">
                <a:solidFill>
                  <a:srgbClr val="4B5563"/>
                </a:solidFill>
                <a:latin typeface="Tahoma"/>
                <a:ea typeface="Tahoma"/>
                <a:cs typeface="Tahoma"/>
              </a:rPr>
              <a:t>خروجی دسته‌بندی</a:t>
            </a:r>
          </a:p>
        </p:txBody>
      </p:sp>
      <p:cxnSp>
        <p:nvCxnSpPr>
          <p:cNvPr id="26" name="p3_to_head"/>
          <p:cNvCxnSpPr/>
          <p:nvPr/>
        </p:nvCxnSpPr>
        <p:spPr>
          <a:xfrm>
            <a:off x="8938260" y="5394960"/>
            <a:ext cx="0" cy="274320"/>
          </a:xfrm>
          <a:prstGeom prst="line">
            <a:avLst/>
          </a:prstGeom>
          <a:ln w="17780">
            <a:solidFill>
              <a:srgbClr val="2E4A7A"/>
            </a:solidFill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p3_to_head"/>
          <p:cNvCxnSpPr/>
          <p:nvPr/>
        </p:nvCxnSpPr>
        <p:spPr>
          <a:xfrm>
            <a:off x="6469379" y="5394960"/>
            <a:ext cx="0" cy="274320"/>
          </a:xfrm>
          <a:prstGeom prst="line">
            <a:avLst/>
          </a:prstGeom>
          <a:ln w="17780">
            <a:solidFill>
              <a:srgbClr val="2E4A7A"/>
            </a:solidFill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p3_to_head"/>
          <p:cNvCxnSpPr/>
          <p:nvPr/>
        </p:nvCxnSpPr>
        <p:spPr>
          <a:xfrm>
            <a:off x="4000500" y="5394960"/>
            <a:ext cx="0" cy="274320"/>
          </a:xfrm>
          <a:prstGeom prst="line">
            <a:avLst/>
          </a:prstGeom>
          <a:ln w="17780">
            <a:solidFill>
              <a:srgbClr val="2E4A7A"/>
            </a:solidFill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p3_to_head"/>
          <p:cNvCxnSpPr/>
          <p:nvPr/>
        </p:nvCxnSpPr>
        <p:spPr>
          <a:xfrm>
            <a:off x="1531619" y="5394960"/>
            <a:ext cx="0" cy="274320"/>
          </a:xfrm>
          <a:prstGeom prst="line">
            <a:avLst/>
          </a:prstGeom>
          <a:ln w="17780">
            <a:solidFill>
              <a:srgbClr val="2E4A7A"/>
            </a:solidFill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"/>
          <p:cNvSpPr txBox="1"/>
          <p:nvPr/>
        </p:nvSpPr>
        <p:spPr>
          <a:xfrm>
            <a:off x="411480" y="6510528"/>
            <a:ext cx="964692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no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B7280"/>
                </a:solidFill>
                <a:latin typeface="Tahoma"/>
                <a:ea typeface="Tahoma"/>
                <a:cs typeface="Tahoma"/>
              </a:rPr>
              <a:t>آموزش: زیان وزنی چندوظیفه‌ای (Cross-Entropy + Huber + Huber + BCE) • بهینه‌ساز AdamW • Warmup + Cosine • برش گرادیان • SWA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