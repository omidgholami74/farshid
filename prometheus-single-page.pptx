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_title"/>
          <p:cNvSpPr txBox="1"/>
          <p:nvPr/>
        </p:nvSpPr>
        <p:spPr>
          <a:xfrm>
            <a:off x="384048" y="146304"/>
            <a:ext cx="10042855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پرامتئوس: پیش‌بینی فرآیند با درک تأخیر و سه جریان موازی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84048" y="640080"/>
            <a:ext cx="10042855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معماری از main.py (مدل اصلی) و utils.py (پیاده‌سازی گراف عصبی پیشوند)</a:t>
            </a:r>
          </a:p>
        </p:txBody>
      </p:sp>
      <p:sp>
        <p:nvSpPr>
          <p:cNvPr id="4" name="phase_label_۱"/>
          <p:cNvSpPr/>
          <p:nvPr/>
        </p:nvSpPr>
        <p:spPr>
          <a:xfrm>
            <a:off x="10664647" y="1024128"/>
            <a:ext cx="1143000" cy="243843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vert="vert270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۱</a:t>
            </a:r>
          </a:p>
          <a:p>
            <a:pPr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0" i="0">
                <a:solidFill>
                  <a:srgbClr val="D5DEEC"/>
                </a:solidFill>
                <a:latin typeface="Tahoma"/>
                <a:ea typeface="Tahoma"/>
                <a:cs typeface="Tahoma"/>
              </a:rPr>
              <a:t>مشخصات سیستم</a:t>
            </a:r>
          </a:p>
          <a:p>
            <a:pPr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0" i="0">
                <a:solidFill>
                  <a:srgbClr val="D5DEEC"/>
                </a:solidFill>
                <a:latin typeface="Tahoma"/>
                <a:ea typeface="Tahoma"/>
                <a:cs typeface="Tahoma"/>
              </a:rPr>
              <a:t>ورودی • وظایف • خروجی</a:t>
            </a:r>
          </a:p>
        </p:txBody>
      </p:sp>
      <p:sp>
        <p:nvSpPr>
          <p:cNvPr id="5" name="phase_label_۲"/>
          <p:cNvSpPr/>
          <p:nvPr/>
        </p:nvSpPr>
        <p:spPr>
          <a:xfrm>
            <a:off x="10664647" y="3553998"/>
            <a:ext cx="1143000" cy="243843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vert="vert270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۲</a:t>
            </a:r>
          </a:p>
          <a:p>
            <a:pPr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0" i="0">
                <a:solidFill>
                  <a:srgbClr val="D5DEEC"/>
                </a:solidFill>
                <a:latin typeface="Tahoma"/>
                <a:ea typeface="Tahoma"/>
                <a:cs typeface="Tahoma"/>
              </a:rPr>
              <a:t>طراحی معماری</a:t>
            </a:r>
          </a:p>
          <a:p>
            <a:pPr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0" i="0">
                <a:solidFill>
                  <a:srgbClr val="D5DEEC"/>
                </a:solidFill>
                <a:latin typeface="Tahoma"/>
                <a:ea typeface="Tahoma"/>
                <a:cs typeface="Tahoma"/>
              </a:rPr>
              <a:t>سه جریان موازی</a:t>
            </a:r>
          </a:p>
        </p:txBody>
      </p:sp>
      <p:sp>
        <p:nvSpPr>
          <p:cNvPr id="6" name="phase_label_۳"/>
          <p:cNvSpPr/>
          <p:nvPr/>
        </p:nvSpPr>
        <p:spPr>
          <a:xfrm>
            <a:off x="10664647" y="6083777"/>
            <a:ext cx="1143000" cy="243843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vert="vert270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۳</a:t>
            </a:r>
          </a:p>
          <a:p>
            <a:pPr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0" i="0">
                <a:solidFill>
                  <a:srgbClr val="D5DEEC"/>
                </a:solidFill>
                <a:latin typeface="Tahoma"/>
                <a:ea typeface="Tahoma"/>
                <a:cs typeface="Tahoma"/>
              </a:rPr>
              <a:t>طراحی جزئی</a:t>
            </a:r>
          </a:p>
          <a:p>
            <a:pPr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0" i="0">
                <a:solidFill>
                  <a:srgbClr val="D5DEEC"/>
                </a:solidFill>
                <a:latin typeface="Tahoma"/>
                <a:ea typeface="Tahoma"/>
                <a:cs typeface="Tahoma"/>
              </a:rPr>
              <a:t>لایه‌ها و پارامترها</a:t>
            </a:r>
          </a:p>
        </p:txBody>
      </p:sp>
      <p:cxnSp>
        <p:nvCxnSpPr>
          <p:cNvPr id="7" name="separator"/>
          <p:cNvCxnSpPr/>
          <p:nvPr/>
        </p:nvCxnSpPr>
        <p:spPr>
          <a:xfrm>
            <a:off x="384048" y="3508278"/>
            <a:ext cx="10042855" cy="0"/>
          </a:xfrm>
          <a:prstGeom prst="line">
            <a:avLst/>
          </a:prstGeom>
          <a:ln w="12700">
            <a:solidFill>
              <a:srgbClr val="A9B2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parator"/>
          <p:cNvCxnSpPr/>
          <p:nvPr/>
        </p:nvCxnSpPr>
        <p:spPr>
          <a:xfrm>
            <a:off x="384048" y="6038148"/>
            <a:ext cx="10042855" cy="0"/>
          </a:xfrm>
          <a:prstGeom prst="line">
            <a:avLst/>
          </a:prstGeom>
          <a:ln w="12700">
            <a:solidFill>
              <a:srgbClr val="A9B2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1_top_ورودی:"/>
          <p:cNvSpPr/>
          <p:nvPr/>
        </p:nvSpPr>
        <p:spPr>
          <a:xfrm>
            <a:off x="8067065" y="1115568"/>
            <a:ext cx="2359837" cy="1069848"/>
          </a:xfrm>
          <a:prstGeom prst="roundRect">
            <a:avLst>
              <a:gd name="adj" fmla="val 7264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ورودی: لاگ رویداد (XES)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پرونده‌ها، فعالیت‌ها، زمان‌ها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شناسهٔ هر پرونده</a:t>
            </a:r>
          </a:p>
        </p:txBody>
      </p:sp>
      <p:sp>
        <p:nvSpPr>
          <p:cNvPr id="10" name="p1_top_ساخت پ"/>
          <p:cNvSpPr/>
          <p:nvPr/>
        </p:nvSpPr>
        <p:spPr>
          <a:xfrm>
            <a:off x="5506059" y="1115568"/>
            <a:ext cx="2359837" cy="1069848"/>
          </a:xfrm>
          <a:prstGeom prst="roundRect">
            <a:avLst>
              <a:gd name="adj" fmla="val 7264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ساخت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برش هر پرونده به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کمترین طول پیشوند: ۲</a:t>
            </a:r>
          </a:p>
        </p:txBody>
      </p:sp>
      <p:sp>
        <p:nvSpPr>
          <p:cNvPr id="11" name="p1_top_آمار ز"/>
          <p:cNvSpPr/>
          <p:nvPr/>
        </p:nvSpPr>
        <p:spPr>
          <a:xfrm>
            <a:off x="2945053" y="1115568"/>
            <a:ext cx="2359837" cy="1069848"/>
          </a:xfrm>
          <a:prstGeom prst="roundRect">
            <a:avLst>
              <a:gd name="adj" fmla="val 7264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آمار زمانی و موردی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زمان انتظار و مدت کل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زمان باقی‌مانده و نشانهٔ گلوگاه</a:t>
            </a:r>
          </a:p>
        </p:txBody>
      </p:sp>
      <p:sp>
        <p:nvSpPr>
          <p:cNvPr id="12" name="p1_top_اهداف "/>
          <p:cNvSpPr/>
          <p:nvPr/>
        </p:nvSpPr>
        <p:spPr>
          <a:xfrm>
            <a:off x="384047" y="1115568"/>
            <a:ext cx="2359837" cy="1069848"/>
          </a:xfrm>
          <a:prstGeom prst="roundRect">
            <a:avLst>
              <a:gd name="adj" fmla="val 7264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اهداف پیش‌بینی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فعالیت بعدی و زمان باقی‌مانده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کاهش تأخیر و تشخیص گلوگاه</a:t>
            </a:r>
          </a:p>
        </p:txBody>
      </p:sp>
      <p:cxnSp>
        <p:nvCxnSpPr>
          <p:cNvPr id="13" name="p1_chain"/>
          <p:cNvCxnSpPr/>
          <p:nvPr/>
        </p:nvCxnSpPr>
        <p:spPr>
          <a:xfrm flipH="1">
            <a:off x="7865897" y="1650492"/>
            <a:ext cx="201168" cy="0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1_chain"/>
          <p:cNvCxnSpPr/>
          <p:nvPr/>
        </p:nvCxnSpPr>
        <p:spPr>
          <a:xfrm flipH="1">
            <a:off x="5304891" y="1650492"/>
            <a:ext cx="201168" cy="0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1_chain"/>
          <p:cNvCxnSpPr/>
          <p:nvPr/>
        </p:nvCxnSpPr>
        <p:spPr>
          <a:xfrm flipH="1">
            <a:off x="2743885" y="1650492"/>
            <a:ext cx="201168" cy="0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1_bot_ویژگی‌"/>
          <p:cNvSpPr/>
          <p:nvPr/>
        </p:nvSpPr>
        <p:spPr>
          <a:xfrm>
            <a:off x="5506059" y="2395728"/>
            <a:ext cx="2359837" cy="1069848"/>
          </a:xfrm>
          <a:prstGeom prst="roundRect">
            <a:avLst>
              <a:gd name="adj" fmla="val 7264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ویژگی‌های ترتیبی و زمانی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فعالیت قبلی، موقعیت، فاصلهٔ زمانی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زمان تجمعی، نقش، فراوانی</a:t>
            </a:r>
          </a:p>
        </p:txBody>
      </p:sp>
      <p:sp>
        <p:nvSpPr>
          <p:cNvPr id="17" name="p1_bot_گراف پ"/>
          <p:cNvSpPr/>
          <p:nvPr/>
        </p:nvSpPr>
        <p:spPr>
          <a:xfrm>
            <a:off x="2945053" y="2395728"/>
            <a:ext cx="2359837" cy="1069848"/>
          </a:xfrm>
          <a:prstGeom prst="roundRect">
            <a:avLst>
              <a:gd name="adj" fmla="val 7264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گراف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گره‌ها: فعالیت + ویژگی زمان/موقعیت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یال‌ها: ترتیب و تکرار فعالیت‌ها</a:t>
            </a:r>
          </a:p>
        </p:txBody>
      </p:sp>
      <p:sp>
        <p:nvSpPr>
          <p:cNvPr id="18" name="p1_bot_تنظیما"/>
          <p:cNvSpPr/>
          <p:nvPr/>
        </p:nvSpPr>
        <p:spPr>
          <a:xfrm>
            <a:off x="384047" y="2395728"/>
            <a:ext cx="2359837" cy="1069848"/>
          </a:xfrm>
          <a:prstGeom prst="roundRect">
            <a:avLst>
              <a:gd name="adj" fmla="val 7264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تنظیمات یادگیری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یادگیری چندوظیفه‌ای با نظارت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تقسیم داده بر اساس پرونده</a:t>
            </a:r>
          </a:p>
        </p:txBody>
      </p:sp>
      <p:cxnSp>
        <p:nvCxnSpPr>
          <p:cNvPr id="19" name="p1_branch"/>
          <p:cNvCxnSpPr/>
          <p:nvPr/>
        </p:nvCxnSpPr>
        <p:spPr>
          <a:xfrm>
            <a:off x="6685978" y="2185415"/>
            <a:ext cx="0" cy="210313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p1_branch"/>
          <p:cNvCxnSpPr/>
          <p:nvPr/>
        </p:nvCxnSpPr>
        <p:spPr>
          <a:xfrm>
            <a:off x="4124972" y="2185415"/>
            <a:ext cx="0" cy="210313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p1_branch"/>
          <p:cNvCxnSpPr/>
          <p:nvPr/>
        </p:nvCxnSpPr>
        <p:spPr>
          <a:xfrm>
            <a:off x="1563966" y="2185415"/>
            <a:ext cx="0" cy="210313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2_shared"/>
          <p:cNvSpPr/>
          <p:nvPr/>
        </p:nvSpPr>
        <p:spPr>
          <a:xfrm>
            <a:off x="2845155" y="3611880"/>
            <a:ext cx="5120640" cy="475488"/>
          </a:xfrm>
          <a:prstGeom prst="roundRect">
            <a:avLst>
              <a:gd name="adj" fmla="val 16346"/>
            </a:avLst>
          </a:prstGeom>
          <a:solidFill>
            <a:srgbClr val="E7ECF5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بازنمایی ورودی مشترک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فعالیت + فعالیت قبلی + موقعیت • کدگذاری زمان، نقش و فراوانی</a:t>
            </a:r>
          </a:p>
        </p:txBody>
      </p:sp>
      <p:sp>
        <p:nvSpPr>
          <p:cNvPr id="23" name="p2_stream_جریان ۱ — "/>
          <p:cNvSpPr/>
          <p:nvPr/>
        </p:nvSpPr>
        <p:spPr>
          <a:xfrm>
            <a:off x="7213396" y="4251960"/>
            <a:ext cx="3213506" cy="841248"/>
          </a:xfrm>
          <a:prstGeom prst="roundRect">
            <a:avLst>
              <a:gd name="adj" fmla="val 9239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جریان ۱ — Transformer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کدگذار علّی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وابستگی‌های دوربرد</a:t>
            </a:r>
          </a:p>
        </p:txBody>
      </p:sp>
      <p:sp>
        <p:nvSpPr>
          <p:cNvPr id="24" name="p2_stream_جریان ۲ — "/>
          <p:cNvSpPr/>
          <p:nvPr/>
        </p:nvSpPr>
        <p:spPr>
          <a:xfrm>
            <a:off x="3798722" y="4251960"/>
            <a:ext cx="3213506" cy="841248"/>
          </a:xfrm>
          <a:prstGeom prst="roundRect">
            <a:avLst>
              <a:gd name="adj" fmla="val 9239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جریان ۲ — TCN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پیچش زمانی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الگوهای محلی چندمقیاسی</a:t>
            </a:r>
          </a:p>
        </p:txBody>
      </p:sp>
      <p:sp>
        <p:nvSpPr>
          <p:cNvPr id="25" name="p2_stream_جریان ۳ — "/>
          <p:cNvSpPr/>
          <p:nvPr/>
        </p:nvSpPr>
        <p:spPr>
          <a:xfrm>
            <a:off x="384047" y="4251960"/>
            <a:ext cx="3213506" cy="841248"/>
          </a:xfrm>
          <a:prstGeom prst="roundRect">
            <a:avLst>
              <a:gd name="adj" fmla="val 9239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جریان ۳ — GNN گراف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شبکهٔ عصبی گراف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روابط میان فعالیت‌های پیشوند</a:t>
            </a:r>
          </a:p>
        </p:txBody>
      </p:sp>
      <p:cxnSp>
        <p:nvCxnSpPr>
          <p:cNvPr id="26" name="p2_fan"/>
          <p:cNvCxnSpPr/>
          <p:nvPr/>
        </p:nvCxnSpPr>
        <p:spPr>
          <a:xfrm>
            <a:off x="6400800" y="4087368"/>
            <a:ext cx="2419350" cy="164592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2_fan"/>
          <p:cNvCxnSpPr/>
          <p:nvPr/>
        </p:nvCxnSpPr>
        <p:spPr>
          <a:xfrm>
            <a:off x="5405475" y="4087368"/>
            <a:ext cx="0" cy="164592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p2_fan"/>
          <p:cNvCxnSpPr/>
          <p:nvPr/>
        </p:nvCxnSpPr>
        <p:spPr>
          <a:xfrm flipH="1">
            <a:off x="1990801" y="4087368"/>
            <a:ext cx="2444039" cy="164592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2_cross"/>
          <p:cNvSpPr/>
          <p:nvPr/>
        </p:nvSpPr>
        <p:spPr>
          <a:xfrm>
            <a:off x="3798722" y="5257800"/>
            <a:ext cx="6628180" cy="694944"/>
          </a:xfrm>
          <a:prstGeom prst="roundRect">
            <a:avLst>
              <a:gd name="adj" fmla="val 11184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توجه متقابل (Transformer و TCN)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هر جریان با توجه به خروجی جریان دیگر بازبینی می‌شود</a:t>
            </a:r>
          </a:p>
        </p:txBody>
      </p:sp>
      <p:sp>
        <p:nvSpPr>
          <p:cNvPr id="30" name="p2_tri"/>
          <p:cNvSpPr/>
          <p:nvPr/>
        </p:nvSpPr>
        <p:spPr>
          <a:xfrm>
            <a:off x="384047" y="5257800"/>
            <a:ext cx="3213506" cy="694944"/>
          </a:xfrm>
          <a:prstGeom prst="roundRect">
            <a:avLst>
              <a:gd name="adj" fmla="val 11184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سه‌جریانه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ترتیب + گراف + تعامل</a:t>
            </a:r>
          </a:p>
        </p:txBody>
      </p:sp>
      <p:cxnSp>
        <p:nvCxnSpPr>
          <p:cNvPr id="31" name="p2_to_fusion"/>
          <p:cNvCxnSpPr/>
          <p:nvPr/>
        </p:nvCxnSpPr>
        <p:spPr>
          <a:xfrm>
            <a:off x="8820150" y="5093208"/>
            <a:ext cx="0" cy="164592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p2_to_fusion"/>
          <p:cNvCxnSpPr/>
          <p:nvPr/>
        </p:nvCxnSpPr>
        <p:spPr>
          <a:xfrm>
            <a:off x="5405475" y="5093208"/>
            <a:ext cx="0" cy="164592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p2_to_fusion"/>
          <p:cNvCxnSpPr/>
          <p:nvPr/>
        </p:nvCxnSpPr>
        <p:spPr>
          <a:xfrm>
            <a:off x="1990801" y="5093208"/>
            <a:ext cx="0" cy="164592"/>
          </a:xfrm>
          <a:prstGeom prst="line">
            <a:avLst/>
          </a:prstGeom>
          <a:ln w="1905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2_head"/>
          <p:cNvCxnSpPr/>
          <p:nvPr/>
        </p:nvCxnSpPr>
        <p:spPr>
          <a:xfrm flipH="1">
            <a:off x="3597554" y="5605272"/>
            <a:ext cx="201168" cy="0"/>
          </a:xfrm>
          <a:prstGeom prst="line">
            <a:avLst/>
          </a:prstGeom>
          <a:ln w="22860">
            <a:solidFill>
              <a:srgbClr val="1F386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3_a_کدگذاری "/>
          <p:cNvSpPr/>
          <p:nvPr/>
        </p:nvSpPr>
        <p:spPr>
          <a:xfrm>
            <a:off x="7213396" y="6108192"/>
            <a:ext cx="3213506" cy="347472"/>
          </a:xfrm>
          <a:prstGeom prst="roundRect">
            <a:avLst>
              <a:gd name="adj" fmla="val 22368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کدگذاری ورودی (۲۵۶)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تعبیهٔ فعالیت، موقعیت و موقعیت نسبی</a:t>
            </a:r>
          </a:p>
        </p:txBody>
      </p:sp>
      <p:sp>
        <p:nvSpPr>
          <p:cNvPr id="36" name="p3_a_کدگذاری "/>
          <p:cNvSpPr/>
          <p:nvPr/>
        </p:nvSpPr>
        <p:spPr>
          <a:xfrm>
            <a:off x="3798722" y="6108192"/>
            <a:ext cx="3213506" cy="347472"/>
          </a:xfrm>
          <a:prstGeom prst="roundRect">
            <a:avLst>
              <a:gd name="adj" fmla="val 22368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کدگذاری زمانی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log(Δt) و log(زمان تجمعی)</a:t>
            </a:r>
          </a:p>
        </p:txBody>
      </p:sp>
      <p:sp>
        <p:nvSpPr>
          <p:cNvPr id="37" name="p3_a_نرمال‌سا"/>
          <p:cNvSpPr/>
          <p:nvPr/>
        </p:nvSpPr>
        <p:spPr>
          <a:xfrm>
            <a:off x="384047" y="6108192"/>
            <a:ext cx="3213506" cy="347472"/>
          </a:xfrm>
          <a:prstGeom prst="roundRect">
            <a:avLst>
              <a:gd name="adj" fmla="val 22368"/>
            </a:avLst>
          </a:prstGeom>
          <a:solidFill>
            <a:srgbClr val="F4F6F9"/>
          </a:solidFill>
          <a:ln w="1397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نرمال‌سازی و تنظیم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LayerNorm • Dropout ۰٫۰۵ • ماسک‌ها</a:t>
            </a:r>
          </a:p>
        </p:txBody>
      </p:sp>
      <p:sp>
        <p:nvSpPr>
          <p:cNvPr id="38" name="p3_b_کدگذار T"/>
          <p:cNvSpPr/>
          <p:nvPr/>
        </p:nvSpPr>
        <p:spPr>
          <a:xfrm>
            <a:off x="7213396" y="6583680"/>
            <a:ext cx="3213506" cy="347472"/>
          </a:xfrm>
          <a:prstGeom prst="roundRect">
            <a:avLst>
              <a:gd name="adj" fmla="val 22368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کدگذار Transformer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۶ لایه • ۸ سر • پیش‌خور ۱۰۲۴</a:t>
            </a:r>
          </a:p>
        </p:txBody>
      </p:sp>
      <p:sp>
        <p:nvSpPr>
          <p:cNvPr id="39" name="p3_b_بلوک TCN"/>
          <p:cNvSpPr/>
          <p:nvPr/>
        </p:nvSpPr>
        <p:spPr>
          <a:xfrm>
            <a:off x="3798722" y="6583680"/>
            <a:ext cx="3213506" cy="347472"/>
          </a:xfrm>
          <a:prstGeom prst="roundRect">
            <a:avLst>
              <a:gd name="adj" fmla="val 22368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بلوک TCN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۱۰ پیچش • کرنل ۳ • گشودگی ۱، ۲، ۴</a:t>
            </a:r>
          </a:p>
        </p:txBody>
      </p:sp>
      <p:sp>
        <p:nvSpPr>
          <p:cNvPr id="40" name="p3_b_گراف پیش"/>
          <p:cNvSpPr/>
          <p:nvPr/>
        </p:nvSpPr>
        <p:spPr>
          <a:xfrm>
            <a:off x="384047" y="6583680"/>
            <a:ext cx="3213506" cy="347472"/>
          </a:xfrm>
          <a:prstGeom prst="roundRect">
            <a:avLst>
              <a:gd name="adj" fmla="val 22368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گراف پیشوند (GNN)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۲ لایهٔ GCN + میانگین ماسک‌شده</a:t>
            </a:r>
          </a:p>
        </p:txBody>
      </p:sp>
      <p:cxnSp>
        <p:nvCxnSpPr>
          <p:cNvPr id="41" name="p3_ab"/>
          <p:cNvCxnSpPr/>
          <p:nvPr/>
        </p:nvCxnSpPr>
        <p:spPr>
          <a:xfrm>
            <a:off x="8820150" y="6455664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p3_ab"/>
          <p:cNvCxnSpPr/>
          <p:nvPr/>
        </p:nvCxnSpPr>
        <p:spPr>
          <a:xfrm>
            <a:off x="5405475" y="6455664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p3_ab"/>
          <p:cNvCxnSpPr/>
          <p:nvPr/>
        </p:nvCxnSpPr>
        <p:spPr>
          <a:xfrm>
            <a:off x="1990801" y="6455664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3_cross"/>
          <p:cNvSpPr/>
          <p:nvPr/>
        </p:nvSpPr>
        <p:spPr>
          <a:xfrm>
            <a:off x="3798722" y="7059168"/>
            <a:ext cx="6628180" cy="347472"/>
          </a:xfrm>
          <a:prstGeom prst="roundRect">
            <a:avLst>
              <a:gd name="adj" fmla="val 22368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توجه متقابل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توجه چندسری + اتصال باقیمانده + FFN</a:t>
            </a:r>
          </a:p>
        </p:txBody>
      </p:sp>
      <p:sp>
        <p:nvSpPr>
          <p:cNvPr id="45" name="p3_pool"/>
          <p:cNvSpPr/>
          <p:nvPr/>
        </p:nvSpPr>
        <p:spPr>
          <a:xfrm>
            <a:off x="384047" y="7059168"/>
            <a:ext cx="3213506" cy="347472"/>
          </a:xfrm>
          <a:prstGeom prst="roundRect">
            <a:avLst>
              <a:gd name="adj" fmla="val 22368"/>
            </a:avLst>
          </a:prstGeom>
          <a:solidFill>
            <a:srgbClr val="F4F6F9"/>
          </a:solidFill>
          <a:ln w="1397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ترتیبی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آخرین موقعیت معتبر پیشوند</a:t>
            </a:r>
          </a:p>
        </p:txBody>
      </p:sp>
      <p:cxnSp>
        <p:nvCxnSpPr>
          <p:cNvPr id="46" name="p3_bc"/>
          <p:cNvCxnSpPr/>
          <p:nvPr/>
        </p:nvCxnSpPr>
        <p:spPr>
          <a:xfrm>
            <a:off x="8820150" y="6931152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3_bc"/>
          <p:cNvCxnSpPr/>
          <p:nvPr/>
        </p:nvCxnSpPr>
        <p:spPr>
          <a:xfrm>
            <a:off x="5405475" y="6931152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3_bc"/>
          <p:cNvCxnSpPr/>
          <p:nvPr/>
        </p:nvCxnSpPr>
        <p:spPr>
          <a:xfrm>
            <a:off x="1990801" y="6931152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p3_mlp"/>
          <p:cNvSpPr/>
          <p:nvPr/>
        </p:nvSpPr>
        <p:spPr>
          <a:xfrm>
            <a:off x="384048" y="7534656"/>
            <a:ext cx="10042855" cy="347472"/>
          </a:xfrm>
          <a:prstGeom prst="roundRect">
            <a:avLst>
              <a:gd name="adj" fmla="val 22368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نهایی — MLP سه‌جریانه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ترتیب + گراف + تعامل • ابعاد ۷۶۸ به ۵۱۲ به ۲۵۶ • بازنمایی مشترک: LayerNorm + GELU</a:t>
            </a:r>
          </a:p>
        </p:txBody>
      </p:sp>
      <p:cxnSp>
        <p:nvCxnSpPr>
          <p:cNvPr id="50" name="p3_cd"/>
          <p:cNvCxnSpPr/>
          <p:nvPr/>
        </p:nvCxnSpPr>
        <p:spPr>
          <a:xfrm>
            <a:off x="8820150" y="7406640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p3_cd"/>
          <p:cNvCxnSpPr/>
          <p:nvPr/>
        </p:nvCxnSpPr>
        <p:spPr>
          <a:xfrm>
            <a:off x="5405475" y="7406640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p3_cd"/>
          <p:cNvCxnSpPr/>
          <p:nvPr/>
        </p:nvCxnSpPr>
        <p:spPr>
          <a:xfrm>
            <a:off x="1990801" y="7406640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3_head_سر فعالی"/>
          <p:cNvSpPr/>
          <p:nvPr/>
        </p:nvSpPr>
        <p:spPr>
          <a:xfrm>
            <a:off x="8067065" y="8010144"/>
            <a:ext cx="2359837" cy="347472"/>
          </a:xfrm>
          <a:prstGeom prst="roundRect">
            <a:avLst>
              <a:gd name="adj" fmla="val 22368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فعالیت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فعالیت بعدی</a:t>
            </a:r>
          </a:p>
        </p:txBody>
      </p:sp>
      <p:sp>
        <p:nvSpPr>
          <p:cNvPr id="54" name="p3_head_سر زمان "/>
          <p:cNvSpPr/>
          <p:nvPr/>
        </p:nvSpPr>
        <p:spPr>
          <a:xfrm>
            <a:off x="5506059" y="8010144"/>
            <a:ext cx="2359837" cy="347472"/>
          </a:xfrm>
          <a:prstGeom prst="roundRect">
            <a:avLst>
              <a:gd name="adj" fmla="val 22368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زمان باقی‌مانده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رگرسیون زمان</a:t>
            </a:r>
          </a:p>
        </p:txBody>
      </p:sp>
      <p:sp>
        <p:nvSpPr>
          <p:cNvPr id="55" name="p3_head_سر بهبود"/>
          <p:cNvSpPr/>
          <p:nvPr/>
        </p:nvSpPr>
        <p:spPr>
          <a:xfrm>
            <a:off x="2945053" y="8010144"/>
            <a:ext cx="2359837" cy="347472"/>
          </a:xfrm>
          <a:prstGeom prst="roundRect">
            <a:avLst>
              <a:gd name="adj" fmla="val 22368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بهبود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کاهش تأخیر + Tanh</a:t>
            </a:r>
          </a:p>
        </p:txBody>
      </p:sp>
      <p:sp>
        <p:nvSpPr>
          <p:cNvPr id="56" name="p3_head_سر گلوگا"/>
          <p:cNvSpPr/>
          <p:nvPr/>
        </p:nvSpPr>
        <p:spPr>
          <a:xfrm>
            <a:off x="384047" y="8010144"/>
            <a:ext cx="2359837" cy="347472"/>
          </a:xfrm>
          <a:prstGeom prst="roundRect">
            <a:avLst>
              <a:gd name="adj" fmla="val 22368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گلوگاه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68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گلوگاه هر موقعیت</a:t>
            </a:r>
          </a:p>
        </p:txBody>
      </p:sp>
      <p:cxnSp>
        <p:nvCxnSpPr>
          <p:cNvPr id="57" name="p3_de"/>
          <p:cNvCxnSpPr/>
          <p:nvPr/>
        </p:nvCxnSpPr>
        <p:spPr>
          <a:xfrm>
            <a:off x="9246984" y="7882128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p3_de"/>
          <p:cNvCxnSpPr/>
          <p:nvPr/>
        </p:nvCxnSpPr>
        <p:spPr>
          <a:xfrm>
            <a:off x="6685978" y="7882128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3_de"/>
          <p:cNvCxnSpPr/>
          <p:nvPr/>
        </p:nvCxnSpPr>
        <p:spPr>
          <a:xfrm>
            <a:off x="4124972" y="7882128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p3_de"/>
          <p:cNvCxnSpPr/>
          <p:nvPr/>
        </p:nvCxnSpPr>
        <p:spPr>
          <a:xfrm>
            <a:off x="1563966" y="7882128"/>
            <a:ext cx="0" cy="128016"/>
          </a:xfrm>
          <a:prstGeom prst="line">
            <a:avLst/>
          </a:prstGeom>
          <a:ln w="1651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rain_note"/>
          <p:cNvSpPr txBox="1"/>
          <p:nvPr/>
        </p:nvSpPr>
        <p:spPr>
          <a:xfrm>
            <a:off x="384048" y="8412480"/>
            <a:ext cx="10042855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آموزش: زیان وزنی چندوظیفه‌ای (Cross-Entropy + Huber + Huber + BCE) • AdamW • Warmup + Cosine • برش گرادیان • SWA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