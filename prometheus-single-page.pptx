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8686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67" autoAdjust="0"/>
  </p:normalViewPr>
  <p:slideViewPr>
    <p:cSldViewPr snapToGrid="0" snapToObjects="1">
      <p:cViewPr varScale="1">
        <p:scale>
          <a:sx n="80" d="100"/>
          <a:sy n="80" d="100"/>
        </p:scale>
        <p:origin x="175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384048" y="146304"/>
            <a:ext cx="10042855" cy="5029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864"/>
                </a:solidFill>
                <a:latin typeface="Tahoma"/>
                <a:ea typeface="Tahoma"/>
                <a:cs typeface="B Nazanin" panose="00000400000000000000" pitchFamily="2" charset="-78"/>
              </a:rPr>
              <a:t>پرامتئوس: پیش‌بینی فرآیند با درک تأخیر و سه جریان موازی</a:t>
            </a:r>
          </a:p>
        </p:txBody>
      </p:sp>
      <p:sp>
        <p:nvSpPr>
          <p:cNvPr id="4" name="phase_label_۱"/>
          <p:cNvSpPr/>
          <p:nvPr/>
        </p:nvSpPr>
        <p:spPr>
          <a:xfrm>
            <a:off x="71402" y="1054577"/>
            <a:ext cx="1143000" cy="243843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wrap="square" lIns="45720" rIns="45720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FFFFFF"/>
                </a:solidFill>
                <a:latin typeface="Tahoma"/>
                <a:ea typeface="Tahoma"/>
                <a:cs typeface="B Nazanin" panose="00000400000000000000" pitchFamily="2" charset="-78"/>
              </a:rPr>
              <a:t>فاز</a:t>
            </a:r>
            <a:r>
              <a:rPr sz="2000" b="1" i="0" dirty="0">
                <a:solidFill>
                  <a:srgbClr val="FFFFFF"/>
                </a:solidFill>
                <a:latin typeface="Tahoma"/>
                <a:ea typeface="Tahoma"/>
                <a:cs typeface="B Nazanin" panose="00000400000000000000" pitchFamily="2" charset="-78"/>
              </a:rPr>
              <a:t> ۱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مشخصات</a:t>
            </a:r>
            <a:r>
              <a:rPr sz="1100" b="0" i="0" dirty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سیستم</a:t>
            </a:r>
            <a:endParaRPr sz="1100" b="0" i="0" dirty="0">
              <a:solidFill>
                <a:srgbClr val="D5DEEC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ورودی</a:t>
            </a:r>
            <a:r>
              <a:rPr sz="1100" b="0" i="0" dirty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 • </a:t>
            </a: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وظایف</a:t>
            </a:r>
            <a:r>
              <a:rPr sz="1100" b="0" i="0" dirty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 • </a:t>
            </a: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خروجی</a:t>
            </a:r>
            <a:endParaRPr sz="1100" b="0" i="0" dirty="0">
              <a:solidFill>
                <a:srgbClr val="D5DEEC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5" name="phase_label_۲"/>
          <p:cNvSpPr/>
          <p:nvPr/>
        </p:nvSpPr>
        <p:spPr>
          <a:xfrm>
            <a:off x="71402" y="3584447"/>
            <a:ext cx="1143000" cy="243843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wrap="square" lIns="45720" rIns="45720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FFFFFF"/>
                </a:solidFill>
                <a:latin typeface="Tahoma"/>
                <a:ea typeface="Tahoma"/>
                <a:cs typeface="B Nazanin" panose="00000400000000000000" pitchFamily="2" charset="-78"/>
              </a:rPr>
              <a:t>فاز</a:t>
            </a:r>
            <a:r>
              <a:rPr sz="2000" b="1" i="0" dirty="0">
                <a:solidFill>
                  <a:srgbClr val="FFFFFF"/>
                </a:solidFill>
                <a:latin typeface="Tahoma"/>
                <a:ea typeface="Tahoma"/>
                <a:cs typeface="B Nazanin" panose="00000400000000000000" pitchFamily="2" charset="-78"/>
              </a:rPr>
              <a:t> ۲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طراحی</a:t>
            </a:r>
            <a:r>
              <a:rPr sz="1100" b="0" i="0" dirty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معماری</a:t>
            </a:r>
            <a:endParaRPr sz="1100" b="0" i="0" dirty="0">
              <a:solidFill>
                <a:srgbClr val="D5DEEC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سه</a:t>
            </a:r>
            <a:r>
              <a:rPr sz="1100" b="0" i="0" dirty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جریان</a:t>
            </a:r>
            <a:r>
              <a:rPr sz="1100" b="0" i="0" dirty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0" i="0" dirty="0" err="1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موازی</a:t>
            </a:r>
            <a:endParaRPr sz="1100" b="0" i="0" dirty="0">
              <a:solidFill>
                <a:srgbClr val="D5DEEC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6" name="phase_label_۳"/>
          <p:cNvSpPr/>
          <p:nvPr/>
        </p:nvSpPr>
        <p:spPr>
          <a:xfrm>
            <a:off x="71402" y="6114226"/>
            <a:ext cx="1143000" cy="243843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wrap="square" lIns="45720" rIns="45720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Tahoma"/>
                <a:ea typeface="Tahoma"/>
                <a:cs typeface="B Nazanin" panose="00000400000000000000" pitchFamily="2" charset="-78"/>
              </a:rPr>
              <a:t>فاز ۳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طراحی جزئی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D5DEEC"/>
                </a:solidFill>
                <a:latin typeface="Tahoma"/>
                <a:ea typeface="Tahoma"/>
                <a:cs typeface="B Nazanin" panose="00000400000000000000" pitchFamily="2" charset="-78"/>
              </a:rPr>
              <a:t>لایه‌ها و پارامترها</a:t>
            </a:r>
          </a:p>
        </p:txBody>
      </p:sp>
      <p:cxnSp>
        <p:nvCxnSpPr>
          <p:cNvPr id="7" name="separator"/>
          <p:cNvCxnSpPr/>
          <p:nvPr/>
        </p:nvCxnSpPr>
        <p:spPr>
          <a:xfrm>
            <a:off x="1546864" y="3535709"/>
            <a:ext cx="10042855" cy="0"/>
          </a:xfrm>
          <a:prstGeom prst="line">
            <a:avLst/>
          </a:prstGeom>
          <a:ln w="12700">
            <a:solidFill>
              <a:srgbClr val="A9B2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parator"/>
          <p:cNvCxnSpPr/>
          <p:nvPr/>
        </p:nvCxnSpPr>
        <p:spPr>
          <a:xfrm>
            <a:off x="1546864" y="6065579"/>
            <a:ext cx="10042855" cy="0"/>
          </a:xfrm>
          <a:prstGeom prst="line">
            <a:avLst/>
          </a:prstGeom>
          <a:ln w="12700">
            <a:solidFill>
              <a:srgbClr val="A9B2C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1_top_ورودی:"/>
          <p:cNvSpPr/>
          <p:nvPr/>
        </p:nvSpPr>
        <p:spPr>
          <a:xfrm>
            <a:off x="9229881" y="114299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ورودی: لاگ رویداد (XES)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پرونده‌ها، فعالیت‌ها، زمان‌ها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شناسهٔ هر پرونده</a:t>
            </a:r>
          </a:p>
        </p:txBody>
      </p:sp>
      <p:sp>
        <p:nvSpPr>
          <p:cNvPr id="10" name="p1_top_ساخت پ"/>
          <p:cNvSpPr/>
          <p:nvPr/>
        </p:nvSpPr>
        <p:spPr>
          <a:xfrm>
            <a:off x="6668875" y="114299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ساخت پیشوند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برش هر پرونده به پیشوند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کمترین طول پیشوند: ۲</a:t>
            </a:r>
          </a:p>
        </p:txBody>
      </p:sp>
      <p:sp>
        <p:nvSpPr>
          <p:cNvPr id="11" name="p1_top_آمار ز"/>
          <p:cNvSpPr/>
          <p:nvPr/>
        </p:nvSpPr>
        <p:spPr>
          <a:xfrm>
            <a:off x="4107869" y="114299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آمار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زمانی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و </a:t>
            </a: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موردی</a:t>
            </a:r>
            <a:endParaRPr sz="12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زمان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انتظار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و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مدت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کل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زمان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باقی‌مانده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و </a:t>
            </a: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نشانه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گلوگاه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12" name="p1_top_اهداف "/>
          <p:cNvSpPr/>
          <p:nvPr/>
        </p:nvSpPr>
        <p:spPr>
          <a:xfrm>
            <a:off x="1546863" y="114299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اهداف پیش‌بینی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فعالیت بعدی و زمان باقی‌مانده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کاهش تأخیر و تشخیص گلوگاه</a:t>
            </a:r>
          </a:p>
        </p:txBody>
      </p:sp>
      <p:cxnSp>
        <p:nvCxnSpPr>
          <p:cNvPr id="13" name="p1_chain"/>
          <p:cNvCxnSpPr/>
          <p:nvPr/>
        </p:nvCxnSpPr>
        <p:spPr>
          <a:xfrm flipH="1">
            <a:off x="9028713" y="1677923"/>
            <a:ext cx="201168" cy="0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p1_chain"/>
          <p:cNvCxnSpPr/>
          <p:nvPr/>
        </p:nvCxnSpPr>
        <p:spPr>
          <a:xfrm flipH="1">
            <a:off x="6467707" y="1677923"/>
            <a:ext cx="201168" cy="0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p1_chain"/>
          <p:cNvCxnSpPr/>
          <p:nvPr/>
        </p:nvCxnSpPr>
        <p:spPr>
          <a:xfrm flipH="1">
            <a:off x="3906701" y="1677923"/>
            <a:ext cx="201168" cy="0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1_bot_ویژگی‌"/>
          <p:cNvSpPr/>
          <p:nvPr/>
        </p:nvSpPr>
        <p:spPr>
          <a:xfrm>
            <a:off x="6668875" y="242315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ویژگی‌های ترتیبی و زمانی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فعالیت قبلی، موقعیت، فاصلهٔ زمانی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زمان تجمعی، نقش، فراوانی</a:t>
            </a:r>
          </a:p>
        </p:txBody>
      </p:sp>
      <p:sp>
        <p:nvSpPr>
          <p:cNvPr id="17" name="p1_bot_گراف پ"/>
          <p:cNvSpPr/>
          <p:nvPr/>
        </p:nvSpPr>
        <p:spPr>
          <a:xfrm>
            <a:off x="4107869" y="242315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گراف پیشوند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گره‌ها: فعالیت + ویژگی زمان/موقعیت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یال‌ها: ترتیب و تکرار فعالیت‌ها</a:t>
            </a:r>
          </a:p>
        </p:txBody>
      </p:sp>
      <p:sp>
        <p:nvSpPr>
          <p:cNvPr id="18" name="p1_bot_تنظیما"/>
          <p:cNvSpPr/>
          <p:nvPr/>
        </p:nvSpPr>
        <p:spPr>
          <a:xfrm>
            <a:off x="1546863" y="2423159"/>
            <a:ext cx="2359837" cy="1069848"/>
          </a:xfrm>
          <a:prstGeom prst="roundRect">
            <a:avLst>
              <a:gd name="adj" fmla="val 7264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تنظیمات یادگیری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یادگیری چندوظیفه‌ای با نظارت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تقسیم داده بر اساس پرونده</a:t>
            </a:r>
          </a:p>
        </p:txBody>
      </p:sp>
      <p:cxnSp>
        <p:nvCxnSpPr>
          <p:cNvPr id="19" name="p1_branch"/>
          <p:cNvCxnSpPr/>
          <p:nvPr/>
        </p:nvCxnSpPr>
        <p:spPr>
          <a:xfrm>
            <a:off x="7848794" y="2212846"/>
            <a:ext cx="0" cy="210313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p1_branch"/>
          <p:cNvCxnSpPr/>
          <p:nvPr/>
        </p:nvCxnSpPr>
        <p:spPr>
          <a:xfrm>
            <a:off x="5287788" y="2212846"/>
            <a:ext cx="0" cy="210313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p1_branch"/>
          <p:cNvCxnSpPr/>
          <p:nvPr/>
        </p:nvCxnSpPr>
        <p:spPr>
          <a:xfrm>
            <a:off x="2726782" y="2212846"/>
            <a:ext cx="0" cy="210313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2_shared"/>
          <p:cNvSpPr/>
          <p:nvPr/>
        </p:nvSpPr>
        <p:spPr>
          <a:xfrm>
            <a:off x="4007971" y="3639311"/>
            <a:ext cx="5120640" cy="475488"/>
          </a:xfrm>
          <a:prstGeom prst="roundRect">
            <a:avLst>
              <a:gd name="adj" fmla="val 16346"/>
            </a:avLst>
          </a:prstGeom>
          <a:solidFill>
            <a:srgbClr val="E7ECF5"/>
          </a:solidFill>
          <a:ln w="1397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864"/>
                </a:solidFill>
                <a:latin typeface="Tahoma"/>
                <a:ea typeface="Tahoma"/>
                <a:cs typeface="B Nazanin" panose="00000400000000000000" pitchFamily="2" charset="-78"/>
              </a:rPr>
              <a:t>بازنمایی ورودی مشترک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فعالیت + فعالیت قبلی + موقعیت • کدگذاری زمان، نقش و فراوانی</a:t>
            </a:r>
          </a:p>
        </p:txBody>
      </p:sp>
      <p:sp>
        <p:nvSpPr>
          <p:cNvPr id="23" name="p2_stream_جریان ۱ — "/>
          <p:cNvSpPr/>
          <p:nvPr/>
        </p:nvSpPr>
        <p:spPr>
          <a:xfrm>
            <a:off x="8376212" y="4279391"/>
            <a:ext cx="3213506" cy="841248"/>
          </a:xfrm>
          <a:prstGeom prst="roundRect">
            <a:avLst>
              <a:gd name="adj" fmla="val 9239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جریان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lang="fa-IR"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1 </a:t>
            </a:r>
            <a:r>
              <a:rPr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Transformer</a:t>
            </a:r>
            <a:endParaRPr sz="12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کدگذار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علّی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وابستگی‌های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دوربرد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24" name="p2_stream_جریان ۲ — "/>
          <p:cNvSpPr/>
          <p:nvPr/>
        </p:nvSpPr>
        <p:spPr>
          <a:xfrm>
            <a:off x="4961538" y="4279391"/>
            <a:ext cx="3213506" cy="841248"/>
          </a:xfrm>
          <a:prstGeom prst="roundRect">
            <a:avLst>
              <a:gd name="adj" fmla="val 9239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جریان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۲ </a:t>
            </a:r>
            <a:r>
              <a:rPr lang="fa-IR"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TCN</a:t>
            </a:r>
            <a:endParaRPr sz="12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پیچش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زمانی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الگوهای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محلی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چندمقیاسی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25" name="p2_stream_جریان ۳ — "/>
          <p:cNvSpPr/>
          <p:nvPr/>
        </p:nvSpPr>
        <p:spPr>
          <a:xfrm>
            <a:off x="1546863" y="4279391"/>
            <a:ext cx="3213506" cy="841248"/>
          </a:xfrm>
          <a:prstGeom prst="roundRect">
            <a:avLst>
              <a:gd name="adj" fmla="val 9239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جریان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۳ </a:t>
            </a:r>
            <a:r>
              <a:rPr lang="fa-IR"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GNN </a:t>
            </a:r>
            <a:r>
              <a:rPr lang="fa-IR"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err="1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گراف</a:t>
            </a:r>
            <a:r>
              <a:rPr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پیشوند</a:t>
            </a:r>
            <a:endParaRPr sz="12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شبکه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عصبی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گراف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روابط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میان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فعالیت‌های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پیشوند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cxnSp>
        <p:nvCxnSpPr>
          <p:cNvPr id="27" name="p2_fan"/>
          <p:cNvCxnSpPr/>
          <p:nvPr/>
        </p:nvCxnSpPr>
        <p:spPr>
          <a:xfrm>
            <a:off x="6568291" y="4114799"/>
            <a:ext cx="0" cy="164592"/>
          </a:xfrm>
          <a:prstGeom prst="line">
            <a:avLst/>
          </a:prstGeom>
          <a:ln w="1778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2_cross"/>
          <p:cNvSpPr/>
          <p:nvPr/>
        </p:nvSpPr>
        <p:spPr>
          <a:xfrm>
            <a:off x="4961538" y="5285231"/>
            <a:ext cx="6628180" cy="694944"/>
          </a:xfrm>
          <a:prstGeom prst="roundRect">
            <a:avLst>
              <a:gd name="adj" fmla="val 11184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ادغام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توجه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متقابل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lang="fa-IR"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(</a:t>
            </a:r>
            <a:r>
              <a:rPr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Transformer 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و </a:t>
            </a:r>
            <a:r>
              <a:rPr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TCN</a:t>
            </a:r>
            <a:r>
              <a:rPr lang="fa-IR" sz="12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)</a:t>
            </a:r>
            <a:endParaRPr sz="12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هر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جریان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با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توجه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به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خروجی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جریان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دیگر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بازبینی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می‌شود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30" name="p2_tri"/>
          <p:cNvSpPr/>
          <p:nvPr/>
        </p:nvSpPr>
        <p:spPr>
          <a:xfrm>
            <a:off x="1546863" y="5285231"/>
            <a:ext cx="3213506" cy="694944"/>
          </a:xfrm>
          <a:prstGeom prst="roundRect">
            <a:avLst>
              <a:gd name="adj" fmla="val 11184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ادغام</a:t>
            </a:r>
            <a:r>
              <a:rPr sz="12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2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سه‌جریانه</a:t>
            </a:r>
            <a:endParaRPr sz="12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ترتیب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lang="fa-IR"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+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گراف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+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تعامل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cxnSp>
        <p:nvCxnSpPr>
          <p:cNvPr id="31" name="p2_to_fusion"/>
          <p:cNvCxnSpPr/>
          <p:nvPr/>
        </p:nvCxnSpPr>
        <p:spPr>
          <a:xfrm>
            <a:off x="9982966" y="5120639"/>
            <a:ext cx="0" cy="164592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p2_to_fusion"/>
          <p:cNvCxnSpPr/>
          <p:nvPr/>
        </p:nvCxnSpPr>
        <p:spPr>
          <a:xfrm>
            <a:off x="6568291" y="5120639"/>
            <a:ext cx="0" cy="164592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p2_to_fusion"/>
          <p:cNvCxnSpPr/>
          <p:nvPr/>
        </p:nvCxnSpPr>
        <p:spPr>
          <a:xfrm>
            <a:off x="3153617" y="5120639"/>
            <a:ext cx="0" cy="164592"/>
          </a:xfrm>
          <a:prstGeom prst="line">
            <a:avLst/>
          </a:prstGeom>
          <a:ln w="1905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p2_head"/>
          <p:cNvCxnSpPr/>
          <p:nvPr/>
        </p:nvCxnSpPr>
        <p:spPr>
          <a:xfrm flipH="1">
            <a:off x="4760370" y="5632703"/>
            <a:ext cx="201168" cy="0"/>
          </a:xfrm>
          <a:prstGeom prst="line">
            <a:avLst/>
          </a:prstGeom>
          <a:ln w="22860">
            <a:solidFill>
              <a:srgbClr val="1F3864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3_a_کدگذاری "/>
          <p:cNvSpPr/>
          <p:nvPr/>
        </p:nvSpPr>
        <p:spPr>
          <a:xfrm>
            <a:off x="8376212" y="6135623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کدگذاری</a:t>
            </a:r>
            <a:r>
              <a:rPr sz="11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ورودی</a:t>
            </a:r>
            <a:r>
              <a:rPr sz="11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lang="fa-IR" sz="11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(</a:t>
            </a:r>
            <a:r>
              <a:rPr sz="11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۲۵۶</a:t>
            </a:r>
            <a:r>
              <a:rPr lang="fa-IR" sz="1100" b="1" i="0" dirty="0" smtClean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)</a:t>
            </a:r>
            <a:endParaRPr sz="11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تعبیه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فعالیت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،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موقعیت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و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موقعیت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نسبی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36" name="p3_a_کدگذاری "/>
          <p:cNvSpPr/>
          <p:nvPr/>
        </p:nvSpPr>
        <p:spPr>
          <a:xfrm>
            <a:off x="4961538" y="6135623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کدگذاری</a:t>
            </a:r>
            <a:r>
              <a:rPr sz="11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زمانی</a:t>
            </a:r>
            <a:endParaRPr sz="1100" b="1" i="0" dirty="0">
              <a:solidFill>
                <a:srgbClr val="1F2A37"/>
              </a:solidFill>
              <a:latin typeface="Tahoma"/>
              <a:ea typeface="Tahoma"/>
              <a:cs typeface="B Nazanin" panose="00000400000000000000" pitchFamily="2" charset="-78"/>
            </a:endParaRP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log(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Δt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) و 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log</a:t>
            </a:r>
            <a:r>
              <a:rPr lang="fa-IR"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(</a:t>
            </a: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زمان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تجمعی</a:t>
            </a:r>
            <a:r>
              <a:rPr lang="fa-IR"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)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sp>
        <p:nvSpPr>
          <p:cNvPr id="37" name="p3_a_نرمال‌سا"/>
          <p:cNvSpPr/>
          <p:nvPr/>
        </p:nvSpPr>
        <p:spPr>
          <a:xfrm>
            <a:off x="1546863" y="6135623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F4F6F9"/>
          </a:solidFill>
          <a:ln w="13970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نرمال‌سازی و تنظیم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LayerNorm • Dropout ۰٫۰۵ • ماسک‌ها</a:t>
            </a:r>
          </a:p>
        </p:txBody>
      </p:sp>
      <p:sp>
        <p:nvSpPr>
          <p:cNvPr id="38" name="p3_b_کدگذار T"/>
          <p:cNvSpPr/>
          <p:nvPr/>
        </p:nvSpPr>
        <p:spPr>
          <a:xfrm>
            <a:off x="8376212" y="6611111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کدگذار</a:t>
            </a:r>
            <a:r>
              <a:rPr sz="11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Transformer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۶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لایه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• ۸ </a:t>
            </a: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سر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•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پیش‌خور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۱۰۲۴</a:t>
            </a:r>
          </a:p>
        </p:txBody>
      </p:sp>
      <p:sp>
        <p:nvSpPr>
          <p:cNvPr id="39" name="p3_b_بلوک TCN"/>
          <p:cNvSpPr/>
          <p:nvPr/>
        </p:nvSpPr>
        <p:spPr>
          <a:xfrm>
            <a:off x="4961538" y="6611111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بلوک TCN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۱۰ پیچش • کرنل ۳ • گشودگی ۱، ۲، ۴</a:t>
            </a:r>
          </a:p>
        </p:txBody>
      </p:sp>
      <p:sp>
        <p:nvSpPr>
          <p:cNvPr id="40" name="p3_b_گراف پیش"/>
          <p:cNvSpPr/>
          <p:nvPr/>
        </p:nvSpPr>
        <p:spPr>
          <a:xfrm>
            <a:off x="1546863" y="6611111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گراف</a:t>
            </a:r>
            <a:r>
              <a:rPr sz="11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100" b="1" i="0" dirty="0" err="1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پیشوند</a:t>
            </a:r>
            <a:r>
              <a:rPr sz="1100" b="1" i="0" dirty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 (GNN)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۲ </a:t>
            </a:r>
            <a:r>
              <a:rPr sz="1050" b="0" i="0" dirty="0" err="1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لایه</a:t>
            </a:r>
            <a:r>
              <a:rPr sz="1050" b="0" i="0" dirty="0" smtClean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GCN +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میانگین</a:t>
            </a:r>
            <a:r>
              <a:rPr sz="1050" b="0" i="0" dirty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 </a:t>
            </a:r>
            <a:r>
              <a:rPr sz="1050" b="0" i="0" dirty="0" err="1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ماسک‌شده</a:t>
            </a:r>
            <a:endParaRPr sz="1050" b="0" i="0" dirty="0">
              <a:solidFill>
                <a:srgbClr val="4B5563"/>
              </a:solidFill>
              <a:latin typeface="Tahoma"/>
              <a:ea typeface="Tahoma"/>
              <a:cs typeface="B Nazanin" panose="00000400000000000000" pitchFamily="2" charset="-78"/>
            </a:endParaRPr>
          </a:p>
        </p:txBody>
      </p:sp>
      <p:cxnSp>
        <p:nvCxnSpPr>
          <p:cNvPr id="41" name="p3_ab"/>
          <p:cNvCxnSpPr/>
          <p:nvPr/>
        </p:nvCxnSpPr>
        <p:spPr>
          <a:xfrm>
            <a:off x="9982966" y="6483095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p3_ab"/>
          <p:cNvCxnSpPr/>
          <p:nvPr/>
        </p:nvCxnSpPr>
        <p:spPr>
          <a:xfrm>
            <a:off x="6568291" y="6483095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p3_ab"/>
          <p:cNvCxnSpPr/>
          <p:nvPr/>
        </p:nvCxnSpPr>
        <p:spPr>
          <a:xfrm>
            <a:off x="3153617" y="6483095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3_cross"/>
          <p:cNvSpPr/>
          <p:nvPr/>
        </p:nvSpPr>
        <p:spPr>
          <a:xfrm>
            <a:off x="4961538" y="7086599"/>
            <a:ext cx="6628180" cy="347472"/>
          </a:xfrm>
          <a:prstGeom prst="roundRect">
            <a:avLst>
              <a:gd name="adj" fmla="val 22368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ادغام توجه متقابل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توجه چندسری + اتصال باقیمانده + FFN</a:t>
            </a:r>
          </a:p>
        </p:txBody>
      </p:sp>
      <p:sp>
        <p:nvSpPr>
          <p:cNvPr id="45" name="p3_pool"/>
          <p:cNvSpPr/>
          <p:nvPr/>
        </p:nvSpPr>
        <p:spPr>
          <a:xfrm>
            <a:off x="1546863" y="7086599"/>
            <a:ext cx="3213506" cy="347472"/>
          </a:xfrm>
          <a:prstGeom prst="roundRect">
            <a:avLst>
              <a:gd name="adj" fmla="val 22368"/>
            </a:avLst>
          </a:prstGeom>
          <a:solidFill>
            <a:srgbClr val="F4F6F9"/>
          </a:solidFill>
          <a:ln w="13970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ادغام ترتیبی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آخرین موقعیت معتبر پیشوند</a:t>
            </a:r>
          </a:p>
        </p:txBody>
      </p:sp>
      <p:cxnSp>
        <p:nvCxnSpPr>
          <p:cNvPr id="46" name="p3_bc"/>
          <p:cNvCxnSpPr/>
          <p:nvPr/>
        </p:nvCxnSpPr>
        <p:spPr>
          <a:xfrm>
            <a:off x="9982966" y="6958583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3_bc"/>
          <p:cNvCxnSpPr/>
          <p:nvPr/>
        </p:nvCxnSpPr>
        <p:spPr>
          <a:xfrm>
            <a:off x="6568291" y="6958583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3_bc"/>
          <p:cNvCxnSpPr/>
          <p:nvPr/>
        </p:nvCxnSpPr>
        <p:spPr>
          <a:xfrm>
            <a:off x="3153617" y="6958583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p3_mlp"/>
          <p:cNvSpPr/>
          <p:nvPr/>
        </p:nvSpPr>
        <p:spPr>
          <a:xfrm>
            <a:off x="1546864" y="7562087"/>
            <a:ext cx="10042855" cy="347472"/>
          </a:xfrm>
          <a:prstGeom prst="roundRect">
            <a:avLst>
              <a:gd name="adj" fmla="val 22368"/>
            </a:avLst>
          </a:prstGeom>
          <a:solidFill>
            <a:srgbClr val="FDEEDF"/>
          </a:solidFill>
          <a:ln w="13970">
            <a:solidFill>
              <a:srgbClr val="D9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ادغام نهایی — MLP سه‌جریانه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ترتیب + گراف + تعامل • ابعاد ۷۶۸ به ۵۱۲ به ۲۵۶ • بازنمایی مشترک: LayerNorm + GELU</a:t>
            </a:r>
          </a:p>
        </p:txBody>
      </p:sp>
      <p:cxnSp>
        <p:nvCxnSpPr>
          <p:cNvPr id="50" name="p3_cd"/>
          <p:cNvCxnSpPr/>
          <p:nvPr/>
        </p:nvCxnSpPr>
        <p:spPr>
          <a:xfrm>
            <a:off x="9982966" y="7434071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p3_cd"/>
          <p:cNvCxnSpPr/>
          <p:nvPr/>
        </p:nvCxnSpPr>
        <p:spPr>
          <a:xfrm>
            <a:off x="6568291" y="7434071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p3_cd"/>
          <p:cNvCxnSpPr/>
          <p:nvPr/>
        </p:nvCxnSpPr>
        <p:spPr>
          <a:xfrm>
            <a:off x="3153617" y="7434071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p3_head_سر فعالی"/>
          <p:cNvSpPr/>
          <p:nvPr/>
        </p:nvSpPr>
        <p:spPr>
          <a:xfrm>
            <a:off x="9229881" y="8037575"/>
            <a:ext cx="2359837" cy="347472"/>
          </a:xfrm>
          <a:prstGeom prst="roundRect">
            <a:avLst>
              <a:gd name="adj" fmla="val 22368"/>
            </a:avLst>
          </a:prstGeom>
          <a:solidFill>
            <a:srgbClr val="EAF2F9"/>
          </a:solidFill>
          <a:ln w="13970">
            <a:solidFill>
              <a:srgbClr val="5B8D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سر فعالیت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فعالیت بعدی</a:t>
            </a:r>
          </a:p>
        </p:txBody>
      </p:sp>
      <p:sp>
        <p:nvSpPr>
          <p:cNvPr id="54" name="p3_head_سر زمان "/>
          <p:cNvSpPr/>
          <p:nvPr/>
        </p:nvSpPr>
        <p:spPr>
          <a:xfrm>
            <a:off x="6668875" y="8037575"/>
            <a:ext cx="2359837" cy="347472"/>
          </a:xfrm>
          <a:prstGeom prst="roundRect">
            <a:avLst>
              <a:gd name="adj" fmla="val 22368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سر زمان باقی‌مانده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رگرسیون زمان</a:t>
            </a:r>
          </a:p>
        </p:txBody>
      </p:sp>
      <p:sp>
        <p:nvSpPr>
          <p:cNvPr id="55" name="p3_head_سر بهبود"/>
          <p:cNvSpPr/>
          <p:nvPr/>
        </p:nvSpPr>
        <p:spPr>
          <a:xfrm>
            <a:off x="4107869" y="8037575"/>
            <a:ext cx="2359837" cy="347472"/>
          </a:xfrm>
          <a:prstGeom prst="roundRect">
            <a:avLst>
              <a:gd name="adj" fmla="val 22368"/>
            </a:avLst>
          </a:prstGeom>
          <a:solidFill>
            <a:srgbClr val="E6F4EC"/>
          </a:solidFill>
          <a:ln w="13970">
            <a:solidFill>
              <a:srgbClr val="4E9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سر بهبود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کاهش تأخیر + Tanh</a:t>
            </a:r>
          </a:p>
        </p:txBody>
      </p:sp>
      <p:sp>
        <p:nvSpPr>
          <p:cNvPr id="56" name="p3_head_سر گلوگا"/>
          <p:cNvSpPr/>
          <p:nvPr/>
        </p:nvSpPr>
        <p:spPr>
          <a:xfrm>
            <a:off x="1546863" y="8037575"/>
            <a:ext cx="2359837" cy="347472"/>
          </a:xfrm>
          <a:prstGeom prst="roundRect">
            <a:avLst>
              <a:gd name="adj" fmla="val 22368"/>
            </a:avLst>
          </a:prstGeom>
          <a:solidFill>
            <a:srgbClr val="EFECF9"/>
          </a:solidFill>
          <a:ln w="13970">
            <a:solidFill>
              <a:srgbClr val="7C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A37"/>
                </a:solidFill>
                <a:latin typeface="Tahoma"/>
                <a:ea typeface="Tahoma"/>
                <a:cs typeface="B Nazanin" panose="00000400000000000000" pitchFamily="2" charset="-78"/>
              </a:rPr>
              <a:t>سر گلوگاه</a:t>
            </a:r>
          </a:p>
          <a:p>
            <a:pPr algn="ctr" rtl="1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</a:pPr>
            <a:r>
              <a:rPr sz="1050" b="0" i="0">
                <a:solidFill>
                  <a:srgbClr val="4B5563"/>
                </a:solidFill>
                <a:latin typeface="Tahoma"/>
                <a:ea typeface="Tahoma"/>
                <a:cs typeface="B Nazanin" panose="00000400000000000000" pitchFamily="2" charset="-78"/>
              </a:rPr>
              <a:t>گلوگاه هر موقعیت</a:t>
            </a:r>
          </a:p>
        </p:txBody>
      </p:sp>
      <p:cxnSp>
        <p:nvCxnSpPr>
          <p:cNvPr id="57" name="p3_de"/>
          <p:cNvCxnSpPr/>
          <p:nvPr/>
        </p:nvCxnSpPr>
        <p:spPr>
          <a:xfrm>
            <a:off x="10409800" y="7909559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p3_de"/>
          <p:cNvCxnSpPr/>
          <p:nvPr/>
        </p:nvCxnSpPr>
        <p:spPr>
          <a:xfrm>
            <a:off x="7848794" y="7909559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3_de"/>
          <p:cNvCxnSpPr/>
          <p:nvPr/>
        </p:nvCxnSpPr>
        <p:spPr>
          <a:xfrm>
            <a:off x="5287788" y="7909559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3_de"/>
          <p:cNvCxnSpPr/>
          <p:nvPr/>
        </p:nvCxnSpPr>
        <p:spPr>
          <a:xfrm>
            <a:off x="2726782" y="7909559"/>
            <a:ext cx="0" cy="128016"/>
          </a:xfrm>
          <a:prstGeom prst="line">
            <a:avLst/>
          </a:prstGeom>
          <a:ln w="16510">
            <a:solidFill>
              <a:srgbClr val="2E4A7A"/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rain_note"/>
          <p:cNvSpPr txBox="1"/>
          <p:nvPr/>
        </p:nvSpPr>
        <p:spPr>
          <a:xfrm>
            <a:off x="1546864" y="8439911"/>
            <a:ext cx="10042855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no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Tahoma"/>
                <a:ea typeface="Tahoma"/>
                <a:cs typeface="B Nazanin" panose="00000400000000000000" pitchFamily="2" charset="-78"/>
              </a:rPr>
              <a:t>آموزش: زیان وزنی چندوظیفه‌ای (Cross-Entropy + Huber + Huber + BCE) • AdamW • Warmup + Cosine • برش گرادیان • SWA</a:t>
            </a:r>
          </a:p>
        </p:txBody>
      </p:sp>
      <p:cxnSp>
        <p:nvCxnSpPr>
          <p:cNvPr id="69" name="Elbow Connector 68"/>
          <p:cNvCxnSpPr>
            <a:stCxn id="22" idx="1"/>
            <a:endCxn id="25" idx="0"/>
          </p:cNvCxnSpPr>
          <p:nvPr/>
        </p:nvCxnSpPr>
        <p:spPr>
          <a:xfrm rot="10800000" flipV="1">
            <a:off x="3153617" y="3877055"/>
            <a:ext cx="854355" cy="4023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Elbow Connector 70"/>
          <p:cNvCxnSpPr>
            <a:stCxn id="22" idx="3"/>
            <a:endCxn id="23" idx="0"/>
          </p:cNvCxnSpPr>
          <p:nvPr/>
        </p:nvCxnSpPr>
        <p:spPr>
          <a:xfrm>
            <a:off x="9128611" y="3877055"/>
            <a:ext cx="854354" cy="4023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348</Words>
  <Application>Microsoft Office PowerPoint</Application>
  <PresentationFormat>Custom</PresentationFormat>
  <Paragraphs>73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B Nazanin</vt:lpstr>
      <vt:lpstr>Calibri</vt:lpstr>
      <vt:lpstr>Tahoma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omid gholami</dc:creator>
  <cp:keywords/>
  <dc:description>generated using python-pptx</dc:description>
  <cp:lastModifiedBy>omid</cp:lastModifiedBy>
  <cp:revision>6</cp:revision>
  <dcterms:created xsi:type="dcterms:W3CDTF">2013-01-27T09:14:16Z</dcterms:created>
  <dcterms:modified xsi:type="dcterms:W3CDTF">2026-10-31T00:40:48Z</dcterms:modified>
  <cp:category/>
</cp:coreProperties>
</file>