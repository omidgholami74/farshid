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</p:sldMasterIdLst>
  <p:sldIdLst>
    <p:sldId id="275" r:id="rId3"/>
    <p:sldId id="259" r:id="rId4"/>
    <p:sldId id="320" r:id="rId5"/>
    <p:sldId id="266" r:id="rId6"/>
    <p:sldId id="315" r:id="rId7"/>
    <p:sldId id="316" r:id="rId8"/>
    <p:sldId id="350" r:id="rId9"/>
    <p:sldId id="318" r:id="rId10"/>
    <p:sldId id="260" r:id="rId11"/>
    <p:sldId id="321" r:id="rId12"/>
    <p:sldId id="352" r:id="rId13"/>
    <p:sldId id="325" r:id="rId14"/>
    <p:sldId id="319" r:id="rId15"/>
    <p:sldId id="302" r:id="rId16"/>
    <p:sldId id="330" r:id="rId17"/>
    <p:sldId id="327" r:id="rId18"/>
    <p:sldId id="331" r:id="rId19"/>
    <p:sldId id="329" r:id="rId20"/>
    <p:sldId id="334" r:id="rId21"/>
    <p:sldId id="351" r:id="rId22"/>
    <p:sldId id="353" r:id="rId23"/>
    <p:sldId id="354" r:id="rId24"/>
    <p:sldId id="262" r:id="rId25"/>
    <p:sldId id="332" r:id="rId26"/>
    <p:sldId id="338" r:id="rId27"/>
    <p:sldId id="339" r:id="rId28"/>
    <p:sldId id="340" r:id="rId29"/>
    <p:sldId id="341" r:id="rId30"/>
    <p:sldId id="343" r:id="rId31"/>
    <p:sldId id="344" r:id="rId32"/>
    <p:sldId id="345" r:id="rId33"/>
    <p:sldId id="278" r:id="rId34"/>
    <p:sldId id="346" r:id="rId35"/>
    <p:sldId id="347" r:id="rId36"/>
    <p:sldId id="348" r:id="rId37"/>
    <p:sldId id="265" r:id="rId38"/>
  </p:sldIdLst>
  <p:sldSz cx="12192000" cy="6858000"/>
  <p:notesSz cx="6858000" cy="9144000"/>
  <p:embeddedFontLst>
    <p:embeddedFont>
      <p:font typeface="Microsoft YaHei" panose="020B0503020204020204" pitchFamily="34" charset="-122"/>
      <p:regular r:id="rId39"/>
      <p:bold r:id="rId40"/>
    </p:embeddedFont>
    <p:embeddedFont>
      <p:font typeface="B Nazanin" panose="00000400000000000000" pitchFamily="2" charset="-78"/>
      <p:regular r:id="rId41"/>
      <p:bold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Calibri Light" panose="020F0302020204030204" pitchFamily="34" charset="0"/>
      <p:regular r:id="rId47"/>
      <p:italic r:id="rId48"/>
    </p:embeddedFont>
    <p:embeddedFont>
      <p:font typeface="Georgia" panose="02040502050405020303" pitchFamily="18" charset="0"/>
      <p:regular r:id="rId49"/>
      <p:bold r:id="rId50"/>
      <p:italic r:id="rId51"/>
      <p:boldItalic r:id="rId52"/>
    </p:embeddedFont>
    <p:embeddedFont>
      <p:font typeface="Georgia Pro Cond" panose="02040506050405020303" pitchFamily="18" charset="0"/>
      <p:regular r:id="rId53"/>
      <p:bold r:id="rId54"/>
      <p:italic r:id="rId55"/>
      <p:boldItalic r:id="rId56"/>
    </p:embeddedFont>
    <p:embeddedFont>
      <p:font typeface="IranNastaliq" panose="02020505000000020003" pitchFamily="18" charset="0"/>
      <p:regular r:id="rId57"/>
    </p:embeddedFont>
    <p:embeddedFont>
      <p:font typeface="IRANSans" panose="020B0604020202020204" charset="0"/>
      <p:regular r:id="rId58"/>
      <p:bold r:id="rId59"/>
    </p:embeddedFont>
    <p:embeddedFont>
      <p:font typeface="Vazir" panose="020B0604020202020204" charset="-78"/>
      <p:regular r:id="rId60"/>
      <p:bold r:id="rId61"/>
    </p:embeddedFont>
    <p:embeddedFont>
      <p:font typeface="Vazir Light FD" panose="020B0604020202020204" charset="-78"/>
      <p:regular r:id="rId62"/>
    </p:embeddedFont>
  </p:embeddedFontLst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t" initials="i" lastIdx="1" clrIdx="0">
    <p:extLst>
      <p:ext uri="{19B8F6BF-5375-455C-9EA6-DF929625EA0E}">
        <p15:presenceInfo xmlns:p15="http://schemas.microsoft.com/office/powerpoint/2012/main" userId="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E7E7"/>
    <a:srgbClr val="144BD5"/>
    <a:srgbClr val="2D63EB"/>
    <a:srgbClr val="2960EB"/>
    <a:srgbClr val="000000"/>
    <a:srgbClr val="27214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8" autoAdjust="0"/>
    <p:restoredTop sz="94660"/>
  </p:normalViewPr>
  <p:slideViewPr>
    <p:cSldViewPr snapToGrid="0">
      <p:cViewPr varScale="1">
        <p:scale>
          <a:sx n="86" d="100"/>
          <a:sy n="86" d="100"/>
        </p:scale>
        <p:origin x="6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61" Type="http://schemas.openxmlformats.org/officeDocument/2006/relationships/font" Target="fonts/font2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font" Target="fonts/font22.fntdata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1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8.fntdata"/><Relationship Id="rId59" Type="http://schemas.openxmlformats.org/officeDocument/2006/relationships/font" Target="fonts/font21.fntdata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font" Target="fonts/font2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6C00-D0B9-24EB-5CE9-8ADF4CF4D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0595D-35B0-B0A5-13D7-2152453FF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E57A7-A3E7-BF8C-473A-1DA36082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65A9-BBD9-7758-4196-012D002E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1B519-6C7E-6B34-C2DD-7466469C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9607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0A80-3CF5-B591-9BFA-0615483A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8486-9BF0-23C4-9B20-AAE3BCF7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5C8D4-0594-6312-4FC3-4EBEA0FE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2EDB-F20C-F490-C1F8-AA4652C3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7127E-461F-211D-CA88-563337B9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3859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6FFA-D636-3DE7-0965-45FF94AE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B703C-3489-7E5A-A07A-FC6A2A527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9D370-9CEE-0C09-C9B8-818C16A8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9F484-97B3-CD09-337E-5AD2729F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E612-1FA3-A3F8-2041-E2189AAF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106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7FBB-282F-7AC5-E125-A8C6C395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49A03-EAE2-DF9C-8D64-506D85124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6FC7D-0399-B171-908E-8D3D70296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C4D2C-8511-47D0-1C9B-8D8AB81A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BE4D0-281C-B15F-0B42-4BC7C690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30BB9-398D-2583-FB26-37020300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63046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BEE2-88A3-C981-A34D-40E5E69C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F74D7-E128-03B1-2E6C-85696E913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CF83A-5DE1-CA06-F110-B1A774F52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A1C98-C9CF-942D-9B4E-845A4ABCF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85976-C6EA-6B15-21FD-330F1712A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59CA5-0DF7-D879-87BC-03CC6F6C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905DE-B805-452A-F9EE-6ADE1C1F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9816C-337A-183B-E3A7-5719A892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1437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1619-2939-BA52-11E2-2C7F6027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C1F8C-E4BF-0282-823B-9251EFA4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02A0F-2A41-3BEA-4DFD-1A117AA3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1BEE-047D-7FC0-469A-19D04520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3671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5F739-58DA-C7C8-44C9-E50F8219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F5A5B-6AF2-B2AD-5C85-AC5BE1C4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3C9E8-F871-21F1-7310-A404C9C9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7326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7CFE-225F-0FBC-6AA5-D148DF18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47403-3F00-1D2D-6740-AD96941E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84B06-A31E-DDC1-9F47-20B0330F3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89E35-5EFA-2F48-B449-D3D682C1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7A4C-91C0-34FD-2F2A-35BBE3EE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F2FE-4794-F43E-DC61-8851E30F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2922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FB8B-9A86-BE43-1216-A9088CC9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EA900-FFA2-ABD9-FB5F-0110E41FB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F7A9B-DCF4-0C29-43FF-BCB33820B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D56B0-0F36-5513-4696-C2C0F20D3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834C8-43F1-B2C5-643C-315BC2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1B4B-99CE-B901-337A-6C26528C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1044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9E8D-5AEF-9A99-F3A2-0E538724C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AC2C0-9F43-C5CB-97A2-A46F2FD56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D79D-660F-C882-D9CE-1212DEA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7574A-DBAB-A477-A40E-BC2FBB46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A21B-8079-FAE4-282C-89078C95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5385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1F26B-68A1-B063-DA6B-A3B562AFD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5F7B0-E36A-60DE-8BAB-342181B72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A9D-9251-5363-6515-CB3B01C8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99781-E9C0-0D91-9310-C86B83D5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EA98F-4120-17C2-FCC5-EEE4E1F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459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6C00-D0B9-24EB-5CE9-8ADF4CF4D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0595D-35B0-B0A5-13D7-2152453FF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E57A7-A3E7-BF8C-473A-1DA36082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65A9-BBD9-7758-4196-012D002E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1B519-6C7E-6B34-C2DD-7466469C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67601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0A80-3CF5-B591-9BFA-0615483A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8486-9BF0-23C4-9B20-AAE3BCF7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5C8D4-0594-6312-4FC3-4EBEA0FE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2EDB-F20C-F490-C1F8-AA4652C3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7127E-461F-211D-CA88-563337B9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35889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6FFA-D636-3DE7-0965-45FF94AE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B703C-3489-7E5A-A07A-FC6A2A527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9D370-9CEE-0C09-C9B8-818C16A8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9F484-97B3-CD09-337E-5AD2729F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E612-1FA3-A3F8-2041-E2189AAF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93666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7FBB-282F-7AC5-E125-A8C6C395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49A03-EAE2-DF9C-8D64-506D85124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6FC7D-0399-B171-908E-8D3D70296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C4D2C-8511-47D0-1C9B-8D8AB81A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BE4D0-281C-B15F-0B42-4BC7C690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30BB9-398D-2583-FB26-37020300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95504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BEE2-88A3-C981-A34D-40E5E69C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F74D7-E128-03B1-2E6C-85696E913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CF83A-5DE1-CA06-F110-B1A774F52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A1C98-C9CF-942D-9B4E-845A4ABCF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85976-C6EA-6B15-21FD-330F1712A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59CA5-0DF7-D879-87BC-03CC6F6C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905DE-B805-452A-F9EE-6ADE1C1F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9816C-337A-183B-E3A7-5719A892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85908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1619-2939-BA52-11E2-2C7F6027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C1F8C-E4BF-0282-823B-9251EFA4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02A0F-2A41-3BEA-4DFD-1A117AA3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1BEE-047D-7FC0-469A-19D04520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80621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5F739-58DA-C7C8-44C9-E50F8219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F5A5B-6AF2-B2AD-5C85-AC5BE1C4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3C9E8-F871-21F1-7310-A404C9C9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75864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7CFE-225F-0FBC-6AA5-D148DF18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47403-3F00-1D2D-6740-AD96941E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84B06-A31E-DDC1-9F47-20B0330F3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89E35-5EFA-2F48-B449-D3D682C1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7A4C-91C0-34FD-2F2A-35BBE3EE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F2FE-4794-F43E-DC61-8851E30F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0787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FB8B-9A86-BE43-1216-A9088CC9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EA900-FFA2-ABD9-FB5F-0110E41FB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F7A9B-DCF4-0C29-43FF-BCB33820B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D56B0-0F36-5513-4696-C2C0F20D3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834C8-43F1-B2C5-643C-315BC2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1B4B-99CE-B901-337A-6C26528C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89998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9E8D-5AEF-9A99-F3A2-0E538724C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AC2C0-9F43-C5CB-97A2-A46F2FD56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D79D-660F-C882-D9CE-1212DEA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7574A-DBAB-A477-A40E-BC2FBB46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A21B-8079-FAE4-282C-89078C95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88826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1F26B-68A1-B063-DA6B-A3B562AFD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5F7B0-E36A-60DE-8BAB-342181B72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A9D-9251-5363-6515-CB3B01C8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99781-E9C0-0D91-9310-C86B83D5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EA98F-4120-17C2-FCC5-EEE4E1F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6207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71C6E-7780-700F-9AFD-8E3779C9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8ADDB-65B1-0D7A-A75B-E5D331567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367BC-F2C4-A573-9D45-C22DA8FF0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C161-137E-1E1F-01EE-74DD58A08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9E452-6BC6-F80A-088D-158EAAC0E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9874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71C6E-7780-700F-9AFD-8E3779C9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8ADDB-65B1-0D7A-A75B-E5D331567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367BC-F2C4-A573-9D45-C22DA8FF0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2BA90-1263-4139-9E0E-4D816006D7AD}" type="datetimeFigureOut">
              <a:rPr lang="fa-IR" smtClean="0"/>
              <a:t>10/05/1448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C161-137E-1E1F-01EE-74DD58A08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9E452-6BC6-F80A-088D-158EAAC0E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55FF-1D40-4A55-891B-ADD7096F163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3933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image" Target="../media/image2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بسم الله الرحمن الرحيم برای پاورپوینت با کیفیت بالا">
            <a:extLst>
              <a:ext uri="{FF2B5EF4-FFF2-40B4-BE49-F238E27FC236}">
                <a16:creationId xmlns:a16="http://schemas.microsoft.com/office/drawing/2014/main" id="{F18DF2C1-0529-4CC7-AC6A-330D3A1596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" t="2463" r="1119" b="1716"/>
          <a:stretch/>
        </p:blipFill>
        <p:spPr bwMode="auto">
          <a:xfrm>
            <a:off x="3111690" y="1255594"/>
            <a:ext cx="5964071" cy="4380931"/>
          </a:xfrm>
          <a:prstGeom prst="roundRect">
            <a:avLst>
              <a:gd name="adj" fmla="val 1357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07827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چب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12775815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rgbClr val="272143"/>
              </a:solidFill>
            </a:endParaRPr>
          </a:p>
        </p:txBody>
      </p:sp>
      <p:sp>
        <p:nvSpPr>
          <p:cNvPr id="5" name="!!مستطیل ثابت راست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-10279569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rgbClr val="272143"/>
              </a:solidFill>
            </a:endParaRPr>
          </a:p>
        </p:txBody>
      </p:sp>
      <p:grpSp>
        <p:nvGrpSpPr>
          <p:cNvPr id="73" name="!!دکمه اسلاید بعد">
            <a:extLst>
              <a:ext uri="{FF2B5EF4-FFF2-40B4-BE49-F238E27FC236}">
                <a16:creationId xmlns:a16="http://schemas.microsoft.com/office/drawing/2014/main" id="{6E5C546E-7DA5-5CE8-6848-EB9C6D778484}"/>
              </a:ext>
            </a:extLst>
          </p:cNvPr>
          <p:cNvGrpSpPr/>
          <p:nvPr/>
        </p:nvGrpSpPr>
        <p:grpSpPr>
          <a:xfrm>
            <a:off x="6429140" y="6148605"/>
            <a:ext cx="319904" cy="319905"/>
            <a:chOff x="11188223" y="6237754"/>
            <a:chExt cx="319904" cy="31990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345E3A5-A313-F79B-F4E2-5F15B9AF4CC0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srgbClr val="272143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75" name="Isosceles Triangle 7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0A835F2-C1E2-B25F-955E-FB45115B8FB4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/>
            </a:solidFill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srgbClr val="272143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77" name="!!دکمه فهرست مطالب">
            <a:extLst>
              <a:ext uri="{FF2B5EF4-FFF2-40B4-BE49-F238E27FC236}">
                <a16:creationId xmlns:a16="http://schemas.microsoft.com/office/drawing/2014/main" id="{463F5DF7-4407-4A66-006A-F2D9D7D30823}"/>
              </a:ext>
            </a:extLst>
          </p:cNvPr>
          <p:cNvGrpSpPr/>
          <p:nvPr/>
        </p:nvGrpSpPr>
        <p:grpSpPr>
          <a:xfrm>
            <a:off x="6000635" y="6148605"/>
            <a:ext cx="319905" cy="319905"/>
            <a:chOff x="10759668" y="6237755"/>
            <a:chExt cx="319905" cy="319905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C563C49-9649-5455-B38C-40DD7A1BBB0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53E4AC2-FEF3-ABE0-9F67-4CE24BB7A19A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srgbClr val="2721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1CD7EDE-DE05-2EDF-C449-97C51B77C937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721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25E0801-6AE2-0AD3-E610-030801E9384E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D8D0A083-1598-F0AD-183C-3B5BD041B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A3BC4B4-68F5-8B5B-E209-8BADE7781D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E4D9A56-4473-3A19-34FF-84177617C1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!!دکمه اسلاید قبل">
            <a:extLst>
              <a:ext uri="{FF2B5EF4-FFF2-40B4-BE49-F238E27FC236}">
                <a16:creationId xmlns:a16="http://schemas.microsoft.com/office/drawing/2014/main" id="{1787615E-B7B1-314F-2F30-FED031CED9DF}"/>
              </a:ext>
            </a:extLst>
          </p:cNvPr>
          <p:cNvGrpSpPr/>
          <p:nvPr/>
        </p:nvGrpSpPr>
        <p:grpSpPr>
          <a:xfrm>
            <a:off x="5572130" y="6148605"/>
            <a:ext cx="319904" cy="319905"/>
            <a:chOff x="10331213" y="6255423"/>
            <a:chExt cx="319904" cy="319905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86F0C02-B457-D960-B1F4-FAEAB63D829E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srgbClr val="272143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93" name="Isosceles Triangle 92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51754E77-9B88-E409-14DD-A668D8BAD942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/>
            </a:solidFill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srgbClr val="272143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16" name="!!نتیجه">
            <a:hlinkClick r:id="" action="ppaction://noaction"/>
            <a:extLst>
              <a:ext uri="{FF2B5EF4-FFF2-40B4-BE49-F238E27FC236}">
                <a16:creationId xmlns:a16="http://schemas.microsoft.com/office/drawing/2014/main" id="{25B4D61D-0804-25E9-B6BC-6E5397FD9B88}"/>
              </a:ext>
            </a:extLst>
          </p:cNvPr>
          <p:cNvSpPr/>
          <p:nvPr/>
        </p:nvSpPr>
        <p:spPr>
          <a:xfrm>
            <a:off x="233445" y="4585597"/>
            <a:ext cx="4798085" cy="72866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دانشگاه صنعتی امیرکبیر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5" name="!!آنالیز">
            <a:hlinkClick r:id="rId2" action="ppaction://hlinksldjump"/>
            <a:extLst>
              <a:ext uri="{FF2B5EF4-FFF2-40B4-BE49-F238E27FC236}">
                <a16:creationId xmlns:a16="http://schemas.microsoft.com/office/drawing/2014/main" id="{E1E3BFC5-0E49-94D4-C636-532F2C429757}"/>
              </a:ext>
            </a:extLst>
          </p:cNvPr>
          <p:cNvSpPr/>
          <p:nvPr/>
        </p:nvSpPr>
        <p:spPr>
          <a:xfrm>
            <a:off x="233445" y="3691268"/>
            <a:ext cx="4689304" cy="72866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مقطع:کارشناسی ارشد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4" name="!!روش‌شناسی">
            <a:hlinkClick r:id="rId3" action="ppaction://hlinksldjump"/>
            <a:extLst>
              <a:ext uri="{FF2B5EF4-FFF2-40B4-BE49-F238E27FC236}">
                <a16:creationId xmlns:a16="http://schemas.microsoft.com/office/drawing/2014/main" id="{A91E2FF0-084F-0F95-97D7-192B6751A2E6}"/>
              </a:ext>
            </a:extLst>
          </p:cNvPr>
          <p:cNvSpPr/>
          <p:nvPr/>
        </p:nvSpPr>
        <p:spPr>
          <a:xfrm>
            <a:off x="244028" y="2788510"/>
            <a:ext cx="4844194" cy="72866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رشته : فناوری اطلاعات</a:t>
            </a:r>
            <a:r>
              <a:rPr kumimoji="0" lang="fa-I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13" name="!!پیشنینه پژوهش">
            <a:hlinkClick r:id="rId4" action="ppaction://hlinksldjump"/>
            <a:extLst>
              <a:ext uri="{FF2B5EF4-FFF2-40B4-BE49-F238E27FC236}">
                <a16:creationId xmlns:a16="http://schemas.microsoft.com/office/drawing/2014/main" id="{A939D582-9703-B38D-30E2-970FBEB09616}"/>
              </a:ext>
            </a:extLst>
          </p:cNvPr>
          <p:cNvSpPr/>
          <p:nvPr/>
        </p:nvSpPr>
        <p:spPr>
          <a:xfrm>
            <a:off x="7217806" y="4617579"/>
            <a:ext cx="4660742" cy="63107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2000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           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دانشجو : فرشید خسروی</a:t>
            </a:r>
            <a:endParaRPr lang="en-US" sz="2000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" name="!!کلیات پژوهش">
            <a:hlinkClick r:id="rId5" action="ppaction://hlinksldjump"/>
            <a:extLst>
              <a:ext uri="{FF2B5EF4-FFF2-40B4-BE49-F238E27FC236}">
                <a16:creationId xmlns:a16="http://schemas.microsoft.com/office/drawing/2014/main" id="{96539FF8-B737-63FC-9888-DD9A584E90C8}"/>
              </a:ext>
            </a:extLst>
          </p:cNvPr>
          <p:cNvSpPr/>
          <p:nvPr/>
        </p:nvSpPr>
        <p:spPr>
          <a:xfrm>
            <a:off x="7386471" y="3691267"/>
            <a:ext cx="4492078" cy="72866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استاد راهنما دوم</a:t>
            </a:r>
            <a:r>
              <a:rPr lang="en-US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دکتر سید علیرضا هاشمی 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" name="!!مقدمه پژوهش">
            <a:hlinkClick r:id="rId6" action="ppaction://hlinksldjump"/>
            <a:extLst>
              <a:ext uri="{FF2B5EF4-FFF2-40B4-BE49-F238E27FC236}">
                <a16:creationId xmlns:a16="http://schemas.microsoft.com/office/drawing/2014/main" id="{92F9FE81-D5EA-FF0D-8D6D-1C26CA9D0F14}"/>
              </a:ext>
            </a:extLst>
          </p:cNvPr>
          <p:cNvSpPr/>
          <p:nvPr/>
        </p:nvSpPr>
        <p:spPr>
          <a:xfrm>
            <a:off x="7156595" y="2788510"/>
            <a:ext cx="4694376" cy="72866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استاد راهنما اول</a:t>
            </a:r>
            <a:r>
              <a:rPr lang="en-US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دکتر محسن اکبرپور شیرازی</a:t>
            </a:r>
            <a:endParaRPr lang="en-US" dirty="0">
              <a:solidFill>
                <a:srgbClr val="272143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!!دایره شماره صفحه">
            <a:extLst>
              <a:ext uri="{FF2B5EF4-FFF2-40B4-BE49-F238E27FC236}">
                <a16:creationId xmlns:a16="http://schemas.microsoft.com/office/drawing/2014/main" id="{6CAFBA3D-5B37-7697-4231-2420A599CCD3}"/>
              </a:ext>
            </a:extLst>
          </p:cNvPr>
          <p:cNvSpPr/>
          <p:nvPr/>
        </p:nvSpPr>
        <p:spPr>
          <a:xfrm>
            <a:off x="4441431" y="2478824"/>
            <a:ext cx="3330381" cy="333038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72143"/>
              </a:solidFill>
              <a:latin typeface="Vazir" panose="020B0603030804020204" pitchFamily="34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5A9F9D-DE85-162E-1DFD-A4F779148CEE}"/>
              </a:ext>
            </a:extLst>
          </p:cNvPr>
          <p:cNvGrpSpPr/>
          <p:nvPr/>
        </p:nvGrpSpPr>
        <p:grpSpPr>
          <a:xfrm>
            <a:off x="199737" y="997980"/>
            <a:ext cx="11813767" cy="1356878"/>
            <a:chOff x="-3949785" y="706527"/>
            <a:chExt cx="12224364" cy="142102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C4C7163-1545-B8D5-FEFE-D0973DEEF0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3949785" y="706527"/>
              <a:ext cx="12224364" cy="1421020"/>
            </a:xfrm>
            <a:prstGeom prst="roundRect">
              <a:avLst/>
            </a:prstGeom>
            <a:solidFill>
              <a:srgbClr val="144BD5">
                <a:alpha val="70000"/>
              </a:srgbClr>
            </a:solidFill>
            <a:ln w="101600">
              <a:solidFill>
                <a:schemeClr val="bg1"/>
              </a:solidFill>
            </a:ln>
            <a:effectLst>
              <a:outerShdw blurRad="254000" sx="105000" sy="105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 defTabSz="914377">
                <a:defRPr/>
              </a:pPr>
              <a:endParaRPr lang="fa-IR" dirty="0">
                <a:solidFill>
                  <a:srgbClr val="272143"/>
                </a:solidFill>
                <a:latin typeface="Vazir" panose="020B0603030804020204" pitchFamily="34" charset="-78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268715-0BFA-57DA-FA35-B13AFA676A8D}"/>
                </a:ext>
              </a:extLst>
            </p:cNvPr>
            <p:cNvSpPr txBox="1"/>
            <p:nvPr/>
          </p:nvSpPr>
          <p:spPr>
            <a:xfrm>
              <a:off x="-3685306" y="1122866"/>
              <a:ext cx="11756822" cy="547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azir" panose="020B0603030804020204" pitchFamily="34" charset="-78"/>
                  <a:ea typeface="+mn-ea"/>
                  <a:cs typeface="Vazir" panose="020B0603030804020204" pitchFamily="34" charset="-78"/>
                </a:rPr>
                <a:t>بهبود تأخیر زمانی در </a:t>
              </a:r>
              <a:r>
                <a:rPr lang="fa-IR" sz="2800" b="1" dirty="0">
                  <a:solidFill>
                    <a:schemeClr val="bg1"/>
                  </a:solidFill>
                  <a:latin typeface="Vazir" panose="020B0603030804020204" pitchFamily="34" charset="-78"/>
                  <a:cs typeface="Vazir" panose="020B0603030804020204" pitchFamily="34" charset="-78"/>
                </a:rPr>
                <a:t>فرآیند های مالی با استفاده از یادگیری عمیق و فرآیند کاوی</a:t>
              </a:r>
              <a:endPara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6BE522-3E4C-FE81-01E9-C671FD2EADE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003" b="21745"/>
          <a:stretch/>
        </p:blipFill>
        <p:spPr>
          <a:xfrm>
            <a:off x="5088222" y="3000586"/>
            <a:ext cx="2011680" cy="20447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AEDC14B-FDAB-4474-98DD-2951B2035A2B}"/>
              </a:ext>
            </a:extLst>
          </p:cNvPr>
          <p:cNvSpPr txBox="1"/>
          <p:nvPr/>
        </p:nvSpPr>
        <p:spPr>
          <a:xfrm>
            <a:off x="4760435" y="325062"/>
            <a:ext cx="2692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عنوان پایان نامه</a:t>
            </a:r>
          </a:p>
        </p:txBody>
      </p:sp>
    </p:spTree>
    <p:extLst>
      <p:ext uri="{BB962C8B-B14F-4D97-AF65-F5344CB8AC3E}">
        <p14:creationId xmlns:p14="http://schemas.microsoft.com/office/powerpoint/2010/main" val="3208033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64737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defRPr/>
            </a:pPr>
            <a:r>
              <a:rPr lang="fa-IR" sz="2200" kern="0" dirty="0">
                <a:latin typeface="IranNastaliq" panose="02020505000000020003" pitchFamily="18" charset="0"/>
                <a:cs typeface="B Nazanin" panose="00000400000000000000" pitchFamily="2" charset="-78"/>
              </a:rPr>
              <a:t>این شرکت توانسته در جهت کارآفرینی به طور مستقیم برای 50 نفر و غیر مستقیم 2000 هزار نفر در سرار کشور ایجاد شغل کرده است.</a:t>
            </a: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جمع بندی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95" name="KSO_Shape">
            <a:extLst>
              <a:ext uri="{FF2B5EF4-FFF2-40B4-BE49-F238E27FC236}">
                <a16:creationId xmlns:a16="http://schemas.microsoft.com/office/drawing/2014/main" id="{37B0B1BE-6A00-42EE-94A7-70737C57468B}"/>
              </a:ext>
            </a:extLst>
          </p:cNvPr>
          <p:cNvSpPr>
            <a:spLocks/>
          </p:cNvSpPr>
          <p:nvPr/>
        </p:nvSpPr>
        <p:spPr bwMode="auto">
          <a:xfrm>
            <a:off x="5563863" y="2127238"/>
            <a:ext cx="2779075" cy="2362200"/>
          </a:xfrm>
          <a:custGeom>
            <a:avLst/>
            <a:gdLst>
              <a:gd name="T0" fmla="*/ 1221908 w 2276475"/>
              <a:gd name="T1" fmla="*/ 1328927 h 1936751"/>
              <a:gd name="T2" fmla="*/ 1196654 w 2276475"/>
              <a:gd name="T3" fmla="*/ 1388292 h 1936751"/>
              <a:gd name="T4" fmla="*/ 691864 w 2276475"/>
              <a:gd name="T5" fmla="*/ 1376845 h 1936751"/>
              <a:gd name="T6" fmla="*/ 695585 w 2276475"/>
              <a:gd name="T7" fmla="*/ 1314285 h 1936751"/>
              <a:gd name="T8" fmla="*/ 1104489 w 2276475"/>
              <a:gd name="T9" fmla="*/ 1115137 h 1936751"/>
              <a:gd name="T10" fmla="*/ 1117497 w 2276475"/>
              <a:gd name="T11" fmla="*/ 1168850 h 1936751"/>
              <a:gd name="T12" fmla="*/ 811396 w 2276475"/>
              <a:gd name="T13" fmla="*/ 1188695 h 1936751"/>
              <a:gd name="T14" fmla="*/ 783254 w 2276475"/>
              <a:gd name="T15" fmla="*/ 1141068 h 1936751"/>
              <a:gd name="T16" fmla="*/ 309026 w 2276475"/>
              <a:gd name="T17" fmla="*/ 898551 h 1936751"/>
              <a:gd name="T18" fmla="*/ 798665 w 2276475"/>
              <a:gd name="T19" fmla="*/ 935449 h 1936751"/>
              <a:gd name="T20" fmla="*/ 759855 w 2276475"/>
              <a:gd name="T21" fmla="*/ 989335 h 1936751"/>
              <a:gd name="T22" fmla="*/ 259317 w 2276475"/>
              <a:gd name="T23" fmla="*/ 967303 h 1936751"/>
              <a:gd name="T24" fmla="*/ 277393 w 2276475"/>
              <a:gd name="T25" fmla="*/ 906514 h 1936751"/>
              <a:gd name="T26" fmla="*/ 1086287 w 2276475"/>
              <a:gd name="T27" fmla="*/ 817903 h 1936751"/>
              <a:gd name="T28" fmla="*/ 1028372 w 2276475"/>
              <a:gd name="T29" fmla="*/ 919230 h 1936751"/>
              <a:gd name="T30" fmla="*/ 999280 w 2276475"/>
              <a:gd name="T31" fmla="*/ 917630 h 1936751"/>
              <a:gd name="T32" fmla="*/ 289574 w 2276475"/>
              <a:gd name="T33" fmla="*/ 706099 h 1936751"/>
              <a:gd name="T34" fmla="*/ 590631 w 2276475"/>
              <a:gd name="T35" fmla="*/ 735033 h 1936751"/>
              <a:gd name="T36" fmla="*/ 567535 w 2276475"/>
              <a:gd name="T37" fmla="*/ 784938 h 1936751"/>
              <a:gd name="T38" fmla="*/ 259309 w 2276475"/>
              <a:gd name="T39" fmla="*/ 770073 h 1936751"/>
              <a:gd name="T40" fmla="*/ 267273 w 2276475"/>
              <a:gd name="T41" fmla="*/ 715124 h 1936751"/>
              <a:gd name="T42" fmla="*/ 836933 w 2276475"/>
              <a:gd name="T43" fmla="*/ 505684 h 1936751"/>
              <a:gd name="T44" fmla="*/ 846494 w 2276475"/>
              <a:gd name="T45" fmla="*/ 574170 h 1936751"/>
              <a:gd name="T46" fmla="*/ 268069 w 2276475"/>
              <a:gd name="T47" fmla="*/ 592752 h 1936751"/>
              <a:gd name="T48" fmla="*/ 238855 w 2276475"/>
              <a:gd name="T49" fmla="*/ 530105 h 1936751"/>
              <a:gd name="T50" fmla="*/ 1467818 w 2276475"/>
              <a:gd name="T51" fmla="*/ 344025 h 1936751"/>
              <a:gd name="T52" fmla="*/ 1566759 w 2276475"/>
              <a:gd name="T53" fmla="*/ 428438 h 1936751"/>
              <a:gd name="T54" fmla="*/ 1578461 w 2276475"/>
              <a:gd name="T55" fmla="*/ 479936 h 1936751"/>
              <a:gd name="T56" fmla="*/ 1197862 w 2276475"/>
              <a:gd name="T57" fmla="*/ 846789 h 1936751"/>
              <a:gd name="T58" fmla="*/ 1138817 w 2276475"/>
              <a:gd name="T59" fmla="*/ 842806 h 1936751"/>
              <a:gd name="T60" fmla="*/ 1093869 w 2276475"/>
              <a:gd name="T61" fmla="*/ 799538 h 1936751"/>
              <a:gd name="T62" fmla="*/ 1075782 w 2276475"/>
              <a:gd name="T63" fmla="*/ 737423 h 1936751"/>
              <a:gd name="T64" fmla="*/ 1456382 w 2276475"/>
              <a:gd name="T65" fmla="*/ 344821 h 1936751"/>
              <a:gd name="T66" fmla="*/ 199469 w 2276475"/>
              <a:gd name="T67" fmla="*/ 367345 h 1936751"/>
              <a:gd name="T68" fmla="*/ 114475 w 2276475"/>
              <a:gd name="T69" fmla="*/ 448541 h 1936751"/>
              <a:gd name="T70" fmla="*/ 103321 w 2276475"/>
              <a:gd name="T71" fmla="*/ 1407238 h 1936751"/>
              <a:gd name="T72" fmla="*/ 171315 w 2276475"/>
              <a:gd name="T73" fmla="*/ 1503559 h 1936751"/>
              <a:gd name="T74" fmla="*/ 1382734 w 2276475"/>
              <a:gd name="T75" fmla="*/ 1530890 h 1936751"/>
              <a:gd name="T76" fmla="*/ 1488975 w 2276475"/>
              <a:gd name="T77" fmla="*/ 1477289 h 1936751"/>
              <a:gd name="T78" fmla="*/ 1531737 w 2276475"/>
              <a:gd name="T79" fmla="*/ 1365845 h 1936751"/>
              <a:gd name="T80" fmla="*/ 1605841 w 2276475"/>
              <a:gd name="T81" fmla="*/ 1539381 h 1936751"/>
              <a:gd name="T82" fmla="*/ 1513146 w 2276475"/>
              <a:gd name="T83" fmla="*/ 1611821 h 1936751"/>
              <a:gd name="T84" fmla="*/ 101461 w 2276475"/>
              <a:gd name="T85" fmla="*/ 1605982 h 1936751"/>
              <a:gd name="T86" fmla="*/ 16468 w 2276475"/>
              <a:gd name="T87" fmla="*/ 1525317 h 1936751"/>
              <a:gd name="T88" fmla="*/ 5312 w 2276475"/>
              <a:gd name="T89" fmla="*/ 391226 h 1936751"/>
              <a:gd name="T90" fmla="*/ 73307 w 2276475"/>
              <a:gd name="T91" fmla="*/ 295170 h 1936751"/>
              <a:gd name="T92" fmla="*/ 1746529 w 2276475"/>
              <a:gd name="T93" fmla="*/ 88926 h 1936751"/>
              <a:gd name="T94" fmla="*/ 1805153 w 2276475"/>
              <a:gd name="T95" fmla="*/ 114614 h 1936751"/>
              <a:gd name="T96" fmla="*/ 1838312 w 2276475"/>
              <a:gd name="T97" fmla="*/ 176846 h 1936751"/>
              <a:gd name="T98" fmla="*/ 1821600 w 2276475"/>
              <a:gd name="T99" fmla="*/ 237490 h 1936751"/>
              <a:gd name="T100" fmla="*/ 1620792 w 2276475"/>
              <a:gd name="T101" fmla="*/ 421806 h 1936751"/>
              <a:gd name="T102" fmla="*/ 1543068 w 2276475"/>
              <a:gd name="T103" fmla="*/ 339447 h 1936751"/>
              <a:gd name="T104" fmla="*/ 1506460 w 2276475"/>
              <a:gd name="T105" fmla="*/ 289925 h 1936751"/>
              <a:gd name="T106" fmla="*/ 1716818 w 2276475"/>
              <a:gd name="T107" fmla="*/ 92634 h 1936751"/>
              <a:gd name="T108" fmla="*/ 1893521 w 2276475"/>
              <a:gd name="T109" fmla="*/ 35131 h 1936751"/>
              <a:gd name="T110" fmla="*/ 1889783 w 2276475"/>
              <a:gd name="T111" fmla="*/ 106078 h 1936751"/>
              <a:gd name="T112" fmla="*/ 1844400 w 2276475"/>
              <a:gd name="T113" fmla="*/ 105545 h 1936751"/>
              <a:gd name="T114" fmla="*/ 1793944 w 2276475"/>
              <a:gd name="T115" fmla="*/ 59669 h 1936751"/>
              <a:gd name="T116" fmla="*/ 1847069 w 2276475"/>
              <a:gd name="T117" fmla="*/ 16194 h 1936751"/>
              <a:gd name="T118" fmla="*/ 1697756 w 2276475"/>
              <a:gd name="T119" fmla="*/ 22017 h 1936751"/>
              <a:gd name="T120" fmla="*/ 1364698 w 2276475"/>
              <a:gd name="T121" fmla="*/ 383050 h 1936751"/>
              <a:gd name="T122" fmla="*/ 1317840 w 2276475"/>
              <a:gd name="T123" fmla="*/ 375887 h 1936751"/>
              <a:gd name="T124" fmla="*/ 1320237 w 2276475"/>
              <a:gd name="T125" fmla="*/ 329200 h 193675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276475" h="1936751">
                <a:moveTo>
                  <a:pt x="872202" y="1555750"/>
                </a:moveTo>
                <a:lnTo>
                  <a:pt x="879190" y="1555750"/>
                </a:lnTo>
                <a:lnTo>
                  <a:pt x="1397284" y="1555750"/>
                </a:lnTo>
                <a:lnTo>
                  <a:pt x="1404272" y="1555750"/>
                </a:lnTo>
                <a:lnTo>
                  <a:pt x="1410943" y="1557024"/>
                </a:lnTo>
                <a:lnTo>
                  <a:pt x="1417614" y="1557979"/>
                </a:lnTo>
                <a:lnTo>
                  <a:pt x="1423649" y="1560208"/>
                </a:lnTo>
                <a:lnTo>
                  <a:pt x="1430002" y="1562437"/>
                </a:lnTo>
                <a:lnTo>
                  <a:pt x="1435403" y="1565303"/>
                </a:lnTo>
                <a:lnTo>
                  <a:pt x="1440485" y="1568168"/>
                </a:lnTo>
                <a:lnTo>
                  <a:pt x="1445567" y="1571989"/>
                </a:lnTo>
                <a:lnTo>
                  <a:pt x="1450015" y="1576128"/>
                </a:lnTo>
                <a:lnTo>
                  <a:pt x="1453509" y="1580268"/>
                </a:lnTo>
                <a:lnTo>
                  <a:pt x="1457321" y="1584726"/>
                </a:lnTo>
                <a:lnTo>
                  <a:pt x="1460180" y="1589502"/>
                </a:lnTo>
                <a:lnTo>
                  <a:pt x="1462403" y="1594915"/>
                </a:lnTo>
                <a:lnTo>
                  <a:pt x="1463674" y="1600009"/>
                </a:lnTo>
                <a:lnTo>
                  <a:pt x="1464944" y="1605741"/>
                </a:lnTo>
                <a:lnTo>
                  <a:pt x="1465262" y="1611472"/>
                </a:lnTo>
                <a:lnTo>
                  <a:pt x="1464944" y="1617203"/>
                </a:lnTo>
                <a:lnTo>
                  <a:pt x="1463674" y="1622935"/>
                </a:lnTo>
                <a:lnTo>
                  <a:pt x="1462403" y="1628029"/>
                </a:lnTo>
                <a:lnTo>
                  <a:pt x="1460180" y="1633124"/>
                </a:lnTo>
                <a:lnTo>
                  <a:pt x="1457321" y="1638218"/>
                </a:lnTo>
                <a:lnTo>
                  <a:pt x="1453509" y="1642358"/>
                </a:lnTo>
                <a:lnTo>
                  <a:pt x="1450015" y="1646815"/>
                </a:lnTo>
                <a:lnTo>
                  <a:pt x="1445567" y="1650955"/>
                </a:lnTo>
                <a:lnTo>
                  <a:pt x="1440485" y="1654457"/>
                </a:lnTo>
                <a:lnTo>
                  <a:pt x="1435403" y="1657641"/>
                </a:lnTo>
                <a:lnTo>
                  <a:pt x="1430002" y="1660507"/>
                </a:lnTo>
                <a:lnTo>
                  <a:pt x="1423649" y="1662736"/>
                </a:lnTo>
                <a:lnTo>
                  <a:pt x="1417614" y="1664328"/>
                </a:lnTo>
                <a:lnTo>
                  <a:pt x="1410943" y="1665920"/>
                </a:lnTo>
                <a:lnTo>
                  <a:pt x="1404272" y="1666875"/>
                </a:lnTo>
                <a:lnTo>
                  <a:pt x="1397284" y="1666875"/>
                </a:lnTo>
                <a:lnTo>
                  <a:pt x="879190" y="1666875"/>
                </a:lnTo>
                <a:lnTo>
                  <a:pt x="872202" y="1666875"/>
                </a:lnTo>
                <a:lnTo>
                  <a:pt x="865531" y="1665920"/>
                </a:lnTo>
                <a:lnTo>
                  <a:pt x="858860" y="1664328"/>
                </a:lnTo>
                <a:lnTo>
                  <a:pt x="852507" y="1662736"/>
                </a:lnTo>
                <a:lnTo>
                  <a:pt x="846790" y="1660507"/>
                </a:lnTo>
                <a:lnTo>
                  <a:pt x="841389" y="1657641"/>
                </a:lnTo>
                <a:lnTo>
                  <a:pt x="835989" y="1654139"/>
                </a:lnTo>
                <a:lnTo>
                  <a:pt x="831224" y="1650955"/>
                </a:lnTo>
                <a:lnTo>
                  <a:pt x="826777" y="1646815"/>
                </a:lnTo>
                <a:lnTo>
                  <a:pt x="822648" y="1642358"/>
                </a:lnTo>
                <a:lnTo>
                  <a:pt x="819471" y="1637900"/>
                </a:lnTo>
                <a:lnTo>
                  <a:pt x="816612" y="1633124"/>
                </a:lnTo>
                <a:lnTo>
                  <a:pt x="814389" y="1628029"/>
                </a:lnTo>
                <a:lnTo>
                  <a:pt x="812483" y="1622935"/>
                </a:lnTo>
                <a:lnTo>
                  <a:pt x="811530" y="1617203"/>
                </a:lnTo>
                <a:lnTo>
                  <a:pt x="811212" y="1611472"/>
                </a:lnTo>
                <a:lnTo>
                  <a:pt x="811530" y="1605741"/>
                </a:lnTo>
                <a:lnTo>
                  <a:pt x="812483" y="1600009"/>
                </a:lnTo>
                <a:lnTo>
                  <a:pt x="814389" y="1594915"/>
                </a:lnTo>
                <a:lnTo>
                  <a:pt x="816612" y="1589820"/>
                </a:lnTo>
                <a:lnTo>
                  <a:pt x="819471" y="1584726"/>
                </a:lnTo>
                <a:lnTo>
                  <a:pt x="822648" y="1580268"/>
                </a:lnTo>
                <a:lnTo>
                  <a:pt x="826777" y="1576128"/>
                </a:lnTo>
                <a:lnTo>
                  <a:pt x="831224" y="1571989"/>
                </a:lnTo>
                <a:lnTo>
                  <a:pt x="835989" y="1568168"/>
                </a:lnTo>
                <a:lnTo>
                  <a:pt x="841389" y="1565303"/>
                </a:lnTo>
                <a:lnTo>
                  <a:pt x="846790" y="1562437"/>
                </a:lnTo>
                <a:lnTo>
                  <a:pt x="852507" y="1560208"/>
                </a:lnTo>
                <a:lnTo>
                  <a:pt x="858860" y="1558298"/>
                </a:lnTo>
                <a:lnTo>
                  <a:pt x="865531" y="1557024"/>
                </a:lnTo>
                <a:lnTo>
                  <a:pt x="872202" y="1555750"/>
                </a:lnTo>
                <a:close/>
                <a:moveTo>
                  <a:pt x="984211" y="1325563"/>
                </a:moveTo>
                <a:lnTo>
                  <a:pt x="1292263" y="1325563"/>
                </a:lnTo>
                <a:lnTo>
                  <a:pt x="1297339" y="1325880"/>
                </a:lnTo>
                <a:lnTo>
                  <a:pt x="1302415" y="1326513"/>
                </a:lnTo>
                <a:lnTo>
                  <a:pt x="1307174" y="1327779"/>
                </a:lnTo>
                <a:lnTo>
                  <a:pt x="1311615" y="1329361"/>
                </a:lnTo>
                <a:lnTo>
                  <a:pt x="1315740" y="1331260"/>
                </a:lnTo>
                <a:lnTo>
                  <a:pt x="1319864" y="1333792"/>
                </a:lnTo>
                <a:lnTo>
                  <a:pt x="1323671" y="1336640"/>
                </a:lnTo>
                <a:lnTo>
                  <a:pt x="1327161" y="1340121"/>
                </a:lnTo>
                <a:lnTo>
                  <a:pt x="1330333" y="1343286"/>
                </a:lnTo>
                <a:lnTo>
                  <a:pt x="1332871" y="1347400"/>
                </a:lnTo>
                <a:lnTo>
                  <a:pt x="1335409" y="1351198"/>
                </a:lnTo>
                <a:lnTo>
                  <a:pt x="1337630" y="1355629"/>
                </a:lnTo>
                <a:lnTo>
                  <a:pt x="1339216" y="1360059"/>
                </a:lnTo>
                <a:lnTo>
                  <a:pt x="1340485" y="1364807"/>
                </a:lnTo>
                <a:lnTo>
                  <a:pt x="1341437" y="1369870"/>
                </a:lnTo>
                <a:lnTo>
                  <a:pt x="1341437" y="1374934"/>
                </a:lnTo>
                <a:lnTo>
                  <a:pt x="1341437" y="1379681"/>
                </a:lnTo>
                <a:lnTo>
                  <a:pt x="1340485" y="1384745"/>
                </a:lnTo>
                <a:lnTo>
                  <a:pt x="1339216" y="1389492"/>
                </a:lnTo>
                <a:lnTo>
                  <a:pt x="1337630" y="1393923"/>
                </a:lnTo>
                <a:lnTo>
                  <a:pt x="1335409" y="1398037"/>
                </a:lnTo>
                <a:lnTo>
                  <a:pt x="1332871" y="1402151"/>
                </a:lnTo>
                <a:lnTo>
                  <a:pt x="1330016" y="1405632"/>
                </a:lnTo>
                <a:lnTo>
                  <a:pt x="1327161" y="1409430"/>
                </a:lnTo>
                <a:lnTo>
                  <a:pt x="1323671" y="1412595"/>
                </a:lnTo>
                <a:lnTo>
                  <a:pt x="1319864" y="1415443"/>
                </a:lnTo>
                <a:lnTo>
                  <a:pt x="1315740" y="1417659"/>
                </a:lnTo>
                <a:lnTo>
                  <a:pt x="1311615" y="1419874"/>
                </a:lnTo>
                <a:lnTo>
                  <a:pt x="1306857" y="1421773"/>
                </a:lnTo>
                <a:lnTo>
                  <a:pt x="1302415" y="1422722"/>
                </a:lnTo>
                <a:lnTo>
                  <a:pt x="1297339" y="1423672"/>
                </a:lnTo>
                <a:lnTo>
                  <a:pt x="1292263" y="1423988"/>
                </a:lnTo>
                <a:lnTo>
                  <a:pt x="984211" y="1423988"/>
                </a:lnTo>
                <a:lnTo>
                  <a:pt x="979453" y="1423672"/>
                </a:lnTo>
                <a:lnTo>
                  <a:pt x="974377" y="1422722"/>
                </a:lnTo>
                <a:lnTo>
                  <a:pt x="969618" y="1421773"/>
                </a:lnTo>
                <a:lnTo>
                  <a:pt x="965176" y="1419874"/>
                </a:lnTo>
                <a:lnTo>
                  <a:pt x="960735" y="1417659"/>
                </a:lnTo>
                <a:lnTo>
                  <a:pt x="956928" y="1415443"/>
                </a:lnTo>
                <a:lnTo>
                  <a:pt x="952803" y="1412595"/>
                </a:lnTo>
                <a:lnTo>
                  <a:pt x="949631" y="1409430"/>
                </a:lnTo>
                <a:lnTo>
                  <a:pt x="946141" y="1405632"/>
                </a:lnTo>
                <a:lnTo>
                  <a:pt x="943286" y="1402151"/>
                </a:lnTo>
                <a:lnTo>
                  <a:pt x="941065" y="1398037"/>
                </a:lnTo>
                <a:lnTo>
                  <a:pt x="938844" y="1393923"/>
                </a:lnTo>
                <a:lnTo>
                  <a:pt x="937258" y="1389492"/>
                </a:lnTo>
                <a:lnTo>
                  <a:pt x="935989" y="1384745"/>
                </a:lnTo>
                <a:lnTo>
                  <a:pt x="935355" y="1379681"/>
                </a:lnTo>
                <a:lnTo>
                  <a:pt x="935037" y="1374934"/>
                </a:lnTo>
                <a:lnTo>
                  <a:pt x="935355" y="1369870"/>
                </a:lnTo>
                <a:lnTo>
                  <a:pt x="935989" y="1364807"/>
                </a:lnTo>
                <a:lnTo>
                  <a:pt x="937258" y="1360059"/>
                </a:lnTo>
                <a:lnTo>
                  <a:pt x="938844" y="1355629"/>
                </a:lnTo>
                <a:lnTo>
                  <a:pt x="940748" y="1351198"/>
                </a:lnTo>
                <a:lnTo>
                  <a:pt x="943286" y="1347400"/>
                </a:lnTo>
                <a:lnTo>
                  <a:pt x="946141" y="1343286"/>
                </a:lnTo>
                <a:lnTo>
                  <a:pt x="949631" y="1340121"/>
                </a:lnTo>
                <a:lnTo>
                  <a:pt x="952803" y="1336640"/>
                </a:lnTo>
                <a:lnTo>
                  <a:pt x="956928" y="1333792"/>
                </a:lnTo>
                <a:lnTo>
                  <a:pt x="960735" y="1331260"/>
                </a:lnTo>
                <a:lnTo>
                  <a:pt x="965176" y="1329361"/>
                </a:lnTo>
                <a:lnTo>
                  <a:pt x="969618" y="1327779"/>
                </a:lnTo>
                <a:lnTo>
                  <a:pt x="974377" y="1326513"/>
                </a:lnTo>
                <a:lnTo>
                  <a:pt x="979453" y="1325880"/>
                </a:lnTo>
                <a:lnTo>
                  <a:pt x="984211" y="1325563"/>
                </a:lnTo>
                <a:close/>
                <a:moveTo>
                  <a:pt x="369286" y="1074738"/>
                </a:moveTo>
                <a:lnTo>
                  <a:pt x="887697" y="1074738"/>
                </a:lnTo>
                <a:lnTo>
                  <a:pt x="894368" y="1075056"/>
                </a:lnTo>
                <a:lnTo>
                  <a:pt x="901356" y="1076008"/>
                </a:lnTo>
                <a:lnTo>
                  <a:pt x="908027" y="1077278"/>
                </a:lnTo>
                <a:lnTo>
                  <a:pt x="914063" y="1079183"/>
                </a:lnTo>
                <a:lnTo>
                  <a:pt x="920098" y="1081406"/>
                </a:lnTo>
                <a:lnTo>
                  <a:pt x="925816" y="1084263"/>
                </a:lnTo>
                <a:lnTo>
                  <a:pt x="930898" y="1087438"/>
                </a:lnTo>
                <a:lnTo>
                  <a:pt x="935663" y="1090931"/>
                </a:lnTo>
                <a:lnTo>
                  <a:pt x="940110" y="1094741"/>
                </a:lnTo>
                <a:lnTo>
                  <a:pt x="944240" y="1099186"/>
                </a:lnTo>
                <a:lnTo>
                  <a:pt x="947416" y="1103948"/>
                </a:lnTo>
                <a:lnTo>
                  <a:pt x="950275" y="1108711"/>
                </a:lnTo>
                <a:lnTo>
                  <a:pt x="952499" y="1113791"/>
                </a:lnTo>
                <a:lnTo>
                  <a:pt x="954405" y="1118871"/>
                </a:lnTo>
                <a:lnTo>
                  <a:pt x="955358" y="1124903"/>
                </a:lnTo>
                <a:lnTo>
                  <a:pt x="955675" y="1130301"/>
                </a:lnTo>
                <a:lnTo>
                  <a:pt x="955358" y="1136016"/>
                </a:lnTo>
                <a:lnTo>
                  <a:pt x="954405" y="1141413"/>
                </a:lnTo>
                <a:lnTo>
                  <a:pt x="952499" y="1147128"/>
                </a:lnTo>
                <a:lnTo>
                  <a:pt x="950275" y="1152208"/>
                </a:lnTo>
                <a:lnTo>
                  <a:pt x="947416" y="1156971"/>
                </a:lnTo>
                <a:lnTo>
                  <a:pt x="944240" y="1161098"/>
                </a:lnTo>
                <a:lnTo>
                  <a:pt x="940110" y="1165543"/>
                </a:lnTo>
                <a:lnTo>
                  <a:pt x="935663" y="1169671"/>
                </a:lnTo>
                <a:lnTo>
                  <a:pt x="930898" y="1173163"/>
                </a:lnTo>
                <a:lnTo>
                  <a:pt x="925816" y="1176656"/>
                </a:lnTo>
                <a:lnTo>
                  <a:pt x="920098" y="1179196"/>
                </a:lnTo>
                <a:lnTo>
                  <a:pt x="914063" y="1181736"/>
                </a:lnTo>
                <a:lnTo>
                  <a:pt x="908027" y="1183323"/>
                </a:lnTo>
                <a:lnTo>
                  <a:pt x="901356" y="1184593"/>
                </a:lnTo>
                <a:lnTo>
                  <a:pt x="894368" y="1185546"/>
                </a:lnTo>
                <a:lnTo>
                  <a:pt x="887697" y="1185863"/>
                </a:lnTo>
                <a:lnTo>
                  <a:pt x="369286" y="1185863"/>
                </a:lnTo>
                <a:lnTo>
                  <a:pt x="362615" y="1185546"/>
                </a:lnTo>
                <a:lnTo>
                  <a:pt x="355944" y="1184593"/>
                </a:lnTo>
                <a:lnTo>
                  <a:pt x="349273" y="1183323"/>
                </a:lnTo>
                <a:lnTo>
                  <a:pt x="343238" y="1181736"/>
                </a:lnTo>
                <a:lnTo>
                  <a:pt x="337203" y="1179196"/>
                </a:lnTo>
                <a:lnTo>
                  <a:pt x="331485" y="1176656"/>
                </a:lnTo>
                <a:lnTo>
                  <a:pt x="326402" y="1173163"/>
                </a:lnTo>
                <a:lnTo>
                  <a:pt x="321637" y="1169671"/>
                </a:lnTo>
                <a:lnTo>
                  <a:pt x="317190" y="1165543"/>
                </a:lnTo>
                <a:lnTo>
                  <a:pt x="313378" y="1161098"/>
                </a:lnTo>
                <a:lnTo>
                  <a:pt x="309884" y="1156971"/>
                </a:lnTo>
                <a:lnTo>
                  <a:pt x="307025" y="1152208"/>
                </a:lnTo>
                <a:lnTo>
                  <a:pt x="304802" y="1147128"/>
                </a:lnTo>
                <a:lnTo>
                  <a:pt x="302896" y="1141413"/>
                </a:lnTo>
                <a:lnTo>
                  <a:pt x="301943" y="1136016"/>
                </a:lnTo>
                <a:lnTo>
                  <a:pt x="301625" y="1130301"/>
                </a:lnTo>
                <a:lnTo>
                  <a:pt x="301943" y="1124903"/>
                </a:lnTo>
                <a:lnTo>
                  <a:pt x="302896" y="1119188"/>
                </a:lnTo>
                <a:lnTo>
                  <a:pt x="304802" y="1113791"/>
                </a:lnTo>
                <a:lnTo>
                  <a:pt x="307025" y="1108711"/>
                </a:lnTo>
                <a:lnTo>
                  <a:pt x="309884" y="1103948"/>
                </a:lnTo>
                <a:lnTo>
                  <a:pt x="313378" y="1099186"/>
                </a:lnTo>
                <a:lnTo>
                  <a:pt x="317190" y="1094741"/>
                </a:lnTo>
                <a:lnTo>
                  <a:pt x="321637" y="1091248"/>
                </a:lnTo>
                <a:lnTo>
                  <a:pt x="326402" y="1087438"/>
                </a:lnTo>
                <a:lnTo>
                  <a:pt x="331485" y="1084263"/>
                </a:lnTo>
                <a:lnTo>
                  <a:pt x="337203" y="1081406"/>
                </a:lnTo>
                <a:lnTo>
                  <a:pt x="343238" y="1079183"/>
                </a:lnTo>
                <a:lnTo>
                  <a:pt x="349273" y="1077278"/>
                </a:lnTo>
                <a:lnTo>
                  <a:pt x="355944" y="1076008"/>
                </a:lnTo>
                <a:lnTo>
                  <a:pt x="362615" y="1075056"/>
                </a:lnTo>
                <a:lnTo>
                  <a:pt x="369286" y="1074738"/>
                </a:lnTo>
                <a:close/>
                <a:moveTo>
                  <a:pt x="1261435" y="965200"/>
                </a:moveTo>
                <a:lnTo>
                  <a:pt x="1264624" y="965200"/>
                </a:lnTo>
                <a:lnTo>
                  <a:pt x="1267814" y="965200"/>
                </a:lnTo>
                <a:lnTo>
                  <a:pt x="1271322" y="965838"/>
                </a:lnTo>
                <a:lnTo>
                  <a:pt x="1275149" y="967114"/>
                </a:lnTo>
                <a:lnTo>
                  <a:pt x="1278977" y="968390"/>
                </a:lnTo>
                <a:lnTo>
                  <a:pt x="1282804" y="969984"/>
                </a:lnTo>
                <a:lnTo>
                  <a:pt x="1290777" y="973811"/>
                </a:lnTo>
                <a:lnTo>
                  <a:pt x="1298113" y="978277"/>
                </a:lnTo>
                <a:lnTo>
                  <a:pt x="1304491" y="982742"/>
                </a:lnTo>
                <a:lnTo>
                  <a:pt x="1308637" y="986250"/>
                </a:lnTo>
                <a:lnTo>
                  <a:pt x="1312784" y="990715"/>
                </a:lnTo>
                <a:lnTo>
                  <a:pt x="1317249" y="997094"/>
                </a:lnTo>
                <a:lnTo>
                  <a:pt x="1321395" y="1004429"/>
                </a:lnTo>
                <a:lnTo>
                  <a:pt x="1325222" y="1012403"/>
                </a:lnTo>
                <a:lnTo>
                  <a:pt x="1326817" y="1016549"/>
                </a:lnTo>
                <a:lnTo>
                  <a:pt x="1328092" y="1020057"/>
                </a:lnTo>
                <a:lnTo>
                  <a:pt x="1329368" y="1024203"/>
                </a:lnTo>
                <a:lnTo>
                  <a:pt x="1330006" y="1027711"/>
                </a:lnTo>
                <a:lnTo>
                  <a:pt x="1330325" y="1030901"/>
                </a:lnTo>
                <a:lnTo>
                  <a:pt x="1330006" y="1034090"/>
                </a:lnTo>
                <a:lnTo>
                  <a:pt x="1329368" y="1036004"/>
                </a:lnTo>
                <a:lnTo>
                  <a:pt x="1327774" y="1038236"/>
                </a:lnTo>
                <a:lnTo>
                  <a:pt x="1228904" y="1099472"/>
                </a:lnTo>
                <a:lnTo>
                  <a:pt x="1226990" y="1101066"/>
                </a:lnTo>
                <a:lnTo>
                  <a:pt x="1225396" y="1102342"/>
                </a:lnTo>
                <a:lnTo>
                  <a:pt x="1223163" y="1103618"/>
                </a:lnTo>
                <a:lnTo>
                  <a:pt x="1220930" y="1104575"/>
                </a:lnTo>
                <a:lnTo>
                  <a:pt x="1219017" y="1105213"/>
                </a:lnTo>
                <a:lnTo>
                  <a:pt x="1216784" y="1105850"/>
                </a:lnTo>
                <a:lnTo>
                  <a:pt x="1212000" y="1106488"/>
                </a:lnTo>
                <a:lnTo>
                  <a:pt x="1207854" y="1105850"/>
                </a:lnTo>
                <a:lnTo>
                  <a:pt x="1205622" y="1105213"/>
                </a:lnTo>
                <a:lnTo>
                  <a:pt x="1203389" y="1104575"/>
                </a:lnTo>
                <a:lnTo>
                  <a:pt x="1201475" y="1103618"/>
                </a:lnTo>
                <a:lnTo>
                  <a:pt x="1199243" y="1102342"/>
                </a:lnTo>
                <a:lnTo>
                  <a:pt x="1197329" y="1101066"/>
                </a:lnTo>
                <a:lnTo>
                  <a:pt x="1195735" y="1099472"/>
                </a:lnTo>
                <a:lnTo>
                  <a:pt x="1194140" y="1097558"/>
                </a:lnTo>
                <a:lnTo>
                  <a:pt x="1192864" y="1095963"/>
                </a:lnTo>
                <a:lnTo>
                  <a:pt x="1191588" y="1093731"/>
                </a:lnTo>
                <a:lnTo>
                  <a:pt x="1190632" y="1091817"/>
                </a:lnTo>
                <a:lnTo>
                  <a:pt x="1189356" y="1087352"/>
                </a:lnTo>
                <a:lnTo>
                  <a:pt x="1189037" y="1082887"/>
                </a:lnTo>
                <a:lnTo>
                  <a:pt x="1189356" y="1078741"/>
                </a:lnTo>
                <a:lnTo>
                  <a:pt x="1190632" y="1074276"/>
                </a:lnTo>
                <a:lnTo>
                  <a:pt x="1191588" y="1072043"/>
                </a:lnTo>
                <a:lnTo>
                  <a:pt x="1192864" y="1070130"/>
                </a:lnTo>
                <a:lnTo>
                  <a:pt x="1194140" y="1068535"/>
                </a:lnTo>
                <a:lnTo>
                  <a:pt x="1195735" y="1066621"/>
                </a:lnTo>
                <a:lnTo>
                  <a:pt x="1257289" y="967433"/>
                </a:lnTo>
                <a:lnTo>
                  <a:pt x="1258884" y="965838"/>
                </a:lnTo>
                <a:lnTo>
                  <a:pt x="1261435" y="965200"/>
                </a:lnTo>
                <a:close/>
                <a:moveTo>
                  <a:pt x="346041" y="844550"/>
                </a:moveTo>
                <a:lnTo>
                  <a:pt x="350799" y="844550"/>
                </a:lnTo>
                <a:lnTo>
                  <a:pt x="658851" y="844550"/>
                </a:lnTo>
                <a:lnTo>
                  <a:pt x="663927" y="844550"/>
                </a:lnTo>
                <a:lnTo>
                  <a:pt x="669003" y="845185"/>
                </a:lnTo>
                <a:lnTo>
                  <a:pt x="673762" y="846773"/>
                </a:lnTo>
                <a:lnTo>
                  <a:pt x="678204" y="848043"/>
                </a:lnTo>
                <a:lnTo>
                  <a:pt x="682645" y="850265"/>
                </a:lnTo>
                <a:lnTo>
                  <a:pt x="686452" y="852805"/>
                </a:lnTo>
                <a:lnTo>
                  <a:pt x="690259" y="855345"/>
                </a:lnTo>
                <a:lnTo>
                  <a:pt x="693749" y="858838"/>
                </a:lnTo>
                <a:lnTo>
                  <a:pt x="697239" y="862330"/>
                </a:lnTo>
                <a:lnTo>
                  <a:pt x="699777" y="865823"/>
                </a:lnTo>
                <a:lnTo>
                  <a:pt x="702315" y="869950"/>
                </a:lnTo>
                <a:lnTo>
                  <a:pt x="704218" y="874395"/>
                </a:lnTo>
                <a:lnTo>
                  <a:pt x="705804" y="879158"/>
                </a:lnTo>
                <a:lnTo>
                  <a:pt x="707391" y="883920"/>
                </a:lnTo>
                <a:lnTo>
                  <a:pt x="708025" y="888683"/>
                </a:lnTo>
                <a:lnTo>
                  <a:pt x="708025" y="893763"/>
                </a:lnTo>
                <a:lnTo>
                  <a:pt x="708025" y="898843"/>
                </a:lnTo>
                <a:lnTo>
                  <a:pt x="707391" y="903605"/>
                </a:lnTo>
                <a:lnTo>
                  <a:pt x="705804" y="908368"/>
                </a:lnTo>
                <a:lnTo>
                  <a:pt x="704218" y="912495"/>
                </a:lnTo>
                <a:lnTo>
                  <a:pt x="702315" y="916940"/>
                </a:lnTo>
                <a:lnTo>
                  <a:pt x="699777" y="921068"/>
                </a:lnTo>
                <a:lnTo>
                  <a:pt x="697239" y="924878"/>
                </a:lnTo>
                <a:lnTo>
                  <a:pt x="693749" y="928370"/>
                </a:lnTo>
                <a:lnTo>
                  <a:pt x="690259" y="931545"/>
                </a:lnTo>
                <a:lnTo>
                  <a:pt x="686452" y="934403"/>
                </a:lnTo>
                <a:lnTo>
                  <a:pt x="682645" y="936943"/>
                </a:lnTo>
                <a:lnTo>
                  <a:pt x="678204" y="938848"/>
                </a:lnTo>
                <a:lnTo>
                  <a:pt x="673762" y="940753"/>
                </a:lnTo>
                <a:lnTo>
                  <a:pt x="669003" y="941705"/>
                </a:lnTo>
                <a:lnTo>
                  <a:pt x="663927" y="942658"/>
                </a:lnTo>
                <a:lnTo>
                  <a:pt x="658851" y="942975"/>
                </a:lnTo>
                <a:lnTo>
                  <a:pt x="350799" y="942975"/>
                </a:lnTo>
                <a:lnTo>
                  <a:pt x="346041" y="942658"/>
                </a:lnTo>
                <a:lnTo>
                  <a:pt x="340965" y="941705"/>
                </a:lnTo>
                <a:lnTo>
                  <a:pt x="336206" y="940753"/>
                </a:lnTo>
                <a:lnTo>
                  <a:pt x="331764" y="938848"/>
                </a:lnTo>
                <a:lnTo>
                  <a:pt x="327323" y="936943"/>
                </a:lnTo>
                <a:lnTo>
                  <a:pt x="323516" y="934403"/>
                </a:lnTo>
                <a:lnTo>
                  <a:pt x="319391" y="931545"/>
                </a:lnTo>
                <a:lnTo>
                  <a:pt x="316219" y="928370"/>
                </a:lnTo>
                <a:lnTo>
                  <a:pt x="312729" y="924878"/>
                </a:lnTo>
                <a:lnTo>
                  <a:pt x="309874" y="921068"/>
                </a:lnTo>
                <a:lnTo>
                  <a:pt x="307653" y="916940"/>
                </a:lnTo>
                <a:lnTo>
                  <a:pt x="305432" y="912495"/>
                </a:lnTo>
                <a:lnTo>
                  <a:pt x="303846" y="908368"/>
                </a:lnTo>
                <a:lnTo>
                  <a:pt x="302577" y="903605"/>
                </a:lnTo>
                <a:lnTo>
                  <a:pt x="301943" y="898843"/>
                </a:lnTo>
                <a:lnTo>
                  <a:pt x="301625" y="893763"/>
                </a:lnTo>
                <a:lnTo>
                  <a:pt x="301943" y="888683"/>
                </a:lnTo>
                <a:lnTo>
                  <a:pt x="302577" y="883920"/>
                </a:lnTo>
                <a:lnTo>
                  <a:pt x="303846" y="879158"/>
                </a:lnTo>
                <a:lnTo>
                  <a:pt x="305432" y="874395"/>
                </a:lnTo>
                <a:lnTo>
                  <a:pt x="307336" y="869950"/>
                </a:lnTo>
                <a:lnTo>
                  <a:pt x="309874" y="865823"/>
                </a:lnTo>
                <a:lnTo>
                  <a:pt x="312729" y="862330"/>
                </a:lnTo>
                <a:lnTo>
                  <a:pt x="316219" y="858838"/>
                </a:lnTo>
                <a:lnTo>
                  <a:pt x="319391" y="855345"/>
                </a:lnTo>
                <a:lnTo>
                  <a:pt x="323516" y="852805"/>
                </a:lnTo>
                <a:lnTo>
                  <a:pt x="327323" y="850265"/>
                </a:lnTo>
                <a:lnTo>
                  <a:pt x="331764" y="848043"/>
                </a:lnTo>
                <a:lnTo>
                  <a:pt x="336206" y="846773"/>
                </a:lnTo>
                <a:lnTo>
                  <a:pt x="340965" y="845185"/>
                </a:lnTo>
                <a:lnTo>
                  <a:pt x="346041" y="844550"/>
                </a:lnTo>
                <a:close/>
                <a:moveTo>
                  <a:pt x="344144" y="590550"/>
                </a:moveTo>
                <a:lnTo>
                  <a:pt x="960782" y="590550"/>
                </a:lnTo>
                <a:lnTo>
                  <a:pt x="966812" y="591185"/>
                </a:lnTo>
                <a:lnTo>
                  <a:pt x="973159" y="592138"/>
                </a:lnTo>
                <a:lnTo>
                  <a:pt x="978871" y="593725"/>
                </a:lnTo>
                <a:lnTo>
                  <a:pt x="984584" y="595630"/>
                </a:lnTo>
                <a:lnTo>
                  <a:pt x="990296" y="598488"/>
                </a:lnTo>
                <a:lnTo>
                  <a:pt x="995374" y="601345"/>
                </a:lnTo>
                <a:lnTo>
                  <a:pt x="1000135" y="604838"/>
                </a:lnTo>
                <a:lnTo>
                  <a:pt x="1004260" y="608965"/>
                </a:lnTo>
                <a:lnTo>
                  <a:pt x="1008386" y="613410"/>
                </a:lnTo>
                <a:lnTo>
                  <a:pt x="1011560" y="617855"/>
                </a:lnTo>
                <a:lnTo>
                  <a:pt x="1015051" y="623253"/>
                </a:lnTo>
                <a:lnTo>
                  <a:pt x="1017590" y="628650"/>
                </a:lnTo>
                <a:lnTo>
                  <a:pt x="1019811" y="634048"/>
                </a:lnTo>
                <a:lnTo>
                  <a:pt x="1021081" y="639763"/>
                </a:lnTo>
                <a:lnTo>
                  <a:pt x="1021715" y="646113"/>
                </a:lnTo>
                <a:lnTo>
                  <a:pt x="1022350" y="652145"/>
                </a:lnTo>
                <a:lnTo>
                  <a:pt x="1021715" y="658813"/>
                </a:lnTo>
                <a:lnTo>
                  <a:pt x="1021081" y="664528"/>
                </a:lnTo>
                <a:lnTo>
                  <a:pt x="1019811" y="670878"/>
                </a:lnTo>
                <a:lnTo>
                  <a:pt x="1017590" y="676275"/>
                </a:lnTo>
                <a:lnTo>
                  <a:pt x="1015051" y="681673"/>
                </a:lnTo>
                <a:lnTo>
                  <a:pt x="1011560" y="686753"/>
                </a:lnTo>
                <a:lnTo>
                  <a:pt x="1008386" y="691515"/>
                </a:lnTo>
                <a:lnTo>
                  <a:pt x="1004260" y="695960"/>
                </a:lnTo>
                <a:lnTo>
                  <a:pt x="1000135" y="700088"/>
                </a:lnTo>
                <a:lnTo>
                  <a:pt x="995374" y="703580"/>
                </a:lnTo>
                <a:lnTo>
                  <a:pt x="990296" y="706438"/>
                </a:lnTo>
                <a:lnTo>
                  <a:pt x="984584" y="708978"/>
                </a:lnTo>
                <a:lnTo>
                  <a:pt x="978871" y="711200"/>
                </a:lnTo>
                <a:lnTo>
                  <a:pt x="973159" y="712788"/>
                </a:lnTo>
                <a:lnTo>
                  <a:pt x="966812" y="713740"/>
                </a:lnTo>
                <a:lnTo>
                  <a:pt x="960782" y="714375"/>
                </a:lnTo>
                <a:lnTo>
                  <a:pt x="344144" y="714375"/>
                </a:lnTo>
                <a:lnTo>
                  <a:pt x="338114" y="713740"/>
                </a:lnTo>
                <a:lnTo>
                  <a:pt x="331767" y="712788"/>
                </a:lnTo>
                <a:lnTo>
                  <a:pt x="326054" y="711200"/>
                </a:lnTo>
                <a:lnTo>
                  <a:pt x="320342" y="708978"/>
                </a:lnTo>
                <a:lnTo>
                  <a:pt x="314946" y="706438"/>
                </a:lnTo>
                <a:lnTo>
                  <a:pt x="309869" y="703580"/>
                </a:lnTo>
                <a:lnTo>
                  <a:pt x="305108" y="700088"/>
                </a:lnTo>
                <a:lnTo>
                  <a:pt x="300982" y="695960"/>
                </a:lnTo>
                <a:lnTo>
                  <a:pt x="296857" y="691515"/>
                </a:lnTo>
                <a:lnTo>
                  <a:pt x="293366" y="686753"/>
                </a:lnTo>
                <a:lnTo>
                  <a:pt x="290192" y="681673"/>
                </a:lnTo>
                <a:lnTo>
                  <a:pt x="287653" y="676275"/>
                </a:lnTo>
                <a:lnTo>
                  <a:pt x="285432" y="670878"/>
                </a:lnTo>
                <a:lnTo>
                  <a:pt x="284162" y="664528"/>
                </a:lnTo>
                <a:lnTo>
                  <a:pt x="282893" y="658813"/>
                </a:lnTo>
                <a:lnTo>
                  <a:pt x="282575" y="652145"/>
                </a:lnTo>
                <a:lnTo>
                  <a:pt x="282893" y="646113"/>
                </a:lnTo>
                <a:lnTo>
                  <a:pt x="284162" y="639763"/>
                </a:lnTo>
                <a:lnTo>
                  <a:pt x="285432" y="634048"/>
                </a:lnTo>
                <a:lnTo>
                  <a:pt x="287653" y="628650"/>
                </a:lnTo>
                <a:lnTo>
                  <a:pt x="290192" y="623253"/>
                </a:lnTo>
                <a:lnTo>
                  <a:pt x="293366" y="617855"/>
                </a:lnTo>
                <a:lnTo>
                  <a:pt x="296857" y="613410"/>
                </a:lnTo>
                <a:lnTo>
                  <a:pt x="300982" y="608965"/>
                </a:lnTo>
                <a:lnTo>
                  <a:pt x="305108" y="604838"/>
                </a:lnTo>
                <a:lnTo>
                  <a:pt x="309869" y="601345"/>
                </a:lnTo>
                <a:lnTo>
                  <a:pt x="314946" y="598488"/>
                </a:lnTo>
                <a:lnTo>
                  <a:pt x="320342" y="595630"/>
                </a:lnTo>
                <a:lnTo>
                  <a:pt x="326054" y="593725"/>
                </a:lnTo>
                <a:lnTo>
                  <a:pt x="331767" y="592138"/>
                </a:lnTo>
                <a:lnTo>
                  <a:pt x="338114" y="591185"/>
                </a:lnTo>
                <a:lnTo>
                  <a:pt x="344144" y="590550"/>
                </a:lnTo>
                <a:close/>
                <a:moveTo>
                  <a:pt x="1750865" y="411163"/>
                </a:moveTo>
                <a:lnTo>
                  <a:pt x="1754043" y="411481"/>
                </a:lnTo>
                <a:lnTo>
                  <a:pt x="1757540" y="411798"/>
                </a:lnTo>
                <a:lnTo>
                  <a:pt x="1760718" y="413068"/>
                </a:lnTo>
                <a:lnTo>
                  <a:pt x="1764214" y="414021"/>
                </a:lnTo>
                <a:lnTo>
                  <a:pt x="1767710" y="414973"/>
                </a:lnTo>
                <a:lnTo>
                  <a:pt x="1770889" y="416878"/>
                </a:lnTo>
                <a:lnTo>
                  <a:pt x="1777563" y="421006"/>
                </a:lnTo>
                <a:lnTo>
                  <a:pt x="1784555" y="425768"/>
                </a:lnTo>
                <a:lnTo>
                  <a:pt x="1790912" y="431166"/>
                </a:lnTo>
                <a:lnTo>
                  <a:pt x="1797904" y="437198"/>
                </a:lnTo>
                <a:lnTo>
                  <a:pt x="1812207" y="451486"/>
                </a:lnTo>
                <a:lnTo>
                  <a:pt x="1827145" y="466408"/>
                </a:lnTo>
                <a:lnTo>
                  <a:pt x="1836680" y="476251"/>
                </a:lnTo>
                <a:lnTo>
                  <a:pt x="1851935" y="491173"/>
                </a:lnTo>
                <a:lnTo>
                  <a:pt x="1865920" y="505461"/>
                </a:lnTo>
                <a:lnTo>
                  <a:pt x="1872277" y="512446"/>
                </a:lnTo>
                <a:lnTo>
                  <a:pt x="1877680" y="519431"/>
                </a:lnTo>
                <a:lnTo>
                  <a:pt x="1882447" y="525781"/>
                </a:lnTo>
                <a:lnTo>
                  <a:pt x="1886579" y="532766"/>
                </a:lnTo>
                <a:lnTo>
                  <a:pt x="1888486" y="536258"/>
                </a:lnTo>
                <a:lnTo>
                  <a:pt x="1889439" y="539433"/>
                </a:lnTo>
                <a:lnTo>
                  <a:pt x="1891029" y="542608"/>
                </a:lnTo>
                <a:lnTo>
                  <a:pt x="1891664" y="546101"/>
                </a:lnTo>
                <a:lnTo>
                  <a:pt x="1891982" y="549593"/>
                </a:lnTo>
                <a:lnTo>
                  <a:pt x="1892300" y="552768"/>
                </a:lnTo>
                <a:lnTo>
                  <a:pt x="1892300" y="556261"/>
                </a:lnTo>
                <a:lnTo>
                  <a:pt x="1891664" y="559753"/>
                </a:lnTo>
                <a:lnTo>
                  <a:pt x="1891029" y="562928"/>
                </a:lnTo>
                <a:lnTo>
                  <a:pt x="1889757" y="566738"/>
                </a:lnTo>
                <a:lnTo>
                  <a:pt x="1888486" y="570231"/>
                </a:lnTo>
                <a:lnTo>
                  <a:pt x="1886261" y="574041"/>
                </a:lnTo>
                <a:lnTo>
                  <a:pt x="1884036" y="577533"/>
                </a:lnTo>
                <a:lnTo>
                  <a:pt x="1881176" y="581343"/>
                </a:lnTo>
                <a:lnTo>
                  <a:pt x="1877680" y="585153"/>
                </a:lnTo>
                <a:lnTo>
                  <a:pt x="1874184" y="588963"/>
                </a:lnTo>
                <a:lnTo>
                  <a:pt x="1476895" y="985838"/>
                </a:lnTo>
                <a:lnTo>
                  <a:pt x="1472763" y="989966"/>
                </a:lnTo>
                <a:lnTo>
                  <a:pt x="1468313" y="993458"/>
                </a:lnTo>
                <a:lnTo>
                  <a:pt x="1464182" y="996633"/>
                </a:lnTo>
                <a:lnTo>
                  <a:pt x="1459732" y="999808"/>
                </a:lnTo>
                <a:lnTo>
                  <a:pt x="1455282" y="1002348"/>
                </a:lnTo>
                <a:lnTo>
                  <a:pt x="1450515" y="1004888"/>
                </a:lnTo>
                <a:lnTo>
                  <a:pt x="1446065" y="1007111"/>
                </a:lnTo>
                <a:lnTo>
                  <a:pt x="1440980" y="1009016"/>
                </a:lnTo>
                <a:lnTo>
                  <a:pt x="1436212" y="1010921"/>
                </a:lnTo>
                <a:lnTo>
                  <a:pt x="1431445" y="1012826"/>
                </a:lnTo>
                <a:lnTo>
                  <a:pt x="1426360" y="1013778"/>
                </a:lnTo>
                <a:lnTo>
                  <a:pt x="1421274" y="1015366"/>
                </a:lnTo>
                <a:lnTo>
                  <a:pt x="1416507" y="1016001"/>
                </a:lnTo>
                <a:lnTo>
                  <a:pt x="1411422" y="1016953"/>
                </a:lnTo>
                <a:lnTo>
                  <a:pt x="1406336" y="1017271"/>
                </a:lnTo>
                <a:lnTo>
                  <a:pt x="1401569" y="1017588"/>
                </a:lnTo>
                <a:lnTo>
                  <a:pt x="1396484" y="1017588"/>
                </a:lnTo>
                <a:lnTo>
                  <a:pt x="1391716" y="1017271"/>
                </a:lnTo>
                <a:lnTo>
                  <a:pt x="1386949" y="1016953"/>
                </a:lnTo>
                <a:lnTo>
                  <a:pt x="1382499" y="1015683"/>
                </a:lnTo>
                <a:lnTo>
                  <a:pt x="1377731" y="1015048"/>
                </a:lnTo>
                <a:lnTo>
                  <a:pt x="1373282" y="1013461"/>
                </a:lnTo>
                <a:lnTo>
                  <a:pt x="1368832" y="1012191"/>
                </a:lnTo>
                <a:lnTo>
                  <a:pt x="1364700" y="1010286"/>
                </a:lnTo>
                <a:lnTo>
                  <a:pt x="1360886" y="1008063"/>
                </a:lnTo>
                <a:lnTo>
                  <a:pt x="1357072" y="1005523"/>
                </a:lnTo>
                <a:lnTo>
                  <a:pt x="1353576" y="1002983"/>
                </a:lnTo>
                <a:lnTo>
                  <a:pt x="1350080" y="1000126"/>
                </a:lnTo>
                <a:lnTo>
                  <a:pt x="1347220" y="996633"/>
                </a:lnTo>
                <a:lnTo>
                  <a:pt x="1344359" y="993458"/>
                </a:lnTo>
                <a:lnTo>
                  <a:pt x="1341817" y="989331"/>
                </a:lnTo>
                <a:lnTo>
                  <a:pt x="1339274" y="985521"/>
                </a:lnTo>
                <a:lnTo>
                  <a:pt x="1337367" y="981076"/>
                </a:lnTo>
                <a:lnTo>
                  <a:pt x="1335778" y="976313"/>
                </a:lnTo>
                <a:lnTo>
                  <a:pt x="1326561" y="967106"/>
                </a:lnTo>
                <a:lnTo>
                  <a:pt x="1322111" y="965518"/>
                </a:lnTo>
                <a:lnTo>
                  <a:pt x="1317979" y="963296"/>
                </a:lnTo>
                <a:lnTo>
                  <a:pt x="1314165" y="961073"/>
                </a:lnTo>
                <a:lnTo>
                  <a:pt x="1310351" y="958851"/>
                </a:lnTo>
                <a:lnTo>
                  <a:pt x="1307173" y="956311"/>
                </a:lnTo>
                <a:lnTo>
                  <a:pt x="1303995" y="953453"/>
                </a:lnTo>
                <a:lnTo>
                  <a:pt x="1301134" y="950913"/>
                </a:lnTo>
                <a:lnTo>
                  <a:pt x="1298274" y="948056"/>
                </a:lnTo>
                <a:lnTo>
                  <a:pt x="1295731" y="944563"/>
                </a:lnTo>
                <a:lnTo>
                  <a:pt x="1293824" y="941706"/>
                </a:lnTo>
                <a:lnTo>
                  <a:pt x="1291599" y="938531"/>
                </a:lnTo>
                <a:lnTo>
                  <a:pt x="1289692" y="935038"/>
                </a:lnTo>
                <a:lnTo>
                  <a:pt x="1288103" y="931546"/>
                </a:lnTo>
                <a:lnTo>
                  <a:pt x="1286832" y="928371"/>
                </a:lnTo>
                <a:lnTo>
                  <a:pt x="1284607" y="921068"/>
                </a:lnTo>
                <a:lnTo>
                  <a:pt x="1283336" y="913448"/>
                </a:lnTo>
                <a:lnTo>
                  <a:pt x="1282700" y="905511"/>
                </a:lnTo>
                <a:lnTo>
                  <a:pt x="1283018" y="897573"/>
                </a:lnTo>
                <a:lnTo>
                  <a:pt x="1283971" y="889953"/>
                </a:lnTo>
                <a:lnTo>
                  <a:pt x="1285560" y="882016"/>
                </a:lnTo>
                <a:lnTo>
                  <a:pt x="1287785" y="874078"/>
                </a:lnTo>
                <a:lnTo>
                  <a:pt x="1290646" y="866141"/>
                </a:lnTo>
                <a:lnTo>
                  <a:pt x="1294142" y="858521"/>
                </a:lnTo>
                <a:lnTo>
                  <a:pt x="1298909" y="849948"/>
                </a:lnTo>
                <a:lnTo>
                  <a:pt x="1304313" y="841376"/>
                </a:lnTo>
                <a:lnTo>
                  <a:pt x="1310351" y="833756"/>
                </a:lnTo>
                <a:lnTo>
                  <a:pt x="1317026" y="826136"/>
                </a:lnTo>
                <a:lnTo>
                  <a:pt x="1714315" y="429261"/>
                </a:lnTo>
                <a:lnTo>
                  <a:pt x="1718446" y="425768"/>
                </a:lnTo>
                <a:lnTo>
                  <a:pt x="1721943" y="422276"/>
                </a:lnTo>
                <a:lnTo>
                  <a:pt x="1726074" y="419736"/>
                </a:lnTo>
                <a:lnTo>
                  <a:pt x="1729571" y="417196"/>
                </a:lnTo>
                <a:lnTo>
                  <a:pt x="1733384" y="415608"/>
                </a:lnTo>
                <a:lnTo>
                  <a:pt x="1736881" y="414021"/>
                </a:lnTo>
                <a:lnTo>
                  <a:pt x="1740377" y="412433"/>
                </a:lnTo>
                <a:lnTo>
                  <a:pt x="1743873" y="411798"/>
                </a:lnTo>
                <a:lnTo>
                  <a:pt x="1747051" y="411481"/>
                </a:lnTo>
                <a:lnTo>
                  <a:pt x="1750865" y="411163"/>
                </a:lnTo>
                <a:close/>
                <a:moveTo>
                  <a:pt x="198373" y="319088"/>
                </a:moveTo>
                <a:lnTo>
                  <a:pt x="1557783" y="319088"/>
                </a:lnTo>
                <a:lnTo>
                  <a:pt x="1453042" y="423822"/>
                </a:lnTo>
                <a:lnTo>
                  <a:pt x="315492" y="423822"/>
                </a:lnTo>
                <a:lnTo>
                  <a:pt x="305336" y="424140"/>
                </a:lnTo>
                <a:lnTo>
                  <a:pt x="295179" y="424774"/>
                </a:lnTo>
                <a:lnTo>
                  <a:pt x="285340" y="426361"/>
                </a:lnTo>
                <a:lnTo>
                  <a:pt x="275500" y="427631"/>
                </a:lnTo>
                <a:lnTo>
                  <a:pt x="265979" y="429852"/>
                </a:lnTo>
                <a:lnTo>
                  <a:pt x="256457" y="433026"/>
                </a:lnTo>
                <a:lnTo>
                  <a:pt x="247570" y="435882"/>
                </a:lnTo>
                <a:lnTo>
                  <a:pt x="238365" y="439374"/>
                </a:lnTo>
                <a:lnTo>
                  <a:pt x="229478" y="443499"/>
                </a:lnTo>
                <a:lnTo>
                  <a:pt x="221226" y="447943"/>
                </a:lnTo>
                <a:lnTo>
                  <a:pt x="212973" y="452703"/>
                </a:lnTo>
                <a:lnTo>
                  <a:pt x="204721" y="457781"/>
                </a:lnTo>
                <a:lnTo>
                  <a:pt x="196786" y="463494"/>
                </a:lnTo>
                <a:lnTo>
                  <a:pt x="189486" y="469207"/>
                </a:lnTo>
                <a:lnTo>
                  <a:pt x="182186" y="475554"/>
                </a:lnTo>
                <a:lnTo>
                  <a:pt x="175203" y="481902"/>
                </a:lnTo>
                <a:lnTo>
                  <a:pt x="168855" y="488884"/>
                </a:lnTo>
                <a:lnTo>
                  <a:pt x="162507" y="496184"/>
                </a:lnTo>
                <a:lnTo>
                  <a:pt x="156794" y="503483"/>
                </a:lnTo>
                <a:lnTo>
                  <a:pt x="151398" y="511100"/>
                </a:lnTo>
                <a:lnTo>
                  <a:pt x="145685" y="519670"/>
                </a:lnTo>
                <a:lnTo>
                  <a:pt x="140924" y="527604"/>
                </a:lnTo>
                <a:lnTo>
                  <a:pt x="136798" y="536490"/>
                </a:lnTo>
                <a:lnTo>
                  <a:pt x="132672" y="545060"/>
                </a:lnTo>
                <a:lnTo>
                  <a:pt x="129498" y="554263"/>
                </a:lnTo>
                <a:lnTo>
                  <a:pt x="126007" y="563150"/>
                </a:lnTo>
                <a:lnTo>
                  <a:pt x="123468" y="572671"/>
                </a:lnTo>
                <a:lnTo>
                  <a:pt x="121246" y="582193"/>
                </a:lnTo>
                <a:lnTo>
                  <a:pt x="119659" y="592031"/>
                </a:lnTo>
                <a:lnTo>
                  <a:pt x="118072" y="601870"/>
                </a:lnTo>
                <a:lnTo>
                  <a:pt x="117437" y="612026"/>
                </a:lnTo>
                <a:lnTo>
                  <a:pt x="117437" y="622182"/>
                </a:lnTo>
                <a:lnTo>
                  <a:pt x="117437" y="1633658"/>
                </a:lnTo>
                <a:lnTo>
                  <a:pt x="117437" y="1643814"/>
                </a:lnTo>
                <a:lnTo>
                  <a:pt x="118072" y="1653970"/>
                </a:lnTo>
                <a:lnTo>
                  <a:pt x="119659" y="1663808"/>
                </a:lnTo>
                <a:lnTo>
                  <a:pt x="121246" y="1673647"/>
                </a:lnTo>
                <a:lnTo>
                  <a:pt x="123468" y="1683168"/>
                </a:lnTo>
                <a:lnTo>
                  <a:pt x="126007" y="1692689"/>
                </a:lnTo>
                <a:lnTo>
                  <a:pt x="129498" y="1701576"/>
                </a:lnTo>
                <a:lnTo>
                  <a:pt x="132672" y="1710780"/>
                </a:lnTo>
                <a:lnTo>
                  <a:pt x="136798" y="1719666"/>
                </a:lnTo>
                <a:lnTo>
                  <a:pt x="140924" y="1728235"/>
                </a:lnTo>
                <a:lnTo>
                  <a:pt x="145685" y="1736170"/>
                </a:lnTo>
                <a:lnTo>
                  <a:pt x="151398" y="1744739"/>
                </a:lnTo>
                <a:lnTo>
                  <a:pt x="156794" y="1752356"/>
                </a:lnTo>
                <a:lnTo>
                  <a:pt x="162507" y="1759656"/>
                </a:lnTo>
                <a:lnTo>
                  <a:pt x="168855" y="1766955"/>
                </a:lnTo>
                <a:lnTo>
                  <a:pt x="175203" y="1773938"/>
                </a:lnTo>
                <a:lnTo>
                  <a:pt x="182186" y="1780285"/>
                </a:lnTo>
                <a:lnTo>
                  <a:pt x="189486" y="1786633"/>
                </a:lnTo>
                <a:lnTo>
                  <a:pt x="196786" y="1792345"/>
                </a:lnTo>
                <a:lnTo>
                  <a:pt x="204721" y="1798375"/>
                </a:lnTo>
                <a:lnTo>
                  <a:pt x="212973" y="1803453"/>
                </a:lnTo>
                <a:lnTo>
                  <a:pt x="221226" y="1808214"/>
                </a:lnTo>
                <a:lnTo>
                  <a:pt x="229478" y="1812340"/>
                </a:lnTo>
                <a:lnTo>
                  <a:pt x="238365" y="1816466"/>
                </a:lnTo>
                <a:lnTo>
                  <a:pt x="247570" y="1819640"/>
                </a:lnTo>
                <a:lnTo>
                  <a:pt x="256457" y="1823131"/>
                </a:lnTo>
                <a:lnTo>
                  <a:pt x="265979" y="1825670"/>
                </a:lnTo>
                <a:lnTo>
                  <a:pt x="275500" y="1827891"/>
                </a:lnTo>
                <a:lnTo>
                  <a:pt x="285340" y="1829478"/>
                </a:lnTo>
                <a:lnTo>
                  <a:pt x="295179" y="1831065"/>
                </a:lnTo>
                <a:lnTo>
                  <a:pt x="305336" y="1831700"/>
                </a:lnTo>
                <a:lnTo>
                  <a:pt x="315492" y="1831700"/>
                </a:lnTo>
                <a:lnTo>
                  <a:pt x="1632371" y="1831700"/>
                </a:lnTo>
                <a:lnTo>
                  <a:pt x="1642527" y="1831700"/>
                </a:lnTo>
                <a:lnTo>
                  <a:pt x="1652367" y="1831065"/>
                </a:lnTo>
                <a:lnTo>
                  <a:pt x="1662523" y="1829478"/>
                </a:lnTo>
                <a:lnTo>
                  <a:pt x="1672045" y="1827891"/>
                </a:lnTo>
                <a:lnTo>
                  <a:pt x="1681885" y="1825670"/>
                </a:lnTo>
                <a:lnTo>
                  <a:pt x="1691089" y="1823131"/>
                </a:lnTo>
                <a:lnTo>
                  <a:pt x="1700611" y="1819640"/>
                </a:lnTo>
                <a:lnTo>
                  <a:pt x="1709181" y="1816466"/>
                </a:lnTo>
                <a:lnTo>
                  <a:pt x="1718385" y="1812340"/>
                </a:lnTo>
                <a:lnTo>
                  <a:pt x="1726637" y="1808214"/>
                </a:lnTo>
                <a:lnTo>
                  <a:pt x="1735207" y="1803453"/>
                </a:lnTo>
                <a:lnTo>
                  <a:pt x="1743142" y="1798375"/>
                </a:lnTo>
                <a:lnTo>
                  <a:pt x="1750760" y="1792345"/>
                </a:lnTo>
                <a:lnTo>
                  <a:pt x="1758377" y="1786633"/>
                </a:lnTo>
                <a:lnTo>
                  <a:pt x="1765677" y="1780285"/>
                </a:lnTo>
                <a:lnTo>
                  <a:pt x="1772660" y="1773938"/>
                </a:lnTo>
                <a:lnTo>
                  <a:pt x="1779325" y="1766955"/>
                </a:lnTo>
                <a:lnTo>
                  <a:pt x="1785356" y="1759973"/>
                </a:lnTo>
                <a:lnTo>
                  <a:pt x="1791069" y="1752356"/>
                </a:lnTo>
                <a:lnTo>
                  <a:pt x="1796782" y="1744739"/>
                </a:lnTo>
                <a:lnTo>
                  <a:pt x="1801861" y="1736805"/>
                </a:lnTo>
                <a:lnTo>
                  <a:pt x="1806621" y="1728235"/>
                </a:lnTo>
                <a:lnTo>
                  <a:pt x="1810748" y="1719666"/>
                </a:lnTo>
                <a:lnTo>
                  <a:pt x="1814874" y="1710780"/>
                </a:lnTo>
                <a:lnTo>
                  <a:pt x="1818683" y="1702211"/>
                </a:lnTo>
                <a:lnTo>
                  <a:pt x="1821857" y="1692689"/>
                </a:lnTo>
                <a:lnTo>
                  <a:pt x="1824396" y="1683168"/>
                </a:lnTo>
                <a:lnTo>
                  <a:pt x="1826617" y="1673647"/>
                </a:lnTo>
                <a:lnTo>
                  <a:pt x="1828522" y="1663808"/>
                </a:lnTo>
                <a:lnTo>
                  <a:pt x="1829474" y="1653970"/>
                </a:lnTo>
                <a:lnTo>
                  <a:pt x="1830109" y="1643814"/>
                </a:lnTo>
                <a:lnTo>
                  <a:pt x="1830426" y="1633658"/>
                </a:lnTo>
                <a:lnTo>
                  <a:pt x="1830426" y="1113162"/>
                </a:lnTo>
                <a:lnTo>
                  <a:pt x="1830426" y="773570"/>
                </a:lnTo>
                <a:lnTo>
                  <a:pt x="1947863" y="656458"/>
                </a:lnTo>
                <a:lnTo>
                  <a:pt x="1947863" y="1738391"/>
                </a:lnTo>
                <a:lnTo>
                  <a:pt x="1947546" y="1748865"/>
                </a:lnTo>
                <a:lnTo>
                  <a:pt x="1946911" y="1758704"/>
                </a:lnTo>
                <a:lnTo>
                  <a:pt x="1945324" y="1768860"/>
                </a:lnTo>
                <a:lnTo>
                  <a:pt x="1943419" y="1778063"/>
                </a:lnTo>
                <a:lnTo>
                  <a:pt x="1941198" y="1787902"/>
                </a:lnTo>
                <a:lnTo>
                  <a:pt x="1938659" y="1797423"/>
                </a:lnTo>
                <a:lnTo>
                  <a:pt x="1935802" y="1806627"/>
                </a:lnTo>
                <a:lnTo>
                  <a:pt x="1932311" y="1815831"/>
                </a:lnTo>
                <a:lnTo>
                  <a:pt x="1928184" y="1824400"/>
                </a:lnTo>
                <a:lnTo>
                  <a:pt x="1923741" y="1832969"/>
                </a:lnTo>
                <a:lnTo>
                  <a:pt x="1918980" y="1841221"/>
                </a:lnTo>
                <a:lnTo>
                  <a:pt x="1913902" y="1849156"/>
                </a:lnTo>
                <a:lnTo>
                  <a:pt x="1908188" y="1856773"/>
                </a:lnTo>
                <a:lnTo>
                  <a:pt x="1902475" y="1864707"/>
                </a:lnTo>
                <a:lnTo>
                  <a:pt x="1896127" y="1871689"/>
                </a:lnTo>
                <a:lnTo>
                  <a:pt x="1889462" y="1878671"/>
                </a:lnTo>
                <a:lnTo>
                  <a:pt x="1882797" y="1885336"/>
                </a:lnTo>
                <a:lnTo>
                  <a:pt x="1875497" y="1891366"/>
                </a:lnTo>
                <a:lnTo>
                  <a:pt x="1868197" y="1897397"/>
                </a:lnTo>
                <a:lnTo>
                  <a:pt x="1860579" y="1902792"/>
                </a:lnTo>
                <a:lnTo>
                  <a:pt x="1852327" y="1907870"/>
                </a:lnTo>
                <a:lnTo>
                  <a:pt x="1844074" y="1912631"/>
                </a:lnTo>
                <a:lnTo>
                  <a:pt x="1835187" y="1917074"/>
                </a:lnTo>
                <a:lnTo>
                  <a:pt x="1826617" y="1920882"/>
                </a:lnTo>
                <a:lnTo>
                  <a:pt x="1817413" y="1924691"/>
                </a:lnTo>
                <a:lnTo>
                  <a:pt x="1808209" y="1927865"/>
                </a:lnTo>
                <a:lnTo>
                  <a:pt x="1799004" y="1930404"/>
                </a:lnTo>
                <a:lnTo>
                  <a:pt x="1789482" y="1932625"/>
                </a:lnTo>
                <a:lnTo>
                  <a:pt x="1779643" y="1934530"/>
                </a:lnTo>
                <a:lnTo>
                  <a:pt x="1769803" y="1935482"/>
                </a:lnTo>
                <a:lnTo>
                  <a:pt x="1759647" y="1936434"/>
                </a:lnTo>
                <a:lnTo>
                  <a:pt x="1749173" y="1936751"/>
                </a:lnTo>
                <a:lnTo>
                  <a:pt x="198373" y="1936751"/>
                </a:lnTo>
                <a:lnTo>
                  <a:pt x="188216" y="1936434"/>
                </a:lnTo>
                <a:lnTo>
                  <a:pt x="178377" y="1935482"/>
                </a:lnTo>
                <a:lnTo>
                  <a:pt x="168538" y="1934530"/>
                </a:lnTo>
                <a:lnTo>
                  <a:pt x="158699" y="1932625"/>
                </a:lnTo>
                <a:lnTo>
                  <a:pt x="148859" y="1930404"/>
                </a:lnTo>
                <a:lnTo>
                  <a:pt x="139655" y="1927865"/>
                </a:lnTo>
                <a:lnTo>
                  <a:pt x="130133" y="1924691"/>
                </a:lnTo>
                <a:lnTo>
                  <a:pt x="121246" y="1920882"/>
                </a:lnTo>
                <a:lnTo>
                  <a:pt x="112359" y="1917074"/>
                </a:lnTo>
                <a:lnTo>
                  <a:pt x="103789" y="1912631"/>
                </a:lnTo>
                <a:lnTo>
                  <a:pt x="95537" y="1907870"/>
                </a:lnTo>
                <a:lnTo>
                  <a:pt x="87602" y="1902792"/>
                </a:lnTo>
                <a:lnTo>
                  <a:pt x="79984" y="1897397"/>
                </a:lnTo>
                <a:lnTo>
                  <a:pt x="72049" y="1891366"/>
                </a:lnTo>
                <a:lnTo>
                  <a:pt x="65067" y="1885336"/>
                </a:lnTo>
                <a:lnTo>
                  <a:pt x="58084" y="1878671"/>
                </a:lnTo>
                <a:lnTo>
                  <a:pt x="51418" y="1871689"/>
                </a:lnTo>
                <a:lnTo>
                  <a:pt x="45388" y="1864707"/>
                </a:lnTo>
                <a:lnTo>
                  <a:pt x="39357" y="1856773"/>
                </a:lnTo>
                <a:lnTo>
                  <a:pt x="33962" y="1849156"/>
                </a:lnTo>
                <a:lnTo>
                  <a:pt x="28883" y="1841221"/>
                </a:lnTo>
                <a:lnTo>
                  <a:pt x="24122" y="1832969"/>
                </a:lnTo>
                <a:lnTo>
                  <a:pt x="19679" y="1824400"/>
                </a:lnTo>
                <a:lnTo>
                  <a:pt x="15870" y="1815831"/>
                </a:lnTo>
                <a:lnTo>
                  <a:pt x="12061" y="1806627"/>
                </a:lnTo>
                <a:lnTo>
                  <a:pt x="8887" y="1797423"/>
                </a:lnTo>
                <a:lnTo>
                  <a:pt x="6348" y="1787902"/>
                </a:lnTo>
                <a:lnTo>
                  <a:pt x="4126" y="1778063"/>
                </a:lnTo>
                <a:lnTo>
                  <a:pt x="2222" y="1768860"/>
                </a:lnTo>
                <a:lnTo>
                  <a:pt x="1270" y="1758704"/>
                </a:lnTo>
                <a:lnTo>
                  <a:pt x="318" y="1748865"/>
                </a:lnTo>
                <a:lnTo>
                  <a:pt x="0" y="1738391"/>
                </a:lnTo>
                <a:lnTo>
                  <a:pt x="0" y="517448"/>
                </a:lnTo>
                <a:lnTo>
                  <a:pt x="318" y="507292"/>
                </a:lnTo>
                <a:lnTo>
                  <a:pt x="1270" y="497453"/>
                </a:lnTo>
                <a:lnTo>
                  <a:pt x="2222" y="487297"/>
                </a:lnTo>
                <a:lnTo>
                  <a:pt x="4126" y="477776"/>
                </a:lnTo>
                <a:lnTo>
                  <a:pt x="6348" y="467937"/>
                </a:lnTo>
                <a:lnTo>
                  <a:pt x="8887" y="458416"/>
                </a:lnTo>
                <a:lnTo>
                  <a:pt x="12061" y="449212"/>
                </a:lnTo>
                <a:lnTo>
                  <a:pt x="15870" y="440008"/>
                </a:lnTo>
                <a:lnTo>
                  <a:pt x="19679" y="431439"/>
                </a:lnTo>
                <a:lnTo>
                  <a:pt x="24122" y="423187"/>
                </a:lnTo>
                <a:lnTo>
                  <a:pt x="28883" y="414618"/>
                </a:lnTo>
                <a:lnTo>
                  <a:pt x="33962" y="406684"/>
                </a:lnTo>
                <a:lnTo>
                  <a:pt x="39357" y="399067"/>
                </a:lnTo>
                <a:lnTo>
                  <a:pt x="45388" y="391450"/>
                </a:lnTo>
                <a:lnTo>
                  <a:pt x="51418" y="384150"/>
                </a:lnTo>
                <a:lnTo>
                  <a:pt x="58084" y="377168"/>
                </a:lnTo>
                <a:lnTo>
                  <a:pt x="65067" y="370503"/>
                </a:lnTo>
                <a:lnTo>
                  <a:pt x="72049" y="364473"/>
                </a:lnTo>
                <a:lnTo>
                  <a:pt x="79984" y="358443"/>
                </a:lnTo>
                <a:lnTo>
                  <a:pt x="87602" y="353047"/>
                </a:lnTo>
                <a:lnTo>
                  <a:pt x="95537" y="347969"/>
                </a:lnTo>
                <a:lnTo>
                  <a:pt x="103789" y="343209"/>
                </a:lnTo>
                <a:lnTo>
                  <a:pt x="112359" y="338766"/>
                </a:lnTo>
                <a:lnTo>
                  <a:pt x="121246" y="334957"/>
                </a:lnTo>
                <a:lnTo>
                  <a:pt x="130133" y="331149"/>
                </a:lnTo>
                <a:lnTo>
                  <a:pt x="139655" y="328292"/>
                </a:lnTo>
                <a:lnTo>
                  <a:pt x="148859" y="325436"/>
                </a:lnTo>
                <a:lnTo>
                  <a:pt x="158699" y="323214"/>
                </a:lnTo>
                <a:lnTo>
                  <a:pt x="168538" y="321310"/>
                </a:lnTo>
                <a:lnTo>
                  <a:pt x="178377" y="320358"/>
                </a:lnTo>
                <a:lnTo>
                  <a:pt x="188216" y="319723"/>
                </a:lnTo>
                <a:lnTo>
                  <a:pt x="198373" y="319088"/>
                </a:lnTo>
                <a:close/>
                <a:moveTo>
                  <a:pt x="2076641" y="106363"/>
                </a:moveTo>
                <a:lnTo>
                  <a:pt x="2082030" y="106363"/>
                </a:lnTo>
                <a:lnTo>
                  <a:pt x="2087102" y="106363"/>
                </a:lnTo>
                <a:lnTo>
                  <a:pt x="2092174" y="106679"/>
                </a:lnTo>
                <a:lnTo>
                  <a:pt x="2097246" y="107313"/>
                </a:lnTo>
                <a:lnTo>
                  <a:pt x="2102318" y="108263"/>
                </a:lnTo>
                <a:lnTo>
                  <a:pt x="2107390" y="109213"/>
                </a:lnTo>
                <a:lnTo>
                  <a:pt x="2112145" y="110797"/>
                </a:lnTo>
                <a:lnTo>
                  <a:pt x="2117217" y="112064"/>
                </a:lnTo>
                <a:lnTo>
                  <a:pt x="2121972" y="113965"/>
                </a:lnTo>
                <a:lnTo>
                  <a:pt x="2126727" y="116182"/>
                </a:lnTo>
                <a:lnTo>
                  <a:pt x="2131482" y="118399"/>
                </a:lnTo>
                <a:lnTo>
                  <a:pt x="2136237" y="120933"/>
                </a:lnTo>
                <a:lnTo>
                  <a:pt x="2140358" y="123784"/>
                </a:lnTo>
                <a:lnTo>
                  <a:pt x="2144796" y="126634"/>
                </a:lnTo>
                <a:lnTo>
                  <a:pt x="2148916" y="130119"/>
                </a:lnTo>
                <a:lnTo>
                  <a:pt x="2153354" y="133603"/>
                </a:lnTo>
                <a:lnTo>
                  <a:pt x="2157158" y="137087"/>
                </a:lnTo>
                <a:lnTo>
                  <a:pt x="2166351" y="146589"/>
                </a:lnTo>
                <a:lnTo>
                  <a:pt x="2169838" y="150707"/>
                </a:lnTo>
                <a:lnTo>
                  <a:pt x="2173642" y="154825"/>
                </a:lnTo>
                <a:lnTo>
                  <a:pt x="2176812" y="158626"/>
                </a:lnTo>
                <a:lnTo>
                  <a:pt x="2179665" y="163060"/>
                </a:lnTo>
                <a:lnTo>
                  <a:pt x="2182835" y="167811"/>
                </a:lnTo>
                <a:lnTo>
                  <a:pt x="2185371" y="172246"/>
                </a:lnTo>
                <a:lnTo>
                  <a:pt x="2187273" y="176997"/>
                </a:lnTo>
                <a:lnTo>
                  <a:pt x="2189492" y="181748"/>
                </a:lnTo>
                <a:lnTo>
                  <a:pt x="2191394" y="186183"/>
                </a:lnTo>
                <a:lnTo>
                  <a:pt x="2192979" y="191567"/>
                </a:lnTo>
                <a:lnTo>
                  <a:pt x="2194247" y="196002"/>
                </a:lnTo>
                <a:lnTo>
                  <a:pt x="2195515" y="201387"/>
                </a:lnTo>
                <a:lnTo>
                  <a:pt x="2196149" y="206454"/>
                </a:lnTo>
                <a:lnTo>
                  <a:pt x="2196783" y="211522"/>
                </a:lnTo>
                <a:lnTo>
                  <a:pt x="2197100" y="216590"/>
                </a:lnTo>
                <a:lnTo>
                  <a:pt x="2197100" y="221658"/>
                </a:lnTo>
                <a:lnTo>
                  <a:pt x="2197100" y="226726"/>
                </a:lnTo>
                <a:lnTo>
                  <a:pt x="2196783" y="231794"/>
                </a:lnTo>
                <a:lnTo>
                  <a:pt x="2196149" y="236862"/>
                </a:lnTo>
                <a:lnTo>
                  <a:pt x="2195515" y="241613"/>
                </a:lnTo>
                <a:lnTo>
                  <a:pt x="2194247" y="246681"/>
                </a:lnTo>
                <a:lnTo>
                  <a:pt x="2192979" y="251749"/>
                </a:lnTo>
                <a:lnTo>
                  <a:pt x="2191394" y="256500"/>
                </a:lnTo>
                <a:lnTo>
                  <a:pt x="2189492" y="261251"/>
                </a:lnTo>
                <a:lnTo>
                  <a:pt x="2187273" y="266319"/>
                </a:lnTo>
                <a:lnTo>
                  <a:pt x="2185371" y="270754"/>
                </a:lnTo>
                <a:lnTo>
                  <a:pt x="2182835" y="275505"/>
                </a:lnTo>
                <a:lnTo>
                  <a:pt x="2179665" y="279623"/>
                </a:lnTo>
                <a:lnTo>
                  <a:pt x="2176812" y="284057"/>
                </a:lnTo>
                <a:lnTo>
                  <a:pt x="2173642" y="288492"/>
                </a:lnTo>
                <a:lnTo>
                  <a:pt x="2169838" y="292609"/>
                </a:lnTo>
                <a:lnTo>
                  <a:pt x="2166351" y="296410"/>
                </a:lnTo>
                <a:lnTo>
                  <a:pt x="1970764" y="491843"/>
                </a:lnTo>
                <a:lnTo>
                  <a:pt x="1967277" y="495010"/>
                </a:lnTo>
                <a:lnTo>
                  <a:pt x="1963473" y="498178"/>
                </a:lnTo>
                <a:lnTo>
                  <a:pt x="1959986" y="500712"/>
                </a:lnTo>
                <a:lnTo>
                  <a:pt x="1956816" y="502612"/>
                </a:lnTo>
                <a:lnTo>
                  <a:pt x="1953329" y="504513"/>
                </a:lnTo>
                <a:lnTo>
                  <a:pt x="1950476" y="505463"/>
                </a:lnTo>
                <a:lnTo>
                  <a:pt x="1947623" y="505780"/>
                </a:lnTo>
                <a:lnTo>
                  <a:pt x="1944771" y="506413"/>
                </a:lnTo>
                <a:lnTo>
                  <a:pt x="1941918" y="505780"/>
                </a:lnTo>
                <a:lnTo>
                  <a:pt x="1939382" y="505463"/>
                </a:lnTo>
                <a:lnTo>
                  <a:pt x="1936846" y="504513"/>
                </a:lnTo>
                <a:lnTo>
                  <a:pt x="1933993" y="502929"/>
                </a:lnTo>
                <a:lnTo>
                  <a:pt x="1931457" y="501662"/>
                </a:lnTo>
                <a:lnTo>
                  <a:pt x="1928921" y="499445"/>
                </a:lnTo>
                <a:lnTo>
                  <a:pt x="1924166" y="494694"/>
                </a:lnTo>
                <a:lnTo>
                  <a:pt x="1919094" y="489309"/>
                </a:lnTo>
                <a:lnTo>
                  <a:pt x="1914022" y="482657"/>
                </a:lnTo>
                <a:lnTo>
                  <a:pt x="1903561" y="467770"/>
                </a:lnTo>
                <a:lnTo>
                  <a:pt x="1897855" y="459852"/>
                </a:lnTo>
                <a:lnTo>
                  <a:pt x="1891515" y="451616"/>
                </a:lnTo>
                <a:lnTo>
                  <a:pt x="1884541" y="443698"/>
                </a:lnTo>
                <a:lnTo>
                  <a:pt x="1877250" y="435779"/>
                </a:lnTo>
                <a:lnTo>
                  <a:pt x="1868057" y="426277"/>
                </a:lnTo>
                <a:lnTo>
                  <a:pt x="1859815" y="418991"/>
                </a:lnTo>
                <a:lnTo>
                  <a:pt x="1851890" y="412023"/>
                </a:lnTo>
                <a:lnTo>
                  <a:pt x="1843966" y="406005"/>
                </a:lnTo>
                <a:lnTo>
                  <a:pt x="1836041" y="399987"/>
                </a:lnTo>
                <a:lnTo>
                  <a:pt x="1820825" y="389217"/>
                </a:lnTo>
                <a:lnTo>
                  <a:pt x="1814485" y="384466"/>
                </a:lnTo>
                <a:lnTo>
                  <a:pt x="1808462" y="379398"/>
                </a:lnTo>
                <a:lnTo>
                  <a:pt x="1804024" y="374647"/>
                </a:lnTo>
                <a:lnTo>
                  <a:pt x="1802122" y="372113"/>
                </a:lnTo>
                <a:lnTo>
                  <a:pt x="1800220" y="369579"/>
                </a:lnTo>
                <a:lnTo>
                  <a:pt x="1798635" y="367045"/>
                </a:lnTo>
                <a:lnTo>
                  <a:pt x="1798001" y="364511"/>
                </a:lnTo>
                <a:lnTo>
                  <a:pt x="1797367" y="361660"/>
                </a:lnTo>
                <a:lnTo>
                  <a:pt x="1797050" y="359126"/>
                </a:lnTo>
                <a:lnTo>
                  <a:pt x="1797367" y="355959"/>
                </a:lnTo>
                <a:lnTo>
                  <a:pt x="1797684" y="353108"/>
                </a:lnTo>
                <a:lnTo>
                  <a:pt x="1798635" y="349941"/>
                </a:lnTo>
                <a:lnTo>
                  <a:pt x="1800220" y="346773"/>
                </a:lnTo>
                <a:lnTo>
                  <a:pt x="1802439" y="343289"/>
                </a:lnTo>
                <a:lnTo>
                  <a:pt x="1804975" y="340122"/>
                </a:lnTo>
                <a:lnTo>
                  <a:pt x="1807828" y="336637"/>
                </a:lnTo>
                <a:lnTo>
                  <a:pt x="1811632" y="332520"/>
                </a:lnTo>
                <a:lnTo>
                  <a:pt x="2006902" y="137087"/>
                </a:lnTo>
                <a:lnTo>
                  <a:pt x="2011023" y="133603"/>
                </a:lnTo>
                <a:lnTo>
                  <a:pt x="2014827" y="130119"/>
                </a:lnTo>
                <a:lnTo>
                  <a:pt x="2019265" y="126634"/>
                </a:lnTo>
                <a:lnTo>
                  <a:pt x="2023703" y="123784"/>
                </a:lnTo>
                <a:lnTo>
                  <a:pt x="2028141" y="120933"/>
                </a:lnTo>
                <a:lnTo>
                  <a:pt x="2032896" y="118399"/>
                </a:lnTo>
                <a:lnTo>
                  <a:pt x="2037017" y="116182"/>
                </a:lnTo>
                <a:lnTo>
                  <a:pt x="2041772" y="113965"/>
                </a:lnTo>
                <a:lnTo>
                  <a:pt x="2046843" y="112064"/>
                </a:lnTo>
                <a:lnTo>
                  <a:pt x="2051598" y="110797"/>
                </a:lnTo>
                <a:lnTo>
                  <a:pt x="2056670" y="109213"/>
                </a:lnTo>
                <a:lnTo>
                  <a:pt x="2061425" y="108263"/>
                </a:lnTo>
                <a:lnTo>
                  <a:pt x="2066497" y="107313"/>
                </a:lnTo>
                <a:lnTo>
                  <a:pt x="2071569" y="106679"/>
                </a:lnTo>
                <a:lnTo>
                  <a:pt x="2076641" y="106363"/>
                </a:lnTo>
                <a:close/>
                <a:moveTo>
                  <a:pt x="2213628" y="19050"/>
                </a:moveTo>
                <a:lnTo>
                  <a:pt x="2219371" y="19369"/>
                </a:lnTo>
                <a:lnTo>
                  <a:pt x="2225751" y="20007"/>
                </a:lnTo>
                <a:lnTo>
                  <a:pt x="2231493" y="21602"/>
                </a:lnTo>
                <a:lnTo>
                  <a:pt x="2237236" y="23516"/>
                </a:lnTo>
                <a:lnTo>
                  <a:pt x="2242978" y="26387"/>
                </a:lnTo>
                <a:lnTo>
                  <a:pt x="2248401" y="29258"/>
                </a:lnTo>
                <a:lnTo>
                  <a:pt x="2253506" y="33087"/>
                </a:lnTo>
                <a:lnTo>
                  <a:pt x="2258291" y="37234"/>
                </a:lnTo>
                <a:lnTo>
                  <a:pt x="2262757" y="42019"/>
                </a:lnTo>
                <a:lnTo>
                  <a:pt x="2266266" y="47123"/>
                </a:lnTo>
                <a:lnTo>
                  <a:pt x="2269457" y="52547"/>
                </a:lnTo>
                <a:lnTo>
                  <a:pt x="2272009" y="58608"/>
                </a:lnTo>
                <a:lnTo>
                  <a:pt x="2273923" y="64350"/>
                </a:lnTo>
                <a:lnTo>
                  <a:pt x="2275518" y="70412"/>
                </a:lnTo>
                <a:lnTo>
                  <a:pt x="2276475" y="76154"/>
                </a:lnTo>
                <a:lnTo>
                  <a:pt x="2276475" y="82216"/>
                </a:lnTo>
                <a:lnTo>
                  <a:pt x="2276475" y="88277"/>
                </a:lnTo>
                <a:lnTo>
                  <a:pt x="2275518" y="94338"/>
                </a:lnTo>
                <a:lnTo>
                  <a:pt x="2273923" y="100400"/>
                </a:lnTo>
                <a:lnTo>
                  <a:pt x="2272009" y="106142"/>
                </a:lnTo>
                <a:lnTo>
                  <a:pt x="2269457" y="111565"/>
                </a:lnTo>
                <a:lnTo>
                  <a:pt x="2266266" y="117308"/>
                </a:lnTo>
                <a:lnTo>
                  <a:pt x="2262757" y="122412"/>
                </a:lnTo>
                <a:lnTo>
                  <a:pt x="2258291" y="126878"/>
                </a:lnTo>
                <a:lnTo>
                  <a:pt x="2241064" y="144105"/>
                </a:lnTo>
                <a:lnTo>
                  <a:pt x="2236598" y="148253"/>
                </a:lnTo>
                <a:lnTo>
                  <a:pt x="2232769" y="150805"/>
                </a:lnTo>
                <a:lnTo>
                  <a:pt x="2230855" y="151443"/>
                </a:lnTo>
                <a:lnTo>
                  <a:pt x="2228941" y="152400"/>
                </a:lnTo>
                <a:lnTo>
                  <a:pt x="2227346" y="152400"/>
                </a:lnTo>
                <a:lnTo>
                  <a:pt x="2225751" y="152400"/>
                </a:lnTo>
                <a:lnTo>
                  <a:pt x="2224156" y="152081"/>
                </a:lnTo>
                <a:lnTo>
                  <a:pt x="2222880" y="151443"/>
                </a:lnTo>
                <a:lnTo>
                  <a:pt x="2220009" y="149848"/>
                </a:lnTo>
                <a:lnTo>
                  <a:pt x="2217456" y="147295"/>
                </a:lnTo>
                <a:lnTo>
                  <a:pt x="2214904" y="143786"/>
                </a:lnTo>
                <a:lnTo>
                  <a:pt x="2212352" y="140277"/>
                </a:lnTo>
                <a:lnTo>
                  <a:pt x="2209800" y="135811"/>
                </a:lnTo>
                <a:lnTo>
                  <a:pt x="2204058" y="126240"/>
                </a:lnTo>
                <a:lnTo>
                  <a:pt x="2201186" y="121455"/>
                </a:lnTo>
                <a:lnTo>
                  <a:pt x="2197358" y="116351"/>
                </a:lnTo>
                <a:lnTo>
                  <a:pt x="2193530" y="111246"/>
                </a:lnTo>
                <a:lnTo>
                  <a:pt x="2189064" y="106461"/>
                </a:lnTo>
                <a:lnTo>
                  <a:pt x="2184278" y="101995"/>
                </a:lnTo>
                <a:lnTo>
                  <a:pt x="2179493" y="98167"/>
                </a:lnTo>
                <a:lnTo>
                  <a:pt x="2174389" y="94657"/>
                </a:lnTo>
                <a:lnTo>
                  <a:pt x="2169285" y="91467"/>
                </a:lnTo>
                <a:lnTo>
                  <a:pt x="2159714" y="85725"/>
                </a:lnTo>
                <a:lnTo>
                  <a:pt x="2155248" y="83173"/>
                </a:lnTo>
                <a:lnTo>
                  <a:pt x="2151739" y="80620"/>
                </a:lnTo>
                <a:lnTo>
                  <a:pt x="2148229" y="78068"/>
                </a:lnTo>
                <a:lnTo>
                  <a:pt x="2145677" y="75516"/>
                </a:lnTo>
                <a:lnTo>
                  <a:pt x="2144082" y="72964"/>
                </a:lnTo>
                <a:lnTo>
                  <a:pt x="2143763" y="71369"/>
                </a:lnTo>
                <a:lnTo>
                  <a:pt x="2143125" y="69774"/>
                </a:lnTo>
                <a:lnTo>
                  <a:pt x="2143125" y="68179"/>
                </a:lnTo>
                <a:lnTo>
                  <a:pt x="2143763" y="66584"/>
                </a:lnTo>
                <a:lnTo>
                  <a:pt x="2144082" y="64669"/>
                </a:lnTo>
                <a:lnTo>
                  <a:pt x="2144720" y="63074"/>
                </a:lnTo>
                <a:lnTo>
                  <a:pt x="2147591" y="59246"/>
                </a:lnTo>
                <a:lnTo>
                  <a:pt x="2151419" y="54780"/>
                </a:lnTo>
                <a:lnTo>
                  <a:pt x="2168647" y="37234"/>
                </a:lnTo>
                <a:lnTo>
                  <a:pt x="2173751" y="33087"/>
                </a:lnTo>
                <a:lnTo>
                  <a:pt x="2178855" y="29258"/>
                </a:lnTo>
                <a:lnTo>
                  <a:pt x="2183959" y="26387"/>
                </a:lnTo>
                <a:lnTo>
                  <a:pt x="2189702" y="23516"/>
                </a:lnTo>
                <a:lnTo>
                  <a:pt x="2195125" y="21602"/>
                </a:lnTo>
                <a:lnTo>
                  <a:pt x="2201506" y="20007"/>
                </a:lnTo>
                <a:lnTo>
                  <a:pt x="2207248" y="19369"/>
                </a:lnTo>
                <a:lnTo>
                  <a:pt x="2213628" y="19050"/>
                </a:lnTo>
                <a:close/>
                <a:moveTo>
                  <a:pt x="1985550" y="0"/>
                </a:moveTo>
                <a:lnTo>
                  <a:pt x="1989686" y="0"/>
                </a:lnTo>
                <a:lnTo>
                  <a:pt x="1993822" y="0"/>
                </a:lnTo>
                <a:lnTo>
                  <a:pt x="1997640" y="634"/>
                </a:lnTo>
                <a:lnTo>
                  <a:pt x="2001776" y="1903"/>
                </a:lnTo>
                <a:lnTo>
                  <a:pt x="2005594" y="2855"/>
                </a:lnTo>
                <a:lnTo>
                  <a:pt x="2009411" y="4759"/>
                </a:lnTo>
                <a:lnTo>
                  <a:pt x="2012911" y="6980"/>
                </a:lnTo>
                <a:lnTo>
                  <a:pt x="2016411" y="9518"/>
                </a:lnTo>
                <a:lnTo>
                  <a:pt x="2019592" y="12374"/>
                </a:lnTo>
                <a:lnTo>
                  <a:pt x="2022456" y="15229"/>
                </a:lnTo>
                <a:lnTo>
                  <a:pt x="2025001" y="19037"/>
                </a:lnTo>
                <a:lnTo>
                  <a:pt x="2026910" y="22210"/>
                </a:lnTo>
                <a:lnTo>
                  <a:pt x="2028819" y="26334"/>
                </a:lnTo>
                <a:lnTo>
                  <a:pt x="2030091" y="29824"/>
                </a:lnTo>
                <a:lnTo>
                  <a:pt x="2031364" y="33949"/>
                </a:lnTo>
                <a:lnTo>
                  <a:pt x="2031682" y="37757"/>
                </a:lnTo>
                <a:lnTo>
                  <a:pt x="2032000" y="41881"/>
                </a:lnTo>
                <a:lnTo>
                  <a:pt x="2031682" y="46006"/>
                </a:lnTo>
                <a:lnTo>
                  <a:pt x="2031046" y="49813"/>
                </a:lnTo>
                <a:lnTo>
                  <a:pt x="2030091" y="53938"/>
                </a:lnTo>
                <a:lnTo>
                  <a:pt x="2028819" y="57745"/>
                </a:lnTo>
                <a:lnTo>
                  <a:pt x="2026910" y="61553"/>
                </a:lnTo>
                <a:lnTo>
                  <a:pt x="2025001" y="65043"/>
                </a:lnTo>
                <a:lnTo>
                  <a:pt x="2022456" y="68533"/>
                </a:lnTo>
                <a:lnTo>
                  <a:pt x="2019592" y="71706"/>
                </a:lnTo>
                <a:lnTo>
                  <a:pt x="1637177" y="453081"/>
                </a:lnTo>
                <a:lnTo>
                  <a:pt x="1633995" y="455937"/>
                </a:lnTo>
                <a:lnTo>
                  <a:pt x="1630814" y="458158"/>
                </a:lnTo>
                <a:lnTo>
                  <a:pt x="1626996" y="460379"/>
                </a:lnTo>
                <a:lnTo>
                  <a:pt x="1623496" y="462283"/>
                </a:lnTo>
                <a:lnTo>
                  <a:pt x="1619360" y="463552"/>
                </a:lnTo>
                <a:lnTo>
                  <a:pt x="1615224" y="464186"/>
                </a:lnTo>
                <a:lnTo>
                  <a:pt x="1611407" y="465138"/>
                </a:lnTo>
                <a:lnTo>
                  <a:pt x="1607271" y="465138"/>
                </a:lnTo>
                <a:lnTo>
                  <a:pt x="1603135" y="465138"/>
                </a:lnTo>
                <a:lnTo>
                  <a:pt x="1599317" y="464186"/>
                </a:lnTo>
                <a:lnTo>
                  <a:pt x="1595181" y="463552"/>
                </a:lnTo>
                <a:lnTo>
                  <a:pt x="1591681" y="462283"/>
                </a:lnTo>
                <a:lnTo>
                  <a:pt x="1587864" y="460379"/>
                </a:lnTo>
                <a:lnTo>
                  <a:pt x="1584364" y="458158"/>
                </a:lnTo>
                <a:lnTo>
                  <a:pt x="1580864" y="455937"/>
                </a:lnTo>
                <a:lnTo>
                  <a:pt x="1577683" y="453081"/>
                </a:lnTo>
                <a:lnTo>
                  <a:pt x="1574819" y="449591"/>
                </a:lnTo>
                <a:lnTo>
                  <a:pt x="1572274" y="446418"/>
                </a:lnTo>
                <a:lnTo>
                  <a:pt x="1570047" y="442928"/>
                </a:lnTo>
                <a:lnTo>
                  <a:pt x="1568138" y="439121"/>
                </a:lnTo>
                <a:lnTo>
                  <a:pt x="1567184" y="435314"/>
                </a:lnTo>
                <a:lnTo>
                  <a:pt x="1565911" y="431189"/>
                </a:lnTo>
                <a:lnTo>
                  <a:pt x="1565275" y="427381"/>
                </a:lnTo>
                <a:lnTo>
                  <a:pt x="1565275" y="423257"/>
                </a:lnTo>
                <a:lnTo>
                  <a:pt x="1565275" y="419132"/>
                </a:lnTo>
                <a:lnTo>
                  <a:pt x="1565911" y="415007"/>
                </a:lnTo>
                <a:lnTo>
                  <a:pt x="1567184" y="411517"/>
                </a:lnTo>
                <a:lnTo>
                  <a:pt x="1568138" y="407393"/>
                </a:lnTo>
                <a:lnTo>
                  <a:pt x="1570047" y="403902"/>
                </a:lnTo>
                <a:lnTo>
                  <a:pt x="1572274" y="400095"/>
                </a:lnTo>
                <a:lnTo>
                  <a:pt x="1574819" y="396922"/>
                </a:lnTo>
                <a:lnTo>
                  <a:pt x="1577683" y="393749"/>
                </a:lnTo>
                <a:lnTo>
                  <a:pt x="1960098" y="12374"/>
                </a:lnTo>
                <a:lnTo>
                  <a:pt x="1962962" y="9518"/>
                </a:lnTo>
                <a:lnTo>
                  <a:pt x="1966779" y="6980"/>
                </a:lnTo>
                <a:lnTo>
                  <a:pt x="1970279" y="4759"/>
                </a:lnTo>
                <a:lnTo>
                  <a:pt x="1974097" y="2855"/>
                </a:lnTo>
                <a:lnTo>
                  <a:pt x="1977596" y="1903"/>
                </a:lnTo>
                <a:lnTo>
                  <a:pt x="1981732" y="634"/>
                </a:lnTo>
                <a:lnTo>
                  <a:pt x="1985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r" rtl="1">
              <a:defRPr/>
            </a:pPr>
            <a:endParaRPr lang="zh-CN" altLang="en-US" sz="3199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B Titr" panose="00000700000000000000" pitchFamily="2" charset="-78"/>
            </a:endParaRPr>
          </a:p>
        </p:txBody>
      </p:sp>
      <p:sp>
        <p:nvSpPr>
          <p:cNvPr id="96" name="Text Placeholder 1">
            <a:extLst>
              <a:ext uri="{FF2B5EF4-FFF2-40B4-BE49-F238E27FC236}">
                <a16:creationId xmlns:a16="http://schemas.microsoft.com/office/drawing/2014/main" id="{BA6DB04A-49AC-4F16-BE21-FF84A85E19FA}"/>
              </a:ext>
            </a:extLst>
          </p:cNvPr>
          <p:cNvSpPr txBox="1">
            <a:spLocks/>
          </p:cNvSpPr>
          <p:nvPr/>
        </p:nvSpPr>
        <p:spPr>
          <a:xfrm>
            <a:off x="1552289" y="2848513"/>
            <a:ext cx="3657600" cy="1393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012" rtl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fa-IR" sz="5400" dirty="0">
                <a:solidFill>
                  <a:schemeClr val="accent1"/>
                </a:solidFill>
                <a:latin typeface="Calibri"/>
                <a:cs typeface="B Titr" panose="00000700000000000000" pitchFamily="2" charset="-78"/>
              </a:rPr>
              <a:t>مقدمه و کلیات</a:t>
            </a:r>
            <a:endParaRPr lang="fa-IR" sz="6000" dirty="0">
              <a:solidFill>
                <a:schemeClr val="accent1"/>
              </a:solidFill>
              <a:latin typeface="Calibri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9973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73017" y="195731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defRPr/>
            </a:pPr>
            <a:r>
              <a:rPr lang="fa-IR" sz="2200" kern="0">
                <a:latin typeface="IranNastaliq" panose="02020505000000020003" pitchFamily="18" charset="0"/>
                <a:cs typeface="B Nazanin" panose="00000400000000000000" pitchFamily="2" charset="-78"/>
              </a:rPr>
              <a:t>این شرکت توانسته در جهت کارآفرینی به طور مستقیم برای 50 نفر و غیر مستقیم 2000 هزار نفر در سرار کشور ایجاد شغل کرده است.</a:t>
            </a:r>
            <a:endParaRPr lang="fa-IR" sz="2200" kern="0" dirty="0">
              <a:latin typeface="IranNastaliq" panose="02020505000000020003" pitchFamily="18" charset="0"/>
              <a:cs typeface="B Nazanin" panose="00000400000000000000" pitchFamily="2" charset="-78"/>
            </a:endParaRP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62F8CC-698F-DA62-D782-5058FFC202DF}"/>
              </a:ext>
            </a:extLst>
          </p:cNvPr>
          <p:cNvSpPr/>
          <p:nvPr/>
        </p:nvSpPr>
        <p:spPr>
          <a:xfrm>
            <a:off x="635510" y="498761"/>
            <a:ext cx="835756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b="1" dirty="0">
                <a:cs typeface="B Titr" panose="00000700000000000000" pitchFamily="2" charset="-78"/>
              </a:rPr>
              <a:t>مقدمه و بیان مساله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azir Light FD" pitchFamily="2" charset="-78"/>
              <a:cs typeface="B Titr" panose="00000700000000000000" pitchFamily="2" charset="-78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79289" y="2009144"/>
            <a:ext cx="781378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7565" indent="-342900" algn="r" rtl="1">
              <a:buFont typeface="Arial" panose="020B0604020202020204" pitchFamily="34" charset="0"/>
              <a:buChar char="•"/>
            </a:pPr>
            <a:r>
              <a:rPr lang="fa-IR" sz="2000" dirty="0">
                <a:cs typeface="B Nazanin" panose="00000400000000000000" pitchFamily="2" charset="-78"/>
              </a:rPr>
              <a:t>فرآیندهای مالی، به‌ویژه فرآیندهای مرتبط با درخواست و اعطای تسهیلات، شامل مجموعه‌ای از فعالیت‌های متوالی هستند که تأخیر در اجرای هر فعالیت می‌تواند موجب افزایش زمان کل فرآیند شود</a:t>
            </a:r>
            <a:r>
              <a:rPr lang="en-US" sz="2000" dirty="0">
                <a:cs typeface="B Nazanin" panose="00000400000000000000" pitchFamily="2" charset="-78"/>
              </a:rPr>
              <a:t>.</a:t>
            </a:r>
            <a:endParaRPr lang="fa-IR" sz="2000" dirty="0">
              <a:cs typeface="B Nazanin" panose="00000400000000000000" pitchFamily="2" charset="-78"/>
            </a:endParaRPr>
          </a:p>
          <a:p>
            <a:pPr marL="84665" algn="r" rtl="1"/>
            <a:endParaRPr lang="fa-IR" sz="2000" dirty="0">
              <a:cs typeface="B Nazanin" panose="00000400000000000000" pitchFamily="2" charset="-78"/>
            </a:endParaRPr>
          </a:p>
          <a:p>
            <a:pPr marL="427565" indent="-342900" algn="r" rtl="1">
              <a:buFont typeface="Arial" panose="020B0604020202020204" pitchFamily="34" charset="0"/>
              <a:buChar char="•"/>
            </a:pPr>
            <a:r>
              <a:rPr lang="fa-IR" sz="2000" dirty="0">
                <a:cs typeface="B Nazanin" panose="00000400000000000000" pitchFamily="2" charset="-78"/>
              </a:rPr>
              <a:t>با گسترش سامانه‌های اطلاعاتی، امکان ثبت و تحلیل رویدادهای فرآیندهای مالی فراهم شده است فرآیندکاوی با استفاده از این داده‌ها، رفتار واقعی فرآیند و نقاط احتمالی تأخیر را بررسی می‌کند</a:t>
            </a:r>
            <a:r>
              <a:rPr lang="en-US" sz="2000" dirty="0">
                <a:cs typeface="B Nazanin" panose="00000400000000000000" pitchFamily="2" charset="-78"/>
              </a:rPr>
              <a:t>.</a:t>
            </a:r>
            <a:endParaRPr lang="fa-IR" sz="2000" dirty="0">
              <a:cs typeface="B Nazanin" panose="00000400000000000000" pitchFamily="2" charset="-78"/>
            </a:endParaRPr>
          </a:p>
          <a:p>
            <a:pPr marL="84665" algn="r" rtl="1"/>
            <a:endParaRPr lang="fa-IR" sz="2000" dirty="0">
              <a:cs typeface="B Nazanin" panose="00000400000000000000" pitchFamily="2" charset="-78"/>
            </a:endParaRPr>
          </a:p>
          <a:p>
            <a:pPr marL="427565" indent="-342900" algn="r" rtl="1">
              <a:buFont typeface="Arial" panose="020B0604020202020204" pitchFamily="34" charset="0"/>
              <a:buChar char="•"/>
            </a:pPr>
            <a:r>
              <a:rPr lang="fa-IR" sz="2000" dirty="0">
                <a:cs typeface="B Nazanin" panose="00000400000000000000" pitchFamily="2" charset="-78"/>
              </a:rPr>
              <a:t>در این پژوهش، با ترکیب فرآیندکاوی و روش‌های یادگیری عمیق شامل </a:t>
            </a:r>
            <a:r>
              <a:rPr lang="en-US" dirty="0">
                <a:cs typeface="B Nazanin" panose="00000400000000000000" pitchFamily="2" charset="-78"/>
              </a:rPr>
              <a:t>Transformer</a:t>
            </a:r>
            <a:r>
              <a:rPr lang="en-US" sz="2000" dirty="0">
                <a:cs typeface="B Nazanin" panose="00000400000000000000" pitchFamily="2" charset="-78"/>
              </a:rPr>
              <a:t>، </a:t>
            </a:r>
            <a:r>
              <a:rPr lang="en-US" dirty="0">
                <a:cs typeface="B Nazanin" panose="00000400000000000000" pitchFamily="2" charset="-78"/>
              </a:rPr>
              <a:t>TCN </a:t>
            </a:r>
            <a:r>
              <a:rPr lang="fa-IR" sz="2000" dirty="0">
                <a:cs typeface="B Nazanin" panose="00000400000000000000" pitchFamily="2" charset="-78"/>
              </a:rPr>
              <a:t>و </a:t>
            </a:r>
            <a:r>
              <a:rPr lang="en-US" dirty="0">
                <a:cs typeface="B Nazanin" panose="00000400000000000000" pitchFamily="2" charset="-78"/>
              </a:rPr>
              <a:t>GNN</a:t>
            </a:r>
            <a:r>
              <a:rPr lang="en-US" sz="2000" dirty="0">
                <a:cs typeface="B Nazanin" panose="00000400000000000000" pitchFamily="2" charset="-78"/>
              </a:rPr>
              <a:t>، </a:t>
            </a:r>
            <a:r>
              <a:rPr lang="fa-IR" sz="2000" dirty="0">
                <a:cs typeface="B Nazanin" panose="00000400000000000000" pitchFamily="2" charset="-78"/>
              </a:rPr>
              <a:t>مدلی برای پیش‌بینی فعالیت بعدی، تخمین زمان باقی‌مانده و شناسایی گلوگاه‌های احتمالی در فرآیندهای مالی ارائه شده است</a:t>
            </a:r>
            <a:r>
              <a:rPr lang="en-US" sz="2000" dirty="0">
                <a:cs typeface="B Nazanin" panose="00000400000000000000" pitchFamily="2" charset="-78"/>
              </a:rPr>
              <a:t>.</a:t>
            </a:r>
          </a:p>
          <a:p>
            <a:pPr marL="84665" algn="r" rtl="1"/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3255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83917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defRPr/>
            </a:pPr>
            <a:r>
              <a:rPr lang="fa-IR" sz="2200" kern="0" dirty="0">
                <a:latin typeface="IranNastaliq" panose="02020505000000020003" pitchFamily="18" charset="0"/>
                <a:cs typeface="B Nazanin" panose="00000400000000000000" pitchFamily="2" charset="-78"/>
              </a:rPr>
              <a:t>این شرکت توانسته در جهت کارآفرینی به طور مستقیم برای 50 نفر و غیر مستقیم 2000 هزار نفر در سرار کشور ایجاد شغل کرده است.</a:t>
            </a: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62F8CC-698F-DA62-D782-5058FFC202DF}"/>
              </a:ext>
            </a:extLst>
          </p:cNvPr>
          <p:cNvSpPr/>
          <p:nvPr/>
        </p:nvSpPr>
        <p:spPr>
          <a:xfrm>
            <a:off x="555203" y="429863"/>
            <a:ext cx="835756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b="1" dirty="0">
                <a:cs typeface="B Titr" panose="00000700000000000000" pitchFamily="2" charset="-78"/>
              </a:rPr>
              <a:t>ضرورت انجام تحقیق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azir Light FD" pitchFamily="2" charset="-78"/>
              <a:cs typeface="B Titr" panose="000007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187171-3C32-42B5-AE29-8527AB3EBCD0}"/>
              </a:ext>
            </a:extLst>
          </p:cNvPr>
          <p:cNvSpPr/>
          <p:nvPr/>
        </p:nvSpPr>
        <p:spPr bwMode="auto">
          <a:xfrm flipH="1">
            <a:off x="3489408" y="1925578"/>
            <a:ext cx="1141564" cy="1453676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شناسایی گلوگاه های فرآیندی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6285BD-F3A9-4A56-B851-D343321802FF}"/>
              </a:ext>
            </a:extLst>
          </p:cNvPr>
          <p:cNvSpPr/>
          <p:nvPr/>
        </p:nvSpPr>
        <p:spPr bwMode="auto">
          <a:xfrm flipH="1">
            <a:off x="531823" y="1916445"/>
            <a:ext cx="2987322" cy="14364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تشخیص فعالیت‌هایی که باعث ایجاد تأخیر می‌شوند، برای مدیریت و بهبود عملکرد فرآیند ضروری است.</a:t>
            </a:r>
            <a:endParaRPr lang="fa-IR" sz="1600" dirty="0">
              <a:solidFill>
                <a:srgbClr val="333333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6C7E79-4F99-4312-A0EB-7575A586EB60}"/>
              </a:ext>
            </a:extLst>
          </p:cNvPr>
          <p:cNvSpPr/>
          <p:nvPr/>
        </p:nvSpPr>
        <p:spPr bwMode="auto">
          <a:xfrm flipH="1">
            <a:off x="7981834" y="1975324"/>
            <a:ext cx="1143969" cy="147092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کاهش تاخیر در فرآیندهای مالی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2CD60-8C77-4386-82C7-C9FD216D67E7}"/>
              </a:ext>
            </a:extLst>
          </p:cNvPr>
          <p:cNvSpPr/>
          <p:nvPr/>
        </p:nvSpPr>
        <p:spPr bwMode="auto">
          <a:xfrm flipH="1">
            <a:off x="5188967" y="1975324"/>
            <a:ext cx="2808419" cy="14536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طولانی‌شدن زمان اجرای فعالیت‌ها موجب افزایش هزینه‌های عملیاتی و کاهش رضایت مشتریان می‌شود</a:t>
            </a:r>
            <a:r>
              <a:rPr lang="fa-IR" sz="1600" dirty="0">
                <a:solidFill>
                  <a:srgbClr val="333333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7AF030-C839-48DF-998A-96FB56C25A32}"/>
              </a:ext>
            </a:extLst>
          </p:cNvPr>
          <p:cNvSpPr/>
          <p:nvPr/>
        </p:nvSpPr>
        <p:spPr bwMode="auto">
          <a:xfrm flipH="1">
            <a:off x="7945971" y="3901970"/>
            <a:ext cx="1179833" cy="1625415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محدودیت روش های سنتی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1881DE-52E2-47B9-9860-E69D003892EF}"/>
              </a:ext>
            </a:extLst>
          </p:cNvPr>
          <p:cNvSpPr/>
          <p:nvPr/>
        </p:nvSpPr>
        <p:spPr bwMode="auto">
          <a:xfrm flipH="1">
            <a:off x="5188966" y="3901970"/>
            <a:ext cx="2757004" cy="162541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روش‌های متداول در شناسایی هم‌زمان روابط زمانی، ترتیبی و ساختاری میان فعالیت‌ها محدودیت دارند</a:t>
            </a:r>
            <a:r>
              <a:rPr lang="fa-IR" sz="1600" dirty="0">
                <a:solidFill>
                  <a:srgbClr val="333333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0C1F86-F88B-429E-BB4F-B487571CBD54}"/>
              </a:ext>
            </a:extLst>
          </p:cNvPr>
          <p:cNvSpPr/>
          <p:nvPr/>
        </p:nvSpPr>
        <p:spPr bwMode="auto">
          <a:xfrm flipH="1">
            <a:off x="3470273" y="3943456"/>
            <a:ext cx="1179833" cy="1542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b="1" dirty="0">
                <a:solidFill>
                  <a:srgbClr val="000000"/>
                </a:solidFill>
                <a:cs typeface="B Titr" panose="00000700000000000000" pitchFamily="2" charset="-78"/>
              </a:rPr>
              <a:t>کمک به تصمیم گیری مدیریتی</a:t>
            </a:r>
            <a:endParaRPr lang="en-US" b="1" dirty="0">
              <a:solidFill>
                <a:srgbClr val="000000"/>
              </a:solidFill>
              <a:cs typeface="B Titr" panose="00000700000000000000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ECE30A-84FC-4353-81F4-145B5D85B472}"/>
              </a:ext>
            </a:extLst>
          </p:cNvPr>
          <p:cNvSpPr/>
          <p:nvPr/>
        </p:nvSpPr>
        <p:spPr bwMode="auto">
          <a:xfrm flipH="1">
            <a:off x="555203" y="3938154"/>
            <a:ext cx="2948362" cy="154244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>
                <a:solidFill>
                  <a:srgbClr val="333333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پیش بینی زمان باقی مانده و شناسایی گلوگاه ها می تواند به مدیران در اولویت بندی اقدامات اصلاحی کمک کند.</a:t>
            </a:r>
          </a:p>
        </p:txBody>
      </p:sp>
    </p:spTree>
    <p:extLst>
      <p:ext uri="{BB962C8B-B14F-4D97-AF65-F5344CB8AC3E}">
        <p14:creationId xmlns:p14="http://schemas.microsoft.com/office/powerpoint/2010/main" val="241522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73017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defRPr/>
            </a:pPr>
            <a:r>
              <a:rPr lang="fa-IR" sz="2200" kern="0" dirty="0">
                <a:latin typeface="IranNastaliq" panose="02020505000000020003" pitchFamily="18" charset="0"/>
                <a:cs typeface="B Nazanin" panose="00000400000000000000" pitchFamily="2" charset="-78"/>
              </a:rPr>
              <a:t>این شرکت توانسته در جهت کارآفرینی به طور مستقیم برای 50 نفر و غیر مستقیم 2000 هزار نفر در سرار کشور ایجاد شغل کرده است.</a:t>
            </a: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62F8CC-698F-DA62-D782-5058FFC202DF}"/>
              </a:ext>
            </a:extLst>
          </p:cNvPr>
          <p:cNvSpPr/>
          <p:nvPr/>
        </p:nvSpPr>
        <p:spPr>
          <a:xfrm>
            <a:off x="555203" y="429863"/>
            <a:ext cx="835756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b="1" dirty="0">
                <a:cs typeface="B Titr" panose="00000700000000000000" pitchFamily="2" charset="-78"/>
              </a:rPr>
              <a:t>هدف اصلی تحقیق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azir Light FD" pitchFamily="2" charset="-78"/>
              <a:cs typeface="B Titr" panose="00000700000000000000" pitchFamily="2" charset="-78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F979317F-4F3B-49CF-9330-46A7A5A16C3C}"/>
              </a:ext>
            </a:extLst>
          </p:cNvPr>
          <p:cNvSpPr txBox="1">
            <a:spLocks/>
          </p:cNvSpPr>
          <p:nvPr/>
        </p:nvSpPr>
        <p:spPr>
          <a:xfrm>
            <a:off x="3497215" y="2794859"/>
            <a:ext cx="5310730" cy="14007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665" algn="r"/>
            <a:r>
              <a:rPr lang="fa-IR" b="1" dirty="0">
                <a:cs typeface="B Nazanin" panose="00000400000000000000" pitchFamily="2" charset="-78"/>
              </a:rPr>
              <a:t>ارائه یک مدل ترکیبی مبتنی بر یادگیری عمیق و فرآیندکاوی برای پیش‌بینی فعالیت بعدی در فرآیندهای مالی، با هدف کمک به تحلیل و بهبود تأخیر زمانی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cs typeface="B Nazanin" panose="00000400000000000000" pitchFamily="2" charset="-78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B8E7D5-FD11-435C-B9E4-B4FDD11B9AA0}"/>
              </a:ext>
            </a:extLst>
          </p:cNvPr>
          <p:cNvGrpSpPr/>
          <p:nvPr/>
        </p:nvGrpSpPr>
        <p:grpSpPr>
          <a:xfrm>
            <a:off x="736995" y="1994493"/>
            <a:ext cx="2263658" cy="2364551"/>
            <a:chOff x="914400" y="1746131"/>
            <a:chExt cx="2674840" cy="2181206"/>
          </a:xfrm>
        </p:grpSpPr>
        <p:sp>
          <p:nvSpPr>
            <p:cNvPr id="54" name="Google Shape;2594;p72">
              <a:extLst>
                <a:ext uri="{FF2B5EF4-FFF2-40B4-BE49-F238E27FC236}">
                  <a16:creationId xmlns:a16="http://schemas.microsoft.com/office/drawing/2014/main" id="{DA5E3BAD-BAD9-457E-BAE7-EEC294029529}"/>
                </a:ext>
              </a:extLst>
            </p:cNvPr>
            <p:cNvSpPr/>
            <p:nvPr/>
          </p:nvSpPr>
          <p:spPr>
            <a:xfrm flipH="1">
              <a:off x="2923895" y="1779187"/>
              <a:ext cx="21769" cy="20548"/>
            </a:xfrm>
            <a:custGeom>
              <a:avLst/>
              <a:gdLst/>
              <a:ahLst/>
              <a:cxnLst/>
              <a:rect l="l" t="t" r="r" b="b"/>
              <a:pathLst>
                <a:path w="731" h="690" extrusionOk="0">
                  <a:moveTo>
                    <a:pt x="45" y="0"/>
                  </a:moveTo>
                  <a:cubicBezTo>
                    <a:pt x="39" y="0"/>
                    <a:pt x="34" y="2"/>
                    <a:pt x="31" y="5"/>
                  </a:cubicBezTo>
                  <a:cubicBezTo>
                    <a:pt x="1" y="35"/>
                    <a:pt x="92" y="248"/>
                    <a:pt x="305" y="430"/>
                  </a:cubicBezTo>
                  <a:cubicBezTo>
                    <a:pt x="455" y="580"/>
                    <a:pt x="605" y="689"/>
                    <a:pt x="670" y="689"/>
                  </a:cubicBezTo>
                  <a:cubicBezTo>
                    <a:pt x="684" y="689"/>
                    <a:pt x="694" y="684"/>
                    <a:pt x="700" y="673"/>
                  </a:cubicBezTo>
                  <a:cubicBezTo>
                    <a:pt x="730" y="643"/>
                    <a:pt x="609" y="461"/>
                    <a:pt x="426" y="278"/>
                  </a:cubicBezTo>
                  <a:cubicBezTo>
                    <a:pt x="263" y="115"/>
                    <a:pt x="99" y="0"/>
                    <a:pt x="4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595;p72">
              <a:extLst>
                <a:ext uri="{FF2B5EF4-FFF2-40B4-BE49-F238E27FC236}">
                  <a16:creationId xmlns:a16="http://schemas.microsoft.com/office/drawing/2014/main" id="{E2A08247-E21E-44CB-ACBD-2396D2444AD4}"/>
                </a:ext>
              </a:extLst>
            </p:cNvPr>
            <p:cNvSpPr/>
            <p:nvPr/>
          </p:nvSpPr>
          <p:spPr>
            <a:xfrm flipH="1">
              <a:off x="914400" y="2183778"/>
              <a:ext cx="1067226" cy="1743559"/>
            </a:xfrm>
            <a:custGeom>
              <a:avLst/>
              <a:gdLst/>
              <a:ahLst/>
              <a:cxnLst/>
              <a:rect l="l" t="t" r="r" b="b"/>
              <a:pathLst>
                <a:path w="35837" h="58548" extrusionOk="0">
                  <a:moveTo>
                    <a:pt x="31610" y="0"/>
                  </a:moveTo>
                  <a:cubicBezTo>
                    <a:pt x="30506" y="0"/>
                    <a:pt x="28417" y="783"/>
                    <a:pt x="26444" y="5842"/>
                  </a:cubicBezTo>
                  <a:cubicBezTo>
                    <a:pt x="23587" y="13136"/>
                    <a:pt x="22645" y="17301"/>
                    <a:pt x="22645" y="17301"/>
                  </a:cubicBezTo>
                  <a:cubicBezTo>
                    <a:pt x="22645" y="17301"/>
                    <a:pt x="22166" y="18240"/>
                    <a:pt x="21437" y="18240"/>
                  </a:cubicBezTo>
                  <a:cubicBezTo>
                    <a:pt x="21230" y="18240"/>
                    <a:pt x="21003" y="18164"/>
                    <a:pt x="20760" y="17969"/>
                  </a:cubicBezTo>
                  <a:cubicBezTo>
                    <a:pt x="19758" y="17211"/>
                    <a:pt x="18370" y="15102"/>
                    <a:pt x="16897" y="15102"/>
                  </a:cubicBezTo>
                  <a:cubicBezTo>
                    <a:pt x="16717" y="15102"/>
                    <a:pt x="16535" y="15134"/>
                    <a:pt x="16353" y="15203"/>
                  </a:cubicBezTo>
                  <a:cubicBezTo>
                    <a:pt x="14712" y="15872"/>
                    <a:pt x="14256" y="17909"/>
                    <a:pt x="14864" y="20796"/>
                  </a:cubicBezTo>
                  <a:cubicBezTo>
                    <a:pt x="15502" y="23653"/>
                    <a:pt x="16626" y="29976"/>
                    <a:pt x="16718" y="30553"/>
                  </a:cubicBezTo>
                  <a:cubicBezTo>
                    <a:pt x="16814" y="31011"/>
                    <a:pt x="16681" y="31640"/>
                    <a:pt x="16199" y="31640"/>
                  </a:cubicBezTo>
                  <a:cubicBezTo>
                    <a:pt x="16072" y="31640"/>
                    <a:pt x="15922" y="31596"/>
                    <a:pt x="15745" y="31495"/>
                  </a:cubicBezTo>
                  <a:cubicBezTo>
                    <a:pt x="15075" y="31137"/>
                    <a:pt x="11829" y="28220"/>
                    <a:pt x="9483" y="28220"/>
                  </a:cubicBezTo>
                  <a:cubicBezTo>
                    <a:pt x="8847" y="28220"/>
                    <a:pt x="8277" y="28434"/>
                    <a:pt x="7842" y="28973"/>
                  </a:cubicBezTo>
                  <a:cubicBezTo>
                    <a:pt x="5806" y="31465"/>
                    <a:pt x="8845" y="39155"/>
                    <a:pt x="9180" y="40006"/>
                  </a:cubicBezTo>
                  <a:cubicBezTo>
                    <a:pt x="9483" y="40857"/>
                    <a:pt x="9362" y="41252"/>
                    <a:pt x="8967" y="41496"/>
                  </a:cubicBezTo>
                  <a:cubicBezTo>
                    <a:pt x="8938" y="41515"/>
                    <a:pt x="8903" y="41525"/>
                    <a:pt x="8863" y="41525"/>
                  </a:cubicBezTo>
                  <a:cubicBezTo>
                    <a:pt x="8347" y="41525"/>
                    <a:pt x="6913" y="39977"/>
                    <a:pt x="5532" y="38821"/>
                  </a:cubicBezTo>
                  <a:cubicBezTo>
                    <a:pt x="4543" y="37993"/>
                    <a:pt x="3367" y="37179"/>
                    <a:pt x="2376" y="37179"/>
                  </a:cubicBezTo>
                  <a:cubicBezTo>
                    <a:pt x="1875" y="37179"/>
                    <a:pt x="1421" y="37388"/>
                    <a:pt x="1064" y="37909"/>
                  </a:cubicBezTo>
                  <a:cubicBezTo>
                    <a:pt x="0" y="39459"/>
                    <a:pt x="213" y="45447"/>
                    <a:pt x="6809" y="54535"/>
                  </a:cubicBezTo>
                  <a:lnTo>
                    <a:pt x="10152" y="58547"/>
                  </a:lnTo>
                  <a:lnTo>
                    <a:pt x="15319" y="57757"/>
                  </a:lnTo>
                  <a:cubicBezTo>
                    <a:pt x="26292" y="55356"/>
                    <a:pt x="30426" y="51040"/>
                    <a:pt x="30669" y="49186"/>
                  </a:cubicBezTo>
                  <a:cubicBezTo>
                    <a:pt x="30912" y="47331"/>
                    <a:pt x="28694" y="46936"/>
                    <a:pt x="26748" y="46876"/>
                  </a:cubicBezTo>
                  <a:cubicBezTo>
                    <a:pt x="26502" y="46868"/>
                    <a:pt x="26251" y="46865"/>
                    <a:pt x="26000" y="46865"/>
                  </a:cubicBezTo>
                  <a:cubicBezTo>
                    <a:pt x="25297" y="46865"/>
                    <a:pt x="24591" y="46887"/>
                    <a:pt x="23993" y="46887"/>
                  </a:cubicBezTo>
                  <a:cubicBezTo>
                    <a:pt x="23112" y="46887"/>
                    <a:pt x="22465" y="46839"/>
                    <a:pt x="22402" y="46602"/>
                  </a:cubicBezTo>
                  <a:cubicBezTo>
                    <a:pt x="22280" y="46146"/>
                    <a:pt x="22432" y="45781"/>
                    <a:pt x="23253" y="45356"/>
                  </a:cubicBezTo>
                  <a:cubicBezTo>
                    <a:pt x="24043" y="44930"/>
                    <a:pt x="31429" y="41222"/>
                    <a:pt x="31612" y="37970"/>
                  </a:cubicBezTo>
                  <a:cubicBezTo>
                    <a:pt x="31764" y="34748"/>
                    <a:pt x="24955" y="34839"/>
                    <a:pt x="24013" y="34626"/>
                  </a:cubicBezTo>
                  <a:cubicBezTo>
                    <a:pt x="23070" y="34413"/>
                    <a:pt x="23465" y="33593"/>
                    <a:pt x="23921" y="33258"/>
                  </a:cubicBezTo>
                  <a:cubicBezTo>
                    <a:pt x="24347" y="32894"/>
                    <a:pt x="29423" y="28912"/>
                    <a:pt x="31794" y="27210"/>
                  </a:cubicBezTo>
                  <a:cubicBezTo>
                    <a:pt x="34165" y="25477"/>
                    <a:pt x="35198" y="23714"/>
                    <a:pt x="34408" y="22042"/>
                  </a:cubicBezTo>
                  <a:cubicBezTo>
                    <a:pt x="33993" y="21244"/>
                    <a:pt x="33044" y="21058"/>
                    <a:pt x="32025" y="21058"/>
                  </a:cubicBezTo>
                  <a:cubicBezTo>
                    <a:pt x="31139" y="21058"/>
                    <a:pt x="30201" y="21199"/>
                    <a:pt x="29518" y="21199"/>
                  </a:cubicBezTo>
                  <a:cubicBezTo>
                    <a:pt x="29431" y="21199"/>
                    <a:pt x="29349" y="21196"/>
                    <a:pt x="29271" y="21191"/>
                  </a:cubicBezTo>
                  <a:cubicBezTo>
                    <a:pt x="27903" y="21100"/>
                    <a:pt x="28329" y="19428"/>
                    <a:pt x="28329" y="19428"/>
                  </a:cubicBezTo>
                  <a:cubicBezTo>
                    <a:pt x="28329" y="19428"/>
                    <a:pt x="30396" y="15690"/>
                    <a:pt x="33101" y="8334"/>
                  </a:cubicBezTo>
                  <a:cubicBezTo>
                    <a:pt x="35836" y="979"/>
                    <a:pt x="32342" y="127"/>
                    <a:pt x="32341" y="127"/>
                  </a:cubicBezTo>
                  <a:lnTo>
                    <a:pt x="32341" y="127"/>
                  </a:lnTo>
                  <a:lnTo>
                    <a:pt x="32393" y="153"/>
                  </a:lnTo>
                  <a:lnTo>
                    <a:pt x="32393" y="153"/>
                  </a:lnTo>
                  <a:cubicBezTo>
                    <a:pt x="32341" y="128"/>
                    <a:pt x="32056" y="0"/>
                    <a:pt x="3161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596;p72">
              <a:extLst>
                <a:ext uri="{FF2B5EF4-FFF2-40B4-BE49-F238E27FC236}">
                  <a16:creationId xmlns:a16="http://schemas.microsoft.com/office/drawing/2014/main" id="{8AFFD1A4-AF9C-47C2-8762-797BF149EE82}"/>
                </a:ext>
              </a:extLst>
            </p:cNvPr>
            <p:cNvSpPr/>
            <p:nvPr/>
          </p:nvSpPr>
          <p:spPr>
            <a:xfrm flipH="1">
              <a:off x="1093616" y="2382172"/>
              <a:ext cx="582080" cy="1512586"/>
            </a:xfrm>
            <a:custGeom>
              <a:avLst/>
              <a:gdLst/>
              <a:ahLst/>
              <a:cxnLst/>
              <a:rect l="l" t="t" r="r" b="b"/>
              <a:pathLst>
                <a:path w="19546" h="50792" extrusionOk="0">
                  <a:moveTo>
                    <a:pt x="19545" y="0"/>
                  </a:moveTo>
                  <a:cubicBezTo>
                    <a:pt x="19515" y="31"/>
                    <a:pt x="19484" y="91"/>
                    <a:pt x="19454" y="152"/>
                  </a:cubicBezTo>
                  <a:lnTo>
                    <a:pt x="19302" y="578"/>
                  </a:lnTo>
                  <a:cubicBezTo>
                    <a:pt x="19150" y="1003"/>
                    <a:pt x="18907" y="1581"/>
                    <a:pt x="18633" y="2341"/>
                  </a:cubicBezTo>
                  <a:lnTo>
                    <a:pt x="16202" y="8724"/>
                  </a:lnTo>
                  <a:cubicBezTo>
                    <a:pt x="14165" y="14104"/>
                    <a:pt x="11278" y="21520"/>
                    <a:pt x="8086" y="29727"/>
                  </a:cubicBezTo>
                  <a:cubicBezTo>
                    <a:pt x="4894" y="37934"/>
                    <a:pt x="2037" y="45350"/>
                    <a:pt x="1" y="50761"/>
                  </a:cubicBezTo>
                  <a:lnTo>
                    <a:pt x="122" y="50791"/>
                  </a:lnTo>
                  <a:cubicBezTo>
                    <a:pt x="2159" y="45411"/>
                    <a:pt x="5046" y="37995"/>
                    <a:pt x="8238" y="29788"/>
                  </a:cubicBezTo>
                  <a:cubicBezTo>
                    <a:pt x="11430" y="21581"/>
                    <a:pt x="14287" y="14165"/>
                    <a:pt x="16323" y="8754"/>
                  </a:cubicBezTo>
                  <a:cubicBezTo>
                    <a:pt x="17326" y="6049"/>
                    <a:pt x="18147" y="3860"/>
                    <a:pt x="18694" y="2341"/>
                  </a:cubicBezTo>
                  <a:cubicBezTo>
                    <a:pt x="18968" y="1611"/>
                    <a:pt x="19180" y="1003"/>
                    <a:pt x="19332" y="608"/>
                  </a:cubicBezTo>
                  <a:cubicBezTo>
                    <a:pt x="19393" y="395"/>
                    <a:pt x="19424" y="243"/>
                    <a:pt x="19484" y="152"/>
                  </a:cubicBezTo>
                  <a:cubicBezTo>
                    <a:pt x="19545" y="31"/>
                    <a:pt x="19545" y="0"/>
                    <a:pt x="1954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597;p72">
              <a:extLst>
                <a:ext uri="{FF2B5EF4-FFF2-40B4-BE49-F238E27FC236}">
                  <a16:creationId xmlns:a16="http://schemas.microsoft.com/office/drawing/2014/main" id="{DB374279-F327-4802-A4B4-5F226347E42C}"/>
                </a:ext>
              </a:extLst>
            </p:cNvPr>
            <p:cNvSpPr/>
            <p:nvPr/>
          </p:nvSpPr>
          <p:spPr>
            <a:xfrm flipH="1">
              <a:off x="1336204" y="2745131"/>
              <a:ext cx="95088" cy="267960"/>
            </a:xfrm>
            <a:custGeom>
              <a:avLst/>
              <a:gdLst/>
              <a:ahLst/>
              <a:cxnLst/>
              <a:rect l="l" t="t" r="r" b="b"/>
              <a:pathLst>
                <a:path w="3193" h="8998" extrusionOk="0">
                  <a:moveTo>
                    <a:pt x="1" y="1"/>
                  </a:moveTo>
                  <a:cubicBezTo>
                    <a:pt x="1" y="122"/>
                    <a:pt x="31" y="244"/>
                    <a:pt x="61" y="366"/>
                  </a:cubicBezTo>
                  <a:cubicBezTo>
                    <a:pt x="153" y="639"/>
                    <a:pt x="274" y="943"/>
                    <a:pt x="396" y="1338"/>
                  </a:cubicBezTo>
                  <a:cubicBezTo>
                    <a:pt x="700" y="2189"/>
                    <a:pt x="1095" y="3284"/>
                    <a:pt x="1520" y="4530"/>
                  </a:cubicBezTo>
                  <a:cubicBezTo>
                    <a:pt x="1946" y="5776"/>
                    <a:pt x="2341" y="6901"/>
                    <a:pt x="2645" y="7721"/>
                  </a:cubicBezTo>
                  <a:cubicBezTo>
                    <a:pt x="2797" y="8116"/>
                    <a:pt x="2949" y="8451"/>
                    <a:pt x="3040" y="8664"/>
                  </a:cubicBezTo>
                  <a:cubicBezTo>
                    <a:pt x="3071" y="8785"/>
                    <a:pt x="3131" y="8907"/>
                    <a:pt x="3192" y="8998"/>
                  </a:cubicBezTo>
                  <a:cubicBezTo>
                    <a:pt x="3192" y="8876"/>
                    <a:pt x="3131" y="8755"/>
                    <a:pt x="3101" y="8664"/>
                  </a:cubicBezTo>
                  <a:lnTo>
                    <a:pt x="2767" y="7691"/>
                  </a:lnTo>
                  <a:lnTo>
                    <a:pt x="1672" y="4469"/>
                  </a:lnTo>
                  <a:cubicBezTo>
                    <a:pt x="1247" y="3223"/>
                    <a:pt x="852" y="2098"/>
                    <a:pt x="548" y="1308"/>
                  </a:cubicBezTo>
                  <a:cubicBezTo>
                    <a:pt x="396" y="882"/>
                    <a:pt x="244" y="578"/>
                    <a:pt x="153" y="335"/>
                  </a:cubicBezTo>
                  <a:cubicBezTo>
                    <a:pt x="122" y="214"/>
                    <a:pt x="61" y="122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599;p72">
              <a:extLst>
                <a:ext uri="{FF2B5EF4-FFF2-40B4-BE49-F238E27FC236}">
                  <a16:creationId xmlns:a16="http://schemas.microsoft.com/office/drawing/2014/main" id="{3FD6B1CF-0158-40C3-BB86-52B40144B0B4}"/>
                </a:ext>
              </a:extLst>
            </p:cNvPr>
            <p:cNvSpPr/>
            <p:nvPr/>
          </p:nvSpPr>
          <p:spPr>
            <a:xfrm flipH="1">
              <a:off x="1195017" y="3344364"/>
              <a:ext cx="288777" cy="39875"/>
            </a:xfrm>
            <a:custGeom>
              <a:avLst/>
              <a:gdLst/>
              <a:ahLst/>
              <a:cxnLst/>
              <a:rect l="l" t="t" r="r" b="b"/>
              <a:pathLst>
                <a:path w="9697" h="1339" extrusionOk="0">
                  <a:moveTo>
                    <a:pt x="9697" y="1"/>
                  </a:moveTo>
                  <a:cubicBezTo>
                    <a:pt x="9545" y="1"/>
                    <a:pt x="9423" y="1"/>
                    <a:pt x="9302" y="61"/>
                  </a:cubicBezTo>
                  <a:lnTo>
                    <a:pt x="8268" y="244"/>
                  </a:lnTo>
                  <a:cubicBezTo>
                    <a:pt x="7387" y="396"/>
                    <a:pt x="6171" y="609"/>
                    <a:pt x="4864" y="761"/>
                  </a:cubicBezTo>
                  <a:cubicBezTo>
                    <a:pt x="3527" y="943"/>
                    <a:pt x="2311" y="1065"/>
                    <a:pt x="1429" y="1156"/>
                  </a:cubicBezTo>
                  <a:lnTo>
                    <a:pt x="396" y="1247"/>
                  </a:lnTo>
                  <a:cubicBezTo>
                    <a:pt x="274" y="1247"/>
                    <a:pt x="122" y="1277"/>
                    <a:pt x="1" y="1308"/>
                  </a:cubicBezTo>
                  <a:cubicBezTo>
                    <a:pt x="122" y="1338"/>
                    <a:pt x="244" y="1338"/>
                    <a:pt x="365" y="1338"/>
                  </a:cubicBezTo>
                  <a:cubicBezTo>
                    <a:pt x="609" y="1308"/>
                    <a:pt x="973" y="1308"/>
                    <a:pt x="1429" y="1277"/>
                  </a:cubicBezTo>
                  <a:cubicBezTo>
                    <a:pt x="2311" y="1217"/>
                    <a:pt x="3527" y="1125"/>
                    <a:pt x="4864" y="943"/>
                  </a:cubicBezTo>
                  <a:cubicBezTo>
                    <a:pt x="6201" y="761"/>
                    <a:pt x="7417" y="517"/>
                    <a:pt x="8268" y="335"/>
                  </a:cubicBezTo>
                  <a:cubicBezTo>
                    <a:pt x="8724" y="244"/>
                    <a:pt x="9059" y="183"/>
                    <a:pt x="9302" y="122"/>
                  </a:cubicBezTo>
                  <a:cubicBezTo>
                    <a:pt x="9423" y="92"/>
                    <a:pt x="9545" y="31"/>
                    <a:pt x="969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00;p72">
              <a:extLst>
                <a:ext uri="{FF2B5EF4-FFF2-40B4-BE49-F238E27FC236}">
                  <a16:creationId xmlns:a16="http://schemas.microsoft.com/office/drawing/2014/main" id="{F0F18988-C5BE-4D16-A854-AF29D8664A21}"/>
                </a:ext>
              </a:extLst>
            </p:cNvPr>
            <p:cNvSpPr/>
            <p:nvPr/>
          </p:nvSpPr>
          <p:spPr>
            <a:xfrm flipH="1">
              <a:off x="1481054" y="3161515"/>
              <a:ext cx="156613" cy="219091"/>
            </a:xfrm>
            <a:custGeom>
              <a:avLst/>
              <a:gdLst/>
              <a:ahLst/>
              <a:cxnLst/>
              <a:rect l="l" t="t" r="r" b="b"/>
              <a:pathLst>
                <a:path w="5259" h="7357" extrusionOk="0">
                  <a:moveTo>
                    <a:pt x="0" y="1"/>
                  </a:moveTo>
                  <a:lnTo>
                    <a:pt x="0" y="1"/>
                  </a:lnTo>
                  <a:cubicBezTo>
                    <a:pt x="61" y="122"/>
                    <a:pt x="122" y="214"/>
                    <a:pt x="183" y="335"/>
                  </a:cubicBezTo>
                  <a:lnTo>
                    <a:pt x="730" y="1125"/>
                  </a:lnTo>
                  <a:cubicBezTo>
                    <a:pt x="1186" y="1794"/>
                    <a:pt x="1824" y="2706"/>
                    <a:pt x="2554" y="3739"/>
                  </a:cubicBezTo>
                  <a:cubicBezTo>
                    <a:pt x="3283" y="4742"/>
                    <a:pt x="3952" y="5654"/>
                    <a:pt x="4438" y="6323"/>
                  </a:cubicBezTo>
                  <a:lnTo>
                    <a:pt x="5016" y="7083"/>
                  </a:lnTo>
                  <a:cubicBezTo>
                    <a:pt x="5076" y="7174"/>
                    <a:pt x="5168" y="7265"/>
                    <a:pt x="5259" y="7357"/>
                  </a:cubicBezTo>
                  <a:cubicBezTo>
                    <a:pt x="5198" y="7235"/>
                    <a:pt x="5137" y="7113"/>
                    <a:pt x="5076" y="7022"/>
                  </a:cubicBezTo>
                  <a:lnTo>
                    <a:pt x="4529" y="6232"/>
                  </a:lnTo>
                  <a:cubicBezTo>
                    <a:pt x="4073" y="5563"/>
                    <a:pt x="3435" y="4621"/>
                    <a:pt x="2675" y="3618"/>
                  </a:cubicBezTo>
                  <a:cubicBezTo>
                    <a:pt x="1946" y="2615"/>
                    <a:pt x="1307" y="1703"/>
                    <a:pt x="821" y="1034"/>
                  </a:cubicBezTo>
                  <a:lnTo>
                    <a:pt x="244" y="274"/>
                  </a:lnTo>
                  <a:cubicBezTo>
                    <a:pt x="92" y="9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601;p72">
              <a:extLst>
                <a:ext uri="{FF2B5EF4-FFF2-40B4-BE49-F238E27FC236}">
                  <a16:creationId xmlns:a16="http://schemas.microsoft.com/office/drawing/2014/main" id="{2300BDD8-7787-4359-87F1-1D2B01C2F010}"/>
                </a:ext>
              </a:extLst>
            </p:cNvPr>
            <p:cNvSpPr/>
            <p:nvPr/>
          </p:nvSpPr>
          <p:spPr>
            <a:xfrm flipH="1">
              <a:off x="1619531" y="3468368"/>
              <a:ext cx="202802" cy="278830"/>
            </a:xfrm>
            <a:custGeom>
              <a:avLst/>
              <a:gdLst/>
              <a:ahLst/>
              <a:cxnLst/>
              <a:rect l="l" t="t" r="r" b="b"/>
              <a:pathLst>
                <a:path w="6810" h="9363" extrusionOk="0">
                  <a:moveTo>
                    <a:pt x="1" y="1"/>
                  </a:moveTo>
                  <a:lnTo>
                    <a:pt x="1" y="1"/>
                  </a:lnTo>
                  <a:cubicBezTo>
                    <a:pt x="61" y="153"/>
                    <a:pt x="153" y="274"/>
                    <a:pt x="244" y="396"/>
                  </a:cubicBezTo>
                  <a:lnTo>
                    <a:pt x="943" y="1399"/>
                  </a:lnTo>
                  <a:cubicBezTo>
                    <a:pt x="1551" y="2250"/>
                    <a:pt x="2402" y="3436"/>
                    <a:pt x="3344" y="4743"/>
                  </a:cubicBezTo>
                  <a:cubicBezTo>
                    <a:pt x="4256" y="6019"/>
                    <a:pt x="5138" y="7174"/>
                    <a:pt x="5745" y="8025"/>
                  </a:cubicBezTo>
                  <a:lnTo>
                    <a:pt x="6505" y="8998"/>
                  </a:lnTo>
                  <a:cubicBezTo>
                    <a:pt x="6597" y="9120"/>
                    <a:pt x="6718" y="9241"/>
                    <a:pt x="6809" y="9363"/>
                  </a:cubicBezTo>
                  <a:cubicBezTo>
                    <a:pt x="6749" y="9211"/>
                    <a:pt x="6657" y="9089"/>
                    <a:pt x="6566" y="8968"/>
                  </a:cubicBezTo>
                  <a:lnTo>
                    <a:pt x="5867" y="7965"/>
                  </a:lnTo>
                  <a:cubicBezTo>
                    <a:pt x="5259" y="7113"/>
                    <a:pt x="4408" y="5928"/>
                    <a:pt x="3466" y="4651"/>
                  </a:cubicBezTo>
                  <a:cubicBezTo>
                    <a:pt x="2524" y="3344"/>
                    <a:pt x="1672" y="2189"/>
                    <a:pt x="1034" y="1338"/>
                  </a:cubicBezTo>
                  <a:cubicBezTo>
                    <a:pt x="730" y="943"/>
                    <a:pt x="487" y="609"/>
                    <a:pt x="274" y="366"/>
                  </a:cubicBezTo>
                  <a:cubicBezTo>
                    <a:pt x="213" y="244"/>
                    <a:pt x="92" y="122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603;p72">
              <a:extLst>
                <a:ext uri="{FF2B5EF4-FFF2-40B4-BE49-F238E27FC236}">
                  <a16:creationId xmlns:a16="http://schemas.microsoft.com/office/drawing/2014/main" id="{C0C4B322-2796-42B0-9290-62D752E66171}"/>
                </a:ext>
              </a:extLst>
            </p:cNvPr>
            <p:cNvSpPr/>
            <p:nvPr/>
          </p:nvSpPr>
          <p:spPr>
            <a:xfrm flipH="1">
              <a:off x="3361125" y="3287335"/>
              <a:ext cx="183772" cy="170222"/>
            </a:xfrm>
            <a:custGeom>
              <a:avLst/>
              <a:gdLst/>
              <a:ahLst/>
              <a:cxnLst/>
              <a:rect l="l" t="t" r="r" b="b"/>
              <a:pathLst>
                <a:path w="6171" h="5716" extrusionOk="0">
                  <a:moveTo>
                    <a:pt x="821" y="1"/>
                  </a:moveTo>
                  <a:lnTo>
                    <a:pt x="1" y="821"/>
                  </a:lnTo>
                  <a:lnTo>
                    <a:pt x="578" y="3132"/>
                  </a:lnTo>
                  <a:lnTo>
                    <a:pt x="5441" y="5715"/>
                  </a:lnTo>
                  <a:lnTo>
                    <a:pt x="6171" y="4834"/>
                  </a:lnTo>
                  <a:lnTo>
                    <a:pt x="3253" y="578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C98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604;p72">
              <a:extLst>
                <a:ext uri="{FF2B5EF4-FFF2-40B4-BE49-F238E27FC236}">
                  <a16:creationId xmlns:a16="http://schemas.microsoft.com/office/drawing/2014/main" id="{9004D040-CDA5-48EB-8232-369896E9BCDF}"/>
                </a:ext>
              </a:extLst>
            </p:cNvPr>
            <p:cNvSpPr/>
            <p:nvPr/>
          </p:nvSpPr>
          <p:spPr>
            <a:xfrm flipH="1">
              <a:off x="2838814" y="3248859"/>
              <a:ext cx="750426" cy="673058"/>
            </a:xfrm>
            <a:custGeom>
              <a:avLst/>
              <a:gdLst/>
              <a:ahLst/>
              <a:cxnLst/>
              <a:rect l="l" t="t" r="r" b="b"/>
              <a:pathLst>
                <a:path w="25199" h="22601" extrusionOk="0">
                  <a:moveTo>
                    <a:pt x="644" y="0"/>
                  </a:moveTo>
                  <a:cubicBezTo>
                    <a:pt x="482" y="0"/>
                    <a:pt x="326" y="69"/>
                    <a:pt x="213" y="199"/>
                  </a:cubicBezTo>
                  <a:cubicBezTo>
                    <a:pt x="0" y="442"/>
                    <a:pt x="31" y="776"/>
                    <a:pt x="243" y="989"/>
                  </a:cubicBezTo>
                  <a:lnTo>
                    <a:pt x="24226" y="22600"/>
                  </a:lnTo>
                  <a:lnTo>
                    <a:pt x="25198" y="21901"/>
                  </a:lnTo>
                  <a:lnTo>
                    <a:pt x="1064" y="168"/>
                  </a:lnTo>
                  <a:cubicBezTo>
                    <a:pt x="936" y="54"/>
                    <a:pt x="788" y="0"/>
                    <a:pt x="6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605;p72">
              <a:extLst>
                <a:ext uri="{FF2B5EF4-FFF2-40B4-BE49-F238E27FC236}">
                  <a16:creationId xmlns:a16="http://schemas.microsoft.com/office/drawing/2014/main" id="{03A781E7-1028-4123-B55F-B0D02C5E67FF}"/>
                </a:ext>
              </a:extLst>
            </p:cNvPr>
            <p:cNvSpPr/>
            <p:nvPr/>
          </p:nvSpPr>
          <p:spPr>
            <a:xfrm flipH="1">
              <a:off x="3067822" y="2772290"/>
              <a:ext cx="144880" cy="282463"/>
            </a:xfrm>
            <a:custGeom>
              <a:avLst/>
              <a:gdLst/>
              <a:ahLst/>
              <a:cxnLst/>
              <a:rect l="l" t="t" r="r" b="b"/>
              <a:pathLst>
                <a:path w="4865" h="9485" extrusionOk="0">
                  <a:moveTo>
                    <a:pt x="2463" y="1"/>
                  </a:moveTo>
                  <a:lnTo>
                    <a:pt x="1004" y="305"/>
                  </a:lnTo>
                  <a:lnTo>
                    <a:pt x="1" y="3223"/>
                  </a:lnTo>
                  <a:lnTo>
                    <a:pt x="3436" y="9484"/>
                  </a:lnTo>
                  <a:lnTo>
                    <a:pt x="4864" y="9028"/>
                  </a:lnTo>
                  <a:lnTo>
                    <a:pt x="4682" y="2341"/>
                  </a:lnTo>
                  <a:lnTo>
                    <a:pt x="2463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606;p72">
              <a:extLst>
                <a:ext uri="{FF2B5EF4-FFF2-40B4-BE49-F238E27FC236}">
                  <a16:creationId xmlns:a16="http://schemas.microsoft.com/office/drawing/2014/main" id="{8553D40A-7CDE-4A5F-BE8B-AD3AB3025901}"/>
                </a:ext>
              </a:extLst>
            </p:cNvPr>
            <p:cNvSpPr/>
            <p:nvPr/>
          </p:nvSpPr>
          <p:spPr>
            <a:xfrm flipH="1">
              <a:off x="2831577" y="2690872"/>
              <a:ext cx="372071" cy="1231939"/>
            </a:xfrm>
            <a:custGeom>
              <a:avLst/>
              <a:gdLst/>
              <a:ahLst/>
              <a:cxnLst/>
              <a:rect l="l" t="t" r="r" b="b"/>
              <a:pathLst>
                <a:path w="12494" h="41368" extrusionOk="0">
                  <a:moveTo>
                    <a:pt x="814" y="0"/>
                  </a:moveTo>
                  <a:cubicBezTo>
                    <a:pt x="747" y="0"/>
                    <a:pt x="678" y="10"/>
                    <a:pt x="609" y="29"/>
                  </a:cubicBezTo>
                  <a:cubicBezTo>
                    <a:pt x="244" y="151"/>
                    <a:pt x="1" y="546"/>
                    <a:pt x="122" y="941"/>
                  </a:cubicBezTo>
                  <a:lnTo>
                    <a:pt x="10943" y="41367"/>
                  </a:lnTo>
                  <a:lnTo>
                    <a:pt x="12493" y="41337"/>
                  </a:lnTo>
                  <a:lnTo>
                    <a:pt x="1581" y="607"/>
                  </a:lnTo>
                  <a:cubicBezTo>
                    <a:pt x="1479" y="250"/>
                    <a:pt x="1164" y="0"/>
                    <a:pt x="8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607;p72">
              <a:extLst>
                <a:ext uri="{FF2B5EF4-FFF2-40B4-BE49-F238E27FC236}">
                  <a16:creationId xmlns:a16="http://schemas.microsoft.com/office/drawing/2014/main" id="{13F0CCA7-02F5-4E55-9600-95D54A6BE05B}"/>
                </a:ext>
              </a:extLst>
            </p:cNvPr>
            <p:cNvSpPr/>
            <p:nvPr/>
          </p:nvSpPr>
          <p:spPr>
            <a:xfrm flipH="1">
              <a:off x="2292083" y="3086380"/>
              <a:ext cx="305990" cy="835537"/>
            </a:xfrm>
            <a:custGeom>
              <a:avLst/>
              <a:gdLst/>
              <a:ahLst/>
              <a:cxnLst/>
              <a:rect l="l" t="t" r="r" b="b"/>
              <a:pathLst>
                <a:path w="10275" h="28057" extrusionOk="0">
                  <a:moveTo>
                    <a:pt x="6323" y="1"/>
                  </a:moveTo>
                  <a:lnTo>
                    <a:pt x="1" y="28056"/>
                  </a:lnTo>
                  <a:lnTo>
                    <a:pt x="3830" y="28056"/>
                  </a:lnTo>
                  <a:lnTo>
                    <a:pt x="10274" y="1034"/>
                  </a:lnTo>
                  <a:lnTo>
                    <a:pt x="632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608;p72">
              <a:extLst>
                <a:ext uri="{FF2B5EF4-FFF2-40B4-BE49-F238E27FC236}">
                  <a16:creationId xmlns:a16="http://schemas.microsoft.com/office/drawing/2014/main" id="{C3CC3349-75F1-4017-B3FC-FE8C8C4FFB67}"/>
                </a:ext>
              </a:extLst>
            </p:cNvPr>
            <p:cNvSpPr/>
            <p:nvPr/>
          </p:nvSpPr>
          <p:spPr>
            <a:xfrm flipH="1">
              <a:off x="1667507" y="3086380"/>
              <a:ext cx="279724" cy="835537"/>
            </a:xfrm>
            <a:custGeom>
              <a:avLst/>
              <a:gdLst/>
              <a:ahLst/>
              <a:cxnLst/>
              <a:rect l="l" t="t" r="r" b="b"/>
              <a:pathLst>
                <a:path w="9393" h="28057" extrusionOk="0">
                  <a:moveTo>
                    <a:pt x="2918" y="1"/>
                  </a:moveTo>
                  <a:lnTo>
                    <a:pt x="0" y="1673"/>
                  </a:lnTo>
                  <a:cubicBezTo>
                    <a:pt x="0" y="1946"/>
                    <a:pt x="5806" y="28056"/>
                    <a:pt x="5806" y="28056"/>
                  </a:cubicBezTo>
                  <a:lnTo>
                    <a:pt x="9392" y="28056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609;p72">
              <a:extLst>
                <a:ext uri="{FF2B5EF4-FFF2-40B4-BE49-F238E27FC236}">
                  <a16:creationId xmlns:a16="http://schemas.microsoft.com/office/drawing/2014/main" id="{9106ED2A-E80A-478B-BABC-1ACCC0674A82}"/>
                </a:ext>
              </a:extLst>
            </p:cNvPr>
            <p:cNvSpPr/>
            <p:nvPr/>
          </p:nvSpPr>
          <p:spPr>
            <a:xfrm flipH="1">
              <a:off x="1031167" y="2868241"/>
              <a:ext cx="579340" cy="1053676"/>
            </a:xfrm>
            <a:custGeom>
              <a:avLst/>
              <a:gdLst/>
              <a:ahLst/>
              <a:cxnLst/>
              <a:rect l="l" t="t" r="r" b="b"/>
              <a:pathLst>
                <a:path w="19454" h="35382" extrusionOk="0">
                  <a:moveTo>
                    <a:pt x="2280" y="1"/>
                  </a:moveTo>
                  <a:lnTo>
                    <a:pt x="0" y="2219"/>
                  </a:lnTo>
                  <a:cubicBezTo>
                    <a:pt x="91" y="2523"/>
                    <a:pt x="15472" y="35381"/>
                    <a:pt x="15472" y="35381"/>
                  </a:cubicBezTo>
                  <a:lnTo>
                    <a:pt x="19454" y="35381"/>
                  </a:lnTo>
                  <a:lnTo>
                    <a:pt x="228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610;p72">
              <a:extLst>
                <a:ext uri="{FF2B5EF4-FFF2-40B4-BE49-F238E27FC236}">
                  <a16:creationId xmlns:a16="http://schemas.microsoft.com/office/drawing/2014/main" id="{664034C9-9A7F-4592-B9E4-5EF5B24DE138}"/>
                </a:ext>
              </a:extLst>
            </p:cNvPr>
            <p:cNvSpPr/>
            <p:nvPr/>
          </p:nvSpPr>
          <p:spPr>
            <a:xfrm flipH="1">
              <a:off x="1191384" y="1834667"/>
              <a:ext cx="1556035" cy="1468869"/>
            </a:xfrm>
            <a:custGeom>
              <a:avLst/>
              <a:gdLst/>
              <a:ahLst/>
              <a:cxnLst/>
              <a:rect l="l" t="t" r="r" b="b"/>
              <a:pathLst>
                <a:path w="52251" h="49324" extrusionOk="0">
                  <a:moveTo>
                    <a:pt x="29341" y="1"/>
                  </a:moveTo>
                  <a:cubicBezTo>
                    <a:pt x="21188" y="1"/>
                    <a:pt x="12682" y="4728"/>
                    <a:pt x="7508" y="13036"/>
                  </a:cubicBezTo>
                  <a:cubicBezTo>
                    <a:pt x="0" y="25042"/>
                    <a:pt x="2250" y="39996"/>
                    <a:pt x="12523" y="46410"/>
                  </a:cubicBezTo>
                  <a:cubicBezTo>
                    <a:pt x="15698" y="48386"/>
                    <a:pt x="19262" y="49323"/>
                    <a:pt x="22894" y="49323"/>
                  </a:cubicBezTo>
                  <a:cubicBezTo>
                    <a:pt x="31050" y="49323"/>
                    <a:pt x="39548" y="44596"/>
                    <a:pt x="44743" y="36288"/>
                  </a:cubicBezTo>
                  <a:cubicBezTo>
                    <a:pt x="52250" y="24282"/>
                    <a:pt x="49971" y="9327"/>
                    <a:pt x="39697" y="2914"/>
                  </a:cubicBezTo>
                  <a:cubicBezTo>
                    <a:pt x="36532" y="938"/>
                    <a:pt x="32971" y="1"/>
                    <a:pt x="29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611;p72">
              <a:extLst>
                <a:ext uri="{FF2B5EF4-FFF2-40B4-BE49-F238E27FC236}">
                  <a16:creationId xmlns:a16="http://schemas.microsoft.com/office/drawing/2014/main" id="{64BF9E9E-0562-45DE-BE84-9B1790D9AA0D}"/>
                </a:ext>
              </a:extLst>
            </p:cNvPr>
            <p:cNvSpPr/>
            <p:nvPr/>
          </p:nvSpPr>
          <p:spPr>
            <a:xfrm flipH="1">
              <a:off x="1264702" y="1836960"/>
              <a:ext cx="1474587" cy="1420804"/>
            </a:xfrm>
            <a:custGeom>
              <a:avLst/>
              <a:gdLst/>
              <a:ahLst/>
              <a:cxnLst/>
              <a:rect l="l" t="t" r="r" b="b"/>
              <a:pathLst>
                <a:path w="49516" h="47710" extrusionOk="0">
                  <a:moveTo>
                    <a:pt x="28406" y="1"/>
                  </a:moveTo>
                  <a:cubicBezTo>
                    <a:pt x="20495" y="1"/>
                    <a:pt x="12146" y="4851"/>
                    <a:pt x="7113" y="13232"/>
                  </a:cubicBezTo>
                  <a:cubicBezTo>
                    <a:pt x="1" y="25026"/>
                    <a:pt x="2159" y="39342"/>
                    <a:pt x="11916" y="45208"/>
                  </a:cubicBezTo>
                  <a:cubicBezTo>
                    <a:pt x="14739" y="46906"/>
                    <a:pt x="17888" y="47710"/>
                    <a:pt x="21110" y="47710"/>
                  </a:cubicBezTo>
                  <a:cubicBezTo>
                    <a:pt x="29021" y="47710"/>
                    <a:pt x="37370" y="42860"/>
                    <a:pt x="42403" y="34479"/>
                  </a:cubicBezTo>
                  <a:cubicBezTo>
                    <a:pt x="49515" y="22685"/>
                    <a:pt x="47357" y="8369"/>
                    <a:pt x="37600" y="2502"/>
                  </a:cubicBezTo>
                  <a:cubicBezTo>
                    <a:pt x="34777" y="805"/>
                    <a:pt x="31628" y="1"/>
                    <a:pt x="2840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612;p72">
              <a:extLst>
                <a:ext uri="{FF2B5EF4-FFF2-40B4-BE49-F238E27FC236}">
                  <a16:creationId xmlns:a16="http://schemas.microsoft.com/office/drawing/2014/main" id="{4A6D052D-A298-4D15-9D5F-39B54303A608}"/>
                </a:ext>
              </a:extLst>
            </p:cNvPr>
            <p:cNvSpPr/>
            <p:nvPr/>
          </p:nvSpPr>
          <p:spPr>
            <a:xfrm flipH="1">
              <a:off x="1318098" y="1831064"/>
              <a:ext cx="1368689" cy="1431882"/>
            </a:xfrm>
            <a:custGeom>
              <a:avLst/>
              <a:gdLst/>
              <a:ahLst/>
              <a:cxnLst/>
              <a:rect l="l" t="t" r="r" b="b"/>
              <a:pathLst>
                <a:path w="45960" h="48082" extrusionOk="0">
                  <a:moveTo>
                    <a:pt x="26849" y="389"/>
                  </a:moveTo>
                  <a:cubicBezTo>
                    <a:pt x="29459" y="389"/>
                    <a:pt x="32035" y="995"/>
                    <a:pt x="34409" y="2123"/>
                  </a:cubicBezTo>
                  <a:cubicBezTo>
                    <a:pt x="38694" y="4190"/>
                    <a:pt x="41916" y="8020"/>
                    <a:pt x="43527" y="12853"/>
                  </a:cubicBezTo>
                  <a:cubicBezTo>
                    <a:pt x="45564" y="19114"/>
                    <a:pt x="44804" y="26439"/>
                    <a:pt x="41369" y="32974"/>
                  </a:cubicBezTo>
                  <a:cubicBezTo>
                    <a:pt x="36597" y="42150"/>
                    <a:pt x="27751" y="47706"/>
                    <a:pt x="19326" y="47706"/>
                  </a:cubicBezTo>
                  <a:cubicBezTo>
                    <a:pt x="16643" y="47706"/>
                    <a:pt x="14003" y="47143"/>
                    <a:pt x="11551" y="45953"/>
                  </a:cubicBezTo>
                  <a:cubicBezTo>
                    <a:pt x="7296" y="43856"/>
                    <a:pt x="4074" y="40057"/>
                    <a:pt x="2463" y="35224"/>
                  </a:cubicBezTo>
                  <a:cubicBezTo>
                    <a:pt x="426" y="28993"/>
                    <a:pt x="1186" y="21637"/>
                    <a:pt x="4621" y="15102"/>
                  </a:cubicBezTo>
                  <a:cubicBezTo>
                    <a:pt x="9363" y="5953"/>
                    <a:pt x="18238" y="390"/>
                    <a:pt x="26658" y="390"/>
                  </a:cubicBezTo>
                  <a:cubicBezTo>
                    <a:pt x="26722" y="390"/>
                    <a:pt x="26785" y="389"/>
                    <a:pt x="26849" y="389"/>
                  </a:cubicBezTo>
                  <a:close/>
                  <a:moveTo>
                    <a:pt x="26663" y="0"/>
                  </a:moveTo>
                  <a:cubicBezTo>
                    <a:pt x="18100" y="0"/>
                    <a:pt x="9117" y="5635"/>
                    <a:pt x="4256" y="14920"/>
                  </a:cubicBezTo>
                  <a:cubicBezTo>
                    <a:pt x="791" y="21546"/>
                    <a:pt x="1" y="28993"/>
                    <a:pt x="2098" y="35345"/>
                  </a:cubicBezTo>
                  <a:cubicBezTo>
                    <a:pt x="3739" y="40269"/>
                    <a:pt x="7022" y="44160"/>
                    <a:pt x="11399" y="46288"/>
                  </a:cubicBezTo>
                  <a:cubicBezTo>
                    <a:pt x="13861" y="47473"/>
                    <a:pt x="16566" y="48081"/>
                    <a:pt x="19332" y="48081"/>
                  </a:cubicBezTo>
                  <a:cubicBezTo>
                    <a:pt x="27874" y="48081"/>
                    <a:pt x="36871" y="42458"/>
                    <a:pt x="41704" y="33157"/>
                  </a:cubicBezTo>
                  <a:cubicBezTo>
                    <a:pt x="45169" y="26531"/>
                    <a:pt x="45959" y="19084"/>
                    <a:pt x="43862" y="12731"/>
                  </a:cubicBezTo>
                  <a:cubicBezTo>
                    <a:pt x="42251" y="7807"/>
                    <a:pt x="38938" y="3916"/>
                    <a:pt x="34591" y="1789"/>
                  </a:cubicBezTo>
                  <a:cubicBezTo>
                    <a:pt x="32090" y="575"/>
                    <a:pt x="29398" y="0"/>
                    <a:pt x="2666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613;p72">
              <a:extLst>
                <a:ext uri="{FF2B5EF4-FFF2-40B4-BE49-F238E27FC236}">
                  <a16:creationId xmlns:a16="http://schemas.microsoft.com/office/drawing/2014/main" id="{1AC90591-8AFA-44EC-AB2D-CEEF3A6E4890}"/>
                </a:ext>
              </a:extLst>
            </p:cNvPr>
            <p:cNvSpPr/>
            <p:nvPr/>
          </p:nvSpPr>
          <p:spPr>
            <a:xfrm flipH="1">
              <a:off x="1778854" y="2307722"/>
              <a:ext cx="446283" cy="458493"/>
            </a:xfrm>
            <a:custGeom>
              <a:avLst/>
              <a:gdLst/>
              <a:ahLst/>
              <a:cxnLst/>
              <a:rect l="l" t="t" r="r" b="b"/>
              <a:pathLst>
                <a:path w="14986" h="15396" extrusionOk="0">
                  <a:moveTo>
                    <a:pt x="9148" y="0"/>
                  </a:moveTo>
                  <a:cubicBezTo>
                    <a:pt x="6642" y="0"/>
                    <a:pt x="3884" y="1778"/>
                    <a:pt x="2219" y="4719"/>
                  </a:cubicBezTo>
                  <a:cubicBezTo>
                    <a:pt x="1" y="8610"/>
                    <a:pt x="548" y="13139"/>
                    <a:pt x="3466" y="14780"/>
                  </a:cubicBezTo>
                  <a:cubicBezTo>
                    <a:pt x="4195" y="15198"/>
                    <a:pt x="5003" y="15396"/>
                    <a:pt x="5838" y="15396"/>
                  </a:cubicBezTo>
                  <a:cubicBezTo>
                    <a:pt x="8344" y="15396"/>
                    <a:pt x="11103" y="13617"/>
                    <a:pt x="12767" y="10677"/>
                  </a:cubicBezTo>
                  <a:cubicBezTo>
                    <a:pt x="14986" y="6786"/>
                    <a:pt x="14408" y="2257"/>
                    <a:pt x="11521" y="616"/>
                  </a:cubicBezTo>
                  <a:cubicBezTo>
                    <a:pt x="10791" y="198"/>
                    <a:pt x="9984" y="0"/>
                    <a:pt x="9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614;p72">
              <a:extLst>
                <a:ext uri="{FF2B5EF4-FFF2-40B4-BE49-F238E27FC236}">
                  <a16:creationId xmlns:a16="http://schemas.microsoft.com/office/drawing/2014/main" id="{CDB8784D-1D8D-4021-A6E0-F56E0DD8555C}"/>
                </a:ext>
              </a:extLst>
            </p:cNvPr>
            <p:cNvSpPr/>
            <p:nvPr/>
          </p:nvSpPr>
          <p:spPr>
            <a:xfrm flipH="1">
              <a:off x="1565212" y="2085504"/>
              <a:ext cx="859957" cy="923120"/>
            </a:xfrm>
            <a:custGeom>
              <a:avLst/>
              <a:gdLst/>
              <a:ahLst/>
              <a:cxnLst/>
              <a:rect l="l" t="t" r="r" b="b"/>
              <a:pathLst>
                <a:path w="28877" h="30998" extrusionOk="0">
                  <a:moveTo>
                    <a:pt x="17777" y="3030"/>
                  </a:moveTo>
                  <a:cubicBezTo>
                    <a:pt x="18906" y="3030"/>
                    <a:pt x="20054" y="3304"/>
                    <a:pt x="21064" y="3853"/>
                  </a:cubicBezTo>
                  <a:cubicBezTo>
                    <a:pt x="22827" y="4765"/>
                    <a:pt x="24074" y="6406"/>
                    <a:pt x="24712" y="8564"/>
                  </a:cubicBezTo>
                  <a:cubicBezTo>
                    <a:pt x="25715" y="11938"/>
                    <a:pt x="25046" y="16193"/>
                    <a:pt x="22949" y="19932"/>
                  </a:cubicBezTo>
                  <a:cubicBezTo>
                    <a:pt x="20132" y="24932"/>
                    <a:pt x="15429" y="27993"/>
                    <a:pt x="11277" y="27993"/>
                  </a:cubicBezTo>
                  <a:cubicBezTo>
                    <a:pt x="10053" y="27993"/>
                    <a:pt x="8877" y="27727"/>
                    <a:pt x="7812" y="27166"/>
                  </a:cubicBezTo>
                  <a:cubicBezTo>
                    <a:pt x="6049" y="26224"/>
                    <a:pt x="4803" y="24613"/>
                    <a:pt x="4164" y="22424"/>
                  </a:cubicBezTo>
                  <a:cubicBezTo>
                    <a:pt x="3161" y="19050"/>
                    <a:pt x="3830" y="14825"/>
                    <a:pt x="5927" y="11087"/>
                  </a:cubicBezTo>
                  <a:cubicBezTo>
                    <a:pt x="8754" y="6102"/>
                    <a:pt x="13435" y="3032"/>
                    <a:pt x="17599" y="3032"/>
                  </a:cubicBezTo>
                  <a:cubicBezTo>
                    <a:pt x="17659" y="3030"/>
                    <a:pt x="17718" y="3030"/>
                    <a:pt x="17777" y="3030"/>
                  </a:cubicBezTo>
                  <a:close/>
                  <a:moveTo>
                    <a:pt x="17672" y="0"/>
                  </a:moveTo>
                  <a:cubicBezTo>
                    <a:pt x="12408" y="0"/>
                    <a:pt x="6648" y="3628"/>
                    <a:pt x="3283" y="9597"/>
                  </a:cubicBezTo>
                  <a:cubicBezTo>
                    <a:pt x="760" y="14096"/>
                    <a:pt x="0" y="19111"/>
                    <a:pt x="1246" y="23306"/>
                  </a:cubicBezTo>
                  <a:cubicBezTo>
                    <a:pt x="2097" y="26285"/>
                    <a:pt x="3891" y="28534"/>
                    <a:pt x="6383" y="29871"/>
                  </a:cubicBezTo>
                  <a:cubicBezTo>
                    <a:pt x="7819" y="30604"/>
                    <a:pt x="9397" y="30998"/>
                    <a:pt x="11006" y="30998"/>
                  </a:cubicBezTo>
                  <a:cubicBezTo>
                    <a:pt x="11066" y="30998"/>
                    <a:pt x="11126" y="30997"/>
                    <a:pt x="11186" y="30996"/>
                  </a:cubicBezTo>
                  <a:cubicBezTo>
                    <a:pt x="16475" y="30996"/>
                    <a:pt x="22219" y="27379"/>
                    <a:pt x="25593" y="21421"/>
                  </a:cubicBezTo>
                  <a:cubicBezTo>
                    <a:pt x="28116" y="16923"/>
                    <a:pt x="28876" y="11908"/>
                    <a:pt x="27630" y="7713"/>
                  </a:cubicBezTo>
                  <a:cubicBezTo>
                    <a:pt x="26748" y="4734"/>
                    <a:pt x="24985" y="2485"/>
                    <a:pt x="22463" y="1147"/>
                  </a:cubicBezTo>
                  <a:cubicBezTo>
                    <a:pt x="20979" y="369"/>
                    <a:pt x="19351" y="0"/>
                    <a:pt x="176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615;p72">
              <a:extLst>
                <a:ext uri="{FF2B5EF4-FFF2-40B4-BE49-F238E27FC236}">
                  <a16:creationId xmlns:a16="http://schemas.microsoft.com/office/drawing/2014/main" id="{2E39BCC3-6F46-451A-BE17-A29E8E6C5D41}"/>
                </a:ext>
              </a:extLst>
            </p:cNvPr>
            <p:cNvSpPr/>
            <p:nvPr/>
          </p:nvSpPr>
          <p:spPr>
            <a:xfrm flipH="1">
              <a:off x="1376943" y="1906735"/>
              <a:ext cx="1236525" cy="1280182"/>
            </a:xfrm>
            <a:custGeom>
              <a:avLst/>
              <a:gdLst/>
              <a:ahLst/>
              <a:cxnLst/>
              <a:rect l="l" t="t" r="r" b="b"/>
              <a:pathLst>
                <a:path w="41522" h="42988" extrusionOk="0">
                  <a:moveTo>
                    <a:pt x="24764" y="3015"/>
                  </a:moveTo>
                  <a:cubicBezTo>
                    <a:pt x="26895" y="3015"/>
                    <a:pt x="29019" y="3561"/>
                    <a:pt x="30913" y="4597"/>
                  </a:cubicBezTo>
                  <a:cubicBezTo>
                    <a:pt x="33922" y="6299"/>
                    <a:pt x="36020" y="9126"/>
                    <a:pt x="37023" y="12774"/>
                  </a:cubicBezTo>
                  <a:cubicBezTo>
                    <a:pt x="38360" y="17819"/>
                    <a:pt x="37357" y="23716"/>
                    <a:pt x="34226" y="28944"/>
                  </a:cubicBezTo>
                  <a:cubicBezTo>
                    <a:pt x="30090" y="35869"/>
                    <a:pt x="23209" y="39983"/>
                    <a:pt x="16905" y="39983"/>
                  </a:cubicBezTo>
                  <a:cubicBezTo>
                    <a:pt x="14687" y="39983"/>
                    <a:pt x="12540" y="39473"/>
                    <a:pt x="10609" y="38397"/>
                  </a:cubicBezTo>
                  <a:cubicBezTo>
                    <a:pt x="7600" y="36695"/>
                    <a:pt x="5472" y="33868"/>
                    <a:pt x="4499" y="30221"/>
                  </a:cubicBezTo>
                  <a:cubicBezTo>
                    <a:pt x="3162" y="25175"/>
                    <a:pt x="4165" y="19278"/>
                    <a:pt x="7296" y="14050"/>
                  </a:cubicBezTo>
                  <a:cubicBezTo>
                    <a:pt x="11399" y="7120"/>
                    <a:pt x="18269" y="3017"/>
                    <a:pt x="24591" y="3017"/>
                  </a:cubicBezTo>
                  <a:cubicBezTo>
                    <a:pt x="24649" y="3016"/>
                    <a:pt x="24706" y="3015"/>
                    <a:pt x="24764" y="3015"/>
                  </a:cubicBezTo>
                  <a:close/>
                  <a:moveTo>
                    <a:pt x="24639" y="0"/>
                  </a:moveTo>
                  <a:cubicBezTo>
                    <a:pt x="17272" y="0"/>
                    <a:pt x="9369" y="4628"/>
                    <a:pt x="4682" y="12470"/>
                  </a:cubicBezTo>
                  <a:cubicBezTo>
                    <a:pt x="1125" y="18397"/>
                    <a:pt x="1" y="25175"/>
                    <a:pt x="1581" y="31011"/>
                  </a:cubicBezTo>
                  <a:cubicBezTo>
                    <a:pt x="2736" y="35418"/>
                    <a:pt x="5442" y="38975"/>
                    <a:pt x="9120" y="41042"/>
                  </a:cubicBezTo>
                  <a:cubicBezTo>
                    <a:pt x="11439" y="42320"/>
                    <a:pt x="14049" y="42988"/>
                    <a:pt x="16694" y="42988"/>
                  </a:cubicBezTo>
                  <a:cubicBezTo>
                    <a:pt x="16753" y="42988"/>
                    <a:pt x="16812" y="42988"/>
                    <a:pt x="16870" y="42987"/>
                  </a:cubicBezTo>
                  <a:cubicBezTo>
                    <a:pt x="24226" y="42987"/>
                    <a:pt x="32159" y="38367"/>
                    <a:pt x="36840" y="30525"/>
                  </a:cubicBezTo>
                  <a:cubicBezTo>
                    <a:pt x="40366" y="24598"/>
                    <a:pt x="41521" y="17850"/>
                    <a:pt x="39941" y="11983"/>
                  </a:cubicBezTo>
                  <a:cubicBezTo>
                    <a:pt x="38755" y="7576"/>
                    <a:pt x="36081" y="4020"/>
                    <a:pt x="32372" y="1953"/>
                  </a:cubicBezTo>
                  <a:cubicBezTo>
                    <a:pt x="29992" y="628"/>
                    <a:pt x="27352" y="0"/>
                    <a:pt x="246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616;p72">
              <a:extLst>
                <a:ext uri="{FF2B5EF4-FFF2-40B4-BE49-F238E27FC236}">
                  <a16:creationId xmlns:a16="http://schemas.microsoft.com/office/drawing/2014/main" id="{A7FA09DA-5B07-40A5-A859-9EF87C56564A}"/>
                </a:ext>
              </a:extLst>
            </p:cNvPr>
            <p:cNvSpPr/>
            <p:nvPr/>
          </p:nvSpPr>
          <p:spPr>
            <a:xfrm flipH="1">
              <a:off x="2711177" y="1791992"/>
              <a:ext cx="247144" cy="210038"/>
            </a:xfrm>
            <a:custGeom>
              <a:avLst/>
              <a:gdLst/>
              <a:ahLst/>
              <a:cxnLst/>
              <a:rect l="l" t="t" r="r" b="b"/>
              <a:pathLst>
                <a:path w="8299" h="7053" extrusionOk="0">
                  <a:moveTo>
                    <a:pt x="1003" y="0"/>
                  </a:moveTo>
                  <a:lnTo>
                    <a:pt x="0" y="1125"/>
                  </a:lnTo>
                  <a:lnTo>
                    <a:pt x="912" y="4073"/>
                  </a:lnTo>
                  <a:lnTo>
                    <a:pt x="7417" y="7052"/>
                  </a:lnTo>
                  <a:lnTo>
                    <a:pt x="8298" y="5867"/>
                  </a:lnTo>
                  <a:lnTo>
                    <a:pt x="4195" y="578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617;p72">
              <a:extLst>
                <a:ext uri="{FF2B5EF4-FFF2-40B4-BE49-F238E27FC236}">
                  <a16:creationId xmlns:a16="http://schemas.microsoft.com/office/drawing/2014/main" id="{28EAC8B7-4F73-4F75-A76C-1F7CB97650FE}"/>
                </a:ext>
              </a:extLst>
            </p:cNvPr>
            <p:cNvSpPr/>
            <p:nvPr/>
          </p:nvSpPr>
          <p:spPr>
            <a:xfrm flipH="1">
              <a:off x="1998809" y="1746131"/>
              <a:ext cx="1020174" cy="823298"/>
            </a:xfrm>
            <a:custGeom>
              <a:avLst/>
              <a:gdLst/>
              <a:ahLst/>
              <a:cxnLst/>
              <a:rect l="l" t="t" r="r" b="b"/>
              <a:pathLst>
                <a:path w="34257" h="27646" extrusionOk="0">
                  <a:moveTo>
                    <a:pt x="845" y="0"/>
                  </a:moveTo>
                  <a:cubicBezTo>
                    <a:pt x="608" y="0"/>
                    <a:pt x="370" y="102"/>
                    <a:pt x="213" y="294"/>
                  </a:cubicBezTo>
                  <a:cubicBezTo>
                    <a:pt x="1" y="598"/>
                    <a:pt x="31" y="1054"/>
                    <a:pt x="335" y="1297"/>
                  </a:cubicBezTo>
                  <a:lnTo>
                    <a:pt x="33010" y="27498"/>
                  </a:lnTo>
                  <a:cubicBezTo>
                    <a:pt x="33134" y="27597"/>
                    <a:pt x="33284" y="27646"/>
                    <a:pt x="33430" y="27646"/>
                  </a:cubicBezTo>
                  <a:cubicBezTo>
                    <a:pt x="33641" y="27646"/>
                    <a:pt x="33845" y="27544"/>
                    <a:pt x="33953" y="27346"/>
                  </a:cubicBezTo>
                  <a:cubicBezTo>
                    <a:pt x="34256" y="27103"/>
                    <a:pt x="34256" y="26647"/>
                    <a:pt x="33953" y="26404"/>
                  </a:cubicBezTo>
                  <a:lnTo>
                    <a:pt x="1338" y="172"/>
                  </a:lnTo>
                  <a:cubicBezTo>
                    <a:pt x="1196" y="56"/>
                    <a:pt x="1020" y="0"/>
                    <a:pt x="8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618;p72">
              <a:extLst>
                <a:ext uri="{FF2B5EF4-FFF2-40B4-BE49-F238E27FC236}">
                  <a16:creationId xmlns:a16="http://schemas.microsoft.com/office/drawing/2014/main" id="{ACB8B1FF-91A7-4D1A-AD64-D776E0E4E1C1}"/>
                </a:ext>
              </a:extLst>
            </p:cNvPr>
            <p:cNvSpPr/>
            <p:nvPr/>
          </p:nvSpPr>
          <p:spPr>
            <a:xfrm flipH="1">
              <a:off x="1992466" y="2484437"/>
              <a:ext cx="71532" cy="104855"/>
            </a:xfrm>
            <a:custGeom>
              <a:avLst/>
              <a:gdLst/>
              <a:ahLst/>
              <a:cxnLst/>
              <a:rect l="l" t="t" r="r" b="b"/>
              <a:pathLst>
                <a:path w="2402" h="3521" extrusionOk="0">
                  <a:moveTo>
                    <a:pt x="1976" y="1"/>
                  </a:moveTo>
                  <a:lnTo>
                    <a:pt x="1976" y="1"/>
                  </a:lnTo>
                  <a:cubicBezTo>
                    <a:pt x="1945" y="31"/>
                    <a:pt x="2067" y="274"/>
                    <a:pt x="2128" y="670"/>
                  </a:cubicBezTo>
                  <a:cubicBezTo>
                    <a:pt x="2219" y="1217"/>
                    <a:pt x="2128" y="1764"/>
                    <a:pt x="1854" y="2220"/>
                  </a:cubicBezTo>
                  <a:cubicBezTo>
                    <a:pt x="1581" y="2706"/>
                    <a:pt x="1155" y="3071"/>
                    <a:pt x="669" y="3284"/>
                  </a:cubicBezTo>
                  <a:cubicBezTo>
                    <a:pt x="274" y="3436"/>
                    <a:pt x="0" y="3466"/>
                    <a:pt x="0" y="3496"/>
                  </a:cubicBezTo>
                  <a:cubicBezTo>
                    <a:pt x="68" y="3513"/>
                    <a:pt x="136" y="3521"/>
                    <a:pt x="203" y="3521"/>
                  </a:cubicBezTo>
                  <a:cubicBezTo>
                    <a:pt x="377" y="3521"/>
                    <a:pt x="546" y="3471"/>
                    <a:pt x="699" y="3405"/>
                  </a:cubicBezTo>
                  <a:cubicBezTo>
                    <a:pt x="1277" y="3223"/>
                    <a:pt x="1733" y="2828"/>
                    <a:pt x="2037" y="2341"/>
                  </a:cubicBezTo>
                  <a:cubicBezTo>
                    <a:pt x="2310" y="1825"/>
                    <a:pt x="2401" y="1217"/>
                    <a:pt x="2280" y="639"/>
                  </a:cubicBezTo>
                  <a:cubicBezTo>
                    <a:pt x="2249" y="426"/>
                    <a:pt x="2128" y="183"/>
                    <a:pt x="19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18930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76739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algn="r" rtl="1">
              <a:spcBef>
                <a:spcPts val="0"/>
              </a:spcBef>
              <a:spcAft>
                <a:spcPts val="1200"/>
              </a:spcAft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خروجی سوم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پتانسیل بهبود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— Tanh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spcBef>
                <a:spcPts val="0"/>
              </a:spcBef>
              <a:spcAft>
                <a:spcPts val="1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Tanh 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مخفف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Hyperbolic Tangent 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یا تانژانت هذلولوی است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A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این تابع خروجی را به بازه </a:t>
            </a:r>
            <a:r>
              <a:rPr lang="fa-IR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تا </a:t>
            </a:r>
            <a:r>
              <a:rPr lang="fa-IR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محدود می‌کند</a:t>
            </a:r>
            <a:endParaRPr lang="fa-IR" sz="2200" kern="0" dirty="0">
              <a:latin typeface="IranNastaliq" panose="02020505000000020003" pitchFamily="18" charset="0"/>
              <a:cs typeface="B Nazanin" panose="00000400000000000000" pitchFamily="2" charset="-78"/>
            </a:endParaRP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62F8CC-698F-DA62-D782-5058FFC202DF}"/>
              </a:ext>
            </a:extLst>
          </p:cNvPr>
          <p:cNvSpPr/>
          <p:nvPr/>
        </p:nvSpPr>
        <p:spPr>
          <a:xfrm>
            <a:off x="736091" y="181309"/>
            <a:ext cx="835756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b="1" dirty="0">
                <a:cs typeface="B Titr" panose="00000700000000000000" pitchFamily="2" charset="-78"/>
              </a:rPr>
              <a:t>اهدف فرعی تحقیق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azir Light FD" pitchFamily="2" charset="-78"/>
              <a:cs typeface="B Titr" panose="00000700000000000000" pitchFamily="2" charset="-78"/>
            </a:endParaRPr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305EBA90-D497-4CA1-A1F7-239009D00ECB}"/>
              </a:ext>
            </a:extLst>
          </p:cNvPr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34">
            <a:extLst>
              <a:ext uri="{FF2B5EF4-FFF2-40B4-BE49-F238E27FC236}">
                <a16:creationId xmlns:a16="http://schemas.microsoft.com/office/drawing/2014/main" id="{136BDD33-9927-41DB-8BB0-4BDAE0140192}"/>
              </a:ext>
            </a:extLst>
          </p:cNvPr>
          <p:cNvSpPr txBox="1"/>
          <p:nvPr/>
        </p:nvSpPr>
        <p:spPr>
          <a:xfrm>
            <a:off x="1691161" y="4526440"/>
            <a:ext cx="3086743" cy="33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marL="0" marR="0" lvl="0" indent="0" algn="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 panose="02040502050405020303" pitchFamily="18" charset="0"/>
              <a:ea typeface="Cambria" panose="02040503050406030204" pitchFamily="18" charset="0"/>
              <a:cs typeface="B Mitra" panose="00000400000000000000" pitchFamily="2" charset="-78"/>
              <a:sym typeface="Avenir Next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EE1F634-2502-4462-B073-26AF3D165E3F}"/>
              </a:ext>
            </a:extLst>
          </p:cNvPr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BF0F041-843B-4E45-A68E-BD820FEF2A4C}"/>
              </a:ext>
            </a:extLst>
          </p:cNvPr>
          <p:cNvCxnSpPr/>
          <p:nvPr/>
        </p:nvCxnSpPr>
        <p:spPr>
          <a:xfrm>
            <a:off x="8622473" y="402880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34">
            <a:extLst>
              <a:ext uri="{FF2B5EF4-FFF2-40B4-BE49-F238E27FC236}">
                <a16:creationId xmlns:a16="http://schemas.microsoft.com/office/drawing/2014/main" id="{0D5329C8-B9DF-430C-A6A8-1FE1D0FAE75C}"/>
              </a:ext>
            </a:extLst>
          </p:cNvPr>
          <p:cNvSpPr txBox="1"/>
          <p:nvPr/>
        </p:nvSpPr>
        <p:spPr>
          <a:xfrm>
            <a:off x="1691160" y="5181139"/>
            <a:ext cx="3086743" cy="33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marL="0" marR="0" lvl="0" indent="0" algn="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 panose="02040502050405020303" pitchFamily="18" charset="0"/>
              <a:ea typeface="Cambria" panose="02040503050406030204" pitchFamily="18" charset="0"/>
              <a:cs typeface="B Mitra" panose="00000400000000000000" pitchFamily="2" charset="-78"/>
              <a:sym typeface="Avenir Next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DCF05F4-0BA5-4652-B876-0F2E57139EB1}"/>
              </a:ext>
            </a:extLst>
          </p:cNvPr>
          <p:cNvCxnSpPr/>
          <p:nvPr/>
        </p:nvCxnSpPr>
        <p:spPr>
          <a:xfrm>
            <a:off x="8622473" y="402880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C252D69-892E-459A-B9A1-4C8FF91A871E}"/>
              </a:ext>
            </a:extLst>
          </p:cNvPr>
          <p:cNvGrpSpPr/>
          <p:nvPr/>
        </p:nvGrpSpPr>
        <p:grpSpPr>
          <a:xfrm>
            <a:off x="7380334" y="3445668"/>
            <a:ext cx="1949531" cy="1717602"/>
            <a:chOff x="5697220" y="1748118"/>
            <a:chExt cx="3000638" cy="2985246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08AE4DC-9BFF-408B-8C4F-A85AE5CBD01C}"/>
                </a:ext>
              </a:extLst>
            </p:cNvPr>
            <p:cNvGrpSpPr/>
            <p:nvPr/>
          </p:nvGrpSpPr>
          <p:grpSpPr>
            <a:xfrm>
              <a:off x="5697220" y="1748118"/>
              <a:ext cx="3000638" cy="2985246"/>
              <a:chOff x="5658295" y="2259549"/>
              <a:chExt cx="2621288" cy="2607843"/>
            </a:xfrm>
          </p:grpSpPr>
          <p:sp>
            <p:nvSpPr>
              <p:cNvPr id="91" name="Freeform: Shape 141">
                <a:extLst>
                  <a:ext uri="{FF2B5EF4-FFF2-40B4-BE49-F238E27FC236}">
                    <a16:creationId xmlns:a16="http://schemas.microsoft.com/office/drawing/2014/main" id="{58169538-27F6-4AD8-AA1D-0B4F414FA0AB}"/>
                  </a:ext>
                </a:extLst>
              </p:cNvPr>
              <p:cNvSpPr/>
              <p:nvPr/>
            </p:nvSpPr>
            <p:spPr>
              <a:xfrm rot="5400000" flipV="1">
                <a:off x="5658295" y="2259550"/>
                <a:ext cx="1308589" cy="1308588"/>
              </a:xfrm>
              <a:custGeom>
                <a:avLst/>
                <a:gdLst>
                  <a:gd name="connsiteX0" fmla="*/ 0 w 1308589"/>
                  <a:gd name="connsiteY0" fmla="*/ 1308588 h 1308588"/>
                  <a:gd name="connsiteX1" fmla="*/ 1308589 w 1308589"/>
                  <a:gd name="connsiteY1" fmla="*/ 1308588 h 1308588"/>
                  <a:gd name="connsiteX2" fmla="*/ 1308589 w 1308589"/>
                  <a:gd name="connsiteY2" fmla="*/ 0 h 1308588"/>
                  <a:gd name="connsiteX3" fmla="*/ 1182629 w 1308589"/>
                  <a:gd name="connsiteY3" fmla="*/ 6360 h 1308588"/>
                  <a:gd name="connsiteX4" fmla="*/ 6361 w 1308589"/>
                  <a:gd name="connsiteY4" fmla="*/ 1182628 h 1308588"/>
                  <a:gd name="connsiteX5" fmla="*/ 0 w 1308589"/>
                  <a:gd name="connsiteY5" fmla="*/ 1308588 h 130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8589" h="1308588">
                    <a:moveTo>
                      <a:pt x="0" y="1308588"/>
                    </a:moveTo>
                    <a:lnTo>
                      <a:pt x="1308589" y="1308588"/>
                    </a:lnTo>
                    <a:lnTo>
                      <a:pt x="1308589" y="0"/>
                    </a:lnTo>
                    <a:lnTo>
                      <a:pt x="1182629" y="6360"/>
                    </a:lnTo>
                    <a:cubicBezTo>
                      <a:pt x="562416" y="69346"/>
                      <a:pt x="69347" y="562415"/>
                      <a:pt x="6361" y="1182628"/>
                    </a:cubicBezTo>
                    <a:lnTo>
                      <a:pt x="0" y="1308588"/>
                    </a:lnTo>
                    <a:close/>
                  </a:path>
                </a:pathLst>
              </a:custGeom>
              <a:solidFill>
                <a:srgbClr val="D8A71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92" name="Freeform: Shape 142">
                <a:extLst>
                  <a:ext uri="{FF2B5EF4-FFF2-40B4-BE49-F238E27FC236}">
                    <a16:creationId xmlns:a16="http://schemas.microsoft.com/office/drawing/2014/main" id="{5AE0D211-84FA-463E-8A5F-AA6E1EBF2600}"/>
                  </a:ext>
                </a:extLst>
              </p:cNvPr>
              <p:cNvSpPr/>
              <p:nvPr/>
            </p:nvSpPr>
            <p:spPr>
              <a:xfrm rot="5400000" flipV="1">
                <a:off x="6970994" y="2259550"/>
                <a:ext cx="1308589" cy="1308589"/>
              </a:xfrm>
              <a:custGeom>
                <a:avLst/>
                <a:gdLst>
                  <a:gd name="connsiteX0" fmla="*/ 0 w 1308589"/>
                  <a:gd name="connsiteY0" fmla="*/ 0 h 1308589"/>
                  <a:gd name="connsiteX1" fmla="*/ 6361 w 1308589"/>
                  <a:gd name="connsiteY1" fmla="*/ 125960 h 1308589"/>
                  <a:gd name="connsiteX2" fmla="*/ 1182629 w 1308589"/>
                  <a:gd name="connsiteY2" fmla="*/ 1302228 h 1308589"/>
                  <a:gd name="connsiteX3" fmla="*/ 1308589 w 1308589"/>
                  <a:gd name="connsiteY3" fmla="*/ 1308589 h 1308589"/>
                  <a:gd name="connsiteX4" fmla="*/ 1308589 w 1308589"/>
                  <a:gd name="connsiteY4" fmla="*/ 0 h 1308589"/>
                  <a:gd name="connsiteX5" fmla="*/ 0 w 1308589"/>
                  <a:gd name="connsiteY5" fmla="*/ 0 h 1308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8589" h="1308589">
                    <a:moveTo>
                      <a:pt x="0" y="0"/>
                    </a:moveTo>
                    <a:lnTo>
                      <a:pt x="6361" y="125960"/>
                    </a:lnTo>
                    <a:cubicBezTo>
                      <a:pt x="69347" y="746173"/>
                      <a:pt x="562416" y="1239242"/>
                      <a:pt x="1182629" y="1302228"/>
                    </a:cubicBezTo>
                    <a:lnTo>
                      <a:pt x="1308589" y="1308589"/>
                    </a:lnTo>
                    <a:lnTo>
                      <a:pt x="130858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D13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06" name="Freeform: Shape 143">
                <a:extLst>
                  <a:ext uri="{FF2B5EF4-FFF2-40B4-BE49-F238E27FC236}">
                    <a16:creationId xmlns:a16="http://schemas.microsoft.com/office/drawing/2014/main" id="{BD7EE683-E668-4455-9F5C-522C02E7BE8D}"/>
                  </a:ext>
                </a:extLst>
              </p:cNvPr>
              <p:cNvSpPr/>
              <p:nvPr/>
            </p:nvSpPr>
            <p:spPr>
              <a:xfrm rot="5400000" flipV="1">
                <a:off x="5658295" y="3558803"/>
                <a:ext cx="1308588" cy="1308588"/>
              </a:xfrm>
              <a:custGeom>
                <a:avLst/>
                <a:gdLst>
                  <a:gd name="connsiteX0" fmla="*/ 0 w 1308588"/>
                  <a:gd name="connsiteY0" fmla="*/ 0 h 1308588"/>
                  <a:gd name="connsiteX1" fmla="*/ 0 w 1308588"/>
                  <a:gd name="connsiteY1" fmla="*/ 1308588 h 1308588"/>
                  <a:gd name="connsiteX2" fmla="*/ 1308588 w 1308588"/>
                  <a:gd name="connsiteY2" fmla="*/ 1308588 h 1308588"/>
                  <a:gd name="connsiteX3" fmla="*/ 1302228 w 1308588"/>
                  <a:gd name="connsiteY3" fmla="*/ 1182628 h 1308588"/>
                  <a:gd name="connsiteX4" fmla="*/ 125960 w 1308588"/>
                  <a:gd name="connsiteY4" fmla="*/ 6360 h 1308588"/>
                  <a:gd name="connsiteX5" fmla="*/ 0 w 1308588"/>
                  <a:gd name="connsiteY5" fmla="*/ 0 h 130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8588" h="1308588">
                    <a:moveTo>
                      <a:pt x="0" y="0"/>
                    </a:moveTo>
                    <a:lnTo>
                      <a:pt x="0" y="1308588"/>
                    </a:lnTo>
                    <a:lnTo>
                      <a:pt x="1308588" y="1308588"/>
                    </a:lnTo>
                    <a:lnTo>
                      <a:pt x="1302228" y="1182628"/>
                    </a:lnTo>
                    <a:cubicBezTo>
                      <a:pt x="1239242" y="562415"/>
                      <a:pt x="746173" y="69346"/>
                      <a:pt x="125960" y="63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D13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08" name="Freeform: Shape 144">
                <a:extLst>
                  <a:ext uri="{FF2B5EF4-FFF2-40B4-BE49-F238E27FC236}">
                    <a16:creationId xmlns:a16="http://schemas.microsoft.com/office/drawing/2014/main" id="{425549CE-40D9-40AD-8771-3CE5D2CA1ED8}"/>
                  </a:ext>
                </a:extLst>
              </p:cNvPr>
              <p:cNvSpPr/>
              <p:nvPr/>
            </p:nvSpPr>
            <p:spPr>
              <a:xfrm rot="5400000" flipV="1">
                <a:off x="6970994" y="3558803"/>
                <a:ext cx="1308588" cy="1308589"/>
              </a:xfrm>
              <a:custGeom>
                <a:avLst/>
                <a:gdLst>
                  <a:gd name="connsiteX0" fmla="*/ 0 w 1308588"/>
                  <a:gd name="connsiteY0" fmla="*/ 0 h 1308589"/>
                  <a:gd name="connsiteX1" fmla="*/ 0 w 1308588"/>
                  <a:gd name="connsiteY1" fmla="*/ 1308589 h 1308589"/>
                  <a:gd name="connsiteX2" fmla="*/ 125960 w 1308588"/>
                  <a:gd name="connsiteY2" fmla="*/ 1302228 h 1308589"/>
                  <a:gd name="connsiteX3" fmla="*/ 1302228 w 1308588"/>
                  <a:gd name="connsiteY3" fmla="*/ 125960 h 1308589"/>
                  <a:gd name="connsiteX4" fmla="*/ 1308588 w 1308588"/>
                  <a:gd name="connsiteY4" fmla="*/ 0 h 1308589"/>
                  <a:gd name="connsiteX5" fmla="*/ 0 w 1308588"/>
                  <a:gd name="connsiteY5" fmla="*/ 0 h 1308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8588" h="1308589">
                    <a:moveTo>
                      <a:pt x="0" y="0"/>
                    </a:moveTo>
                    <a:lnTo>
                      <a:pt x="0" y="1308589"/>
                    </a:lnTo>
                    <a:lnTo>
                      <a:pt x="125960" y="1302228"/>
                    </a:lnTo>
                    <a:cubicBezTo>
                      <a:pt x="746173" y="1239242"/>
                      <a:pt x="1239242" y="746173"/>
                      <a:pt x="1302228" y="125960"/>
                    </a:cubicBezTo>
                    <a:lnTo>
                      <a:pt x="13085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A71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</p:grp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F4CF2C0-4921-4EBB-849F-070F806ED9CA}"/>
                </a:ext>
              </a:extLst>
            </p:cNvPr>
            <p:cNvSpPr/>
            <p:nvPr/>
          </p:nvSpPr>
          <p:spPr>
            <a:xfrm>
              <a:off x="5923431" y="1966633"/>
              <a:ext cx="2548216" cy="2548216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B Mitra" panose="00000400000000000000" pitchFamily="2" charset="-78"/>
                <a:sym typeface="Calibri"/>
              </a:endParaRPr>
            </a:p>
          </p:txBody>
        </p:sp>
      </p:grpSp>
      <p:sp>
        <p:nvSpPr>
          <p:cNvPr id="110" name="Freeform: Shape 130">
            <a:extLst>
              <a:ext uri="{FF2B5EF4-FFF2-40B4-BE49-F238E27FC236}">
                <a16:creationId xmlns:a16="http://schemas.microsoft.com/office/drawing/2014/main" id="{54BC2225-DCC8-4E6E-AB74-04A546921246}"/>
              </a:ext>
            </a:extLst>
          </p:cNvPr>
          <p:cNvSpPr/>
          <p:nvPr/>
        </p:nvSpPr>
        <p:spPr>
          <a:xfrm rot="18178557">
            <a:off x="7363921" y="2693512"/>
            <a:ext cx="906496" cy="726883"/>
          </a:xfrm>
          <a:custGeom>
            <a:avLst/>
            <a:gdLst>
              <a:gd name="connsiteX0" fmla="*/ 1575519 w 1575519"/>
              <a:gd name="connsiteY0" fmla="*/ 1006426 h 1118789"/>
              <a:gd name="connsiteX1" fmla="*/ 1401265 w 1575519"/>
              <a:gd name="connsiteY1" fmla="*/ 1118789 h 1118789"/>
              <a:gd name="connsiteX2" fmla="*/ 113566 w 1575519"/>
              <a:gd name="connsiteY2" fmla="*/ 226186 h 1118789"/>
              <a:gd name="connsiteX3" fmla="*/ 0 w 1575519"/>
              <a:gd name="connsiteY3" fmla="*/ 209198 h 1118789"/>
              <a:gd name="connsiteX4" fmla="*/ 0 w 1575519"/>
              <a:gd name="connsiteY4" fmla="*/ 0 h 1118789"/>
              <a:gd name="connsiteX5" fmla="*/ 157629 w 1575519"/>
              <a:gd name="connsiteY5" fmla="*/ 23579 h 1118789"/>
              <a:gd name="connsiteX6" fmla="*/ 1575519 w 1575519"/>
              <a:gd name="connsiteY6" fmla="*/ 1006426 h 111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5519" h="1118789">
                <a:moveTo>
                  <a:pt x="1575519" y="1006426"/>
                </a:moveTo>
                <a:lnTo>
                  <a:pt x="1401265" y="1118789"/>
                </a:lnTo>
                <a:cubicBezTo>
                  <a:pt x="1103198" y="656543"/>
                  <a:pt x="637020" y="340056"/>
                  <a:pt x="113566" y="226186"/>
                </a:cubicBezTo>
                <a:lnTo>
                  <a:pt x="0" y="209198"/>
                </a:lnTo>
                <a:lnTo>
                  <a:pt x="0" y="0"/>
                </a:lnTo>
                <a:lnTo>
                  <a:pt x="157629" y="23579"/>
                </a:lnTo>
                <a:cubicBezTo>
                  <a:pt x="734007" y="148961"/>
                  <a:pt x="1247316" y="497446"/>
                  <a:pt x="1575519" y="1006426"/>
                </a:cubicBezTo>
                <a:close/>
              </a:path>
            </a:pathLst>
          </a:custGeom>
          <a:solidFill>
            <a:srgbClr val="D8A71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B Mitra" panose="00000400000000000000" pitchFamily="2" charset="-78"/>
              <a:sym typeface="Calibri"/>
            </a:endParaRPr>
          </a:p>
        </p:txBody>
      </p:sp>
      <p:sp>
        <p:nvSpPr>
          <p:cNvPr id="112" name="Freeform: Shape 131">
            <a:extLst>
              <a:ext uri="{FF2B5EF4-FFF2-40B4-BE49-F238E27FC236}">
                <a16:creationId xmlns:a16="http://schemas.microsoft.com/office/drawing/2014/main" id="{0CC7111B-E64C-4C3B-84F7-53B0336D34B4}"/>
              </a:ext>
            </a:extLst>
          </p:cNvPr>
          <p:cNvSpPr/>
          <p:nvPr/>
        </p:nvSpPr>
        <p:spPr>
          <a:xfrm rot="18178557">
            <a:off x="6580544" y="3573186"/>
            <a:ext cx="1053005" cy="347359"/>
          </a:xfrm>
          <a:custGeom>
            <a:avLst/>
            <a:gdLst>
              <a:gd name="connsiteX0" fmla="*/ 1615386 w 1615386"/>
              <a:gd name="connsiteY0" fmla="*/ 25321 h 594529"/>
              <a:gd name="connsiteX1" fmla="*/ 1615386 w 1615386"/>
              <a:gd name="connsiteY1" fmla="*/ 234519 h 594529"/>
              <a:gd name="connsiteX2" fmla="*/ 1480591 w 1615386"/>
              <a:gd name="connsiteY2" fmla="*/ 214356 h 594529"/>
              <a:gd name="connsiteX3" fmla="*/ 1208135 w 1615386"/>
              <a:gd name="connsiteY3" fmla="*/ 209918 h 594529"/>
              <a:gd name="connsiteX4" fmla="*/ 196983 w 1615386"/>
              <a:gd name="connsiteY4" fmla="*/ 536161 h 594529"/>
              <a:gd name="connsiteX5" fmla="*/ 112846 w 1615386"/>
              <a:gd name="connsiteY5" fmla="*/ 594529 h 594529"/>
              <a:gd name="connsiteX6" fmla="*/ 0 w 1615386"/>
              <a:gd name="connsiteY6" fmla="*/ 420602 h 594529"/>
              <a:gd name="connsiteX7" fmla="*/ 84378 w 1615386"/>
              <a:gd name="connsiteY7" fmla="*/ 362066 h 594529"/>
              <a:gd name="connsiteX8" fmla="*/ 1197761 w 1615386"/>
              <a:gd name="connsiteY8" fmla="*/ 2840 h 594529"/>
              <a:gd name="connsiteX9" fmla="*/ 1497762 w 1615386"/>
              <a:gd name="connsiteY9" fmla="*/ 7726 h 594529"/>
              <a:gd name="connsiteX10" fmla="*/ 1615386 w 1615386"/>
              <a:gd name="connsiteY10" fmla="*/ 25321 h 5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5386" h="594529">
                <a:moveTo>
                  <a:pt x="1615386" y="25321"/>
                </a:moveTo>
                <a:lnTo>
                  <a:pt x="1615386" y="234519"/>
                </a:lnTo>
                <a:lnTo>
                  <a:pt x="1480591" y="214356"/>
                </a:lnTo>
                <a:cubicBezTo>
                  <a:pt x="1390679" y="206898"/>
                  <a:pt x="1299689" y="205330"/>
                  <a:pt x="1208135" y="209918"/>
                </a:cubicBezTo>
                <a:cubicBezTo>
                  <a:pt x="841919" y="228269"/>
                  <a:pt x="494538" y="343698"/>
                  <a:pt x="196983" y="536161"/>
                </a:cubicBezTo>
                <a:lnTo>
                  <a:pt x="112846" y="594529"/>
                </a:lnTo>
                <a:lnTo>
                  <a:pt x="0" y="420602"/>
                </a:lnTo>
                <a:lnTo>
                  <a:pt x="84378" y="362066"/>
                </a:lnTo>
                <a:cubicBezTo>
                  <a:pt x="412016" y="150145"/>
                  <a:pt x="794518" y="23045"/>
                  <a:pt x="1197761" y="2840"/>
                </a:cubicBezTo>
                <a:cubicBezTo>
                  <a:pt x="1298571" y="-2212"/>
                  <a:pt x="1398760" y="-487"/>
                  <a:pt x="1497762" y="7726"/>
                </a:cubicBezTo>
                <a:lnTo>
                  <a:pt x="1615386" y="25321"/>
                </a:lnTo>
                <a:close/>
              </a:path>
            </a:pathLst>
          </a:custGeom>
          <a:solidFill>
            <a:srgbClr val="F2D13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B Mitra" panose="00000400000000000000" pitchFamily="2" charset="-78"/>
              <a:sym typeface="Calibri"/>
            </a:endParaRPr>
          </a:p>
        </p:txBody>
      </p:sp>
      <p:sp>
        <p:nvSpPr>
          <p:cNvPr id="113" name="Freeform: Shape 132">
            <a:extLst>
              <a:ext uri="{FF2B5EF4-FFF2-40B4-BE49-F238E27FC236}">
                <a16:creationId xmlns:a16="http://schemas.microsoft.com/office/drawing/2014/main" id="{97C38954-D995-428B-ACFB-72ADE2B51456}"/>
              </a:ext>
            </a:extLst>
          </p:cNvPr>
          <p:cNvSpPr/>
          <p:nvPr/>
        </p:nvSpPr>
        <p:spPr>
          <a:xfrm rot="18178557">
            <a:off x="6849917" y="4194005"/>
            <a:ext cx="567626" cy="904439"/>
          </a:xfrm>
          <a:custGeom>
            <a:avLst/>
            <a:gdLst>
              <a:gd name="connsiteX0" fmla="*/ 873705 w 986552"/>
              <a:gd name="connsiteY0" fmla="*/ 0 h 1392074"/>
              <a:gd name="connsiteX1" fmla="*/ 986552 w 986552"/>
              <a:gd name="connsiteY1" fmla="*/ 173928 h 1392074"/>
              <a:gd name="connsiteX2" fmla="*/ 975993 w 986552"/>
              <a:gd name="connsiteY2" fmla="*/ 181253 h 1392074"/>
              <a:gd name="connsiteX3" fmla="*/ 372986 w 986552"/>
              <a:gd name="connsiteY3" fmla="*/ 893952 h 1392074"/>
              <a:gd name="connsiteX4" fmla="*/ 265309 w 986552"/>
              <a:gd name="connsiteY4" fmla="*/ 1144266 h 1392074"/>
              <a:gd name="connsiteX5" fmla="*/ 195645 w 986552"/>
              <a:gd name="connsiteY5" fmla="*/ 1392074 h 1392074"/>
              <a:gd name="connsiteX6" fmla="*/ 0 w 986552"/>
              <a:gd name="connsiteY6" fmla="*/ 1323527 h 1392074"/>
              <a:gd name="connsiteX7" fmla="*/ 69812 w 986552"/>
              <a:gd name="connsiteY7" fmla="*/ 1075192 h 1392074"/>
              <a:gd name="connsiteX8" fmla="*/ 188376 w 986552"/>
              <a:gd name="connsiteY8" fmla="*/ 799571 h 1392074"/>
              <a:gd name="connsiteX9" fmla="*/ 852347 w 986552"/>
              <a:gd name="connsiteY9" fmla="*/ 14817 h 1392074"/>
              <a:gd name="connsiteX10" fmla="*/ 873705 w 986552"/>
              <a:gd name="connsiteY10" fmla="*/ 0 h 139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6552" h="1392074">
                <a:moveTo>
                  <a:pt x="873705" y="0"/>
                </a:moveTo>
                <a:lnTo>
                  <a:pt x="986552" y="173928"/>
                </a:lnTo>
                <a:lnTo>
                  <a:pt x="975993" y="181253"/>
                </a:lnTo>
                <a:cubicBezTo>
                  <a:pt x="726956" y="366235"/>
                  <a:pt x="519033" y="608278"/>
                  <a:pt x="372986" y="893952"/>
                </a:cubicBezTo>
                <a:cubicBezTo>
                  <a:pt x="331259" y="975573"/>
                  <a:pt x="295376" y="1059203"/>
                  <a:pt x="265309" y="1144266"/>
                </a:cubicBezTo>
                <a:lnTo>
                  <a:pt x="195645" y="1392074"/>
                </a:lnTo>
                <a:lnTo>
                  <a:pt x="0" y="1323527"/>
                </a:lnTo>
                <a:lnTo>
                  <a:pt x="69812" y="1075192"/>
                </a:lnTo>
                <a:cubicBezTo>
                  <a:pt x="102920" y="981529"/>
                  <a:pt x="142430" y="889444"/>
                  <a:pt x="188376" y="799571"/>
                </a:cubicBezTo>
                <a:cubicBezTo>
                  <a:pt x="349189" y="485014"/>
                  <a:pt x="578132" y="218501"/>
                  <a:pt x="852347" y="14817"/>
                </a:cubicBezTo>
                <a:lnTo>
                  <a:pt x="873705" y="0"/>
                </a:lnTo>
                <a:close/>
              </a:path>
            </a:pathLst>
          </a:custGeom>
          <a:solidFill>
            <a:srgbClr val="D8A71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B Mitra" panose="00000400000000000000" pitchFamily="2" charset="-78"/>
              <a:sym typeface="Calibri"/>
            </a:endParaRPr>
          </a:p>
        </p:txBody>
      </p:sp>
      <p:sp>
        <p:nvSpPr>
          <p:cNvPr id="114" name="Freeform: Shape 133">
            <a:extLst>
              <a:ext uri="{FF2B5EF4-FFF2-40B4-BE49-F238E27FC236}">
                <a16:creationId xmlns:a16="http://schemas.microsoft.com/office/drawing/2014/main" id="{1763548F-A112-4CB8-80F6-C9A633BFE2E9}"/>
              </a:ext>
            </a:extLst>
          </p:cNvPr>
          <p:cNvSpPr/>
          <p:nvPr/>
        </p:nvSpPr>
        <p:spPr>
          <a:xfrm rot="18178557">
            <a:off x="7685730" y="4726336"/>
            <a:ext cx="309384" cy="1114879"/>
          </a:xfrm>
          <a:custGeom>
            <a:avLst/>
            <a:gdLst>
              <a:gd name="connsiteX0" fmla="*/ 250771 w 537718"/>
              <a:gd name="connsiteY0" fmla="*/ 68815 h 1715977"/>
              <a:gd name="connsiteX1" fmla="*/ 213590 w 537718"/>
              <a:gd name="connsiteY1" fmla="*/ 326697 h 1715977"/>
              <a:gd name="connsiteX2" fmla="*/ 537718 w 537718"/>
              <a:gd name="connsiteY2" fmla="*/ 1603126 h 1715977"/>
              <a:gd name="connsiteX3" fmla="*/ 363784 w 537718"/>
              <a:gd name="connsiteY3" fmla="*/ 1715977 h 1715977"/>
              <a:gd name="connsiteX4" fmla="*/ 48805 w 537718"/>
              <a:gd name="connsiteY4" fmla="*/ 19749 h 1715977"/>
              <a:gd name="connsiteX5" fmla="*/ 54357 w 537718"/>
              <a:gd name="connsiteY5" fmla="*/ 0 h 1715977"/>
              <a:gd name="connsiteX6" fmla="*/ 250771 w 537718"/>
              <a:gd name="connsiteY6" fmla="*/ 68815 h 171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718" h="1715977">
                <a:moveTo>
                  <a:pt x="250771" y="68815"/>
                </a:moveTo>
                <a:lnTo>
                  <a:pt x="213590" y="326697"/>
                </a:lnTo>
                <a:cubicBezTo>
                  <a:pt x="178968" y="769148"/>
                  <a:pt x="288247" y="1218621"/>
                  <a:pt x="537718" y="1603126"/>
                </a:cubicBezTo>
                <a:lnTo>
                  <a:pt x="363784" y="1715977"/>
                </a:lnTo>
                <a:cubicBezTo>
                  <a:pt x="34152" y="1207921"/>
                  <a:pt x="-73193" y="596852"/>
                  <a:pt x="48805" y="19749"/>
                </a:cubicBezTo>
                <a:lnTo>
                  <a:pt x="54357" y="0"/>
                </a:lnTo>
                <a:lnTo>
                  <a:pt x="250771" y="68815"/>
                </a:lnTo>
                <a:close/>
              </a:path>
            </a:pathLst>
          </a:custGeom>
          <a:solidFill>
            <a:srgbClr val="F2D13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B Mitra" panose="00000400000000000000" pitchFamily="2" charset="-78"/>
              <a:sym typeface="Calibri"/>
            </a:endParaRPr>
          </a:p>
        </p:txBody>
      </p:sp>
      <p:sp>
        <p:nvSpPr>
          <p:cNvPr id="143" name="TextBox 34">
            <a:extLst>
              <a:ext uri="{FF2B5EF4-FFF2-40B4-BE49-F238E27FC236}">
                <a16:creationId xmlns:a16="http://schemas.microsoft.com/office/drawing/2014/main" id="{66EAF8E9-CD57-4E7A-B3D2-81D90ACF6A4E}"/>
              </a:ext>
            </a:extLst>
          </p:cNvPr>
          <p:cNvSpPr txBox="1"/>
          <p:nvPr/>
        </p:nvSpPr>
        <p:spPr>
          <a:xfrm>
            <a:off x="38194" y="1910443"/>
            <a:ext cx="5016681" cy="683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استخراج و ترکیب ویژگی های فرآیندی: </a:t>
            </a:r>
            <a:r>
              <a:rPr lang="fa-IR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بهره گیری از ویژگی های هویتی،ترتیبی،زمانی و آماری برای ایجاد نمایش غنی از فرآیندها</a:t>
            </a:r>
            <a:endParaRPr lang="fa-IR" sz="1500" dirty="0">
              <a:solidFill>
                <a:schemeClr val="tx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44" name="TextBox 34">
            <a:extLst>
              <a:ext uri="{FF2B5EF4-FFF2-40B4-BE49-F238E27FC236}">
                <a16:creationId xmlns:a16="http://schemas.microsoft.com/office/drawing/2014/main" id="{DA2B6A6D-283F-4738-96CD-DD2866058317}"/>
              </a:ext>
            </a:extLst>
          </p:cNvPr>
          <p:cNvSpPr txBox="1"/>
          <p:nvPr/>
        </p:nvSpPr>
        <p:spPr>
          <a:xfrm>
            <a:off x="321130" y="2715323"/>
            <a:ext cx="4544331" cy="683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cs typeface="B Titr" panose="00000700000000000000" pitchFamily="2" charset="-78"/>
              </a:rPr>
              <a:t>توسعه معماری ترکیبی : </a:t>
            </a:r>
            <a:r>
              <a:rPr lang="fa-IR" sz="1500" dirty="0">
                <a:solidFill>
                  <a:schemeClr val="tx1"/>
                </a:solidFill>
                <a:cs typeface="B Nazanin" panose="00000400000000000000" pitchFamily="2" charset="-78"/>
              </a:rPr>
              <a:t>ترکیب معماری‌های </a:t>
            </a:r>
            <a:r>
              <a:rPr lang="en-US" sz="1500" dirty="0">
                <a:solidFill>
                  <a:schemeClr val="tx1"/>
                </a:solidFill>
                <a:cs typeface="B Nazanin" panose="00000400000000000000" pitchFamily="2" charset="-78"/>
              </a:rPr>
              <a:t>Transformer، TCN</a:t>
            </a:r>
            <a:r>
              <a:rPr lang="fa-IR" sz="1500" dirty="0">
                <a:solidFill>
                  <a:schemeClr val="tx1"/>
                </a:solidFill>
                <a:cs typeface="B Nazanin" panose="00000400000000000000" pitchFamily="2" charset="-78"/>
              </a:rPr>
              <a:t>و </a:t>
            </a:r>
            <a:r>
              <a:rPr lang="en-US" sz="1500" dirty="0">
                <a:solidFill>
                  <a:schemeClr val="tx1"/>
                </a:solidFill>
                <a:cs typeface="B Nazanin" panose="00000400000000000000" pitchFamily="2" charset="-78"/>
              </a:rPr>
              <a:t>GNN </a:t>
            </a:r>
            <a:r>
              <a:rPr lang="fa-IR" sz="1500" dirty="0">
                <a:solidFill>
                  <a:schemeClr val="tx1"/>
                </a:solidFill>
                <a:cs typeface="B Nazanin" panose="00000400000000000000" pitchFamily="2" charset="-78"/>
              </a:rPr>
              <a:t> برای یادگیری الگوهای فرآیندی</a:t>
            </a:r>
            <a:endParaRPr lang="fa-IR" sz="1500" dirty="0">
              <a:solidFill>
                <a:schemeClr val="tx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45" name="TextBox 34">
            <a:extLst>
              <a:ext uri="{FF2B5EF4-FFF2-40B4-BE49-F238E27FC236}">
                <a16:creationId xmlns:a16="http://schemas.microsoft.com/office/drawing/2014/main" id="{1B55DF36-770C-4891-AFDD-E0D5AB5CC89A}"/>
              </a:ext>
            </a:extLst>
          </p:cNvPr>
          <p:cNvSpPr txBox="1"/>
          <p:nvPr/>
        </p:nvSpPr>
        <p:spPr>
          <a:xfrm>
            <a:off x="390802" y="3625996"/>
            <a:ext cx="4487844" cy="683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تخمین زمان باقی مانده فرآیند </a:t>
            </a:r>
            <a:r>
              <a:rPr lang="fa-IR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طراحی خروجی کمکی برای </a:t>
            </a:r>
            <a:r>
              <a:rPr lang="fa-IR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تخمین زمان باقی‌مانده تا تکمیل هر پرونده</a:t>
            </a:r>
            <a:endParaRPr lang="fa-IR" sz="1500" dirty="0">
              <a:solidFill>
                <a:schemeClr val="tx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46" name="TextBox 34">
            <a:extLst>
              <a:ext uri="{FF2B5EF4-FFF2-40B4-BE49-F238E27FC236}">
                <a16:creationId xmlns:a16="http://schemas.microsoft.com/office/drawing/2014/main" id="{B6920C51-D142-4329-B678-FAE0B2317261}"/>
              </a:ext>
            </a:extLst>
          </p:cNvPr>
          <p:cNvSpPr txBox="1"/>
          <p:nvPr/>
        </p:nvSpPr>
        <p:spPr>
          <a:xfrm>
            <a:off x="390803" y="5702249"/>
            <a:ext cx="4526616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 hangingPunct="0">
              <a:defRPr/>
            </a:pPr>
            <a:r>
              <a:rPr lang="fa-IR" sz="1600" dirty="0">
                <a:solidFill>
                  <a:schemeClr val="tx1"/>
                </a:solidFill>
                <a:cs typeface="B Titr" panose="00000700000000000000" pitchFamily="2" charset="-78"/>
              </a:rPr>
              <a:t>شناسایی گلوگاه های فرآیندی : </a:t>
            </a:r>
            <a:r>
              <a:rPr lang="fa-IR" sz="1500" dirty="0">
                <a:solidFill>
                  <a:schemeClr val="tx1"/>
                </a:solidFill>
                <a:cs typeface="B Nazanin" panose="00000400000000000000" pitchFamily="2" charset="-78"/>
              </a:rPr>
              <a:t>طراحی سازوکاری برای برای تشخیص فعالیت های داری تأخیر احتمالی</a:t>
            </a:r>
            <a:endParaRPr lang="fa-IR" sz="1500" kern="0" dirty="0">
              <a:solidFill>
                <a:prstClr val="black">
                  <a:lumMod val="75000"/>
                  <a:lumOff val="25000"/>
                </a:prstClr>
              </a:solidFill>
              <a:latin typeface="Georgia" panose="02040502050405020303" pitchFamily="18" charset="0"/>
              <a:ea typeface="Cambria" panose="02040503050406030204" pitchFamily="18" charset="0"/>
              <a:cs typeface="B Mitra" panose="00000400000000000000" pitchFamily="2" charset="-78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C9FBE81-3DB2-4BA7-B119-B1369733EB33}"/>
              </a:ext>
            </a:extLst>
          </p:cNvPr>
          <p:cNvGrpSpPr/>
          <p:nvPr/>
        </p:nvGrpSpPr>
        <p:grpSpPr>
          <a:xfrm>
            <a:off x="5371132" y="2049728"/>
            <a:ext cx="2653925" cy="977582"/>
            <a:chOff x="5799712" y="1421622"/>
            <a:chExt cx="2818272" cy="977582"/>
          </a:xfrm>
        </p:grpSpPr>
        <p:cxnSp>
          <p:nvCxnSpPr>
            <p:cNvPr id="148" name="Connector: Elbow 67">
              <a:extLst>
                <a:ext uri="{FF2B5EF4-FFF2-40B4-BE49-F238E27FC236}">
                  <a16:creationId xmlns:a16="http://schemas.microsoft.com/office/drawing/2014/main" id="{BAA20802-DA4D-4874-9E82-65A79D382869}"/>
                </a:ext>
              </a:extLst>
            </p:cNvPr>
            <p:cNvCxnSpPr>
              <a:cxnSpLocks/>
              <a:stCxn id="152" idx="2"/>
            </p:cNvCxnSpPr>
            <p:nvPr/>
          </p:nvCxnSpPr>
          <p:spPr>
            <a:xfrm rot="10800000" flipV="1">
              <a:off x="5799712" y="1606695"/>
              <a:ext cx="1933513" cy="50288"/>
            </a:xfrm>
            <a:prstGeom prst="bentConnector3">
              <a:avLst/>
            </a:prstGeom>
            <a:noFill/>
            <a:ln w="9525" cap="flat" cmpd="sng" algn="ctr">
              <a:solidFill>
                <a:sysClr val="window" lastClr="FFFFFF">
                  <a:lumMod val="65000"/>
                </a:sysClr>
              </a:solidFill>
              <a:prstDash val="dash"/>
              <a:tailEnd type="triangle"/>
            </a:ln>
            <a:effectLst/>
          </p:spPr>
        </p:cxn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4E2EB5D7-E994-4280-AB2E-0A6BEF0DB5AC}"/>
                </a:ext>
              </a:extLst>
            </p:cNvPr>
            <p:cNvGrpSpPr/>
            <p:nvPr/>
          </p:nvGrpSpPr>
          <p:grpSpPr>
            <a:xfrm>
              <a:off x="7709417" y="1421622"/>
              <a:ext cx="908567" cy="977582"/>
              <a:chOff x="7709417" y="1421622"/>
              <a:chExt cx="908567" cy="977582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0EF9DE0-BDE9-4C11-9973-73A61169C114}"/>
                  </a:ext>
                </a:extLst>
              </p:cNvPr>
              <p:cNvSpPr/>
              <p:nvPr/>
            </p:nvSpPr>
            <p:spPr>
              <a:xfrm>
                <a:off x="8076612" y="2060968"/>
                <a:ext cx="381939" cy="338236"/>
              </a:xfrm>
              <a:prstGeom prst="ellipse">
                <a:avLst/>
              </a:prstGeom>
              <a:solidFill>
                <a:srgbClr val="D8A713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52" name="Teardrop 151">
                <a:extLst>
                  <a:ext uri="{FF2B5EF4-FFF2-40B4-BE49-F238E27FC236}">
                    <a16:creationId xmlns:a16="http://schemas.microsoft.com/office/drawing/2014/main" id="{CDA25471-F964-4896-B868-B012C83BFD37}"/>
                  </a:ext>
                </a:extLst>
              </p:cNvPr>
              <p:cNvSpPr/>
              <p:nvPr/>
            </p:nvSpPr>
            <p:spPr>
              <a:xfrm rot="6689551">
                <a:off x="7748593" y="1382446"/>
                <a:ext cx="606396" cy="684747"/>
              </a:xfrm>
              <a:prstGeom prst="teardrop">
                <a:avLst/>
              </a:prstGeom>
              <a:solidFill>
                <a:srgbClr val="D8A71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52E93554-6225-44A3-BEAB-35C07DC0A1FE}"/>
                  </a:ext>
                </a:extLst>
              </p:cNvPr>
              <p:cNvSpPr/>
              <p:nvPr/>
            </p:nvSpPr>
            <p:spPr>
              <a:xfrm rot="516828">
                <a:off x="7793266" y="1495876"/>
                <a:ext cx="517052" cy="457889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C2A03C-8977-4A14-A692-EB4E0CEA7B81}"/>
                  </a:ext>
                </a:extLst>
              </p:cNvPr>
              <p:cNvSpPr txBox="1"/>
              <p:nvPr/>
            </p:nvSpPr>
            <p:spPr>
              <a:xfrm>
                <a:off x="7987452" y="2097794"/>
                <a:ext cx="630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200" b="1" kern="0" dirty="0">
                    <a:latin typeface="Georgia Pro Cond" panose="02040506050405020303" pitchFamily="18" charset="0"/>
                    <a:cs typeface="B Mitra" panose="00000400000000000000" pitchFamily="2" charset="-78"/>
                    <a:sym typeface="Calibri"/>
                  </a:rPr>
                  <a:t>1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eorgia Pro Cond" panose="02040506050405020303" pitchFamily="18" charset="0"/>
                  <a:cs typeface="B Mitra" panose="00000400000000000000" pitchFamily="2" charset="-78"/>
                  <a:sym typeface="Calibri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FA585E0-5273-415C-8C99-E2131D60E998}"/>
              </a:ext>
            </a:extLst>
          </p:cNvPr>
          <p:cNvGrpSpPr/>
          <p:nvPr/>
        </p:nvGrpSpPr>
        <p:grpSpPr>
          <a:xfrm>
            <a:off x="4948318" y="2703543"/>
            <a:ext cx="2455109" cy="829499"/>
            <a:chOff x="5106484" y="1931374"/>
            <a:chExt cx="2568938" cy="829499"/>
          </a:xfrm>
        </p:grpSpPr>
        <p:cxnSp>
          <p:nvCxnSpPr>
            <p:cNvPr id="156" name="Connector: Elbow 80">
              <a:extLst>
                <a:ext uri="{FF2B5EF4-FFF2-40B4-BE49-F238E27FC236}">
                  <a16:creationId xmlns:a16="http://schemas.microsoft.com/office/drawing/2014/main" id="{0692655F-6003-4C79-A474-A89E5EAF3F97}"/>
                </a:ext>
              </a:extLst>
            </p:cNvPr>
            <p:cNvCxnSpPr>
              <a:cxnSpLocks/>
              <a:stCxn id="159" idx="2"/>
            </p:cNvCxnSpPr>
            <p:nvPr/>
          </p:nvCxnSpPr>
          <p:spPr>
            <a:xfrm rot="10800000">
              <a:off x="5106484" y="2230730"/>
              <a:ext cx="1379651" cy="111442"/>
            </a:xfrm>
            <a:prstGeom prst="bentConnector3">
              <a:avLst/>
            </a:prstGeom>
            <a:noFill/>
            <a:ln w="9525" cap="flat" cmpd="sng" algn="ctr">
              <a:solidFill>
                <a:sysClr val="window" lastClr="FFFFFF">
                  <a:lumMod val="65000"/>
                </a:sysClr>
              </a:solidFill>
              <a:prstDash val="dash"/>
              <a:tailEnd type="triangle"/>
            </a:ln>
            <a:effectLst/>
          </p:spPr>
        </p:cxn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790D291-B599-43A0-8094-B34BD9CB2959}"/>
                </a:ext>
              </a:extLst>
            </p:cNvPr>
            <p:cNvGrpSpPr/>
            <p:nvPr/>
          </p:nvGrpSpPr>
          <p:grpSpPr>
            <a:xfrm>
              <a:off x="6475744" y="1931374"/>
              <a:ext cx="1199678" cy="829499"/>
              <a:chOff x="6475744" y="1931374"/>
              <a:chExt cx="1199678" cy="829499"/>
            </a:xfrm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6E0ED247-8DF4-4519-B0F9-784E8E07B2EB}"/>
                  </a:ext>
                </a:extLst>
              </p:cNvPr>
              <p:cNvSpPr/>
              <p:nvPr/>
            </p:nvSpPr>
            <p:spPr>
              <a:xfrm>
                <a:off x="7178733" y="2422637"/>
                <a:ext cx="381939" cy="338236"/>
              </a:xfrm>
              <a:prstGeom prst="ellipse">
                <a:avLst/>
              </a:prstGeom>
              <a:solidFill>
                <a:srgbClr val="F2D130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59" name="Teardrop 158">
                <a:extLst>
                  <a:ext uri="{FF2B5EF4-FFF2-40B4-BE49-F238E27FC236}">
                    <a16:creationId xmlns:a16="http://schemas.microsoft.com/office/drawing/2014/main" id="{7AA6138A-A127-4224-AD0C-58C710AEE8EF}"/>
                  </a:ext>
                </a:extLst>
              </p:cNvPr>
              <p:cNvSpPr/>
              <p:nvPr/>
            </p:nvSpPr>
            <p:spPr>
              <a:xfrm rot="4524858">
                <a:off x="6464882" y="1942236"/>
                <a:ext cx="666436" cy="644711"/>
              </a:xfrm>
              <a:prstGeom prst="teardrop">
                <a:avLst/>
              </a:prstGeom>
              <a:solidFill>
                <a:srgbClr val="F2D13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A193B729-E3B3-46B1-9B34-2D696AE7EA07}"/>
                  </a:ext>
                </a:extLst>
              </p:cNvPr>
              <p:cNvSpPr/>
              <p:nvPr/>
            </p:nvSpPr>
            <p:spPr>
              <a:xfrm rot="19952135">
                <a:off x="6511290" y="2011373"/>
                <a:ext cx="517052" cy="457889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D3E43075-2ECA-42E5-9909-2000CAA64872}"/>
                  </a:ext>
                </a:extLst>
              </p:cNvPr>
              <p:cNvSpPr txBox="1"/>
              <p:nvPr/>
            </p:nvSpPr>
            <p:spPr>
              <a:xfrm>
                <a:off x="7044890" y="2449969"/>
                <a:ext cx="630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200" b="1" kern="0" noProof="0" dirty="0">
                    <a:latin typeface="Georgia Pro Cond" panose="02040506050405020303" pitchFamily="18" charset="0"/>
                    <a:cs typeface="B Mitra" panose="00000400000000000000" pitchFamily="2" charset="-78"/>
                    <a:sym typeface="Calibri"/>
                  </a:rPr>
                  <a:t>2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eorgia Pro Cond" panose="02040506050405020303" pitchFamily="18" charset="0"/>
                  <a:cs typeface="B Mitra" panose="00000400000000000000" pitchFamily="2" charset="-78"/>
                  <a:sym typeface="Calibri"/>
                </a:endParaRPr>
              </a:p>
            </p:txBody>
          </p:sp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C3FCA19-6DDC-4A03-8B26-C7BE35C90428}"/>
              </a:ext>
            </a:extLst>
          </p:cNvPr>
          <p:cNvGrpSpPr/>
          <p:nvPr/>
        </p:nvGrpSpPr>
        <p:grpSpPr>
          <a:xfrm>
            <a:off x="4948318" y="3855171"/>
            <a:ext cx="2268572" cy="606396"/>
            <a:chOff x="4815028" y="2999306"/>
            <a:chExt cx="2489710" cy="606396"/>
          </a:xfrm>
        </p:grpSpPr>
        <p:cxnSp>
          <p:nvCxnSpPr>
            <p:cNvPr id="163" name="Straight Arrow Connector 56">
              <a:extLst>
                <a:ext uri="{FF2B5EF4-FFF2-40B4-BE49-F238E27FC236}">
                  <a16:creationId xmlns:a16="http://schemas.microsoft.com/office/drawing/2014/main" id="{476C3679-FEBE-4962-99D4-313D8F23C34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815028" y="3214692"/>
              <a:ext cx="1078868" cy="188177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" lastClr="FFFFFF">
                  <a:lumMod val="65000"/>
                </a:sysClr>
              </a:solidFill>
              <a:prstDash val="dash"/>
              <a:tailEnd type="triangle"/>
            </a:ln>
            <a:effectLst/>
          </p:spPr>
        </p:cxn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92BB7475-005D-4FA9-B93A-8925C374D9E7}"/>
                </a:ext>
              </a:extLst>
            </p:cNvPr>
            <p:cNvGrpSpPr/>
            <p:nvPr/>
          </p:nvGrpSpPr>
          <p:grpSpPr>
            <a:xfrm>
              <a:off x="6001116" y="2999306"/>
              <a:ext cx="1303622" cy="606396"/>
              <a:chOff x="6001116" y="2999306"/>
              <a:chExt cx="1303622" cy="606396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2E917024-C00F-439C-84B8-77906119E2DA}"/>
                  </a:ext>
                </a:extLst>
              </p:cNvPr>
              <p:cNvSpPr/>
              <p:nvPr/>
            </p:nvSpPr>
            <p:spPr>
              <a:xfrm>
                <a:off x="6786716" y="3051308"/>
                <a:ext cx="381939" cy="338236"/>
              </a:xfrm>
              <a:prstGeom prst="ellipse">
                <a:avLst/>
              </a:prstGeom>
              <a:solidFill>
                <a:srgbClr val="D88F06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66" name="Teardrop 165">
                <a:extLst>
                  <a:ext uri="{FF2B5EF4-FFF2-40B4-BE49-F238E27FC236}">
                    <a16:creationId xmlns:a16="http://schemas.microsoft.com/office/drawing/2014/main" id="{0E10F8E8-36DF-427C-9D07-BCFCE86CE757}"/>
                  </a:ext>
                </a:extLst>
              </p:cNvPr>
              <p:cNvSpPr/>
              <p:nvPr/>
            </p:nvSpPr>
            <p:spPr>
              <a:xfrm rot="2583373">
                <a:off x="6001116" y="2999306"/>
                <a:ext cx="684747" cy="606396"/>
              </a:xfrm>
              <a:prstGeom prst="teardrop">
                <a:avLst/>
              </a:prstGeom>
              <a:solidFill>
                <a:srgbClr val="D88F0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BF0350BC-1906-43DD-8058-35D8A799EAE4}"/>
                  </a:ext>
                </a:extLst>
              </p:cNvPr>
              <p:cNvSpPr/>
              <p:nvPr/>
            </p:nvSpPr>
            <p:spPr>
              <a:xfrm rot="18010650">
                <a:off x="6104173" y="3030734"/>
                <a:ext cx="457889" cy="517051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C1B5362-BC29-4245-A23C-797139B85AD5}"/>
                  </a:ext>
                </a:extLst>
              </p:cNvPr>
              <p:cNvSpPr txBox="1"/>
              <p:nvPr/>
            </p:nvSpPr>
            <p:spPr>
              <a:xfrm>
                <a:off x="6674206" y="3087484"/>
                <a:ext cx="630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200" b="1" kern="0" dirty="0">
                    <a:latin typeface="Georgia Pro Cond" panose="02040506050405020303" pitchFamily="18" charset="0"/>
                    <a:cs typeface="B Mitra" panose="00000400000000000000" pitchFamily="2" charset="-78"/>
                    <a:sym typeface="Calibri"/>
                  </a:rPr>
                  <a:t>3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eorgia Pro Cond" panose="02040506050405020303" pitchFamily="18" charset="0"/>
                  <a:cs typeface="B Mitra" panose="00000400000000000000" pitchFamily="2" charset="-78"/>
                  <a:sym typeface="Calibri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E7B22FA-F1CD-4D9E-865B-D839F9599EDC}"/>
              </a:ext>
            </a:extLst>
          </p:cNvPr>
          <p:cNvGrpSpPr/>
          <p:nvPr/>
        </p:nvGrpSpPr>
        <p:grpSpPr>
          <a:xfrm>
            <a:off x="5316670" y="5380833"/>
            <a:ext cx="2764395" cy="766251"/>
            <a:chOff x="4815029" y="3803375"/>
            <a:chExt cx="2591851" cy="766251"/>
          </a:xfrm>
        </p:grpSpPr>
        <p:cxnSp>
          <p:nvCxnSpPr>
            <p:cNvPr id="170" name="Connector: Elbow 81">
              <a:extLst>
                <a:ext uri="{FF2B5EF4-FFF2-40B4-BE49-F238E27FC236}">
                  <a16:creationId xmlns:a16="http://schemas.microsoft.com/office/drawing/2014/main" id="{C12A9F0E-228E-4D68-B473-B01FC6686E5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815029" y="4274006"/>
              <a:ext cx="1375261" cy="159278"/>
            </a:xfrm>
            <a:prstGeom prst="bentConnector3">
              <a:avLst/>
            </a:prstGeom>
            <a:noFill/>
            <a:ln w="9525" cap="flat" cmpd="sng" algn="ctr">
              <a:solidFill>
                <a:sysClr val="window" lastClr="FFFFFF">
                  <a:lumMod val="65000"/>
                </a:sysClr>
              </a:solidFill>
              <a:prstDash val="dash"/>
              <a:tailEnd type="triangle"/>
            </a:ln>
            <a:effectLst/>
          </p:spPr>
        </p:cxn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5F32E5E-29F1-44FC-B1B4-604474A94FD1}"/>
                </a:ext>
              </a:extLst>
            </p:cNvPr>
            <p:cNvGrpSpPr/>
            <p:nvPr/>
          </p:nvGrpSpPr>
          <p:grpSpPr>
            <a:xfrm>
              <a:off x="6182135" y="3803375"/>
              <a:ext cx="1224745" cy="766251"/>
              <a:chOff x="6182135" y="3803375"/>
              <a:chExt cx="1224745" cy="766251"/>
            </a:xfrm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A7036BA-BB31-4155-9B53-284ADBE484A6}"/>
                  </a:ext>
                </a:extLst>
              </p:cNvPr>
              <p:cNvSpPr/>
              <p:nvPr/>
            </p:nvSpPr>
            <p:spPr>
              <a:xfrm>
                <a:off x="6866997" y="3803375"/>
                <a:ext cx="381939" cy="338236"/>
              </a:xfrm>
              <a:prstGeom prst="ellipse">
                <a:avLst/>
              </a:prstGeom>
              <a:solidFill>
                <a:srgbClr val="F2D130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73" name="Teardrop 172">
                <a:extLst>
                  <a:ext uri="{FF2B5EF4-FFF2-40B4-BE49-F238E27FC236}">
                    <a16:creationId xmlns:a16="http://schemas.microsoft.com/office/drawing/2014/main" id="{E7E7C12F-17DA-4677-B4E6-50D5B32EA1DF}"/>
                  </a:ext>
                </a:extLst>
              </p:cNvPr>
              <p:cNvSpPr/>
              <p:nvPr/>
            </p:nvSpPr>
            <p:spPr>
              <a:xfrm rot="351553">
                <a:off x="6182135" y="3963231"/>
                <a:ext cx="684747" cy="606395"/>
              </a:xfrm>
              <a:prstGeom prst="teardrop">
                <a:avLst/>
              </a:prstGeom>
              <a:solidFill>
                <a:srgbClr val="F2D13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F43717D2-3534-4A43-9B26-737C9AB109E0}"/>
                  </a:ext>
                </a:extLst>
              </p:cNvPr>
              <p:cNvSpPr/>
              <p:nvPr/>
            </p:nvSpPr>
            <p:spPr>
              <a:xfrm rot="15778830">
                <a:off x="6318523" y="3981077"/>
                <a:ext cx="457888" cy="517052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95817CA-24FF-4E98-8F78-7A46EF7FDD95}"/>
                  </a:ext>
                </a:extLst>
              </p:cNvPr>
              <p:cNvSpPr txBox="1"/>
              <p:nvPr/>
            </p:nvSpPr>
            <p:spPr>
              <a:xfrm>
                <a:off x="6776348" y="3816314"/>
                <a:ext cx="630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2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Georgia Pro Cond" panose="02040506050405020303" pitchFamily="18" charset="0"/>
                    <a:cs typeface="B Mitra" panose="00000400000000000000" pitchFamily="2" charset="-78"/>
                    <a:sym typeface="Calibri"/>
                  </a:rPr>
                  <a:t>5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eorgia Pro Cond" panose="02040506050405020303" pitchFamily="18" charset="0"/>
                  <a:cs typeface="B Mitra" panose="00000400000000000000" pitchFamily="2" charset="-78"/>
                  <a:sym typeface="Calibri"/>
                </a:endParaRPr>
              </a:p>
            </p:txBody>
          </p:sp>
        </p:grpSp>
      </p:grp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6D7499B-7A13-4D4A-9371-767386F5B3F0}"/>
              </a:ext>
            </a:extLst>
          </p:cNvPr>
          <p:cNvSpPr/>
          <p:nvPr/>
        </p:nvSpPr>
        <p:spPr>
          <a:xfrm>
            <a:off x="7562808" y="4020145"/>
            <a:ext cx="1550415" cy="704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000" b="1" kern="0" noProof="0" dirty="0">
                <a:solidFill>
                  <a:srgbClr val="000000"/>
                </a:solidFill>
                <a:latin typeface="Georgia" panose="02040502050405020303" pitchFamily="18" charset="0"/>
                <a:ea typeface="Cambria" panose="02040503050406030204" pitchFamily="18" charset="0"/>
                <a:cs typeface="B Mitra" panose="00000400000000000000" pitchFamily="2" charset="-78"/>
                <a:sym typeface="Calibri"/>
              </a:rPr>
              <a:t>اهداف فرعی تحقیق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2040502050405020303" pitchFamily="18" charset="0"/>
              <a:ea typeface="Cambria" panose="02040503050406030204" pitchFamily="18" charset="0"/>
              <a:cs typeface="B Mitra" panose="00000400000000000000" pitchFamily="2" charset="-78"/>
              <a:sym typeface="Calibri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7D6119F-F117-4685-8636-4AD9FEA7F3C9}"/>
              </a:ext>
            </a:extLst>
          </p:cNvPr>
          <p:cNvGrpSpPr/>
          <p:nvPr/>
        </p:nvGrpSpPr>
        <p:grpSpPr>
          <a:xfrm>
            <a:off x="4994554" y="4717309"/>
            <a:ext cx="2384251" cy="667678"/>
            <a:chOff x="5778767" y="2060968"/>
            <a:chExt cx="2796806" cy="667678"/>
          </a:xfrm>
        </p:grpSpPr>
        <p:cxnSp>
          <p:nvCxnSpPr>
            <p:cNvPr id="95" name="Connector: Elbow 67">
              <a:extLst>
                <a:ext uri="{FF2B5EF4-FFF2-40B4-BE49-F238E27FC236}">
                  <a16:creationId xmlns:a16="http://schemas.microsoft.com/office/drawing/2014/main" id="{E7B5F087-73C5-4CA9-A741-AE269179CCCC}"/>
                </a:ext>
              </a:extLst>
            </p:cNvPr>
            <p:cNvCxnSpPr>
              <a:cxnSpLocks/>
              <a:stCxn id="98" idx="3"/>
            </p:cNvCxnSpPr>
            <p:nvPr/>
          </p:nvCxnSpPr>
          <p:spPr>
            <a:xfrm rot="5400000">
              <a:off x="6563857" y="1673452"/>
              <a:ext cx="16992" cy="1587171"/>
            </a:xfrm>
            <a:prstGeom prst="bentConnector4">
              <a:avLst>
                <a:gd name="adj1" fmla="val 1345339"/>
                <a:gd name="adj2" fmla="val 49821"/>
              </a:avLst>
            </a:prstGeom>
            <a:noFill/>
            <a:ln w="9525" cap="flat" cmpd="sng" algn="ctr">
              <a:solidFill>
                <a:sysClr val="window" lastClr="FFFFFF">
                  <a:lumMod val="65000"/>
                </a:sysClr>
              </a:solidFill>
              <a:prstDash val="dash"/>
              <a:tailEnd type="triangle"/>
            </a:ln>
            <a:effectLst/>
          </p:spPr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62FECB6-CD3A-4F92-A8FF-F320BCE11CBA}"/>
                </a:ext>
              </a:extLst>
            </p:cNvPr>
            <p:cNvGrpSpPr/>
            <p:nvPr/>
          </p:nvGrpSpPr>
          <p:grpSpPr>
            <a:xfrm>
              <a:off x="7371621" y="2060968"/>
              <a:ext cx="1203952" cy="667678"/>
              <a:chOff x="7371621" y="2060968"/>
              <a:chExt cx="1203952" cy="66767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A8E5C0E8-6E0A-496C-99CD-A070E128653A}"/>
                  </a:ext>
                </a:extLst>
              </p:cNvPr>
              <p:cNvSpPr/>
              <p:nvPr/>
            </p:nvSpPr>
            <p:spPr>
              <a:xfrm>
                <a:off x="8076612" y="2060968"/>
                <a:ext cx="381939" cy="338236"/>
              </a:xfrm>
              <a:prstGeom prst="ellipse">
                <a:avLst/>
              </a:prstGeom>
              <a:solidFill>
                <a:srgbClr val="D8A713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98" name="Teardrop 97">
                <a:extLst>
                  <a:ext uri="{FF2B5EF4-FFF2-40B4-BE49-F238E27FC236}">
                    <a16:creationId xmlns:a16="http://schemas.microsoft.com/office/drawing/2014/main" id="{B1DAF25A-7B7E-4197-934E-05ED9CDDF4B8}"/>
                  </a:ext>
                </a:extLst>
              </p:cNvPr>
              <p:cNvSpPr/>
              <p:nvPr/>
            </p:nvSpPr>
            <p:spPr>
              <a:xfrm rot="2228256">
                <a:off x="7371621" y="2083830"/>
                <a:ext cx="643947" cy="644816"/>
              </a:xfrm>
              <a:prstGeom prst="teardrop">
                <a:avLst/>
              </a:prstGeom>
              <a:solidFill>
                <a:srgbClr val="D8A71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BF8CDD44-45D1-4224-92BA-FCD8ACBBFFD5}"/>
                  </a:ext>
                </a:extLst>
              </p:cNvPr>
              <p:cNvSpPr/>
              <p:nvPr/>
            </p:nvSpPr>
            <p:spPr>
              <a:xfrm rot="516828">
                <a:off x="7446640" y="2160701"/>
                <a:ext cx="517052" cy="457889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B Mitra" panose="00000400000000000000" pitchFamily="2" charset="-78"/>
                  <a:sym typeface="Calibri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F621A7D-B686-4EAC-A667-6B5CC930F8C4}"/>
                  </a:ext>
                </a:extLst>
              </p:cNvPr>
              <p:cNvSpPr txBox="1"/>
              <p:nvPr/>
            </p:nvSpPr>
            <p:spPr>
              <a:xfrm>
                <a:off x="7945041" y="2090405"/>
                <a:ext cx="630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a-IR" sz="1200" b="1" kern="0" dirty="0">
                    <a:latin typeface="Georgia Pro Cond" panose="02040506050405020303" pitchFamily="18" charset="0"/>
                    <a:cs typeface="B Mitra" panose="00000400000000000000" pitchFamily="2" charset="-78"/>
                    <a:sym typeface="Calibri"/>
                  </a:rPr>
                  <a:t>4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eorgia Pro Cond" panose="02040506050405020303" pitchFamily="18" charset="0"/>
                  <a:cs typeface="B Mitra" panose="00000400000000000000" pitchFamily="2" charset="-78"/>
                  <a:sym typeface="Calibri"/>
                </a:endParaRPr>
              </a:p>
            </p:txBody>
          </p:sp>
        </p:grpSp>
      </p:grpSp>
      <p:sp>
        <p:nvSpPr>
          <p:cNvPr id="101" name="TextBox 34">
            <a:extLst>
              <a:ext uri="{FF2B5EF4-FFF2-40B4-BE49-F238E27FC236}">
                <a16:creationId xmlns:a16="http://schemas.microsoft.com/office/drawing/2014/main" id="{A3EFD324-DB7F-4699-AEEE-7D7BC44CD05C}"/>
              </a:ext>
            </a:extLst>
          </p:cNvPr>
          <p:cNvSpPr txBox="1"/>
          <p:nvPr/>
        </p:nvSpPr>
        <p:spPr>
          <a:xfrm>
            <a:off x="321130" y="4690527"/>
            <a:ext cx="4627187" cy="683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برآورد پتانسیل بهبود تاخیر زمانی : </a:t>
            </a:r>
            <a:r>
              <a:rPr lang="fa-IR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طراحی خروجی برای </a:t>
            </a:r>
            <a:r>
              <a:rPr lang="fa-IR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شناسایی فرصت های احتمالی بهبود زمان اجرای فرآیند</a:t>
            </a:r>
            <a:endParaRPr lang="fa-IR" sz="1500" dirty="0">
              <a:solidFill>
                <a:schemeClr val="tx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98325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71862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defRPr/>
            </a:pPr>
            <a:r>
              <a:rPr lang="fa-IR" sz="2200" kern="0" dirty="0">
                <a:latin typeface="IranNastaliq" panose="02020505000000020003" pitchFamily="18" charset="0"/>
                <a:cs typeface="B Nazanin" panose="00000400000000000000" pitchFamily="2" charset="-78"/>
              </a:rPr>
              <a:t>این شرکت توانسته در جهت کارآفرینی به طور مستقیم برای 50 نفر و غیر مستقیم 2000 هزار نفر در سرار کشور ایجاد شغل کرده است.</a:t>
            </a: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62F8CC-698F-DA62-D782-5058FFC202DF}"/>
              </a:ext>
            </a:extLst>
          </p:cNvPr>
          <p:cNvSpPr/>
          <p:nvPr/>
        </p:nvSpPr>
        <p:spPr>
          <a:xfrm>
            <a:off x="555203" y="429863"/>
            <a:ext cx="835756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b="1" dirty="0">
                <a:cs typeface="B Titr" panose="00000700000000000000" pitchFamily="2" charset="-78"/>
              </a:rPr>
              <a:t>پرسش های تحقیق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azir Light FD" pitchFamily="2" charset="-78"/>
              <a:cs typeface="B Titr" panose="00000700000000000000" pitchFamily="2" charset="-78"/>
            </a:endParaRPr>
          </a:p>
        </p:txBody>
      </p:sp>
      <p:sp>
        <p:nvSpPr>
          <p:cNvPr id="114" name="Rounded Rectangle 1">
            <a:extLst>
              <a:ext uri="{FF2B5EF4-FFF2-40B4-BE49-F238E27FC236}">
                <a16:creationId xmlns:a16="http://schemas.microsoft.com/office/drawing/2014/main" id="{FD52743A-091D-4C38-95CC-14A0F3F3F02E}"/>
              </a:ext>
            </a:extLst>
          </p:cNvPr>
          <p:cNvSpPr/>
          <p:nvPr/>
        </p:nvSpPr>
        <p:spPr bwMode="auto">
          <a:xfrm>
            <a:off x="2593588" y="2060174"/>
            <a:ext cx="2074001" cy="2593557"/>
          </a:xfrm>
          <a:prstGeom prst="roundRect">
            <a:avLst>
              <a:gd name="adj" fmla="val 2440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endParaRPr lang="en-US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  <a:p>
            <a:pPr algn="ctr" rtl="1">
              <a:lnSpc>
                <a:spcPct val="120000"/>
              </a:lnSpc>
            </a:pPr>
            <a:endParaRPr lang="fa-IR" sz="1500" b="1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چگونه می‌توان در چارچوب پیشنهادی، سازوکاری برای برآورد پتانسیل بهبود تأخیر زمانی طراحی کرد؟</a:t>
            </a:r>
            <a:endParaRPr lang="fa-IR" sz="1500" b="1" dirty="0">
              <a:solidFill>
                <a:schemeClr val="bg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6F49189C-9FF5-433B-8954-DB33F93E1CAB}"/>
              </a:ext>
            </a:extLst>
          </p:cNvPr>
          <p:cNvSpPr/>
          <p:nvPr/>
        </p:nvSpPr>
        <p:spPr bwMode="auto">
          <a:xfrm>
            <a:off x="4779322" y="2079340"/>
            <a:ext cx="2132051" cy="2574390"/>
          </a:xfrm>
          <a:prstGeom prst="roundRect">
            <a:avLst>
              <a:gd name="adj" fmla="val 2440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endParaRPr lang="fa-IR" sz="1500" b="1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ctr" rtl="1">
              <a:lnSpc>
                <a:spcPct val="120000"/>
              </a:lnSpc>
            </a:pPr>
            <a:endParaRPr lang="fa-IR" sz="1500" dirty="0">
              <a:cs typeface="B Nazanin" panose="00000400000000000000" pitchFamily="2" charset="-78"/>
            </a:endParaRPr>
          </a:p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چگونه می‌توان در معماری پیشنهادی، خروجی مستقلی برای تخمین زمان باقی‌مانده فرآیند طراحی کرد؟</a:t>
            </a:r>
            <a:endParaRPr lang="fa-IR" sz="1500" b="1" dirty="0">
              <a:solidFill>
                <a:schemeClr val="bg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03E482B4-7BD0-4BE6-A349-A6305879BB7F}"/>
              </a:ext>
            </a:extLst>
          </p:cNvPr>
          <p:cNvSpPr/>
          <p:nvPr/>
        </p:nvSpPr>
        <p:spPr bwMode="auto">
          <a:xfrm>
            <a:off x="7117116" y="2130671"/>
            <a:ext cx="2015358" cy="2509781"/>
          </a:xfrm>
          <a:prstGeom prst="roundRect">
            <a:avLst>
              <a:gd name="adj" fmla="val 1932"/>
            </a:avLst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endParaRPr lang="fa-IR" sz="1500" b="1" dirty="0">
              <a:solidFill>
                <a:schemeClr val="bg1"/>
              </a:solidFill>
            </a:endParaRPr>
          </a:p>
          <a:p>
            <a:pPr algn="ctr" rtl="1">
              <a:lnSpc>
                <a:spcPct val="120000"/>
              </a:lnSpc>
            </a:pPr>
            <a:endParaRPr lang="fa-IR" sz="1500" b="1" dirty="0">
              <a:solidFill>
                <a:schemeClr val="bg1"/>
              </a:solidFill>
            </a:endParaRPr>
          </a:p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عملکرد مدل پیشنهادی در پیش‌بینی فعالیت بعدی فرآیندهای مالی چگونه است؟</a:t>
            </a:r>
            <a:endParaRPr lang="fa-IR" sz="1500" b="1" dirty="0">
              <a:solidFill>
                <a:schemeClr val="bg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1BBA461-D7E6-4127-9702-966FC2D315CE}"/>
              </a:ext>
            </a:extLst>
          </p:cNvPr>
          <p:cNvSpPr/>
          <p:nvPr/>
        </p:nvSpPr>
        <p:spPr bwMode="auto">
          <a:xfrm>
            <a:off x="3294514" y="1606335"/>
            <a:ext cx="690040" cy="710976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EB1EB89-A389-4346-9C7A-B58B26A817CB}"/>
              </a:ext>
            </a:extLst>
          </p:cNvPr>
          <p:cNvSpPr/>
          <p:nvPr/>
        </p:nvSpPr>
        <p:spPr bwMode="auto">
          <a:xfrm>
            <a:off x="5548373" y="1606335"/>
            <a:ext cx="690040" cy="710976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01CADFC-8F70-4DD3-8284-A67472979DC4}"/>
              </a:ext>
            </a:extLst>
          </p:cNvPr>
          <p:cNvSpPr/>
          <p:nvPr/>
        </p:nvSpPr>
        <p:spPr bwMode="auto">
          <a:xfrm>
            <a:off x="7646066" y="1626772"/>
            <a:ext cx="690040" cy="710976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6542BB7-10D6-454C-8272-D095C6929D31}"/>
              </a:ext>
            </a:extLst>
          </p:cNvPr>
          <p:cNvGrpSpPr/>
          <p:nvPr/>
        </p:nvGrpSpPr>
        <p:grpSpPr>
          <a:xfrm>
            <a:off x="7895704" y="1809131"/>
            <a:ext cx="229091" cy="327509"/>
            <a:chOff x="-447675" y="2074863"/>
            <a:chExt cx="762000" cy="1057276"/>
          </a:xfrm>
          <a:solidFill>
            <a:schemeClr val="bg1"/>
          </a:solidFill>
        </p:grpSpPr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0650E153-7392-402F-BC58-99A65F5D3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9550" y="2867026"/>
              <a:ext cx="263525" cy="265113"/>
            </a:xfrm>
            <a:custGeom>
              <a:avLst/>
              <a:gdLst>
                <a:gd name="T0" fmla="*/ 104 w 831"/>
                <a:gd name="T1" fmla="*/ 0 h 832"/>
                <a:gd name="T2" fmla="*/ 727 w 831"/>
                <a:gd name="T3" fmla="*/ 0 h 832"/>
                <a:gd name="T4" fmla="*/ 747 w 831"/>
                <a:gd name="T5" fmla="*/ 2 h 832"/>
                <a:gd name="T6" fmla="*/ 766 w 831"/>
                <a:gd name="T7" fmla="*/ 8 h 832"/>
                <a:gd name="T8" fmla="*/ 783 w 831"/>
                <a:gd name="T9" fmla="*/ 17 h 832"/>
                <a:gd name="T10" fmla="*/ 799 w 831"/>
                <a:gd name="T11" fmla="*/ 32 h 832"/>
                <a:gd name="T12" fmla="*/ 814 w 831"/>
                <a:gd name="T13" fmla="*/ 48 h 832"/>
                <a:gd name="T14" fmla="*/ 823 w 831"/>
                <a:gd name="T15" fmla="*/ 66 h 832"/>
                <a:gd name="T16" fmla="*/ 829 w 831"/>
                <a:gd name="T17" fmla="*/ 84 h 832"/>
                <a:gd name="T18" fmla="*/ 831 w 831"/>
                <a:gd name="T19" fmla="*/ 105 h 832"/>
                <a:gd name="T20" fmla="*/ 831 w 831"/>
                <a:gd name="T21" fmla="*/ 728 h 832"/>
                <a:gd name="T22" fmla="*/ 829 w 831"/>
                <a:gd name="T23" fmla="*/ 749 h 832"/>
                <a:gd name="T24" fmla="*/ 823 w 831"/>
                <a:gd name="T25" fmla="*/ 767 h 832"/>
                <a:gd name="T26" fmla="*/ 814 w 831"/>
                <a:gd name="T27" fmla="*/ 785 h 832"/>
                <a:gd name="T28" fmla="*/ 799 w 831"/>
                <a:gd name="T29" fmla="*/ 801 h 832"/>
                <a:gd name="T30" fmla="*/ 783 w 831"/>
                <a:gd name="T31" fmla="*/ 814 h 832"/>
                <a:gd name="T32" fmla="*/ 766 w 831"/>
                <a:gd name="T33" fmla="*/ 825 h 832"/>
                <a:gd name="T34" fmla="*/ 747 w 831"/>
                <a:gd name="T35" fmla="*/ 830 h 832"/>
                <a:gd name="T36" fmla="*/ 727 w 831"/>
                <a:gd name="T37" fmla="*/ 832 h 832"/>
                <a:gd name="T38" fmla="*/ 104 w 831"/>
                <a:gd name="T39" fmla="*/ 832 h 832"/>
                <a:gd name="T40" fmla="*/ 83 w 831"/>
                <a:gd name="T41" fmla="*/ 830 h 832"/>
                <a:gd name="T42" fmla="*/ 65 w 831"/>
                <a:gd name="T43" fmla="*/ 825 h 832"/>
                <a:gd name="T44" fmla="*/ 47 w 831"/>
                <a:gd name="T45" fmla="*/ 814 h 832"/>
                <a:gd name="T46" fmla="*/ 31 w 831"/>
                <a:gd name="T47" fmla="*/ 801 h 832"/>
                <a:gd name="T48" fmla="*/ 18 w 831"/>
                <a:gd name="T49" fmla="*/ 785 h 832"/>
                <a:gd name="T50" fmla="*/ 7 w 831"/>
                <a:gd name="T51" fmla="*/ 767 h 832"/>
                <a:gd name="T52" fmla="*/ 2 w 831"/>
                <a:gd name="T53" fmla="*/ 749 h 832"/>
                <a:gd name="T54" fmla="*/ 0 w 831"/>
                <a:gd name="T55" fmla="*/ 728 h 832"/>
                <a:gd name="T56" fmla="*/ 0 w 831"/>
                <a:gd name="T57" fmla="*/ 105 h 832"/>
                <a:gd name="T58" fmla="*/ 2 w 831"/>
                <a:gd name="T59" fmla="*/ 84 h 832"/>
                <a:gd name="T60" fmla="*/ 7 w 831"/>
                <a:gd name="T61" fmla="*/ 66 h 832"/>
                <a:gd name="T62" fmla="*/ 18 w 831"/>
                <a:gd name="T63" fmla="*/ 48 h 832"/>
                <a:gd name="T64" fmla="*/ 31 w 831"/>
                <a:gd name="T65" fmla="*/ 32 h 832"/>
                <a:gd name="T66" fmla="*/ 47 w 831"/>
                <a:gd name="T67" fmla="*/ 18 h 832"/>
                <a:gd name="T68" fmla="*/ 65 w 831"/>
                <a:gd name="T69" fmla="*/ 8 h 832"/>
                <a:gd name="T70" fmla="*/ 83 w 831"/>
                <a:gd name="T71" fmla="*/ 2 h 832"/>
                <a:gd name="T72" fmla="*/ 104 w 831"/>
                <a:gd name="T73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31" h="832">
                  <a:moveTo>
                    <a:pt x="104" y="0"/>
                  </a:moveTo>
                  <a:lnTo>
                    <a:pt x="727" y="0"/>
                  </a:lnTo>
                  <a:lnTo>
                    <a:pt x="747" y="2"/>
                  </a:lnTo>
                  <a:lnTo>
                    <a:pt x="766" y="8"/>
                  </a:lnTo>
                  <a:lnTo>
                    <a:pt x="783" y="17"/>
                  </a:lnTo>
                  <a:lnTo>
                    <a:pt x="799" y="32"/>
                  </a:lnTo>
                  <a:lnTo>
                    <a:pt x="814" y="48"/>
                  </a:lnTo>
                  <a:lnTo>
                    <a:pt x="823" y="66"/>
                  </a:lnTo>
                  <a:lnTo>
                    <a:pt x="829" y="84"/>
                  </a:lnTo>
                  <a:lnTo>
                    <a:pt x="831" y="105"/>
                  </a:lnTo>
                  <a:lnTo>
                    <a:pt x="831" y="728"/>
                  </a:lnTo>
                  <a:lnTo>
                    <a:pt x="829" y="749"/>
                  </a:lnTo>
                  <a:lnTo>
                    <a:pt x="823" y="767"/>
                  </a:lnTo>
                  <a:lnTo>
                    <a:pt x="814" y="785"/>
                  </a:lnTo>
                  <a:lnTo>
                    <a:pt x="799" y="801"/>
                  </a:lnTo>
                  <a:lnTo>
                    <a:pt x="783" y="814"/>
                  </a:lnTo>
                  <a:lnTo>
                    <a:pt x="766" y="825"/>
                  </a:lnTo>
                  <a:lnTo>
                    <a:pt x="747" y="830"/>
                  </a:lnTo>
                  <a:lnTo>
                    <a:pt x="727" y="832"/>
                  </a:lnTo>
                  <a:lnTo>
                    <a:pt x="104" y="832"/>
                  </a:lnTo>
                  <a:lnTo>
                    <a:pt x="83" y="830"/>
                  </a:lnTo>
                  <a:lnTo>
                    <a:pt x="65" y="825"/>
                  </a:lnTo>
                  <a:lnTo>
                    <a:pt x="47" y="814"/>
                  </a:lnTo>
                  <a:lnTo>
                    <a:pt x="31" y="801"/>
                  </a:lnTo>
                  <a:lnTo>
                    <a:pt x="18" y="785"/>
                  </a:lnTo>
                  <a:lnTo>
                    <a:pt x="7" y="767"/>
                  </a:lnTo>
                  <a:lnTo>
                    <a:pt x="2" y="749"/>
                  </a:lnTo>
                  <a:lnTo>
                    <a:pt x="0" y="728"/>
                  </a:lnTo>
                  <a:lnTo>
                    <a:pt x="0" y="105"/>
                  </a:lnTo>
                  <a:lnTo>
                    <a:pt x="2" y="84"/>
                  </a:lnTo>
                  <a:lnTo>
                    <a:pt x="7" y="66"/>
                  </a:lnTo>
                  <a:lnTo>
                    <a:pt x="18" y="48"/>
                  </a:lnTo>
                  <a:lnTo>
                    <a:pt x="31" y="32"/>
                  </a:lnTo>
                  <a:lnTo>
                    <a:pt x="47" y="18"/>
                  </a:lnTo>
                  <a:lnTo>
                    <a:pt x="65" y="8"/>
                  </a:lnTo>
                  <a:lnTo>
                    <a:pt x="83" y="2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D56E8119-DE27-433E-AA4E-1F0544B31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7675" y="2074863"/>
              <a:ext cx="762000" cy="739776"/>
            </a:xfrm>
            <a:custGeom>
              <a:avLst/>
              <a:gdLst>
                <a:gd name="T0" fmla="*/ 1387 w 2399"/>
                <a:gd name="T1" fmla="*/ 13 h 2328"/>
                <a:gd name="T2" fmla="*/ 1639 w 2399"/>
                <a:gd name="T3" fmla="*/ 81 h 2328"/>
                <a:gd name="T4" fmla="*/ 1876 w 2399"/>
                <a:gd name="T5" fmla="*/ 197 h 2328"/>
                <a:gd name="T6" fmla="*/ 2072 w 2399"/>
                <a:gd name="T7" fmla="*/ 343 h 2328"/>
                <a:gd name="T8" fmla="*/ 2216 w 2399"/>
                <a:gd name="T9" fmla="*/ 504 h 2328"/>
                <a:gd name="T10" fmla="*/ 2325 w 2399"/>
                <a:gd name="T11" fmla="*/ 694 h 2328"/>
                <a:gd name="T12" fmla="*/ 2388 w 2399"/>
                <a:gd name="T13" fmla="*/ 897 h 2328"/>
                <a:gd name="T14" fmla="*/ 2397 w 2399"/>
                <a:gd name="T15" fmla="*/ 1109 h 2328"/>
                <a:gd name="T16" fmla="*/ 2359 w 2399"/>
                <a:gd name="T17" fmla="*/ 1302 h 2328"/>
                <a:gd name="T18" fmla="*/ 2292 w 2399"/>
                <a:gd name="T19" fmla="*/ 1459 h 2328"/>
                <a:gd name="T20" fmla="*/ 2207 w 2399"/>
                <a:gd name="T21" fmla="*/ 1578 h 2328"/>
                <a:gd name="T22" fmla="*/ 2090 w 2399"/>
                <a:gd name="T23" fmla="*/ 1685 h 2328"/>
                <a:gd name="T24" fmla="*/ 2000 w 2399"/>
                <a:gd name="T25" fmla="*/ 1753 h 2328"/>
                <a:gd name="T26" fmla="*/ 1923 w 2399"/>
                <a:gd name="T27" fmla="*/ 1800 h 2328"/>
                <a:gd name="T28" fmla="*/ 1817 w 2399"/>
                <a:gd name="T29" fmla="*/ 1861 h 2328"/>
                <a:gd name="T30" fmla="*/ 1702 w 2399"/>
                <a:gd name="T31" fmla="*/ 1950 h 2328"/>
                <a:gd name="T32" fmla="*/ 1618 w 2399"/>
                <a:gd name="T33" fmla="*/ 2065 h 2328"/>
                <a:gd name="T34" fmla="*/ 1576 w 2399"/>
                <a:gd name="T35" fmla="*/ 2156 h 2328"/>
                <a:gd name="T36" fmla="*/ 1565 w 2399"/>
                <a:gd name="T37" fmla="*/ 2233 h 2328"/>
                <a:gd name="T38" fmla="*/ 1521 w 2399"/>
                <a:gd name="T39" fmla="*/ 2306 h 2328"/>
                <a:gd name="T40" fmla="*/ 1464 w 2399"/>
                <a:gd name="T41" fmla="*/ 2328 h 2328"/>
                <a:gd name="T42" fmla="*/ 806 w 2399"/>
                <a:gd name="T43" fmla="*/ 2317 h 2328"/>
                <a:gd name="T44" fmla="*/ 760 w 2399"/>
                <a:gd name="T45" fmla="*/ 2248 h 2328"/>
                <a:gd name="T46" fmla="*/ 748 w 2399"/>
                <a:gd name="T47" fmla="*/ 2066 h 2328"/>
                <a:gd name="T48" fmla="*/ 779 w 2399"/>
                <a:gd name="T49" fmla="*/ 1886 h 2328"/>
                <a:gd name="T50" fmla="*/ 872 w 2399"/>
                <a:gd name="T51" fmla="*/ 1714 h 2328"/>
                <a:gd name="T52" fmla="*/ 1033 w 2399"/>
                <a:gd name="T53" fmla="*/ 1544 h 2328"/>
                <a:gd name="T54" fmla="*/ 1221 w 2399"/>
                <a:gd name="T55" fmla="*/ 1411 h 2328"/>
                <a:gd name="T56" fmla="*/ 1397 w 2399"/>
                <a:gd name="T57" fmla="*/ 1321 h 2328"/>
                <a:gd name="T58" fmla="*/ 1506 w 2399"/>
                <a:gd name="T59" fmla="*/ 1232 h 2328"/>
                <a:gd name="T60" fmla="*/ 1555 w 2399"/>
                <a:gd name="T61" fmla="*/ 1145 h 2328"/>
                <a:gd name="T62" fmla="*/ 1571 w 2399"/>
                <a:gd name="T63" fmla="*/ 1034 h 2328"/>
                <a:gd name="T64" fmla="*/ 1541 w 2399"/>
                <a:gd name="T65" fmla="*/ 931 h 2328"/>
                <a:gd name="T66" fmla="*/ 1450 w 2399"/>
                <a:gd name="T67" fmla="*/ 842 h 2328"/>
                <a:gd name="T68" fmla="*/ 1321 w 2399"/>
                <a:gd name="T69" fmla="*/ 779 h 2328"/>
                <a:gd name="T70" fmla="*/ 1171 w 2399"/>
                <a:gd name="T71" fmla="*/ 759 h 2328"/>
                <a:gd name="T72" fmla="*/ 1017 w 2399"/>
                <a:gd name="T73" fmla="*/ 777 h 2328"/>
                <a:gd name="T74" fmla="*/ 891 w 2399"/>
                <a:gd name="T75" fmla="*/ 835 h 2328"/>
                <a:gd name="T76" fmla="*/ 820 w 2399"/>
                <a:gd name="T77" fmla="*/ 896 h 2328"/>
                <a:gd name="T78" fmla="*/ 727 w 2399"/>
                <a:gd name="T79" fmla="*/ 996 h 2328"/>
                <a:gd name="T80" fmla="*/ 613 w 2399"/>
                <a:gd name="T81" fmla="*/ 1134 h 2328"/>
                <a:gd name="T82" fmla="*/ 555 w 2399"/>
                <a:gd name="T83" fmla="*/ 1172 h 2328"/>
                <a:gd name="T84" fmla="*/ 489 w 2399"/>
                <a:gd name="T85" fmla="*/ 1166 h 2328"/>
                <a:gd name="T86" fmla="*/ 27 w 2399"/>
                <a:gd name="T87" fmla="*/ 815 h 2328"/>
                <a:gd name="T88" fmla="*/ 1 w 2399"/>
                <a:gd name="T89" fmla="*/ 764 h 2328"/>
                <a:gd name="T90" fmla="*/ 15 w 2399"/>
                <a:gd name="T91" fmla="*/ 691 h 2328"/>
                <a:gd name="T92" fmla="*/ 174 w 2399"/>
                <a:gd name="T93" fmla="*/ 469 h 2328"/>
                <a:gd name="T94" fmla="*/ 356 w 2399"/>
                <a:gd name="T95" fmla="*/ 289 h 2328"/>
                <a:gd name="T96" fmla="*/ 560 w 2399"/>
                <a:gd name="T97" fmla="*/ 153 h 2328"/>
                <a:gd name="T98" fmla="*/ 788 w 2399"/>
                <a:gd name="T99" fmla="*/ 59 h 2328"/>
                <a:gd name="T100" fmla="*/ 1041 w 2399"/>
                <a:gd name="T101" fmla="*/ 10 h 2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99" h="2328">
                  <a:moveTo>
                    <a:pt x="1220" y="0"/>
                  </a:moveTo>
                  <a:lnTo>
                    <a:pt x="1304" y="3"/>
                  </a:lnTo>
                  <a:lnTo>
                    <a:pt x="1387" y="13"/>
                  </a:lnTo>
                  <a:lnTo>
                    <a:pt x="1471" y="28"/>
                  </a:lnTo>
                  <a:lnTo>
                    <a:pt x="1555" y="51"/>
                  </a:lnTo>
                  <a:lnTo>
                    <a:pt x="1639" y="81"/>
                  </a:lnTo>
                  <a:lnTo>
                    <a:pt x="1721" y="115"/>
                  </a:lnTo>
                  <a:lnTo>
                    <a:pt x="1800" y="154"/>
                  </a:lnTo>
                  <a:lnTo>
                    <a:pt x="1876" y="197"/>
                  </a:lnTo>
                  <a:lnTo>
                    <a:pt x="1949" y="244"/>
                  </a:lnTo>
                  <a:lnTo>
                    <a:pt x="2017" y="296"/>
                  </a:lnTo>
                  <a:lnTo>
                    <a:pt x="2072" y="343"/>
                  </a:lnTo>
                  <a:lnTo>
                    <a:pt x="2123" y="393"/>
                  </a:lnTo>
                  <a:lnTo>
                    <a:pt x="2171" y="446"/>
                  </a:lnTo>
                  <a:lnTo>
                    <a:pt x="2216" y="504"/>
                  </a:lnTo>
                  <a:lnTo>
                    <a:pt x="2256" y="564"/>
                  </a:lnTo>
                  <a:lnTo>
                    <a:pt x="2294" y="627"/>
                  </a:lnTo>
                  <a:lnTo>
                    <a:pt x="2325" y="694"/>
                  </a:lnTo>
                  <a:lnTo>
                    <a:pt x="2352" y="761"/>
                  </a:lnTo>
                  <a:lnTo>
                    <a:pt x="2373" y="829"/>
                  </a:lnTo>
                  <a:lnTo>
                    <a:pt x="2388" y="897"/>
                  </a:lnTo>
                  <a:lnTo>
                    <a:pt x="2396" y="968"/>
                  </a:lnTo>
                  <a:lnTo>
                    <a:pt x="2399" y="1039"/>
                  </a:lnTo>
                  <a:lnTo>
                    <a:pt x="2397" y="1109"/>
                  </a:lnTo>
                  <a:lnTo>
                    <a:pt x="2389" y="1176"/>
                  </a:lnTo>
                  <a:lnTo>
                    <a:pt x="2377" y="1239"/>
                  </a:lnTo>
                  <a:lnTo>
                    <a:pt x="2359" y="1302"/>
                  </a:lnTo>
                  <a:lnTo>
                    <a:pt x="2339" y="1361"/>
                  </a:lnTo>
                  <a:lnTo>
                    <a:pt x="2316" y="1413"/>
                  </a:lnTo>
                  <a:lnTo>
                    <a:pt x="2292" y="1459"/>
                  </a:lnTo>
                  <a:lnTo>
                    <a:pt x="2268" y="1501"/>
                  </a:lnTo>
                  <a:lnTo>
                    <a:pt x="2240" y="1539"/>
                  </a:lnTo>
                  <a:lnTo>
                    <a:pt x="2207" y="1578"/>
                  </a:lnTo>
                  <a:lnTo>
                    <a:pt x="2169" y="1617"/>
                  </a:lnTo>
                  <a:lnTo>
                    <a:pt x="2125" y="1656"/>
                  </a:lnTo>
                  <a:lnTo>
                    <a:pt x="2090" y="1685"/>
                  </a:lnTo>
                  <a:lnTo>
                    <a:pt x="2057" y="1711"/>
                  </a:lnTo>
                  <a:lnTo>
                    <a:pt x="2028" y="1734"/>
                  </a:lnTo>
                  <a:lnTo>
                    <a:pt x="2000" y="1753"/>
                  </a:lnTo>
                  <a:lnTo>
                    <a:pt x="1976" y="1769"/>
                  </a:lnTo>
                  <a:lnTo>
                    <a:pt x="1952" y="1784"/>
                  </a:lnTo>
                  <a:lnTo>
                    <a:pt x="1923" y="1800"/>
                  </a:lnTo>
                  <a:lnTo>
                    <a:pt x="1891" y="1819"/>
                  </a:lnTo>
                  <a:lnTo>
                    <a:pt x="1856" y="1839"/>
                  </a:lnTo>
                  <a:lnTo>
                    <a:pt x="1817" y="1861"/>
                  </a:lnTo>
                  <a:lnTo>
                    <a:pt x="1776" y="1887"/>
                  </a:lnTo>
                  <a:lnTo>
                    <a:pt x="1738" y="1916"/>
                  </a:lnTo>
                  <a:lnTo>
                    <a:pt x="1702" y="1950"/>
                  </a:lnTo>
                  <a:lnTo>
                    <a:pt x="1670" y="1988"/>
                  </a:lnTo>
                  <a:lnTo>
                    <a:pt x="1640" y="2029"/>
                  </a:lnTo>
                  <a:lnTo>
                    <a:pt x="1618" y="2065"/>
                  </a:lnTo>
                  <a:lnTo>
                    <a:pt x="1600" y="2098"/>
                  </a:lnTo>
                  <a:lnTo>
                    <a:pt x="1586" y="2128"/>
                  </a:lnTo>
                  <a:lnTo>
                    <a:pt x="1576" y="2156"/>
                  </a:lnTo>
                  <a:lnTo>
                    <a:pt x="1570" y="2182"/>
                  </a:lnTo>
                  <a:lnTo>
                    <a:pt x="1569" y="2204"/>
                  </a:lnTo>
                  <a:lnTo>
                    <a:pt x="1565" y="2233"/>
                  </a:lnTo>
                  <a:lnTo>
                    <a:pt x="1555" y="2262"/>
                  </a:lnTo>
                  <a:lnTo>
                    <a:pt x="1537" y="2288"/>
                  </a:lnTo>
                  <a:lnTo>
                    <a:pt x="1521" y="2306"/>
                  </a:lnTo>
                  <a:lnTo>
                    <a:pt x="1503" y="2319"/>
                  </a:lnTo>
                  <a:lnTo>
                    <a:pt x="1485" y="2326"/>
                  </a:lnTo>
                  <a:lnTo>
                    <a:pt x="1464" y="2328"/>
                  </a:lnTo>
                  <a:lnTo>
                    <a:pt x="841" y="2328"/>
                  </a:lnTo>
                  <a:lnTo>
                    <a:pt x="823" y="2326"/>
                  </a:lnTo>
                  <a:lnTo>
                    <a:pt x="806" y="2317"/>
                  </a:lnTo>
                  <a:lnTo>
                    <a:pt x="789" y="2302"/>
                  </a:lnTo>
                  <a:lnTo>
                    <a:pt x="775" y="2281"/>
                  </a:lnTo>
                  <a:lnTo>
                    <a:pt x="760" y="2248"/>
                  </a:lnTo>
                  <a:lnTo>
                    <a:pt x="751" y="2216"/>
                  </a:lnTo>
                  <a:lnTo>
                    <a:pt x="748" y="2184"/>
                  </a:lnTo>
                  <a:lnTo>
                    <a:pt x="748" y="2066"/>
                  </a:lnTo>
                  <a:lnTo>
                    <a:pt x="751" y="2005"/>
                  </a:lnTo>
                  <a:lnTo>
                    <a:pt x="761" y="1945"/>
                  </a:lnTo>
                  <a:lnTo>
                    <a:pt x="779" y="1886"/>
                  </a:lnTo>
                  <a:lnTo>
                    <a:pt x="804" y="1828"/>
                  </a:lnTo>
                  <a:lnTo>
                    <a:pt x="834" y="1771"/>
                  </a:lnTo>
                  <a:lnTo>
                    <a:pt x="872" y="1714"/>
                  </a:lnTo>
                  <a:lnTo>
                    <a:pt x="916" y="1660"/>
                  </a:lnTo>
                  <a:lnTo>
                    <a:pt x="974" y="1599"/>
                  </a:lnTo>
                  <a:lnTo>
                    <a:pt x="1033" y="1544"/>
                  </a:lnTo>
                  <a:lnTo>
                    <a:pt x="1094" y="1493"/>
                  </a:lnTo>
                  <a:lnTo>
                    <a:pt x="1157" y="1449"/>
                  </a:lnTo>
                  <a:lnTo>
                    <a:pt x="1221" y="1411"/>
                  </a:lnTo>
                  <a:lnTo>
                    <a:pt x="1288" y="1377"/>
                  </a:lnTo>
                  <a:lnTo>
                    <a:pt x="1345" y="1349"/>
                  </a:lnTo>
                  <a:lnTo>
                    <a:pt x="1397" y="1321"/>
                  </a:lnTo>
                  <a:lnTo>
                    <a:pt x="1440" y="1292"/>
                  </a:lnTo>
                  <a:lnTo>
                    <a:pt x="1477" y="1262"/>
                  </a:lnTo>
                  <a:lnTo>
                    <a:pt x="1506" y="1232"/>
                  </a:lnTo>
                  <a:lnTo>
                    <a:pt x="1526" y="1206"/>
                  </a:lnTo>
                  <a:lnTo>
                    <a:pt x="1542" y="1177"/>
                  </a:lnTo>
                  <a:lnTo>
                    <a:pt x="1555" y="1145"/>
                  </a:lnTo>
                  <a:lnTo>
                    <a:pt x="1564" y="1111"/>
                  </a:lnTo>
                  <a:lnTo>
                    <a:pt x="1569" y="1074"/>
                  </a:lnTo>
                  <a:lnTo>
                    <a:pt x="1571" y="1034"/>
                  </a:lnTo>
                  <a:lnTo>
                    <a:pt x="1568" y="999"/>
                  </a:lnTo>
                  <a:lnTo>
                    <a:pt x="1558" y="964"/>
                  </a:lnTo>
                  <a:lnTo>
                    <a:pt x="1541" y="931"/>
                  </a:lnTo>
                  <a:lnTo>
                    <a:pt x="1518" y="900"/>
                  </a:lnTo>
                  <a:lnTo>
                    <a:pt x="1487" y="871"/>
                  </a:lnTo>
                  <a:lnTo>
                    <a:pt x="1450" y="842"/>
                  </a:lnTo>
                  <a:lnTo>
                    <a:pt x="1409" y="816"/>
                  </a:lnTo>
                  <a:lnTo>
                    <a:pt x="1366" y="796"/>
                  </a:lnTo>
                  <a:lnTo>
                    <a:pt x="1321" y="779"/>
                  </a:lnTo>
                  <a:lnTo>
                    <a:pt x="1272" y="768"/>
                  </a:lnTo>
                  <a:lnTo>
                    <a:pt x="1223" y="761"/>
                  </a:lnTo>
                  <a:lnTo>
                    <a:pt x="1171" y="759"/>
                  </a:lnTo>
                  <a:lnTo>
                    <a:pt x="1116" y="761"/>
                  </a:lnTo>
                  <a:lnTo>
                    <a:pt x="1065" y="767"/>
                  </a:lnTo>
                  <a:lnTo>
                    <a:pt x="1017" y="777"/>
                  </a:lnTo>
                  <a:lnTo>
                    <a:pt x="972" y="793"/>
                  </a:lnTo>
                  <a:lnTo>
                    <a:pt x="930" y="811"/>
                  </a:lnTo>
                  <a:lnTo>
                    <a:pt x="891" y="835"/>
                  </a:lnTo>
                  <a:lnTo>
                    <a:pt x="869" y="851"/>
                  </a:lnTo>
                  <a:lnTo>
                    <a:pt x="846" y="872"/>
                  </a:lnTo>
                  <a:lnTo>
                    <a:pt x="820" y="896"/>
                  </a:lnTo>
                  <a:lnTo>
                    <a:pt x="791" y="925"/>
                  </a:lnTo>
                  <a:lnTo>
                    <a:pt x="760" y="959"/>
                  </a:lnTo>
                  <a:lnTo>
                    <a:pt x="727" y="996"/>
                  </a:lnTo>
                  <a:lnTo>
                    <a:pt x="692" y="1037"/>
                  </a:lnTo>
                  <a:lnTo>
                    <a:pt x="654" y="1083"/>
                  </a:lnTo>
                  <a:lnTo>
                    <a:pt x="613" y="1134"/>
                  </a:lnTo>
                  <a:lnTo>
                    <a:pt x="595" y="1151"/>
                  </a:lnTo>
                  <a:lnTo>
                    <a:pt x="576" y="1165"/>
                  </a:lnTo>
                  <a:lnTo>
                    <a:pt x="555" y="1172"/>
                  </a:lnTo>
                  <a:lnTo>
                    <a:pt x="533" y="1175"/>
                  </a:lnTo>
                  <a:lnTo>
                    <a:pt x="511" y="1173"/>
                  </a:lnTo>
                  <a:lnTo>
                    <a:pt x="489" y="1166"/>
                  </a:lnTo>
                  <a:lnTo>
                    <a:pt x="468" y="1154"/>
                  </a:lnTo>
                  <a:lnTo>
                    <a:pt x="42" y="830"/>
                  </a:lnTo>
                  <a:lnTo>
                    <a:pt x="27" y="815"/>
                  </a:lnTo>
                  <a:lnTo>
                    <a:pt x="14" y="800"/>
                  </a:lnTo>
                  <a:lnTo>
                    <a:pt x="6" y="782"/>
                  </a:lnTo>
                  <a:lnTo>
                    <a:pt x="1" y="764"/>
                  </a:lnTo>
                  <a:lnTo>
                    <a:pt x="0" y="738"/>
                  </a:lnTo>
                  <a:lnTo>
                    <a:pt x="5" y="715"/>
                  </a:lnTo>
                  <a:lnTo>
                    <a:pt x="15" y="691"/>
                  </a:lnTo>
                  <a:lnTo>
                    <a:pt x="66" y="612"/>
                  </a:lnTo>
                  <a:lnTo>
                    <a:pt x="119" y="538"/>
                  </a:lnTo>
                  <a:lnTo>
                    <a:pt x="174" y="469"/>
                  </a:lnTo>
                  <a:lnTo>
                    <a:pt x="232" y="404"/>
                  </a:lnTo>
                  <a:lnTo>
                    <a:pt x="292" y="345"/>
                  </a:lnTo>
                  <a:lnTo>
                    <a:pt x="356" y="289"/>
                  </a:lnTo>
                  <a:lnTo>
                    <a:pt x="422" y="239"/>
                  </a:lnTo>
                  <a:lnTo>
                    <a:pt x="489" y="194"/>
                  </a:lnTo>
                  <a:lnTo>
                    <a:pt x="560" y="153"/>
                  </a:lnTo>
                  <a:lnTo>
                    <a:pt x="634" y="117"/>
                  </a:lnTo>
                  <a:lnTo>
                    <a:pt x="710" y="86"/>
                  </a:lnTo>
                  <a:lnTo>
                    <a:pt x="788" y="59"/>
                  </a:lnTo>
                  <a:lnTo>
                    <a:pt x="870" y="38"/>
                  </a:lnTo>
                  <a:lnTo>
                    <a:pt x="953" y="21"/>
                  </a:lnTo>
                  <a:lnTo>
                    <a:pt x="1041" y="10"/>
                  </a:lnTo>
                  <a:lnTo>
                    <a:pt x="1129" y="3"/>
                  </a:lnTo>
                  <a:lnTo>
                    <a:pt x="1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3" name="Rounded Rectangle 1">
            <a:extLst>
              <a:ext uri="{FF2B5EF4-FFF2-40B4-BE49-F238E27FC236}">
                <a16:creationId xmlns:a16="http://schemas.microsoft.com/office/drawing/2014/main" id="{131CB431-DE10-4AB0-A273-9ED004F21642}"/>
              </a:ext>
            </a:extLst>
          </p:cNvPr>
          <p:cNvSpPr/>
          <p:nvPr/>
        </p:nvSpPr>
        <p:spPr bwMode="auto">
          <a:xfrm>
            <a:off x="369936" y="2060173"/>
            <a:ext cx="2058342" cy="2593557"/>
          </a:xfrm>
          <a:prstGeom prst="roundRect">
            <a:avLst>
              <a:gd name="adj" fmla="val 2440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endParaRPr lang="en-US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  <a:p>
            <a:pPr algn="ctr" rtl="1">
              <a:lnSpc>
                <a:spcPct val="120000"/>
              </a:lnSpc>
            </a:pPr>
            <a:endParaRPr lang="fa-IR" sz="1500" b="1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ctr" rtl="1">
              <a:lnSpc>
                <a:spcPct val="120000"/>
              </a:lnSpc>
            </a:pPr>
            <a:r>
              <a:rPr lang="fa-IR" sz="1600" dirty="0">
                <a:cs typeface="B Nazanin" panose="00000400000000000000" pitchFamily="2" charset="-78"/>
              </a:rPr>
              <a:t>چگونه می‌توان قابلیت‌های </a:t>
            </a:r>
            <a:r>
              <a:rPr lang="en-US" sz="1600" dirty="0">
                <a:cs typeface="B Nazanin" panose="00000400000000000000" pitchFamily="2" charset="-78"/>
              </a:rPr>
              <a:t>Transformer، TCN </a:t>
            </a:r>
            <a:r>
              <a:rPr lang="fa-IR" sz="1600" dirty="0">
                <a:cs typeface="B Nazanin" panose="00000400000000000000" pitchFamily="2" charset="-78"/>
              </a:rPr>
              <a:t>و </a:t>
            </a:r>
            <a:r>
              <a:rPr lang="en-US" sz="1600" dirty="0">
                <a:cs typeface="B Nazanin" panose="00000400000000000000" pitchFamily="2" charset="-78"/>
              </a:rPr>
              <a:t>GNN </a:t>
            </a:r>
            <a:r>
              <a:rPr lang="fa-IR" sz="1600" dirty="0">
                <a:cs typeface="B Nazanin" panose="00000400000000000000" pitchFamily="2" charset="-78"/>
              </a:rPr>
              <a:t>را برای پیش‌بینی فعالیت بعدی در یک معماری یکپارچه ترکیب کرد؟</a:t>
            </a:r>
            <a:endParaRPr lang="fa-IR" sz="1500" b="1" dirty="0">
              <a:solidFill>
                <a:schemeClr val="bg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25ECB5FD-BA2C-431B-AE6C-AA3D7D5DB43F}"/>
              </a:ext>
            </a:extLst>
          </p:cNvPr>
          <p:cNvSpPr/>
          <p:nvPr/>
        </p:nvSpPr>
        <p:spPr bwMode="auto">
          <a:xfrm>
            <a:off x="1196821" y="1596024"/>
            <a:ext cx="690040" cy="710976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46C8238-0ED5-49F4-A222-A0724C3C6FBF}"/>
              </a:ext>
            </a:extLst>
          </p:cNvPr>
          <p:cNvGrpSpPr/>
          <p:nvPr/>
        </p:nvGrpSpPr>
        <p:grpSpPr>
          <a:xfrm>
            <a:off x="5755948" y="1755701"/>
            <a:ext cx="229091" cy="327509"/>
            <a:chOff x="-447675" y="2074863"/>
            <a:chExt cx="762000" cy="1057276"/>
          </a:xfrm>
          <a:solidFill>
            <a:schemeClr val="bg1"/>
          </a:solidFill>
        </p:grpSpPr>
        <p:sp>
          <p:nvSpPr>
            <p:cNvPr id="126" name="Freeform 12">
              <a:extLst>
                <a:ext uri="{FF2B5EF4-FFF2-40B4-BE49-F238E27FC236}">
                  <a16:creationId xmlns:a16="http://schemas.microsoft.com/office/drawing/2014/main" id="{11537FF8-D98F-4695-8E92-F40AE742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9550" y="2867026"/>
              <a:ext cx="263525" cy="265113"/>
            </a:xfrm>
            <a:custGeom>
              <a:avLst/>
              <a:gdLst>
                <a:gd name="T0" fmla="*/ 104 w 831"/>
                <a:gd name="T1" fmla="*/ 0 h 832"/>
                <a:gd name="T2" fmla="*/ 727 w 831"/>
                <a:gd name="T3" fmla="*/ 0 h 832"/>
                <a:gd name="T4" fmla="*/ 747 w 831"/>
                <a:gd name="T5" fmla="*/ 2 h 832"/>
                <a:gd name="T6" fmla="*/ 766 w 831"/>
                <a:gd name="T7" fmla="*/ 8 h 832"/>
                <a:gd name="T8" fmla="*/ 783 w 831"/>
                <a:gd name="T9" fmla="*/ 17 h 832"/>
                <a:gd name="T10" fmla="*/ 799 w 831"/>
                <a:gd name="T11" fmla="*/ 32 h 832"/>
                <a:gd name="T12" fmla="*/ 814 w 831"/>
                <a:gd name="T13" fmla="*/ 48 h 832"/>
                <a:gd name="T14" fmla="*/ 823 w 831"/>
                <a:gd name="T15" fmla="*/ 66 h 832"/>
                <a:gd name="T16" fmla="*/ 829 w 831"/>
                <a:gd name="T17" fmla="*/ 84 h 832"/>
                <a:gd name="T18" fmla="*/ 831 w 831"/>
                <a:gd name="T19" fmla="*/ 105 h 832"/>
                <a:gd name="T20" fmla="*/ 831 w 831"/>
                <a:gd name="T21" fmla="*/ 728 h 832"/>
                <a:gd name="T22" fmla="*/ 829 w 831"/>
                <a:gd name="T23" fmla="*/ 749 h 832"/>
                <a:gd name="T24" fmla="*/ 823 w 831"/>
                <a:gd name="T25" fmla="*/ 767 h 832"/>
                <a:gd name="T26" fmla="*/ 814 w 831"/>
                <a:gd name="T27" fmla="*/ 785 h 832"/>
                <a:gd name="T28" fmla="*/ 799 w 831"/>
                <a:gd name="T29" fmla="*/ 801 h 832"/>
                <a:gd name="T30" fmla="*/ 783 w 831"/>
                <a:gd name="T31" fmla="*/ 814 h 832"/>
                <a:gd name="T32" fmla="*/ 766 w 831"/>
                <a:gd name="T33" fmla="*/ 825 h 832"/>
                <a:gd name="T34" fmla="*/ 747 w 831"/>
                <a:gd name="T35" fmla="*/ 830 h 832"/>
                <a:gd name="T36" fmla="*/ 727 w 831"/>
                <a:gd name="T37" fmla="*/ 832 h 832"/>
                <a:gd name="T38" fmla="*/ 104 w 831"/>
                <a:gd name="T39" fmla="*/ 832 h 832"/>
                <a:gd name="T40" fmla="*/ 83 w 831"/>
                <a:gd name="T41" fmla="*/ 830 h 832"/>
                <a:gd name="T42" fmla="*/ 65 w 831"/>
                <a:gd name="T43" fmla="*/ 825 h 832"/>
                <a:gd name="T44" fmla="*/ 47 w 831"/>
                <a:gd name="T45" fmla="*/ 814 h 832"/>
                <a:gd name="T46" fmla="*/ 31 w 831"/>
                <a:gd name="T47" fmla="*/ 801 h 832"/>
                <a:gd name="T48" fmla="*/ 18 w 831"/>
                <a:gd name="T49" fmla="*/ 785 h 832"/>
                <a:gd name="T50" fmla="*/ 7 w 831"/>
                <a:gd name="T51" fmla="*/ 767 h 832"/>
                <a:gd name="T52" fmla="*/ 2 w 831"/>
                <a:gd name="T53" fmla="*/ 749 h 832"/>
                <a:gd name="T54" fmla="*/ 0 w 831"/>
                <a:gd name="T55" fmla="*/ 728 h 832"/>
                <a:gd name="T56" fmla="*/ 0 w 831"/>
                <a:gd name="T57" fmla="*/ 105 h 832"/>
                <a:gd name="T58" fmla="*/ 2 w 831"/>
                <a:gd name="T59" fmla="*/ 84 h 832"/>
                <a:gd name="T60" fmla="*/ 7 w 831"/>
                <a:gd name="T61" fmla="*/ 66 h 832"/>
                <a:gd name="T62" fmla="*/ 18 w 831"/>
                <a:gd name="T63" fmla="*/ 48 h 832"/>
                <a:gd name="T64" fmla="*/ 31 w 831"/>
                <a:gd name="T65" fmla="*/ 32 h 832"/>
                <a:gd name="T66" fmla="*/ 47 w 831"/>
                <a:gd name="T67" fmla="*/ 18 h 832"/>
                <a:gd name="T68" fmla="*/ 65 w 831"/>
                <a:gd name="T69" fmla="*/ 8 h 832"/>
                <a:gd name="T70" fmla="*/ 83 w 831"/>
                <a:gd name="T71" fmla="*/ 2 h 832"/>
                <a:gd name="T72" fmla="*/ 104 w 831"/>
                <a:gd name="T73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31" h="832">
                  <a:moveTo>
                    <a:pt x="104" y="0"/>
                  </a:moveTo>
                  <a:lnTo>
                    <a:pt x="727" y="0"/>
                  </a:lnTo>
                  <a:lnTo>
                    <a:pt x="747" y="2"/>
                  </a:lnTo>
                  <a:lnTo>
                    <a:pt x="766" y="8"/>
                  </a:lnTo>
                  <a:lnTo>
                    <a:pt x="783" y="17"/>
                  </a:lnTo>
                  <a:lnTo>
                    <a:pt x="799" y="32"/>
                  </a:lnTo>
                  <a:lnTo>
                    <a:pt x="814" y="48"/>
                  </a:lnTo>
                  <a:lnTo>
                    <a:pt x="823" y="66"/>
                  </a:lnTo>
                  <a:lnTo>
                    <a:pt x="829" y="84"/>
                  </a:lnTo>
                  <a:lnTo>
                    <a:pt x="831" y="105"/>
                  </a:lnTo>
                  <a:lnTo>
                    <a:pt x="831" y="728"/>
                  </a:lnTo>
                  <a:lnTo>
                    <a:pt x="829" y="749"/>
                  </a:lnTo>
                  <a:lnTo>
                    <a:pt x="823" y="767"/>
                  </a:lnTo>
                  <a:lnTo>
                    <a:pt x="814" y="785"/>
                  </a:lnTo>
                  <a:lnTo>
                    <a:pt x="799" y="801"/>
                  </a:lnTo>
                  <a:lnTo>
                    <a:pt x="783" y="814"/>
                  </a:lnTo>
                  <a:lnTo>
                    <a:pt x="766" y="825"/>
                  </a:lnTo>
                  <a:lnTo>
                    <a:pt x="747" y="830"/>
                  </a:lnTo>
                  <a:lnTo>
                    <a:pt x="727" y="832"/>
                  </a:lnTo>
                  <a:lnTo>
                    <a:pt x="104" y="832"/>
                  </a:lnTo>
                  <a:lnTo>
                    <a:pt x="83" y="830"/>
                  </a:lnTo>
                  <a:lnTo>
                    <a:pt x="65" y="825"/>
                  </a:lnTo>
                  <a:lnTo>
                    <a:pt x="47" y="814"/>
                  </a:lnTo>
                  <a:lnTo>
                    <a:pt x="31" y="801"/>
                  </a:lnTo>
                  <a:lnTo>
                    <a:pt x="18" y="785"/>
                  </a:lnTo>
                  <a:lnTo>
                    <a:pt x="7" y="767"/>
                  </a:lnTo>
                  <a:lnTo>
                    <a:pt x="2" y="749"/>
                  </a:lnTo>
                  <a:lnTo>
                    <a:pt x="0" y="728"/>
                  </a:lnTo>
                  <a:lnTo>
                    <a:pt x="0" y="105"/>
                  </a:lnTo>
                  <a:lnTo>
                    <a:pt x="2" y="84"/>
                  </a:lnTo>
                  <a:lnTo>
                    <a:pt x="7" y="66"/>
                  </a:lnTo>
                  <a:lnTo>
                    <a:pt x="18" y="48"/>
                  </a:lnTo>
                  <a:lnTo>
                    <a:pt x="31" y="32"/>
                  </a:lnTo>
                  <a:lnTo>
                    <a:pt x="47" y="18"/>
                  </a:lnTo>
                  <a:lnTo>
                    <a:pt x="65" y="8"/>
                  </a:lnTo>
                  <a:lnTo>
                    <a:pt x="83" y="2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E0BB2740-1DE6-48F4-B7CF-4B973B050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7675" y="2074863"/>
              <a:ext cx="762000" cy="739775"/>
            </a:xfrm>
            <a:custGeom>
              <a:avLst/>
              <a:gdLst>
                <a:gd name="T0" fmla="*/ 1387 w 2399"/>
                <a:gd name="T1" fmla="*/ 13 h 2328"/>
                <a:gd name="T2" fmla="*/ 1639 w 2399"/>
                <a:gd name="T3" fmla="*/ 81 h 2328"/>
                <a:gd name="T4" fmla="*/ 1876 w 2399"/>
                <a:gd name="T5" fmla="*/ 197 h 2328"/>
                <a:gd name="T6" fmla="*/ 2072 w 2399"/>
                <a:gd name="T7" fmla="*/ 343 h 2328"/>
                <a:gd name="T8" fmla="*/ 2216 w 2399"/>
                <a:gd name="T9" fmla="*/ 504 h 2328"/>
                <a:gd name="T10" fmla="*/ 2325 w 2399"/>
                <a:gd name="T11" fmla="*/ 694 h 2328"/>
                <a:gd name="T12" fmla="*/ 2388 w 2399"/>
                <a:gd name="T13" fmla="*/ 897 h 2328"/>
                <a:gd name="T14" fmla="*/ 2397 w 2399"/>
                <a:gd name="T15" fmla="*/ 1109 h 2328"/>
                <a:gd name="T16" fmla="*/ 2359 w 2399"/>
                <a:gd name="T17" fmla="*/ 1302 h 2328"/>
                <a:gd name="T18" fmla="*/ 2292 w 2399"/>
                <a:gd name="T19" fmla="*/ 1459 h 2328"/>
                <a:gd name="T20" fmla="*/ 2207 w 2399"/>
                <a:gd name="T21" fmla="*/ 1578 h 2328"/>
                <a:gd name="T22" fmla="*/ 2090 w 2399"/>
                <a:gd name="T23" fmla="*/ 1685 h 2328"/>
                <a:gd name="T24" fmla="*/ 2000 w 2399"/>
                <a:gd name="T25" fmla="*/ 1753 h 2328"/>
                <a:gd name="T26" fmla="*/ 1923 w 2399"/>
                <a:gd name="T27" fmla="*/ 1800 h 2328"/>
                <a:gd name="T28" fmla="*/ 1817 w 2399"/>
                <a:gd name="T29" fmla="*/ 1861 h 2328"/>
                <a:gd name="T30" fmla="*/ 1702 w 2399"/>
                <a:gd name="T31" fmla="*/ 1950 h 2328"/>
                <a:gd name="T32" fmla="*/ 1618 w 2399"/>
                <a:gd name="T33" fmla="*/ 2065 h 2328"/>
                <a:gd name="T34" fmla="*/ 1576 w 2399"/>
                <a:gd name="T35" fmla="*/ 2156 h 2328"/>
                <a:gd name="T36" fmla="*/ 1565 w 2399"/>
                <a:gd name="T37" fmla="*/ 2233 h 2328"/>
                <a:gd name="T38" fmla="*/ 1521 w 2399"/>
                <a:gd name="T39" fmla="*/ 2306 h 2328"/>
                <a:gd name="T40" fmla="*/ 1464 w 2399"/>
                <a:gd name="T41" fmla="*/ 2328 h 2328"/>
                <a:gd name="T42" fmla="*/ 806 w 2399"/>
                <a:gd name="T43" fmla="*/ 2317 h 2328"/>
                <a:gd name="T44" fmla="*/ 760 w 2399"/>
                <a:gd name="T45" fmla="*/ 2248 h 2328"/>
                <a:gd name="T46" fmla="*/ 748 w 2399"/>
                <a:gd name="T47" fmla="*/ 2066 h 2328"/>
                <a:gd name="T48" fmla="*/ 779 w 2399"/>
                <a:gd name="T49" fmla="*/ 1886 h 2328"/>
                <a:gd name="T50" fmla="*/ 872 w 2399"/>
                <a:gd name="T51" fmla="*/ 1714 h 2328"/>
                <a:gd name="T52" fmla="*/ 1033 w 2399"/>
                <a:gd name="T53" fmla="*/ 1544 h 2328"/>
                <a:gd name="T54" fmla="*/ 1221 w 2399"/>
                <a:gd name="T55" fmla="*/ 1411 h 2328"/>
                <a:gd name="T56" fmla="*/ 1397 w 2399"/>
                <a:gd name="T57" fmla="*/ 1321 h 2328"/>
                <a:gd name="T58" fmla="*/ 1506 w 2399"/>
                <a:gd name="T59" fmla="*/ 1232 h 2328"/>
                <a:gd name="T60" fmla="*/ 1555 w 2399"/>
                <a:gd name="T61" fmla="*/ 1145 h 2328"/>
                <a:gd name="T62" fmla="*/ 1571 w 2399"/>
                <a:gd name="T63" fmla="*/ 1034 h 2328"/>
                <a:gd name="T64" fmla="*/ 1541 w 2399"/>
                <a:gd name="T65" fmla="*/ 931 h 2328"/>
                <a:gd name="T66" fmla="*/ 1450 w 2399"/>
                <a:gd name="T67" fmla="*/ 842 h 2328"/>
                <a:gd name="T68" fmla="*/ 1321 w 2399"/>
                <a:gd name="T69" fmla="*/ 779 h 2328"/>
                <a:gd name="T70" fmla="*/ 1171 w 2399"/>
                <a:gd name="T71" fmla="*/ 759 h 2328"/>
                <a:gd name="T72" fmla="*/ 1017 w 2399"/>
                <a:gd name="T73" fmla="*/ 777 h 2328"/>
                <a:gd name="T74" fmla="*/ 891 w 2399"/>
                <a:gd name="T75" fmla="*/ 835 h 2328"/>
                <a:gd name="T76" fmla="*/ 820 w 2399"/>
                <a:gd name="T77" fmla="*/ 896 h 2328"/>
                <a:gd name="T78" fmla="*/ 727 w 2399"/>
                <a:gd name="T79" fmla="*/ 996 h 2328"/>
                <a:gd name="T80" fmla="*/ 613 w 2399"/>
                <a:gd name="T81" fmla="*/ 1134 h 2328"/>
                <a:gd name="T82" fmla="*/ 555 w 2399"/>
                <a:gd name="T83" fmla="*/ 1172 h 2328"/>
                <a:gd name="T84" fmla="*/ 489 w 2399"/>
                <a:gd name="T85" fmla="*/ 1166 h 2328"/>
                <a:gd name="T86" fmla="*/ 27 w 2399"/>
                <a:gd name="T87" fmla="*/ 815 h 2328"/>
                <a:gd name="T88" fmla="*/ 1 w 2399"/>
                <a:gd name="T89" fmla="*/ 764 h 2328"/>
                <a:gd name="T90" fmla="*/ 15 w 2399"/>
                <a:gd name="T91" fmla="*/ 691 h 2328"/>
                <a:gd name="T92" fmla="*/ 174 w 2399"/>
                <a:gd name="T93" fmla="*/ 469 h 2328"/>
                <a:gd name="T94" fmla="*/ 356 w 2399"/>
                <a:gd name="T95" fmla="*/ 289 h 2328"/>
                <a:gd name="T96" fmla="*/ 560 w 2399"/>
                <a:gd name="T97" fmla="*/ 153 h 2328"/>
                <a:gd name="T98" fmla="*/ 788 w 2399"/>
                <a:gd name="T99" fmla="*/ 59 h 2328"/>
                <a:gd name="T100" fmla="*/ 1041 w 2399"/>
                <a:gd name="T101" fmla="*/ 10 h 2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99" h="2328">
                  <a:moveTo>
                    <a:pt x="1220" y="0"/>
                  </a:moveTo>
                  <a:lnTo>
                    <a:pt x="1304" y="3"/>
                  </a:lnTo>
                  <a:lnTo>
                    <a:pt x="1387" y="13"/>
                  </a:lnTo>
                  <a:lnTo>
                    <a:pt x="1471" y="28"/>
                  </a:lnTo>
                  <a:lnTo>
                    <a:pt x="1555" y="51"/>
                  </a:lnTo>
                  <a:lnTo>
                    <a:pt x="1639" y="81"/>
                  </a:lnTo>
                  <a:lnTo>
                    <a:pt x="1721" y="115"/>
                  </a:lnTo>
                  <a:lnTo>
                    <a:pt x="1800" y="154"/>
                  </a:lnTo>
                  <a:lnTo>
                    <a:pt x="1876" y="197"/>
                  </a:lnTo>
                  <a:lnTo>
                    <a:pt x="1949" y="244"/>
                  </a:lnTo>
                  <a:lnTo>
                    <a:pt x="2017" y="296"/>
                  </a:lnTo>
                  <a:lnTo>
                    <a:pt x="2072" y="343"/>
                  </a:lnTo>
                  <a:lnTo>
                    <a:pt x="2123" y="393"/>
                  </a:lnTo>
                  <a:lnTo>
                    <a:pt x="2171" y="446"/>
                  </a:lnTo>
                  <a:lnTo>
                    <a:pt x="2216" y="504"/>
                  </a:lnTo>
                  <a:lnTo>
                    <a:pt x="2256" y="564"/>
                  </a:lnTo>
                  <a:lnTo>
                    <a:pt x="2294" y="627"/>
                  </a:lnTo>
                  <a:lnTo>
                    <a:pt x="2325" y="694"/>
                  </a:lnTo>
                  <a:lnTo>
                    <a:pt x="2352" y="761"/>
                  </a:lnTo>
                  <a:lnTo>
                    <a:pt x="2373" y="829"/>
                  </a:lnTo>
                  <a:lnTo>
                    <a:pt x="2388" y="897"/>
                  </a:lnTo>
                  <a:lnTo>
                    <a:pt x="2396" y="968"/>
                  </a:lnTo>
                  <a:lnTo>
                    <a:pt x="2399" y="1039"/>
                  </a:lnTo>
                  <a:lnTo>
                    <a:pt x="2397" y="1109"/>
                  </a:lnTo>
                  <a:lnTo>
                    <a:pt x="2389" y="1176"/>
                  </a:lnTo>
                  <a:lnTo>
                    <a:pt x="2377" y="1239"/>
                  </a:lnTo>
                  <a:lnTo>
                    <a:pt x="2359" y="1302"/>
                  </a:lnTo>
                  <a:lnTo>
                    <a:pt x="2339" y="1361"/>
                  </a:lnTo>
                  <a:lnTo>
                    <a:pt x="2316" y="1413"/>
                  </a:lnTo>
                  <a:lnTo>
                    <a:pt x="2292" y="1459"/>
                  </a:lnTo>
                  <a:lnTo>
                    <a:pt x="2268" y="1501"/>
                  </a:lnTo>
                  <a:lnTo>
                    <a:pt x="2240" y="1539"/>
                  </a:lnTo>
                  <a:lnTo>
                    <a:pt x="2207" y="1578"/>
                  </a:lnTo>
                  <a:lnTo>
                    <a:pt x="2169" y="1617"/>
                  </a:lnTo>
                  <a:lnTo>
                    <a:pt x="2125" y="1656"/>
                  </a:lnTo>
                  <a:lnTo>
                    <a:pt x="2090" y="1685"/>
                  </a:lnTo>
                  <a:lnTo>
                    <a:pt x="2057" y="1711"/>
                  </a:lnTo>
                  <a:lnTo>
                    <a:pt x="2028" y="1734"/>
                  </a:lnTo>
                  <a:lnTo>
                    <a:pt x="2000" y="1753"/>
                  </a:lnTo>
                  <a:lnTo>
                    <a:pt x="1976" y="1769"/>
                  </a:lnTo>
                  <a:lnTo>
                    <a:pt x="1952" y="1784"/>
                  </a:lnTo>
                  <a:lnTo>
                    <a:pt x="1923" y="1800"/>
                  </a:lnTo>
                  <a:lnTo>
                    <a:pt x="1891" y="1819"/>
                  </a:lnTo>
                  <a:lnTo>
                    <a:pt x="1856" y="1839"/>
                  </a:lnTo>
                  <a:lnTo>
                    <a:pt x="1817" y="1861"/>
                  </a:lnTo>
                  <a:lnTo>
                    <a:pt x="1776" y="1887"/>
                  </a:lnTo>
                  <a:lnTo>
                    <a:pt x="1738" y="1916"/>
                  </a:lnTo>
                  <a:lnTo>
                    <a:pt x="1702" y="1950"/>
                  </a:lnTo>
                  <a:lnTo>
                    <a:pt x="1670" y="1988"/>
                  </a:lnTo>
                  <a:lnTo>
                    <a:pt x="1640" y="2029"/>
                  </a:lnTo>
                  <a:lnTo>
                    <a:pt x="1618" y="2065"/>
                  </a:lnTo>
                  <a:lnTo>
                    <a:pt x="1600" y="2098"/>
                  </a:lnTo>
                  <a:lnTo>
                    <a:pt x="1586" y="2128"/>
                  </a:lnTo>
                  <a:lnTo>
                    <a:pt x="1576" y="2156"/>
                  </a:lnTo>
                  <a:lnTo>
                    <a:pt x="1570" y="2182"/>
                  </a:lnTo>
                  <a:lnTo>
                    <a:pt x="1569" y="2204"/>
                  </a:lnTo>
                  <a:lnTo>
                    <a:pt x="1565" y="2233"/>
                  </a:lnTo>
                  <a:lnTo>
                    <a:pt x="1555" y="2262"/>
                  </a:lnTo>
                  <a:lnTo>
                    <a:pt x="1537" y="2288"/>
                  </a:lnTo>
                  <a:lnTo>
                    <a:pt x="1521" y="2306"/>
                  </a:lnTo>
                  <a:lnTo>
                    <a:pt x="1503" y="2319"/>
                  </a:lnTo>
                  <a:lnTo>
                    <a:pt x="1485" y="2326"/>
                  </a:lnTo>
                  <a:lnTo>
                    <a:pt x="1464" y="2328"/>
                  </a:lnTo>
                  <a:lnTo>
                    <a:pt x="841" y="2328"/>
                  </a:lnTo>
                  <a:lnTo>
                    <a:pt x="823" y="2326"/>
                  </a:lnTo>
                  <a:lnTo>
                    <a:pt x="806" y="2317"/>
                  </a:lnTo>
                  <a:lnTo>
                    <a:pt x="789" y="2302"/>
                  </a:lnTo>
                  <a:lnTo>
                    <a:pt x="775" y="2281"/>
                  </a:lnTo>
                  <a:lnTo>
                    <a:pt x="760" y="2248"/>
                  </a:lnTo>
                  <a:lnTo>
                    <a:pt x="751" y="2216"/>
                  </a:lnTo>
                  <a:lnTo>
                    <a:pt x="748" y="2184"/>
                  </a:lnTo>
                  <a:lnTo>
                    <a:pt x="748" y="2066"/>
                  </a:lnTo>
                  <a:lnTo>
                    <a:pt x="751" y="2005"/>
                  </a:lnTo>
                  <a:lnTo>
                    <a:pt x="761" y="1945"/>
                  </a:lnTo>
                  <a:lnTo>
                    <a:pt x="779" y="1886"/>
                  </a:lnTo>
                  <a:lnTo>
                    <a:pt x="804" y="1828"/>
                  </a:lnTo>
                  <a:lnTo>
                    <a:pt x="834" y="1771"/>
                  </a:lnTo>
                  <a:lnTo>
                    <a:pt x="872" y="1714"/>
                  </a:lnTo>
                  <a:lnTo>
                    <a:pt x="916" y="1660"/>
                  </a:lnTo>
                  <a:lnTo>
                    <a:pt x="974" y="1599"/>
                  </a:lnTo>
                  <a:lnTo>
                    <a:pt x="1033" y="1544"/>
                  </a:lnTo>
                  <a:lnTo>
                    <a:pt x="1094" y="1493"/>
                  </a:lnTo>
                  <a:lnTo>
                    <a:pt x="1157" y="1449"/>
                  </a:lnTo>
                  <a:lnTo>
                    <a:pt x="1221" y="1411"/>
                  </a:lnTo>
                  <a:lnTo>
                    <a:pt x="1288" y="1377"/>
                  </a:lnTo>
                  <a:lnTo>
                    <a:pt x="1345" y="1349"/>
                  </a:lnTo>
                  <a:lnTo>
                    <a:pt x="1397" y="1321"/>
                  </a:lnTo>
                  <a:lnTo>
                    <a:pt x="1440" y="1292"/>
                  </a:lnTo>
                  <a:lnTo>
                    <a:pt x="1477" y="1262"/>
                  </a:lnTo>
                  <a:lnTo>
                    <a:pt x="1506" y="1232"/>
                  </a:lnTo>
                  <a:lnTo>
                    <a:pt x="1526" y="1206"/>
                  </a:lnTo>
                  <a:lnTo>
                    <a:pt x="1542" y="1177"/>
                  </a:lnTo>
                  <a:lnTo>
                    <a:pt x="1555" y="1145"/>
                  </a:lnTo>
                  <a:lnTo>
                    <a:pt x="1564" y="1111"/>
                  </a:lnTo>
                  <a:lnTo>
                    <a:pt x="1569" y="1074"/>
                  </a:lnTo>
                  <a:lnTo>
                    <a:pt x="1571" y="1034"/>
                  </a:lnTo>
                  <a:lnTo>
                    <a:pt x="1568" y="999"/>
                  </a:lnTo>
                  <a:lnTo>
                    <a:pt x="1558" y="964"/>
                  </a:lnTo>
                  <a:lnTo>
                    <a:pt x="1541" y="931"/>
                  </a:lnTo>
                  <a:lnTo>
                    <a:pt x="1518" y="900"/>
                  </a:lnTo>
                  <a:lnTo>
                    <a:pt x="1487" y="871"/>
                  </a:lnTo>
                  <a:lnTo>
                    <a:pt x="1450" y="842"/>
                  </a:lnTo>
                  <a:lnTo>
                    <a:pt x="1409" y="816"/>
                  </a:lnTo>
                  <a:lnTo>
                    <a:pt x="1366" y="796"/>
                  </a:lnTo>
                  <a:lnTo>
                    <a:pt x="1321" y="779"/>
                  </a:lnTo>
                  <a:lnTo>
                    <a:pt x="1272" y="768"/>
                  </a:lnTo>
                  <a:lnTo>
                    <a:pt x="1223" y="761"/>
                  </a:lnTo>
                  <a:lnTo>
                    <a:pt x="1171" y="759"/>
                  </a:lnTo>
                  <a:lnTo>
                    <a:pt x="1116" y="761"/>
                  </a:lnTo>
                  <a:lnTo>
                    <a:pt x="1065" y="767"/>
                  </a:lnTo>
                  <a:lnTo>
                    <a:pt x="1017" y="777"/>
                  </a:lnTo>
                  <a:lnTo>
                    <a:pt x="972" y="793"/>
                  </a:lnTo>
                  <a:lnTo>
                    <a:pt x="930" y="811"/>
                  </a:lnTo>
                  <a:lnTo>
                    <a:pt x="891" y="835"/>
                  </a:lnTo>
                  <a:lnTo>
                    <a:pt x="869" y="851"/>
                  </a:lnTo>
                  <a:lnTo>
                    <a:pt x="846" y="872"/>
                  </a:lnTo>
                  <a:lnTo>
                    <a:pt x="820" y="896"/>
                  </a:lnTo>
                  <a:lnTo>
                    <a:pt x="791" y="925"/>
                  </a:lnTo>
                  <a:lnTo>
                    <a:pt x="760" y="959"/>
                  </a:lnTo>
                  <a:lnTo>
                    <a:pt x="727" y="996"/>
                  </a:lnTo>
                  <a:lnTo>
                    <a:pt x="692" y="1037"/>
                  </a:lnTo>
                  <a:lnTo>
                    <a:pt x="654" y="1083"/>
                  </a:lnTo>
                  <a:lnTo>
                    <a:pt x="613" y="1134"/>
                  </a:lnTo>
                  <a:lnTo>
                    <a:pt x="595" y="1151"/>
                  </a:lnTo>
                  <a:lnTo>
                    <a:pt x="576" y="1165"/>
                  </a:lnTo>
                  <a:lnTo>
                    <a:pt x="555" y="1172"/>
                  </a:lnTo>
                  <a:lnTo>
                    <a:pt x="533" y="1175"/>
                  </a:lnTo>
                  <a:lnTo>
                    <a:pt x="511" y="1173"/>
                  </a:lnTo>
                  <a:lnTo>
                    <a:pt x="489" y="1166"/>
                  </a:lnTo>
                  <a:lnTo>
                    <a:pt x="468" y="1154"/>
                  </a:lnTo>
                  <a:lnTo>
                    <a:pt x="42" y="830"/>
                  </a:lnTo>
                  <a:lnTo>
                    <a:pt x="27" y="815"/>
                  </a:lnTo>
                  <a:lnTo>
                    <a:pt x="14" y="800"/>
                  </a:lnTo>
                  <a:lnTo>
                    <a:pt x="6" y="782"/>
                  </a:lnTo>
                  <a:lnTo>
                    <a:pt x="1" y="764"/>
                  </a:lnTo>
                  <a:lnTo>
                    <a:pt x="0" y="738"/>
                  </a:lnTo>
                  <a:lnTo>
                    <a:pt x="5" y="715"/>
                  </a:lnTo>
                  <a:lnTo>
                    <a:pt x="15" y="691"/>
                  </a:lnTo>
                  <a:lnTo>
                    <a:pt x="66" y="612"/>
                  </a:lnTo>
                  <a:lnTo>
                    <a:pt x="119" y="538"/>
                  </a:lnTo>
                  <a:lnTo>
                    <a:pt x="174" y="469"/>
                  </a:lnTo>
                  <a:lnTo>
                    <a:pt x="232" y="404"/>
                  </a:lnTo>
                  <a:lnTo>
                    <a:pt x="292" y="345"/>
                  </a:lnTo>
                  <a:lnTo>
                    <a:pt x="356" y="289"/>
                  </a:lnTo>
                  <a:lnTo>
                    <a:pt x="422" y="239"/>
                  </a:lnTo>
                  <a:lnTo>
                    <a:pt x="489" y="194"/>
                  </a:lnTo>
                  <a:lnTo>
                    <a:pt x="560" y="153"/>
                  </a:lnTo>
                  <a:lnTo>
                    <a:pt x="634" y="117"/>
                  </a:lnTo>
                  <a:lnTo>
                    <a:pt x="710" y="86"/>
                  </a:lnTo>
                  <a:lnTo>
                    <a:pt x="788" y="59"/>
                  </a:lnTo>
                  <a:lnTo>
                    <a:pt x="870" y="38"/>
                  </a:lnTo>
                  <a:lnTo>
                    <a:pt x="953" y="21"/>
                  </a:lnTo>
                  <a:lnTo>
                    <a:pt x="1041" y="10"/>
                  </a:lnTo>
                  <a:lnTo>
                    <a:pt x="1129" y="3"/>
                  </a:lnTo>
                  <a:lnTo>
                    <a:pt x="1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D262ED8-5484-40DC-B9D1-23F343BCB0E7}"/>
              </a:ext>
            </a:extLst>
          </p:cNvPr>
          <p:cNvGrpSpPr/>
          <p:nvPr/>
        </p:nvGrpSpPr>
        <p:grpSpPr>
          <a:xfrm>
            <a:off x="3504827" y="1768069"/>
            <a:ext cx="229091" cy="327509"/>
            <a:chOff x="-447675" y="2074863"/>
            <a:chExt cx="762000" cy="1057276"/>
          </a:xfrm>
          <a:solidFill>
            <a:schemeClr val="bg1"/>
          </a:solidFill>
        </p:grpSpPr>
        <p:sp>
          <p:nvSpPr>
            <p:cNvPr id="129" name="Freeform 12">
              <a:extLst>
                <a:ext uri="{FF2B5EF4-FFF2-40B4-BE49-F238E27FC236}">
                  <a16:creationId xmlns:a16="http://schemas.microsoft.com/office/drawing/2014/main" id="{95E9A5DB-3487-4CBC-BB54-88C68F935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9550" y="2867026"/>
              <a:ext cx="263525" cy="265113"/>
            </a:xfrm>
            <a:custGeom>
              <a:avLst/>
              <a:gdLst>
                <a:gd name="T0" fmla="*/ 104 w 831"/>
                <a:gd name="T1" fmla="*/ 0 h 832"/>
                <a:gd name="T2" fmla="*/ 727 w 831"/>
                <a:gd name="T3" fmla="*/ 0 h 832"/>
                <a:gd name="T4" fmla="*/ 747 w 831"/>
                <a:gd name="T5" fmla="*/ 2 h 832"/>
                <a:gd name="T6" fmla="*/ 766 w 831"/>
                <a:gd name="T7" fmla="*/ 8 h 832"/>
                <a:gd name="T8" fmla="*/ 783 w 831"/>
                <a:gd name="T9" fmla="*/ 17 h 832"/>
                <a:gd name="T10" fmla="*/ 799 w 831"/>
                <a:gd name="T11" fmla="*/ 32 h 832"/>
                <a:gd name="T12" fmla="*/ 814 w 831"/>
                <a:gd name="T13" fmla="*/ 48 h 832"/>
                <a:gd name="T14" fmla="*/ 823 w 831"/>
                <a:gd name="T15" fmla="*/ 66 h 832"/>
                <a:gd name="T16" fmla="*/ 829 w 831"/>
                <a:gd name="T17" fmla="*/ 84 h 832"/>
                <a:gd name="T18" fmla="*/ 831 w 831"/>
                <a:gd name="T19" fmla="*/ 105 h 832"/>
                <a:gd name="T20" fmla="*/ 831 w 831"/>
                <a:gd name="T21" fmla="*/ 728 h 832"/>
                <a:gd name="T22" fmla="*/ 829 w 831"/>
                <a:gd name="T23" fmla="*/ 749 h 832"/>
                <a:gd name="T24" fmla="*/ 823 w 831"/>
                <a:gd name="T25" fmla="*/ 767 h 832"/>
                <a:gd name="T26" fmla="*/ 814 w 831"/>
                <a:gd name="T27" fmla="*/ 785 h 832"/>
                <a:gd name="T28" fmla="*/ 799 w 831"/>
                <a:gd name="T29" fmla="*/ 801 h 832"/>
                <a:gd name="T30" fmla="*/ 783 w 831"/>
                <a:gd name="T31" fmla="*/ 814 h 832"/>
                <a:gd name="T32" fmla="*/ 766 w 831"/>
                <a:gd name="T33" fmla="*/ 825 h 832"/>
                <a:gd name="T34" fmla="*/ 747 w 831"/>
                <a:gd name="T35" fmla="*/ 830 h 832"/>
                <a:gd name="T36" fmla="*/ 727 w 831"/>
                <a:gd name="T37" fmla="*/ 832 h 832"/>
                <a:gd name="T38" fmla="*/ 104 w 831"/>
                <a:gd name="T39" fmla="*/ 832 h 832"/>
                <a:gd name="T40" fmla="*/ 83 w 831"/>
                <a:gd name="T41" fmla="*/ 830 h 832"/>
                <a:gd name="T42" fmla="*/ 65 w 831"/>
                <a:gd name="T43" fmla="*/ 825 h 832"/>
                <a:gd name="T44" fmla="*/ 47 w 831"/>
                <a:gd name="T45" fmla="*/ 814 h 832"/>
                <a:gd name="T46" fmla="*/ 31 w 831"/>
                <a:gd name="T47" fmla="*/ 801 h 832"/>
                <a:gd name="T48" fmla="*/ 18 w 831"/>
                <a:gd name="T49" fmla="*/ 785 h 832"/>
                <a:gd name="T50" fmla="*/ 7 w 831"/>
                <a:gd name="T51" fmla="*/ 767 h 832"/>
                <a:gd name="T52" fmla="*/ 2 w 831"/>
                <a:gd name="T53" fmla="*/ 749 h 832"/>
                <a:gd name="T54" fmla="*/ 0 w 831"/>
                <a:gd name="T55" fmla="*/ 728 h 832"/>
                <a:gd name="T56" fmla="*/ 0 w 831"/>
                <a:gd name="T57" fmla="*/ 105 h 832"/>
                <a:gd name="T58" fmla="*/ 2 w 831"/>
                <a:gd name="T59" fmla="*/ 84 h 832"/>
                <a:gd name="T60" fmla="*/ 7 w 831"/>
                <a:gd name="T61" fmla="*/ 66 h 832"/>
                <a:gd name="T62" fmla="*/ 18 w 831"/>
                <a:gd name="T63" fmla="*/ 48 h 832"/>
                <a:gd name="T64" fmla="*/ 31 w 831"/>
                <a:gd name="T65" fmla="*/ 32 h 832"/>
                <a:gd name="T66" fmla="*/ 47 w 831"/>
                <a:gd name="T67" fmla="*/ 18 h 832"/>
                <a:gd name="T68" fmla="*/ 65 w 831"/>
                <a:gd name="T69" fmla="*/ 8 h 832"/>
                <a:gd name="T70" fmla="*/ 83 w 831"/>
                <a:gd name="T71" fmla="*/ 2 h 832"/>
                <a:gd name="T72" fmla="*/ 104 w 831"/>
                <a:gd name="T73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31" h="832">
                  <a:moveTo>
                    <a:pt x="104" y="0"/>
                  </a:moveTo>
                  <a:lnTo>
                    <a:pt x="727" y="0"/>
                  </a:lnTo>
                  <a:lnTo>
                    <a:pt x="747" y="2"/>
                  </a:lnTo>
                  <a:lnTo>
                    <a:pt x="766" y="8"/>
                  </a:lnTo>
                  <a:lnTo>
                    <a:pt x="783" y="17"/>
                  </a:lnTo>
                  <a:lnTo>
                    <a:pt x="799" y="32"/>
                  </a:lnTo>
                  <a:lnTo>
                    <a:pt x="814" y="48"/>
                  </a:lnTo>
                  <a:lnTo>
                    <a:pt x="823" y="66"/>
                  </a:lnTo>
                  <a:lnTo>
                    <a:pt x="829" y="84"/>
                  </a:lnTo>
                  <a:lnTo>
                    <a:pt x="831" y="105"/>
                  </a:lnTo>
                  <a:lnTo>
                    <a:pt x="831" y="728"/>
                  </a:lnTo>
                  <a:lnTo>
                    <a:pt x="829" y="749"/>
                  </a:lnTo>
                  <a:lnTo>
                    <a:pt x="823" y="767"/>
                  </a:lnTo>
                  <a:lnTo>
                    <a:pt x="814" y="785"/>
                  </a:lnTo>
                  <a:lnTo>
                    <a:pt x="799" y="801"/>
                  </a:lnTo>
                  <a:lnTo>
                    <a:pt x="783" y="814"/>
                  </a:lnTo>
                  <a:lnTo>
                    <a:pt x="766" y="825"/>
                  </a:lnTo>
                  <a:lnTo>
                    <a:pt x="747" y="830"/>
                  </a:lnTo>
                  <a:lnTo>
                    <a:pt x="727" y="832"/>
                  </a:lnTo>
                  <a:lnTo>
                    <a:pt x="104" y="832"/>
                  </a:lnTo>
                  <a:lnTo>
                    <a:pt x="83" y="830"/>
                  </a:lnTo>
                  <a:lnTo>
                    <a:pt x="65" y="825"/>
                  </a:lnTo>
                  <a:lnTo>
                    <a:pt x="47" y="814"/>
                  </a:lnTo>
                  <a:lnTo>
                    <a:pt x="31" y="801"/>
                  </a:lnTo>
                  <a:lnTo>
                    <a:pt x="18" y="785"/>
                  </a:lnTo>
                  <a:lnTo>
                    <a:pt x="7" y="767"/>
                  </a:lnTo>
                  <a:lnTo>
                    <a:pt x="2" y="749"/>
                  </a:lnTo>
                  <a:lnTo>
                    <a:pt x="0" y="728"/>
                  </a:lnTo>
                  <a:lnTo>
                    <a:pt x="0" y="105"/>
                  </a:lnTo>
                  <a:lnTo>
                    <a:pt x="2" y="84"/>
                  </a:lnTo>
                  <a:lnTo>
                    <a:pt x="7" y="66"/>
                  </a:lnTo>
                  <a:lnTo>
                    <a:pt x="18" y="48"/>
                  </a:lnTo>
                  <a:lnTo>
                    <a:pt x="31" y="32"/>
                  </a:lnTo>
                  <a:lnTo>
                    <a:pt x="47" y="18"/>
                  </a:lnTo>
                  <a:lnTo>
                    <a:pt x="65" y="8"/>
                  </a:lnTo>
                  <a:lnTo>
                    <a:pt x="83" y="2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3">
              <a:extLst>
                <a:ext uri="{FF2B5EF4-FFF2-40B4-BE49-F238E27FC236}">
                  <a16:creationId xmlns:a16="http://schemas.microsoft.com/office/drawing/2014/main" id="{8E430402-8979-4127-A876-4E065EF78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7675" y="2074863"/>
              <a:ext cx="762000" cy="739775"/>
            </a:xfrm>
            <a:custGeom>
              <a:avLst/>
              <a:gdLst>
                <a:gd name="T0" fmla="*/ 1387 w 2399"/>
                <a:gd name="T1" fmla="*/ 13 h 2328"/>
                <a:gd name="T2" fmla="*/ 1639 w 2399"/>
                <a:gd name="T3" fmla="*/ 81 h 2328"/>
                <a:gd name="T4" fmla="*/ 1876 w 2399"/>
                <a:gd name="T5" fmla="*/ 197 h 2328"/>
                <a:gd name="T6" fmla="*/ 2072 w 2399"/>
                <a:gd name="T7" fmla="*/ 343 h 2328"/>
                <a:gd name="T8" fmla="*/ 2216 w 2399"/>
                <a:gd name="T9" fmla="*/ 504 h 2328"/>
                <a:gd name="T10" fmla="*/ 2325 w 2399"/>
                <a:gd name="T11" fmla="*/ 694 h 2328"/>
                <a:gd name="T12" fmla="*/ 2388 w 2399"/>
                <a:gd name="T13" fmla="*/ 897 h 2328"/>
                <a:gd name="T14" fmla="*/ 2397 w 2399"/>
                <a:gd name="T15" fmla="*/ 1109 h 2328"/>
                <a:gd name="T16" fmla="*/ 2359 w 2399"/>
                <a:gd name="T17" fmla="*/ 1302 h 2328"/>
                <a:gd name="T18" fmla="*/ 2292 w 2399"/>
                <a:gd name="T19" fmla="*/ 1459 h 2328"/>
                <a:gd name="T20" fmla="*/ 2207 w 2399"/>
                <a:gd name="T21" fmla="*/ 1578 h 2328"/>
                <a:gd name="T22" fmla="*/ 2090 w 2399"/>
                <a:gd name="T23" fmla="*/ 1685 h 2328"/>
                <a:gd name="T24" fmla="*/ 2000 w 2399"/>
                <a:gd name="T25" fmla="*/ 1753 h 2328"/>
                <a:gd name="T26" fmla="*/ 1923 w 2399"/>
                <a:gd name="T27" fmla="*/ 1800 h 2328"/>
                <a:gd name="T28" fmla="*/ 1817 w 2399"/>
                <a:gd name="T29" fmla="*/ 1861 h 2328"/>
                <a:gd name="T30" fmla="*/ 1702 w 2399"/>
                <a:gd name="T31" fmla="*/ 1950 h 2328"/>
                <a:gd name="T32" fmla="*/ 1618 w 2399"/>
                <a:gd name="T33" fmla="*/ 2065 h 2328"/>
                <a:gd name="T34" fmla="*/ 1576 w 2399"/>
                <a:gd name="T35" fmla="*/ 2156 h 2328"/>
                <a:gd name="T36" fmla="*/ 1565 w 2399"/>
                <a:gd name="T37" fmla="*/ 2233 h 2328"/>
                <a:gd name="T38" fmla="*/ 1521 w 2399"/>
                <a:gd name="T39" fmla="*/ 2306 h 2328"/>
                <a:gd name="T40" fmla="*/ 1464 w 2399"/>
                <a:gd name="T41" fmla="*/ 2328 h 2328"/>
                <a:gd name="T42" fmla="*/ 806 w 2399"/>
                <a:gd name="T43" fmla="*/ 2317 h 2328"/>
                <a:gd name="T44" fmla="*/ 760 w 2399"/>
                <a:gd name="T45" fmla="*/ 2248 h 2328"/>
                <a:gd name="T46" fmla="*/ 748 w 2399"/>
                <a:gd name="T47" fmla="*/ 2066 h 2328"/>
                <a:gd name="T48" fmla="*/ 779 w 2399"/>
                <a:gd name="T49" fmla="*/ 1886 h 2328"/>
                <a:gd name="T50" fmla="*/ 872 w 2399"/>
                <a:gd name="T51" fmla="*/ 1714 h 2328"/>
                <a:gd name="T52" fmla="*/ 1033 w 2399"/>
                <a:gd name="T53" fmla="*/ 1544 h 2328"/>
                <a:gd name="T54" fmla="*/ 1221 w 2399"/>
                <a:gd name="T55" fmla="*/ 1411 h 2328"/>
                <a:gd name="T56" fmla="*/ 1397 w 2399"/>
                <a:gd name="T57" fmla="*/ 1321 h 2328"/>
                <a:gd name="T58" fmla="*/ 1506 w 2399"/>
                <a:gd name="T59" fmla="*/ 1232 h 2328"/>
                <a:gd name="T60" fmla="*/ 1555 w 2399"/>
                <a:gd name="T61" fmla="*/ 1145 h 2328"/>
                <a:gd name="T62" fmla="*/ 1571 w 2399"/>
                <a:gd name="T63" fmla="*/ 1034 h 2328"/>
                <a:gd name="T64" fmla="*/ 1541 w 2399"/>
                <a:gd name="T65" fmla="*/ 931 h 2328"/>
                <a:gd name="T66" fmla="*/ 1450 w 2399"/>
                <a:gd name="T67" fmla="*/ 842 h 2328"/>
                <a:gd name="T68" fmla="*/ 1321 w 2399"/>
                <a:gd name="T69" fmla="*/ 779 h 2328"/>
                <a:gd name="T70" fmla="*/ 1171 w 2399"/>
                <a:gd name="T71" fmla="*/ 759 h 2328"/>
                <a:gd name="T72" fmla="*/ 1017 w 2399"/>
                <a:gd name="T73" fmla="*/ 777 h 2328"/>
                <a:gd name="T74" fmla="*/ 891 w 2399"/>
                <a:gd name="T75" fmla="*/ 835 h 2328"/>
                <a:gd name="T76" fmla="*/ 820 w 2399"/>
                <a:gd name="T77" fmla="*/ 896 h 2328"/>
                <a:gd name="T78" fmla="*/ 727 w 2399"/>
                <a:gd name="T79" fmla="*/ 996 h 2328"/>
                <a:gd name="T80" fmla="*/ 613 w 2399"/>
                <a:gd name="T81" fmla="*/ 1134 h 2328"/>
                <a:gd name="T82" fmla="*/ 555 w 2399"/>
                <a:gd name="T83" fmla="*/ 1172 h 2328"/>
                <a:gd name="T84" fmla="*/ 489 w 2399"/>
                <a:gd name="T85" fmla="*/ 1166 h 2328"/>
                <a:gd name="T86" fmla="*/ 27 w 2399"/>
                <a:gd name="T87" fmla="*/ 815 h 2328"/>
                <a:gd name="T88" fmla="*/ 1 w 2399"/>
                <a:gd name="T89" fmla="*/ 764 h 2328"/>
                <a:gd name="T90" fmla="*/ 15 w 2399"/>
                <a:gd name="T91" fmla="*/ 691 h 2328"/>
                <a:gd name="T92" fmla="*/ 174 w 2399"/>
                <a:gd name="T93" fmla="*/ 469 h 2328"/>
                <a:gd name="T94" fmla="*/ 356 w 2399"/>
                <a:gd name="T95" fmla="*/ 289 h 2328"/>
                <a:gd name="T96" fmla="*/ 560 w 2399"/>
                <a:gd name="T97" fmla="*/ 153 h 2328"/>
                <a:gd name="T98" fmla="*/ 788 w 2399"/>
                <a:gd name="T99" fmla="*/ 59 h 2328"/>
                <a:gd name="T100" fmla="*/ 1041 w 2399"/>
                <a:gd name="T101" fmla="*/ 10 h 2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99" h="2328">
                  <a:moveTo>
                    <a:pt x="1220" y="0"/>
                  </a:moveTo>
                  <a:lnTo>
                    <a:pt x="1304" y="3"/>
                  </a:lnTo>
                  <a:lnTo>
                    <a:pt x="1387" y="13"/>
                  </a:lnTo>
                  <a:lnTo>
                    <a:pt x="1471" y="28"/>
                  </a:lnTo>
                  <a:lnTo>
                    <a:pt x="1555" y="51"/>
                  </a:lnTo>
                  <a:lnTo>
                    <a:pt x="1639" y="81"/>
                  </a:lnTo>
                  <a:lnTo>
                    <a:pt x="1721" y="115"/>
                  </a:lnTo>
                  <a:lnTo>
                    <a:pt x="1800" y="154"/>
                  </a:lnTo>
                  <a:lnTo>
                    <a:pt x="1876" y="197"/>
                  </a:lnTo>
                  <a:lnTo>
                    <a:pt x="1949" y="244"/>
                  </a:lnTo>
                  <a:lnTo>
                    <a:pt x="2017" y="296"/>
                  </a:lnTo>
                  <a:lnTo>
                    <a:pt x="2072" y="343"/>
                  </a:lnTo>
                  <a:lnTo>
                    <a:pt x="2123" y="393"/>
                  </a:lnTo>
                  <a:lnTo>
                    <a:pt x="2171" y="446"/>
                  </a:lnTo>
                  <a:lnTo>
                    <a:pt x="2216" y="504"/>
                  </a:lnTo>
                  <a:lnTo>
                    <a:pt x="2256" y="564"/>
                  </a:lnTo>
                  <a:lnTo>
                    <a:pt x="2294" y="627"/>
                  </a:lnTo>
                  <a:lnTo>
                    <a:pt x="2325" y="694"/>
                  </a:lnTo>
                  <a:lnTo>
                    <a:pt x="2352" y="761"/>
                  </a:lnTo>
                  <a:lnTo>
                    <a:pt x="2373" y="829"/>
                  </a:lnTo>
                  <a:lnTo>
                    <a:pt x="2388" y="897"/>
                  </a:lnTo>
                  <a:lnTo>
                    <a:pt x="2396" y="968"/>
                  </a:lnTo>
                  <a:lnTo>
                    <a:pt x="2399" y="1039"/>
                  </a:lnTo>
                  <a:lnTo>
                    <a:pt x="2397" y="1109"/>
                  </a:lnTo>
                  <a:lnTo>
                    <a:pt x="2389" y="1176"/>
                  </a:lnTo>
                  <a:lnTo>
                    <a:pt x="2377" y="1239"/>
                  </a:lnTo>
                  <a:lnTo>
                    <a:pt x="2359" y="1302"/>
                  </a:lnTo>
                  <a:lnTo>
                    <a:pt x="2339" y="1361"/>
                  </a:lnTo>
                  <a:lnTo>
                    <a:pt x="2316" y="1413"/>
                  </a:lnTo>
                  <a:lnTo>
                    <a:pt x="2292" y="1459"/>
                  </a:lnTo>
                  <a:lnTo>
                    <a:pt x="2268" y="1501"/>
                  </a:lnTo>
                  <a:lnTo>
                    <a:pt x="2240" y="1539"/>
                  </a:lnTo>
                  <a:lnTo>
                    <a:pt x="2207" y="1578"/>
                  </a:lnTo>
                  <a:lnTo>
                    <a:pt x="2169" y="1617"/>
                  </a:lnTo>
                  <a:lnTo>
                    <a:pt x="2125" y="1656"/>
                  </a:lnTo>
                  <a:lnTo>
                    <a:pt x="2090" y="1685"/>
                  </a:lnTo>
                  <a:lnTo>
                    <a:pt x="2057" y="1711"/>
                  </a:lnTo>
                  <a:lnTo>
                    <a:pt x="2028" y="1734"/>
                  </a:lnTo>
                  <a:lnTo>
                    <a:pt x="2000" y="1753"/>
                  </a:lnTo>
                  <a:lnTo>
                    <a:pt x="1976" y="1769"/>
                  </a:lnTo>
                  <a:lnTo>
                    <a:pt x="1952" y="1784"/>
                  </a:lnTo>
                  <a:lnTo>
                    <a:pt x="1923" y="1800"/>
                  </a:lnTo>
                  <a:lnTo>
                    <a:pt x="1891" y="1819"/>
                  </a:lnTo>
                  <a:lnTo>
                    <a:pt x="1856" y="1839"/>
                  </a:lnTo>
                  <a:lnTo>
                    <a:pt x="1817" y="1861"/>
                  </a:lnTo>
                  <a:lnTo>
                    <a:pt x="1776" y="1887"/>
                  </a:lnTo>
                  <a:lnTo>
                    <a:pt x="1738" y="1916"/>
                  </a:lnTo>
                  <a:lnTo>
                    <a:pt x="1702" y="1950"/>
                  </a:lnTo>
                  <a:lnTo>
                    <a:pt x="1670" y="1988"/>
                  </a:lnTo>
                  <a:lnTo>
                    <a:pt x="1640" y="2029"/>
                  </a:lnTo>
                  <a:lnTo>
                    <a:pt x="1618" y="2065"/>
                  </a:lnTo>
                  <a:lnTo>
                    <a:pt x="1600" y="2098"/>
                  </a:lnTo>
                  <a:lnTo>
                    <a:pt x="1586" y="2128"/>
                  </a:lnTo>
                  <a:lnTo>
                    <a:pt x="1576" y="2156"/>
                  </a:lnTo>
                  <a:lnTo>
                    <a:pt x="1570" y="2182"/>
                  </a:lnTo>
                  <a:lnTo>
                    <a:pt x="1569" y="2204"/>
                  </a:lnTo>
                  <a:lnTo>
                    <a:pt x="1565" y="2233"/>
                  </a:lnTo>
                  <a:lnTo>
                    <a:pt x="1555" y="2262"/>
                  </a:lnTo>
                  <a:lnTo>
                    <a:pt x="1537" y="2288"/>
                  </a:lnTo>
                  <a:lnTo>
                    <a:pt x="1521" y="2306"/>
                  </a:lnTo>
                  <a:lnTo>
                    <a:pt x="1503" y="2319"/>
                  </a:lnTo>
                  <a:lnTo>
                    <a:pt x="1485" y="2326"/>
                  </a:lnTo>
                  <a:lnTo>
                    <a:pt x="1464" y="2328"/>
                  </a:lnTo>
                  <a:lnTo>
                    <a:pt x="841" y="2328"/>
                  </a:lnTo>
                  <a:lnTo>
                    <a:pt x="823" y="2326"/>
                  </a:lnTo>
                  <a:lnTo>
                    <a:pt x="806" y="2317"/>
                  </a:lnTo>
                  <a:lnTo>
                    <a:pt x="789" y="2302"/>
                  </a:lnTo>
                  <a:lnTo>
                    <a:pt x="775" y="2281"/>
                  </a:lnTo>
                  <a:lnTo>
                    <a:pt x="760" y="2248"/>
                  </a:lnTo>
                  <a:lnTo>
                    <a:pt x="751" y="2216"/>
                  </a:lnTo>
                  <a:lnTo>
                    <a:pt x="748" y="2184"/>
                  </a:lnTo>
                  <a:lnTo>
                    <a:pt x="748" y="2066"/>
                  </a:lnTo>
                  <a:lnTo>
                    <a:pt x="751" y="2005"/>
                  </a:lnTo>
                  <a:lnTo>
                    <a:pt x="761" y="1945"/>
                  </a:lnTo>
                  <a:lnTo>
                    <a:pt x="779" y="1886"/>
                  </a:lnTo>
                  <a:lnTo>
                    <a:pt x="804" y="1828"/>
                  </a:lnTo>
                  <a:lnTo>
                    <a:pt x="834" y="1771"/>
                  </a:lnTo>
                  <a:lnTo>
                    <a:pt x="872" y="1714"/>
                  </a:lnTo>
                  <a:lnTo>
                    <a:pt x="916" y="1660"/>
                  </a:lnTo>
                  <a:lnTo>
                    <a:pt x="974" y="1599"/>
                  </a:lnTo>
                  <a:lnTo>
                    <a:pt x="1033" y="1544"/>
                  </a:lnTo>
                  <a:lnTo>
                    <a:pt x="1094" y="1493"/>
                  </a:lnTo>
                  <a:lnTo>
                    <a:pt x="1157" y="1449"/>
                  </a:lnTo>
                  <a:lnTo>
                    <a:pt x="1221" y="1411"/>
                  </a:lnTo>
                  <a:lnTo>
                    <a:pt x="1288" y="1377"/>
                  </a:lnTo>
                  <a:lnTo>
                    <a:pt x="1345" y="1349"/>
                  </a:lnTo>
                  <a:lnTo>
                    <a:pt x="1397" y="1321"/>
                  </a:lnTo>
                  <a:lnTo>
                    <a:pt x="1440" y="1292"/>
                  </a:lnTo>
                  <a:lnTo>
                    <a:pt x="1477" y="1262"/>
                  </a:lnTo>
                  <a:lnTo>
                    <a:pt x="1506" y="1232"/>
                  </a:lnTo>
                  <a:lnTo>
                    <a:pt x="1526" y="1206"/>
                  </a:lnTo>
                  <a:lnTo>
                    <a:pt x="1542" y="1177"/>
                  </a:lnTo>
                  <a:lnTo>
                    <a:pt x="1555" y="1145"/>
                  </a:lnTo>
                  <a:lnTo>
                    <a:pt x="1564" y="1111"/>
                  </a:lnTo>
                  <a:lnTo>
                    <a:pt x="1569" y="1074"/>
                  </a:lnTo>
                  <a:lnTo>
                    <a:pt x="1571" y="1034"/>
                  </a:lnTo>
                  <a:lnTo>
                    <a:pt x="1568" y="999"/>
                  </a:lnTo>
                  <a:lnTo>
                    <a:pt x="1558" y="964"/>
                  </a:lnTo>
                  <a:lnTo>
                    <a:pt x="1541" y="931"/>
                  </a:lnTo>
                  <a:lnTo>
                    <a:pt x="1518" y="900"/>
                  </a:lnTo>
                  <a:lnTo>
                    <a:pt x="1487" y="871"/>
                  </a:lnTo>
                  <a:lnTo>
                    <a:pt x="1450" y="842"/>
                  </a:lnTo>
                  <a:lnTo>
                    <a:pt x="1409" y="816"/>
                  </a:lnTo>
                  <a:lnTo>
                    <a:pt x="1366" y="796"/>
                  </a:lnTo>
                  <a:lnTo>
                    <a:pt x="1321" y="779"/>
                  </a:lnTo>
                  <a:lnTo>
                    <a:pt x="1272" y="768"/>
                  </a:lnTo>
                  <a:lnTo>
                    <a:pt x="1223" y="761"/>
                  </a:lnTo>
                  <a:lnTo>
                    <a:pt x="1171" y="759"/>
                  </a:lnTo>
                  <a:lnTo>
                    <a:pt x="1116" y="761"/>
                  </a:lnTo>
                  <a:lnTo>
                    <a:pt x="1065" y="767"/>
                  </a:lnTo>
                  <a:lnTo>
                    <a:pt x="1017" y="777"/>
                  </a:lnTo>
                  <a:lnTo>
                    <a:pt x="972" y="793"/>
                  </a:lnTo>
                  <a:lnTo>
                    <a:pt x="930" y="811"/>
                  </a:lnTo>
                  <a:lnTo>
                    <a:pt x="891" y="835"/>
                  </a:lnTo>
                  <a:lnTo>
                    <a:pt x="869" y="851"/>
                  </a:lnTo>
                  <a:lnTo>
                    <a:pt x="846" y="872"/>
                  </a:lnTo>
                  <a:lnTo>
                    <a:pt x="820" y="896"/>
                  </a:lnTo>
                  <a:lnTo>
                    <a:pt x="791" y="925"/>
                  </a:lnTo>
                  <a:lnTo>
                    <a:pt x="760" y="959"/>
                  </a:lnTo>
                  <a:lnTo>
                    <a:pt x="727" y="996"/>
                  </a:lnTo>
                  <a:lnTo>
                    <a:pt x="692" y="1037"/>
                  </a:lnTo>
                  <a:lnTo>
                    <a:pt x="654" y="1083"/>
                  </a:lnTo>
                  <a:lnTo>
                    <a:pt x="613" y="1134"/>
                  </a:lnTo>
                  <a:lnTo>
                    <a:pt x="595" y="1151"/>
                  </a:lnTo>
                  <a:lnTo>
                    <a:pt x="576" y="1165"/>
                  </a:lnTo>
                  <a:lnTo>
                    <a:pt x="555" y="1172"/>
                  </a:lnTo>
                  <a:lnTo>
                    <a:pt x="533" y="1175"/>
                  </a:lnTo>
                  <a:lnTo>
                    <a:pt x="511" y="1173"/>
                  </a:lnTo>
                  <a:lnTo>
                    <a:pt x="489" y="1166"/>
                  </a:lnTo>
                  <a:lnTo>
                    <a:pt x="468" y="1154"/>
                  </a:lnTo>
                  <a:lnTo>
                    <a:pt x="42" y="830"/>
                  </a:lnTo>
                  <a:lnTo>
                    <a:pt x="27" y="815"/>
                  </a:lnTo>
                  <a:lnTo>
                    <a:pt x="14" y="800"/>
                  </a:lnTo>
                  <a:lnTo>
                    <a:pt x="6" y="782"/>
                  </a:lnTo>
                  <a:lnTo>
                    <a:pt x="1" y="764"/>
                  </a:lnTo>
                  <a:lnTo>
                    <a:pt x="0" y="738"/>
                  </a:lnTo>
                  <a:lnTo>
                    <a:pt x="5" y="715"/>
                  </a:lnTo>
                  <a:lnTo>
                    <a:pt x="15" y="691"/>
                  </a:lnTo>
                  <a:lnTo>
                    <a:pt x="66" y="612"/>
                  </a:lnTo>
                  <a:lnTo>
                    <a:pt x="119" y="538"/>
                  </a:lnTo>
                  <a:lnTo>
                    <a:pt x="174" y="469"/>
                  </a:lnTo>
                  <a:lnTo>
                    <a:pt x="232" y="404"/>
                  </a:lnTo>
                  <a:lnTo>
                    <a:pt x="292" y="345"/>
                  </a:lnTo>
                  <a:lnTo>
                    <a:pt x="356" y="289"/>
                  </a:lnTo>
                  <a:lnTo>
                    <a:pt x="422" y="239"/>
                  </a:lnTo>
                  <a:lnTo>
                    <a:pt x="489" y="194"/>
                  </a:lnTo>
                  <a:lnTo>
                    <a:pt x="560" y="153"/>
                  </a:lnTo>
                  <a:lnTo>
                    <a:pt x="634" y="117"/>
                  </a:lnTo>
                  <a:lnTo>
                    <a:pt x="710" y="86"/>
                  </a:lnTo>
                  <a:lnTo>
                    <a:pt x="788" y="59"/>
                  </a:lnTo>
                  <a:lnTo>
                    <a:pt x="870" y="38"/>
                  </a:lnTo>
                  <a:lnTo>
                    <a:pt x="953" y="21"/>
                  </a:lnTo>
                  <a:lnTo>
                    <a:pt x="1041" y="10"/>
                  </a:lnTo>
                  <a:lnTo>
                    <a:pt x="1129" y="3"/>
                  </a:lnTo>
                  <a:lnTo>
                    <a:pt x="1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AD61006-2AF9-45E7-AA28-13FD30A5412C}"/>
              </a:ext>
            </a:extLst>
          </p:cNvPr>
          <p:cNvGrpSpPr/>
          <p:nvPr/>
        </p:nvGrpSpPr>
        <p:grpSpPr>
          <a:xfrm>
            <a:off x="1427295" y="1755701"/>
            <a:ext cx="229091" cy="327509"/>
            <a:chOff x="-447675" y="2074863"/>
            <a:chExt cx="762000" cy="1057276"/>
          </a:xfrm>
          <a:solidFill>
            <a:schemeClr val="bg1"/>
          </a:solidFill>
        </p:grpSpPr>
        <p:sp>
          <p:nvSpPr>
            <p:cNvPr id="132" name="Freeform 12">
              <a:extLst>
                <a:ext uri="{FF2B5EF4-FFF2-40B4-BE49-F238E27FC236}">
                  <a16:creationId xmlns:a16="http://schemas.microsoft.com/office/drawing/2014/main" id="{3B885B5B-BF48-42A9-A1C3-E9003DE51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9550" y="2867026"/>
              <a:ext cx="263525" cy="265113"/>
            </a:xfrm>
            <a:custGeom>
              <a:avLst/>
              <a:gdLst>
                <a:gd name="T0" fmla="*/ 104 w 831"/>
                <a:gd name="T1" fmla="*/ 0 h 832"/>
                <a:gd name="T2" fmla="*/ 727 w 831"/>
                <a:gd name="T3" fmla="*/ 0 h 832"/>
                <a:gd name="T4" fmla="*/ 747 w 831"/>
                <a:gd name="T5" fmla="*/ 2 h 832"/>
                <a:gd name="T6" fmla="*/ 766 w 831"/>
                <a:gd name="T7" fmla="*/ 8 h 832"/>
                <a:gd name="T8" fmla="*/ 783 w 831"/>
                <a:gd name="T9" fmla="*/ 17 h 832"/>
                <a:gd name="T10" fmla="*/ 799 w 831"/>
                <a:gd name="T11" fmla="*/ 32 h 832"/>
                <a:gd name="T12" fmla="*/ 814 w 831"/>
                <a:gd name="T13" fmla="*/ 48 h 832"/>
                <a:gd name="T14" fmla="*/ 823 w 831"/>
                <a:gd name="T15" fmla="*/ 66 h 832"/>
                <a:gd name="T16" fmla="*/ 829 w 831"/>
                <a:gd name="T17" fmla="*/ 84 h 832"/>
                <a:gd name="T18" fmla="*/ 831 w 831"/>
                <a:gd name="T19" fmla="*/ 105 h 832"/>
                <a:gd name="T20" fmla="*/ 831 w 831"/>
                <a:gd name="T21" fmla="*/ 728 h 832"/>
                <a:gd name="T22" fmla="*/ 829 w 831"/>
                <a:gd name="T23" fmla="*/ 749 h 832"/>
                <a:gd name="T24" fmla="*/ 823 w 831"/>
                <a:gd name="T25" fmla="*/ 767 h 832"/>
                <a:gd name="T26" fmla="*/ 814 w 831"/>
                <a:gd name="T27" fmla="*/ 785 h 832"/>
                <a:gd name="T28" fmla="*/ 799 w 831"/>
                <a:gd name="T29" fmla="*/ 801 h 832"/>
                <a:gd name="T30" fmla="*/ 783 w 831"/>
                <a:gd name="T31" fmla="*/ 814 h 832"/>
                <a:gd name="T32" fmla="*/ 766 w 831"/>
                <a:gd name="T33" fmla="*/ 825 h 832"/>
                <a:gd name="T34" fmla="*/ 747 w 831"/>
                <a:gd name="T35" fmla="*/ 830 h 832"/>
                <a:gd name="T36" fmla="*/ 727 w 831"/>
                <a:gd name="T37" fmla="*/ 832 h 832"/>
                <a:gd name="T38" fmla="*/ 104 w 831"/>
                <a:gd name="T39" fmla="*/ 832 h 832"/>
                <a:gd name="T40" fmla="*/ 83 w 831"/>
                <a:gd name="T41" fmla="*/ 830 h 832"/>
                <a:gd name="T42" fmla="*/ 65 w 831"/>
                <a:gd name="T43" fmla="*/ 825 h 832"/>
                <a:gd name="T44" fmla="*/ 47 w 831"/>
                <a:gd name="T45" fmla="*/ 814 h 832"/>
                <a:gd name="T46" fmla="*/ 31 w 831"/>
                <a:gd name="T47" fmla="*/ 801 h 832"/>
                <a:gd name="T48" fmla="*/ 18 w 831"/>
                <a:gd name="T49" fmla="*/ 785 h 832"/>
                <a:gd name="T50" fmla="*/ 7 w 831"/>
                <a:gd name="T51" fmla="*/ 767 h 832"/>
                <a:gd name="T52" fmla="*/ 2 w 831"/>
                <a:gd name="T53" fmla="*/ 749 h 832"/>
                <a:gd name="T54" fmla="*/ 0 w 831"/>
                <a:gd name="T55" fmla="*/ 728 h 832"/>
                <a:gd name="T56" fmla="*/ 0 w 831"/>
                <a:gd name="T57" fmla="*/ 105 h 832"/>
                <a:gd name="T58" fmla="*/ 2 w 831"/>
                <a:gd name="T59" fmla="*/ 84 h 832"/>
                <a:gd name="T60" fmla="*/ 7 w 831"/>
                <a:gd name="T61" fmla="*/ 66 h 832"/>
                <a:gd name="T62" fmla="*/ 18 w 831"/>
                <a:gd name="T63" fmla="*/ 48 h 832"/>
                <a:gd name="T64" fmla="*/ 31 w 831"/>
                <a:gd name="T65" fmla="*/ 32 h 832"/>
                <a:gd name="T66" fmla="*/ 47 w 831"/>
                <a:gd name="T67" fmla="*/ 18 h 832"/>
                <a:gd name="T68" fmla="*/ 65 w 831"/>
                <a:gd name="T69" fmla="*/ 8 h 832"/>
                <a:gd name="T70" fmla="*/ 83 w 831"/>
                <a:gd name="T71" fmla="*/ 2 h 832"/>
                <a:gd name="T72" fmla="*/ 104 w 831"/>
                <a:gd name="T73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31" h="832">
                  <a:moveTo>
                    <a:pt x="104" y="0"/>
                  </a:moveTo>
                  <a:lnTo>
                    <a:pt x="727" y="0"/>
                  </a:lnTo>
                  <a:lnTo>
                    <a:pt x="747" y="2"/>
                  </a:lnTo>
                  <a:lnTo>
                    <a:pt x="766" y="8"/>
                  </a:lnTo>
                  <a:lnTo>
                    <a:pt x="783" y="17"/>
                  </a:lnTo>
                  <a:lnTo>
                    <a:pt x="799" y="32"/>
                  </a:lnTo>
                  <a:lnTo>
                    <a:pt x="814" y="48"/>
                  </a:lnTo>
                  <a:lnTo>
                    <a:pt x="823" y="66"/>
                  </a:lnTo>
                  <a:lnTo>
                    <a:pt x="829" y="84"/>
                  </a:lnTo>
                  <a:lnTo>
                    <a:pt x="831" y="105"/>
                  </a:lnTo>
                  <a:lnTo>
                    <a:pt x="831" y="728"/>
                  </a:lnTo>
                  <a:lnTo>
                    <a:pt x="829" y="749"/>
                  </a:lnTo>
                  <a:lnTo>
                    <a:pt x="823" y="767"/>
                  </a:lnTo>
                  <a:lnTo>
                    <a:pt x="814" y="785"/>
                  </a:lnTo>
                  <a:lnTo>
                    <a:pt x="799" y="801"/>
                  </a:lnTo>
                  <a:lnTo>
                    <a:pt x="783" y="814"/>
                  </a:lnTo>
                  <a:lnTo>
                    <a:pt x="766" y="825"/>
                  </a:lnTo>
                  <a:lnTo>
                    <a:pt x="747" y="830"/>
                  </a:lnTo>
                  <a:lnTo>
                    <a:pt x="727" y="832"/>
                  </a:lnTo>
                  <a:lnTo>
                    <a:pt x="104" y="832"/>
                  </a:lnTo>
                  <a:lnTo>
                    <a:pt x="83" y="830"/>
                  </a:lnTo>
                  <a:lnTo>
                    <a:pt x="65" y="825"/>
                  </a:lnTo>
                  <a:lnTo>
                    <a:pt x="47" y="814"/>
                  </a:lnTo>
                  <a:lnTo>
                    <a:pt x="31" y="801"/>
                  </a:lnTo>
                  <a:lnTo>
                    <a:pt x="18" y="785"/>
                  </a:lnTo>
                  <a:lnTo>
                    <a:pt x="7" y="767"/>
                  </a:lnTo>
                  <a:lnTo>
                    <a:pt x="2" y="749"/>
                  </a:lnTo>
                  <a:lnTo>
                    <a:pt x="0" y="728"/>
                  </a:lnTo>
                  <a:lnTo>
                    <a:pt x="0" y="105"/>
                  </a:lnTo>
                  <a:lnTo>
                    <a:pt x="2" y="84"/>
                  </a:lnTo>
                  <a:lnTo>
                    <a:pt x="7" y="66"/>
                  </a:lnTo>
                  <a:lnTo>
                    <a:pt x="18" y="48"/>
                  </a:lnTo>
                  <a:lnTo>
                    <a:pt x="31" y="32"/>
                  </a:lnTo>
                  <a:lnTo>
                    <a:pt x="47" y="18"/>
                  </a:lnTo>
                  <a:lnTo>
                    <a:pt x="65" y="8"/>
                  </a:lnTo>
                  <a:lnTo>
                    <a:pt x="83" y="2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3">
              <a:extLst>
                <a:ext uri="{FF2B5EF4-FFF2-40B4-BE49-F238E27FC236}">
                  <a16:creationId xmlns:a16="http://schemas.microsoft.com/office/drawing/2014/main" id="{0873CE0E-5A5B-4CFD-9C08-30B79B842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7675" y="2074863"/>
              <a:ext cx="762000" cy="739775"/>
            </a:xfrm>
            <a:custGeom>
              <a:avLst/>
              <a:gdLst>
                <a:gd name="T0" fmla="*/ 1387 w 2399"/>
                <a:gd name="T1" fmla="*/ 13 h 2328"/>
                <a:gd name="T2" fmla="*/ 1639 w 2399"/>
                <a:gd name="T3" fmla="*/ 81 h 2328"/>
                <a:gd name="T4" fmla="*/ 1876 w 2399"/>
                <a:gd name="T5" fmla="*/ 197 h 2328"/>
                <a:gd name="T6" fmla="*/ 2072 w 2399"/>
                <a:gd name="T7" fmla="*/ 343 h 2328"/>
                <a:gd name="T8" fmla="*/ 2216 w 2399"/>
                <a:gd name="T9" fmla="*/ 504 h 2328"/>
                <a:gd name="T10" fmla="*/ 2325 w 2399"/>
                <a:gd name="T11" fmla="*/ 694 h 2328"/>
                <a:gd name="T12" fmla="*/ 2388 w 2399"/>
                <a:gd name="T13" fmla="*/ 897 h 2328"/>
                <a:gd name="T14" fmla="*/ 2397 w 2399"/>
                <a:gd name="T15" fmla="*/ 1109 h 2328"/>
                <a:gd name="T16" fmla="*/ 2359 w 2399"/>
                <a:gd name="T17" fmla="*/ 1302 h 2328"/>
                <a:gd name="T18" fmla="*/ 2292 w 2399"/>
                <a:gd name="T19" fmla="*/ 1459 h 2328"/>
                <a:gd name="T20" fmla="*/ 2207 w 2399"/>
                <a:gd name="T21" fmla="*/ 1578 h 2328"/>
                <a:gd name="T22" fmla="*/ 2090 w 2399"/>
                <a:gd name="T23" fmla="*/ 1685 h 2328"/>
                <a:gd name="T24" fmla="*/ 2000 w 2399"/>
                <a:gd name="T25" fmla="*/ 1753 h 2328"/>
                <a:gd name="T26" fmla="*/ 1923 w 2399"/>
                <a:gd name="T27" fmla="*/ 1800 h 2328"/>
                <a:gd name="T28" fmla="*/ 1817 w 2399"/>
                <a:gd name="T29" fmla="*/ 1861 h 2328"/>
                <a:gd name="T30" fmla="*/ 1702 w 2399"/>
                <a:gd name="T31" fmla="*/ 1950 h 2328"/>
                <a:gd name="T32" fmla="*/ 1618 w 2399"/>
                <a:gd name="T33" fmla="*/ 2065 h 2328"/>
                <a:gd name="T34" fmla="*/ 1576 w 2399"/>
                <a:gd name="T35" fmla="*/ 2156 h 2328"/>
                <a:gd name="T36" fmla="*/ 1565 w 2399"/>
                <a:gd name="T37" fmla="*/ 2233 h 2328"/>
                <a:gd name="T38" fmla="*/ 1521 w 2399"/>
                <a:gd name="T39" fmla="*/ 2306 h 2328"/>
                <a:gd name="T40" fmla="*/ 1464 w 2399"/>
                <a:gd name="T41" fmla="*/ 2328 h 2328"/>
                <a:gd name="T42" fmla="*/ 806 w 2399"/>
                <a:gd name="T43" fmla="*/ 2317 h 2328"/>
                <a:gd name="T44" fmla="*/ 760 w 2399"/>
                <a:gd name="T45" fmla="*/ 2248 h 2328"/>
                <a:gd name="T46" fmla="*/ 748 w 2399"/>
                <a:gd name="T47" fmla="*/ 2066 h 2328"/>
                <a:gd name="T48" fmla="*/ 779 w 2399"/>
                <a:gd name="T49" fmla="*/ 1886 h 2328"/>
                <a:gd name="T50" fmla="*/ 872 w 2399"/>
                <a:gd name="T51" fmla="*/ 1714 h 2328"/>
                <a:gd name="T52" fmla="*/ 1033 w 2399"/>
                <a:gd name="T53" fmla="*/ 1544 h 2328"/>
                <a:gd name="T54" fmla="*/ 1221 w 2399"/>
                <a:gd name="T55" fmla="*/ 1411 h 2328"/>
                <a:gd name="T56" fmla="*/ 1397 w 2399"/>
                <a:gd name="T57" fmla="*/ 1321 h 2328"/>
                <a:gd name="T58" fmla="*/ 1506 w 2399"/>
                <a:gd name="T59" fmla="*/ 1232 h 2328"/>
                <a:gd name="T60" fmla="*/ 1555 w 2399"/>
                <a:gd name="T61" fmla="*/ 1145 h 2328"/>
                <a:gd name="T62" fmla="*/ 1571 w 2399"/>
                <a:gd name="T63" fmla="*/ 1034 h 2328"/>
                <a:gd name="T64" fmla="*/ 1541 w 2399"/>
                <a:gd name="T65" fmla="*/ 931 h 2328"/>
                <a:gd name="T66" fmla="*/ 1450 w 2399"/>
                <a:gd name="T67" fmla="*/ 842 h 2328"/>
                <a:gd name="T68" fmla="*/ 1321 w 2399"/>
                <a:gd name="T69" fmla="*/ 779 h 2328"/>
                <a:gd name="T70" fmla="*/ 1171 w 2399"/>
                <a:gd name="T71" fmla="*/ 759 h 2328"/>
                <a:gd name="T72" fmla="*/ 1017 w 2399"/>
                <a:gd name="T73" fmla="*/ 777 h 2328"/>
                <a:gd name="T74" fmla="*/ 891 w 2399"/>
                <a:gd name="T75" fmla="*/ 835 h 2328"/>
                <a:gd name="T76" fmla="*/ 820 w 2399"/>
                <a:gd name="T77" fmla="*/ 896 h 2328"/>
                <a:gd name="T78" fmla="*/ 727 w 2399"/>
                <a:gd name="T79" fmla="*/ 996 h 2328"/>
                <a:gd name="T80" fmla="*/ 613 w 2399"/>
                <a:gd name="T81" fmla="*/ 1134 h 2328"/>
                <a:gd name="T82" fmla="*/ 555 w 2399"/>
                <a:gd name="T83" fmla="*/ 1172 h 2328"/>
                <a:gd name="T84" fmla="*/ 489 w 2399"/>
                <a:gd name="T85" fmla="*/ 1166 h 2328"/>
                <a:gd name="T86" fmla="*/ 27 w 2399"/>
                <a:gd name="T87" fmla="*/ 815 h 2328"/>
                <a:gd name="T88" fmla="*/ 1 w 2399"/>
                <a:gd name="T89" fmla="*/ 764 h 2328"/>
                <a:gd name="T90" fmla="*/ 15 w 2399"/>
                <a:gd name="T91" fmla="*/ 691 h 2328"/>
                <a:gd name="T92" fmla="*/ 174 w 2399"/>
                <a:gd name="T93" fmla="*/ 469 h 2328"/>
                <a:gd name="T94" fmla="*/ 356 w 2399"/>
                <a:gd name="T95" fmla="*/ 289 h 2328"/>
                <a:gd name="T96" fmla="*/ 560 w 2399"/>
                <a:gd name="T97" fmla="*/ 153 h 2328"/>
                <a:gd name="T98" fmla="*/ 788 w 2399"/>
                <a:gd name="T99" fmla="*/ 59 h 2328"/>
                <a:gd name="T100" fmla="*/ 1041 w 2399"/>
                <a:gd name="T101" fmla="*/ 10 h 2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99" h="2328">
                  <a:moveTo>
                    <a:pt x="1220" y="0"/>
                  </a:moveTo>
                  <a:lnTo>
                    <a:pt x="1304" y="3"/>
                  </a:lnTo>
                  <a:lnTo>
                    <a:pt x="1387" y="13"/>
                  </a:lnTo>
                  <a:lnTo>
                    <a:pt x="1471" y="28"/>
                  </a:lnTo>
                  <a:lnTo>
                    <a:pt x="1555" y="51"/>
                  </a:lnTo>
                  <a:lnTo>
                    <a:pt x="1639" y="81"/>
                  </a:lnTo>
                  <a:lnTo>
                    <a:pt x="1721" y="115"/>
                  </a:lnTo>
                  <a:lnTo>
                    <a:pt x="1800" y="154"/>
                  </a:lnTo>
                  <a:lnTo>
                    <a:pt x="1876" y="197"/>
                  </a:lnTo>
                  <a:lnTo>
                    <a:pt x="1949" y="244"/>
                  </a:lnTo>
                  <a:lnTo>
                    <a:pt x="2017" y="296"/>
                  </a:lnTo>
                  <a:lnTo>
                    <a:pt x="2072" y="343"/>
                  </a:lnTo>
                  <a:lnTo>
                    <a:pt x="2123" y="393"/>
                  </a:lnTo>
                  <a:lnTo>
                    <a:pt x="2171" y="446"/>
                  </a:lnTo>
                  <a:lnTo>
                    <a:pt x="2216" y="504"/>
                  </a:lnTo>
                  <a:lnTo>
                    <a:pt x="2256" y="564"/>
                  </a:lnTo>
                  <a:lnTo>
                    <a:pt x="2294" y="627"/>
                  </a:lnTo>
                  <a:lnTo>
                    <a:pt x="2325" y="694"/>
                  </a:lnTo>
                  <a:lnTo>
                    <a:pt x="2352" y="761"/>
                  </a:lnTo>
                  <a:lnTo>
                    <a:pt x="2373" y="829"/>
                  </a:lnTo>
                  <a:lnTo>
                    <a:pt x="2388" y="897"/>
                  </a:lnTo>
                  <a:lnTo>
                    <a:pt x="2396" y="968"/>
                  </a:lnTo>
                  <a:lnTo>
                    <a:pt x="2399" y="1039"/>
                  </a:lnTo>
                  <a:lnTo>
                    <a:pt x="2397" y="1109"/>
                  </a:lnTo>
                  <a:lnTo>
                    <a:pt x="2389" y="1176"/>
                  </a:lnTo>
                  <a:lnTo>
                    <a:pt x="2377" y="1239"/>
                  </a:lnTo>
                  <a:lnTo>
                    <a:pt x="2359" y="1302"/>
                  </a:lnTo>
                  <a:lnTo>
                    <a:pt x="2339" y="1361"/>
                  </a:lnTo>
                  <a:lnTo>
                    <a:pt x="2316" y="1413"/>
                  </a:lnTo>
                  <a:lnTo>
                    <a:pt x="2292" y="1459"/>
                  </a:lnTo>
                  <a:lnTo>
                    <a:pt x="2268" y="1501"/>
                  </a:lnTo>
                  <a:lnTo>
                    <a:pt x="2240" y="1539"/>
                  </a:lnTo>
                  <a:lnTo>
                    <a:pt x="2207" y="1578"/>
                  </a:lnTo>
                  <a:lnTo>
                    <a:pt x="2169" y="1617"/>
                  </a:lnTo>
                  <a:lnTo>
                    <a:pt x="2125" y="1656"/>
                  </a:lnTo>
                  <a:lnTo>
                    <a:pt x="2090" y="1685"/>
                  </a:lnTo>
                  <a:lnTo>
                    <a:pt x="2057" y="1711"/>
                  </a:lnTo>
                  <a:lnTo>
                    <a:pt x="2028" y="1734"/>
                  </a:lnTo>
                  <a:lnTo>
                    <a:pt x="2000" y="1753"/>
                  </a:lnTo>
                  <a:lnTo>
                    <a:pt x="1976" y="1769"/>
                  </a:lnTo>
                  <a:lnTo>
                    <a:pt x="1952" y="1784"/>
                  </a:lnTo>
                  <a:lnTo>
                    <a:pt x="1923" y="1800"/>
                  </a:lnTo>
                  <a:lnTo>
                    <a:pt x="1891" y="1819"/>
                  </a:lnTo>
                  <a:lnTo>
                    <a:pt x="1856" y="1839"/>
                  </a:lnTo>
                  <a:lnTo>
                    <a:pt x="1817" y="1861"/>
                  </a:lnTo>
                  <a:lnTo>
                    <a:pt x="1776" y="1887"/>
                  </a:lnTo>
                  <a:lnTo>
                    <a:pt x="1738" y="1916"/>
                  </a:lnTo>
                  <a:lnTo>
                    <a:pt x="1702" y="1950"/>
                  </a:lnTo>
                  <a:lnTo>
                    <a:pt x="1670" y="1988"/>
                  </a:lnTo>
                  <a:lnTo>
                    <a:pt x="1640" y="2029"/>
                  </a:lnTo>
                  <a:lnTo>
                    <a:pt x="1618" y="2065"/>
                  </a:lnTo>
                  <a:lnTo>
                    <a:pt x="1600" y="2098"/>
                  </a:lnTo>
                  <a:lnTo>
                    <a:pt x="1586" y="2128"/>
                  </a:lnTo>
                  <a:lnTo>
                    <a:pt x="1576" y="2156"/>
                  </a:lnTo>
                  <a:lnTo>
                    <a:pt x="1570" y="2182"/>
                  </a:lnTo>
                  <a:lnTo>
                    <a:pt x="1569" y="2204"/>
                  </a:lnTo>
                  <a:lnTo>
                    <a:pt x="1565" y="2233"/>
                  </a:lnTo>
                  <a:lnTo>
                    <a:pt x="1555" y="2262"/>
                  </a:lnTo>
                  <a:lnTo>
                    <a:pt x="1537" y="2288"/>
                  </a:lnTo>
                  <a:lnTo>
                    <a:pt x="1521" y="2306"/>
                  </a:lnTo>
                  <a:lnTo>
                    <a:pt x="1503" y="2319"/>
                  </a:lnTo>
                  <a:lnTo>
                    <a:pt x="1485" y="2326"/>
                  </a:lnTo>
                  <a:lnTo>
                    <a:pt x="1464" y="2328"/>
                  </a:lnTo>
                  <a:lnTo>
                    <a:pt x="841" y="2328"/>
                  </a:lnTo>
                  <a:lnTo>
                    <a:pt x="823" y="2326"/>
                  </a:lnTo>
                  <a:lnTo>
                    <a:pt x="806" y="2317"/>
                  </a:lnTo>
                  <a:lnTo>
                    <a:pt x="789" y="2302"/>
                  </a:lnTo>
                  <a:lnTo>
                    <a:pt x="775" y="2281"/>
                  </a:lnTo>
                  <a:lnTo>
                    <a:pt x="760" y="2248"/>
                  </a:lnTo>
                  <a:lnTo>
                    <a:pt x="751" y="2216"/>
                  </a:lnTo>
                  <a:lnTo>
                    <a:pt x="748" y="2184"/>
                  </a:lnTo>
                  <a:lnTo>
                    <a:pt x="748" y="2066"/>
                  </a:lnTo>
                  <a:lnTo>
                    <a:pt x="751" y="2005"/>
                  </a:lnTo>
                  <a:lnTo>
                    <a:pt x="761" y="1945"/>
                  </a:lnTo>
                  <a:lnTo>
                    <a:pt x="779" y="1886"/>
                  </a:lnTo>
                  <a:lnTo>
                    <a:pt x="804" y="1828"/>
                  </a:lnTo>
                  <a:lnTo>
                    <a:pt x="834" y="1771"/>
                  </a:lnTo>
                  <a:lnTo>
                    <a:pt x="872" y="1714"/>
                  </a:lnTo>
                  <a:lnTo>
                    <a:pt x="916" y="1660"/>
                  </a:lnTo>
                  <a:lnTo>
                    <a:pt x="974" y="1599"/>
                  </a:lnTo>
                  <a:lnTo>
                    <a:pt x="1033" y="1544"/>
                  </a:lnTo>
                  <a:lnTo>
                    <a:pt x="1094" y="1493"/>
                  </a:lnTo>
                  <a:lnTo>
                    <a:pt x="1157" y="1449"/>
                  </a:lnTo>
                  <a:lnTo>
                    <a:pt x="1221" y="1411"/>
                  </a:lnTo>
                  <a:lnTo>
                    <a:pt x="1288" y="1377"/>
                  </a:lnTo>
                  <a:lnTo>
                    <a:pt x="1345" y="1349"/>
                  </a:lnTo>
                  <a:lnTo>
                    <a:pt x="1397" y="1321"/>
                  </a:lnTo>
                  <a:lnTo>
                    <a:pt x="1440" y="1292"/>
                  </a:lnTo>
                  <a:lnTo>
                    <a:pt x="1477" y="1262"/>
                  </a:lnTo>
                  <a:lnTo>
                    <a:pt x="1506" y="1232"/>
                  </a:lnTo>
                  <a:lnTo>
                    <a:pt x="1526" y="1206"/>
                  </a:lnTo>
                  <a:lnTo>
                    <a:pt x="1542" y="1177"/>
                  </a:lnTo>
                  <a:lnTo>
                    <a:pt x="1555" y="1145"/>
                  </a:lnTo>
                  <a:lnTo>
                    <a:pt x="1564" y="1111"/>
                  </a:lnTo>
                  <a:lnTo>
                    <a:pt x="1569" y="1074"/>
                  </a:lnTo>
                  <a:lnTo>
                    <a:pt x="1571" y="1034"/>
                  </a:lnTo>
                  <a:lnTo>
                    <a:pt x="1568" y="999"/>
                  </a:lnTo>
                  <a:lnTo>
                    <a:pt x="1558" y="964"/>
                  </a:lnTo>
                  <a:lnTo>
                    <a:pt x="1541" y="931"/>
                  </a:lnTo>
                  <a:lnTo>
                    <a:pt x="1518" y="900"/>
                  </a:lnTo>
                  <a:lnTo>
                    <a:pt x="1487" y="871"/>
                  </a:lnTo>
                  <a:lnTo>
                    <a:pt x="1450" y="842"/>
                  </a:lnTo>
                  <a:lnTo>
                    <a:pt x="1409" y="816"/>
                  </a:lnTo>
                  <a:lnTo>
                    <a:pt x="1366" y="796"/>
                  </a:lnTo>
                  <a:lnTo>
                    <a:pt x="1321" y="779"/>
                  </a:lnTo>
                  <a:lnTo>
                    <a:pt x="1272" y="768"/>
                  </a:lnTo>
                  <a:lnTo>
                    <a:pt x="1223" y="761"/>
                  </a:lnTo>
                  <a:lnTo>
                    <a:pt x="1171" y="759"/>
                  </a:lnTo>
                  <a:lnTo>
                    <a:pt x="1116" y="761"/>
                  </a:lnTo>
                  <a:lnTo>
                    <a:pt x="1065" y="767"/>
                  </a:lnTo>
                  <a:lnTo>
                    <a:pt x="1017" y="777"/>
                  </a:lnTo>
                  <a:lnTo>
                    <a:pt x="972" y="793"/>
                  </a:lnTo>
                  <a:lnTo>
                    <a:pt x="930" y="811"/>
                  </a:lnTo>
                  <a:lnTo>
                    <a:pt x="891" y="835"/>
                  </a:lnTo>
                  <a:lnTo>
                    <a:pt x="869" y="851"/>
                  </a:lnTo>
                  <a:lnTo>
                    <a:pt x="846" y="872"/>
                  </a:lnTo>
                  <a:lnTo>
                    <a:pt x="820" y="896"/>
                  </a:lnTo>
                  <a:lnTo>
                    <a:pt x="791" y="925"/>
                  </a:lnTo>
                  <a:lnTo>
                    <a:pt x="760" y="959"/>
                  </a:lnTo>
                  <a:lnTo>
                    <a:pt x="727" y="996"/>
                  </a:lnTo>
                  <a:lnTo>
                    <a:pt x="692" y="1037"/>
                  </a:lnTo>
                  <a:lnTo>
                    <a:pt x="654" y="1083"/>
                  </a:lnTo>
                  <a:lnTo>
                    <a:pt x="613" y="1134"/>
                  </a:lnTo>
                  <a:lnTo>
                    <a:pt x="595" y="1151"/>
                  </a:lnTo>
                  <a:lnTo>
                    <a:pt x="576" y="1165"/>
                  </a:lnTo>
                  <a:lnTo>
                    <a:pt x="555" y="1172"/>
                  </a:lnTo>
                  <a:lnTo>
                    <a:pt x="533" y="1175"/>
                  </a:lnTo>
                  <a:lnTo>
                    <a:pt x="511" y="1173"/>
                  </a:lnTo>
                  <a:lnTo>
                    <a:pt x="489" y="1166"/>
                  </a:lnTo>
                  <a:lnTo>
                    <a:pt x="468" y="1154"/>
                  </a:lnTo>
                  <a:lnTo>
                    <a:pt x="42" y="830"/>
                  </a:lnTo>
                  <a:lnTo>
                    <a:pt x="27" y="815"/>
                  </a:lnTo>
                  <a:lnTo>
                    <a:pt x="14" y="800"/>
                  </a:lnTo>
                  <a:lnTo>
                    <a:pt x="6" y="782"/>
                  </a:lnTo>
                  <a:lnTo>
                    <a:pt x="1" y="764"/>
                  </a:lnTo>
                  <a:lnTo>
                    <a:pt x="0" y="738"/>
                  </a:lnTo>
                  <a:lnTo>
                    <a:pt x="5" y="715"/>
                  </a:lnTo>
                  <a:lnTo>
                    <a:pt x="15" y="691"/>
                  </a:lnTo>
                  <a:lnTo>
                    <a:pt x="66" y="612"/>
                  </a:lnTo>
                  <a:lnTo>
                    <a:pt x="119" y="538"/>
                  </a:lnTo>
                  <a:lnTo>
                    <a:pt x="174" y="469"/>
                  </a:lnTo>
                  <a:lnTo>
                    <a:pt x="232" y="404"/>
                  </a:lnTo>
                  <a:lnTo>
                    <a:pt x="292" y="345"/>
                  </a:lnTo>
                  <a:lnTo>
                    <a:pt x="356" y="289"/>
                  </a:lnTo>
                  <a:lnTo>
                    <a:pt x="422" y="239"/>
                  </a:lnTo>
                  <a:lnTo>
                    <a:pt x="489" y="194"/>
                  </a:lnTo>
                  <a:lnTo>
                    <a:pt x="560" y="153"/>
                  </a:lnTo>
                  <a:lnTo>
                    <a:pt x="634" y="117"/>
                  </a:lnTo>
                  <a:lnTo>
                    <a:pt x="710" y="86"/>
                  </a:lnTo>
                  <a:lnTo>
                    <a:pt x="788" y="59"/>
                  </a:lnTo>
                  <a:lnTo>
                    <a:pt x="870" y="38"/>
                  </a:lnTo>
                  <a:lnTo>
                    <a:pt x="953" y="21"/>
                  </a:lnTo>
                  <a:lnTo>
                    <a:pt x="1041" y="10"/>
                  </a:lnTo>
                  <a:lnTo>
                    <a:pt x="1129" y="3"/>
                  </a:lnTo>
                  <a:lnTo>
                    <a:pt x="1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7855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77584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38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sz="2000" dirty="0">
              <a:solidFill>
                <a:prstClr val="white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587346" y="2581602"/>
            <a:ext cx="2594169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2549322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2582545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0617E-9278-1F5D-D89C-9C3AB4DF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cxnSp>
        <p:nvCxnSpPr>
          <p:cNvPr id="185" name="Straight Connector 184"/>
          <p:cNvCxnSpPr/>
          <p:nvPr/>
        </p:nvCxnSpPr>
        <p:spPr>
          <a:xfrm>
            <a:off x="10069110" y="21809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694ABB07-445F-45D2-9737-4408B52CB2C9}"/>
              </a:ext>
            </a:extLst>
          </p:cNvPr>
          <p:cNvSpPr txBox="1">
            <a:spLocks/>
          </p:cNvSpPr>
          <p:nvPr/>
        </p:nvSpPr>
        <p:spPr>
          <a:xfrm>
            <a:off x="1237457" y="2732342"/>
            <a:ext cx="3581400" cy="1393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012" rtl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fa-IR" sz="5400" dirty="0">
                <a:solidFill>
                  <a:schemeClr val="accent1"/>
                </a:solidFill>
                <a:latin typeface="Calibri"/>
                <a:cs typeface="B Titr" panose="00000700000000000000" pitchFamily="2" charset="-78"/>
              </a:rPr>
              <a:t>مبانی و پیشینه</a:t>
            </a:r>
            <a:endParaRPr lang="fa-IR" sz="6000" dirty="0">
              <a:solidFill>
                <a:schemeClr val="accent1"/>
              </a:solidFill>
              <a:latin typeface="Calibri"/>
              <a:cs typeface="B Titr" panose="00000700000000000000" pitchFamily="2" charset="-78"/>
            </a:endParaRPr>
          </a:p>
        </p:txBody>
      </p:sp>
      <p:sp>
        <p:nvSpPr>
          <p:cNvPr id="38" name="Google Shape;4618;p50">
            <a:extLst>
              <a:ext uri="{FF2B5EF4-FFF2-40B4-BE49-F238E27FC236}">
                <a16:creationId xmlns:a16="http://schemas.microsoft.com/office/drawing/2014/main" id="{F3A81EDA-D50B-4784-A2A3-50DEC087C662}"/>
              </a:ext>
            </a:extLst>
          </p:cNvPr>
          <p:cNvSpPr/>
          <p:nvPr/>
        </p:nvSpPr>
        <p:spPr>
          <a:xfrm>
            <a:off x="5327387" y="2130671"/>
            <a:ext cx="2834190" cy="2323109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62469" tIns="162469" rIns="162469" bIns="162469" anchor="ctr" anchorCtr="0">
            <a:noAutofit/>
          </a:bodyPr>
          <a:lstStyle/>
          <a:p>
            <a:pPr>
              <a:buClrTx/>
              <a:defRPr/>
            </a:pPr>
            <a:endParaRPr sz="3199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89889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99782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38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sz="2000" dirty="0">
              <a:solidFill>
                <a:prstClr val="white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587346" y="2581602"/>
            <a:ext cx="2594169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2549322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2582545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0617E-9278-1F5D-D89C-9C3AB4DF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cxnSp>
        <p:nvCxnSpPr>
          <p:cNvPr id="185" name="Straight Connector 184"/>
          <p:cNvCxnSpPr/>
          <p:nvPr/>
        </p:nvCxnSpPr>
        <p:spPr>
          <a:xfrm>
            <a:off x="10069110" y="21809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9977B79-7EAC-4D95-8DAD-EBC4C9CAAF69}"/>
              </a:ext>
            </a:extLst>
          </p:cNvPr>
          <p:cNvSpPr/>
          <p:nvPr/>
        </p:nvSpPr>
        <p:spPr>
          <a:xfrm flipH="1">
            <a:off x="6381327" y="3221830"/>
            <a:ext cx="2131477" cy="242358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با استفاده از داده های ثبت شده، امکان بررسی و تحلیل نحوه ی اجرای فرآیند های مالی را فراهم می کند</a:t>
            </a:r>
            <a:endParaRPr lang="fa-IR" altLang="ko-KR" sz="1600" b="1" dirty="0">
              <a:solidFill>
                <a:srgbClr val="262626"/>
              </a:solidFill>
              <a:cs typeface="B Nazanin" panose="00000400000000000000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C06551-947E-4E9D-A3F6-76F2385C6AE7}"/>
              </a:ext>
            </a:extLst>
          </p:cNvPr>
          <p:cNvSpPr/>
          <p:nvPr/>
        </p:nvSpPr>
        <p:spPr>
          <a:xfrm flipH="1">
            <a:off x="3808504" y="3200486"/>
            <a:ext cx="2020983" cy="2493746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استخراج الگوهای پیچیده از داده‌های فرآیندی برای پیش‌بینی فعالیت‌های آینده</a:t>
            </a:r>
            <a:endParaRPr lang="fa-IR" altLang="ko-KR" sz="16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4C4CE4-1DE9-416B-AD75-D83246B58DF4}"/>
              </a:ext>
            </a:extLst>
          </p:cNvPr>
          <p:cNvSpPr/>
          <p:nvPr/>
        </p:nvSpPr>
        <p:spPr>
          <a:xfrm flipH="1">
            <a:off x="1351707" y="3200486"/>
            <a:ext cx="2020983" cy="249374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dirty="0">
                <a:solidFill>
                  <a:schemeClr val="tx1"/>
                </a:solidFill>
              </a:rPr>
              <a:t>Transformer</a:t>
            </a:r>
            <a:br>
              <a:rPr lang="fa-IR" dirty="0">
                <a:solidFill>
                  <a:schemeClr val="tx1"/>
                </a:solidFill>
              </a:rPr>
            </a:br>
            <a:r>
              <a:rPr lang="fa-IR" dirty="0">
                <a:solidFill>
                  <a:schemeClr val="tx1"/>
                </a:solidFill>
              </a:rPr>
              <a:t>+</a:t>
            </a:r>
            <a:br>
              <a:rPr lang="fa-IR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TCN</a:t>
            </a:r>
            <a:br>
              <a:rPr lang="fa-IR" dirty="0">
                <a:solidFill>
                  <a:schemeClr val="tx1"/>
                </a:solidFill>
              </a:rPr>
            </a:br>
            <a:r>
              <a:rPr lang="fa-IR" dirty="0">
                <a:solidFill>
                  <a:schemeClr val="tx1"/>
                </a:solidFill>
              </a:rPr>
              <a:t>+</a:t>
            </a:r>
            <a:br>
              <a:rPr lang="fa-IR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GNN</a:t>
            </a:r>
            <a:endParaRPr lang="fa-IR" altLang="ko-KR" sz="16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744D25-27C6-45CB-BD3F-04EE47BD2C58}"/>
              </a:ext>
            </a:extLst>
          </p:cNvPr>
          <p:cNvCxnSpPr/>
          <p:nvPr/>
        </p:nvCxnSpPr>
        <p:spPr>
          <a:xfrm>
            <a:off x="7383005" y="2444105"/>
            <a:ext cx="10497" cy="731216"/>
          </a:xfrm>
          <a:prstGeom prst="straightConnector1">
            <a:avLst/>
          </a:prstGeom>
          <a:ln w="254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86D84E6-ADFA-48C4-98AF-31C03879BD9E}"/>
              </a:ext>
            </a:extLst>
          </p:cNvPr>
          <p:cNvCxnSpPr>
            <a:cxnSpLocks/>
          </p:cNvCxnSpPr>
          <p:nvPr/>
        </p:nvCxnSpPr>
        <p:spPr>
          <a:xfrm flipH="1">
            <a:off x="4710705" y="2454732"/>
            <a:ext cx="5249" cy="731215"/>
          </a:xfrm>
          <a:prstGeom prst="straightConnector1">
            <a:avLst/>
          </a:prstGeom>
          <a:ln w="254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5DBDDCE-9293-46FF-98F7-CCABDAA7B882}"/>
              </a:ext>
            </a:extLst>
          </p:cNvPr>
          <p:cNvCxnSpPr>
            <a:cxnSpLocks/>
          </p:cNvCxnSpPr>
          <p:nvPr/>
        </p:nvCxnSpPr>
        <p:spPr>
          <a:xfrm flipH="1">
            <a:off x="2305303" y="2480486"/>
            <a:ext cx="10499" cy="731215"/>
          </a:xfrm>
          <a:prstGeom prst="straightConnector1">
            <a:avLst/>
          </a:prstGeom>
          <a:ln w="254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hevron 2">
            <a:extLst>
              <a:ext uri="{FF2B5EF4-FFF2-40B4-BE49-F238E27FC236}">
                <a16:creationId xmlns:a16="http://schemas.microsoft.com/office/drawing/2014/main" id="{0F7B0441-18D1-4466-8E60-E93F8A3AB0D5}"/>
              </a:ext>
            </a:extLst>
          </p:cNvPr>
          <p:cNvSpPr/>
          <p:nvPr/>
        </p:nvSpPr>
        <p:spPr>
          <a:xfrm flipH="1">
            <a:off x="6138273" y="1513764"/>
            <a:ext cx="2247007" cy="883832"/>
          </a:xfrm>
          <a:prstGeom prst="chevron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Chevron 3">
            <a:extLst>
              <a:ext uri="{FF2B5EF4-FFF2-40B4-BE49-F238E27FC236}">
                <a16:creationId xmlns:a16="http://schemas.microsoft.com/office/drawing/2014/main" id="{FF45AB74-75B0-4EF2-8BE6-C01F13B4B372}"/>
              </a:ext>
            </a:extLst>
          </p:cNvPr>
          <p:cNvSpPr/>
          <p:nvPr/>
        </p:nvSpPr>
        <p:spPr>
          <a:xfrm flipH="1">
            <a:off x="3654263" y="1537611"/>
            <a:ext cx="2043947" cy="87448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Chevron 4">
            <a:extLst>
              <a:ext uri="{FF2B5EF4-FFF2-40B4-BE49-F238E27FC236}">
                <a16:creationId xmlns:a16="http://schemas.microsoft.com/office/drawing/2014/main" id="{8ADE4AB7-446E-451B-80D2-4A9E40F49A8E}"/>
              </a:ext>
            </a:extLst>
          </p:cNvPr>
          <p:cNvSpPr/>
          <p:nvPr/>
        </p:nvSpPr>
        <p:spPr>
          <a:xfrm flipH="1">
            <a:off x="1350138" y="1608878"/>
            <a:ext cx="1955494" cy="890475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39B515D-F0BD-48F9-A372-EC3DC7F50EA3}"/>
              </a:ext>
            </a:extLst>
          </p:cNvPr>
          <p:cNvSpPr/>
          <p:nvPr/>
        </p:nvSpPr>
        <p:spPr>
          <a:xfrm flipH="1">
            <a:off x="7167868" y="2511502"/>
            <a:ext cx="447355" cy="429153"/>
          </a:xfrm>
          <a:prstGeom prst="ellipse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solidFill>
                  <a:srgbClr val="000000"/>
                </a:solidFill>
                <a:cs typeface="B Titr" panose="00000700000000000000" pitchFamily="2" charset="-78"/>
              </a:rPr>
              <a:t>1</a:t>
            </a:r>
            <a:endParaRPr lang="ko-KR" altLang="en-US" dirty="0">
              <a:solidFill>
                <a:srgbClr val="000000"/>
              </a:solidFill>
              <a:cs typeface="B Titr" panose="00000700000000000000" pitchFamily="2" charset="-78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681E44E-8342-4BB4-9D23-C1081EE7CA54}"/>
              </a:ext>
            </a:extLst>
          </p:cNvPr>
          <p:cNvSpPr/>
          <p:nvPr/>
        </p:nvSpPr>
        <p:spPr>
          <a:xfrm flipH="1">
            <a:off x="4496857" y="2529286"/>
            <a:ext cx="447357" cy="4291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cs typeface="B Titr" panose="00000700000000000000" pitchFamily="2" charset="-78"/>
              </a:rPr>
              <a:t>2</a:t>
            </a:r>
            <a:endParaRPr lang="ko-KR" altLang="en-US" dirty="0">
              <a:cs typeface="B Titr" panose="00000700000000000000" pitchFamily="2" charset="-78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D8982FD-F217-4E90-9664-501A9E271D4A}"/>
              </a:ext>
            </a:extLst>
          </p:cNvPr>
          <p:cNvSpPr/>
          <p:nvPr/>
        </p:nvSpPr>
        <p:spPr>
          <a:xfrm flipH="1">
            <a:off x="2081625" y="2631516"/>
            <a:ext cx="447355" cy="4291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cs typeface="B Titr" panose="00000700000000000000" pitchFamily="2" charset="-78"/>
              </a:rPr>
              <a:t>3</a:t>
            </a:r>
            <a:endParaRPr lang="ko-KR" altLang="en-US" dirty="0">
              <a:cs typeface="B Titr" panose="00000700000000000000" pitchFamily="2" charset="-7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1BE7AA-FE7D-4DE6-AA67-6448569511C1}"/>
              </a:ext>
            </a:extLst>
          </p:cNvPr>
          <p:cNvSpPr txBox="1"/>
          <p:nvPr/>
        </p:nvSpPr>
        <p:spPr>
          <a:xfrm flipH="1">
            <a:off x="6682430" y="1814811"/>
            <a:ext cx="1080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600" b="1" dirty="0">
                <a:cs typeface="B Nazanin" panose="00000400000000000000" pitchFamily="2" charset="-78"/>
              </a:rPr>
              <a:t>فرآیندکاوی</a:t>
            </a:r>
            <a:endParaRPr lang="ko-KR" altLang="en-US" sz="1400" b="1" dirty="0">
              <a:solidFill>
                <a:srgbClr val="000000"/>
              </a:solidFill>
              <a:cs typeface="B Nazanin" panose="00000400000000000000" pitchFamily="2" charset="-78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0E57C5-5807-4246-BC4C-447C6DB0D7E1}"/>
              </a:ext>
            </a:extLst>
          </p:cNvPr>
          <p:cNvSpPr txBox="1"/>
          <p:nvPr/>
        </p:nvSpPr>
        <p:spPr>
          <a:xfrm flipH="1">
            <a:off x="3957797" y="1796536"/>
            <a:ext cx="1327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600" b="1" dirty="0">
                <a:cs typeface="B Nazanin" panose="00000400000000000000" pitchFamily="2" charset="-78"/>
              </a:rPr>
              <a:t>یادگیری عمیق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179BFC-4D05-4BEF-89A4-89003026ED4A}"/>
              </a:ext>
            </a:extLst>
          </p:cNvPr>
          <p:cNvSpPr txBox="1"/>
          <p:nvPr/>
        </p:nvSpPr>
        <p:spPr>
          <a:xfrm flipH="1">
            <a:off x="1684494" y="1739539"/>
            <a:ext cx="1166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600" b="1" dirty="0">
                <a:cs typeface="B Nazanin" panose="00000400000000000000" pitchFamily="2" charset="-78"/>
              </a:rPr>
              <a:t>معماری های مورد استفاده</a:t>
            </a:r>
            <a:endParaRPr lang="ko-KR" altLang="en-US" sz="1600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200A5F-A477-47AE-8C36-E600AE8B4646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مبانی نظری تحقیق</a:t>
            </a:r>
          </a:p>
        </p:txBody>
      </p:sp>
    </p:spTree>
    <p:extLst>
      <p:ext uri="{BB962C8B-B14F-4D97-AF65-F5344CB8AC3E}">
        <p14:creationId xmlns:p14="http://schemas.microsoft.com/office/powerpoint/2010/main" val="17852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07583" y="195731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38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sz="2000" dirty="0">
              <a:solidFill>
                <a:prstClr val="white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587346" y="2581602"/>
            <a:ext cx="2594169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2549322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2582545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0617E-9278-1F5D-D89C-9C3AB4DF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cxnSp>
        <p:nvCxnSpPr>
          <p:cNvPr id="185" name="Straight Connector 184"/>
          <p:cNvCxnSpPr/>
          <p:nvPr/>
        </p:nvCxnSpPr>
        <p:spPr>
          <a:xfrm>
            <a:off x="10069110" y="21809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E255280-4F54-4164-83C2-E12ADF5AEECC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مروری بر پیشینه تحقیق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032805-6D3F-49B5-B55A-F0729C6EA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842286"/>
              </p:ext>
            </p:extLst>
          </p:nvPr>
        </p:nvGraphicFramePr>
        <p:xfrm>
          <a:off x="1061636" y="1486113"/>
          <a:ext cx="7369443" cy="471215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02957">
                  <a:extLst>
                    <a:ext uri="{9D8B030D-6E8A-4147-A177-3AD203B41FA5}">
                      <a16:colId xmlns:a16="http://schemas.microsoft.com/office/drawing/2014/main" val="1575381985"/>
                    </a:ext>
                  </a:extLst>
                </a:gridCol>
                <a:gridCol w="1294523">
                  <a:extLst>
                    <a:ext uri="{9D8B030D-6E8A-4147-A177-3AD203B41FA5}">
                      <a16:colId xmlns:a16="http://schemas.microsoft.com/office/drawing/2014/main" val="150265697"/>
                    </a:ext>
                  </a:extLst>
                </a:gridCol>
                <a:gridCol w="1157513">
                  <a:extLst>
                    <a:ext uri="{9D8B030D-6E8A-4147-A177-3AD203B41FA5}">
                      <a16:colId xmlns:a16="http://schemas.microsoft.com/office/drawing/2014/main" val="784197214"/>
                    </a:ext>
                  </a:extLst>
                </a:gridCol>
                <a:gridCol w="1101233">
                  <a:extLst>
                    <a:ext uri="{9D8B030D-6E8A-4147-A177-3AD203B41FA5}">
                      <a16:colId xmlns:a16="http://schemas.microsoft.com/office/drawing/2014/main" val="1791907975"/>
                    </a:ext>
                  </a:extLst>
                </a:gridCol>
                <a:gridCol w="1069292">
                  <a:extLst>
                    <a:ext uri="{9D8B030D-6E8A-4147-A177-3AD203B41FA5}">
                      <a16:colId xmlns:a16="http://schemas.microsoft.com/office/drawing/2014/main" val="778644512"/>
                    </a:ext>
                  </a:extLst>
                </a:gridCol>
                <a:gridCol w="1076898">
                  <a:extLst>
                    <a:ext uri="{9D8B030D-6E8A-4147-A177-3AD203B41FA5}">
                      <a16:colId xmlns:a16="http://schemas.microsoft.com/office/drawing/2014/main" val="1794282338"/>
                    </a:ext>
                  </a:extLst>
                </a:gridCol>
                <a:gridCol w="1267027">
                  <a:extLst>
                    <a:ext uri="{9D8B030D-6E8A-4147-A177-3AD203B41FA5}">
                      <a16:colId xmlns:a16="http://schemas.microsoft.com/office/drawing/2014/main" val="3186170027"/>
                    </a:ext>
                  </a:extLst>
                </a:gridCol>
              </a:tblGrid>
              <a:tr h="448776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ردیف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 dirty="0">
                          <a:effectLst/>
                          <a:cs typeface="B Nazanin" panose="00000400000000000000" pitchFamily="2" charset="-78"/>
                        </a:rPr>
                        <a:t>پژوهش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روش مورد استفاده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ساختار روش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وظایف پیش بینی و تحلیل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شباهت با پژوهش حاضر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تفاوت با پژوهش حاضر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16513557"/>
                  </a:ext>
                </a:extLst>
              </a:tr>
              <a:tr h="897553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 dirty="0">
                          <a:effectLst/>
                          <a:cs typeface="B Nazanin" panose="00000400000000000000" pitchFamily="2" charset="-78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Rivera Lazo 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(</a:t>
                      </a:r>
                      <a:r>
                        <a:rPr lang="fa-IR" sz="1100">
                          <a:effectLst/>
                          <a:cs typeface="B Nazanin" panose="00000400000000000000" pitchFamily="2" charset="-78"/>
                        </a:rPr>
                        <a:t>۲۰۲۲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Multi-attribute Transformer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 dirty="0">
                          <a:effectLst/>
                          <a:cs typeface="B Nazanin" panose="00000400000000000000" pitchFamily="2" charset="-78"/>
                        </a:rPr>
                        <a:t>غیرترکیبی، چندوظیفه‌ای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فعالیت، زمان و منبع بعدی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پیش‌بینی فعالیت بعدی و استفاده از </a:t>
                      </a:r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Transformer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استفاده از یک خانواده معماری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7934831"/>
                  </a:ext>
                </a:extLst>
              </a:tr>
              <a:tr h="673164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Cao 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و همکاران (</a:t>
                      </a:r>
                      <a:r>
                        <a:rPr lang="fa-IR" sz="1100">
                          <a:effectLst/>
                          <a:cs typeface="B Nazanin" panose="00000400000000000000" pitchFamily="2" charset="-78"/>
                        </a:rPr>
                        <a:t>۲۰۲۳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Gated RNN + Reachability Graph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ترکیبی (عصبی–گرافی)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پیش‌بینی زمان باقی‌مانده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استفاده از ساختار گرافی و تحلیل زمان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تمرکز بر پیش‌بینی تفسیرپذیر زمان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5634830"/>
                  </a:ext>
                </a:extLst>
              </a:tr>
              <a:tr h="897553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Weytjens  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و </a:t>
                      </a:r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De Weerdt 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(</a:t>
                      </a:r>
                      <a:r>
                        <a:rPr lang="fa-IR" sz="1100">
                          <a:effectLst/>
                          <a:cs typeface="B Nazanin" panose="00000400000000000000" pitchFamily="2" charset="-78"/>
                        </a:rPr>
                        <a:t>۲۰۲۲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BNN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غیرترکیبی (شبکه عصبی بیزی)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پیش‌بینی زمان باقی‌مانده و پیامد، تحلیل عدم‌قطعیت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یادگیری عمیق و پیش‌بینی زمان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تمرکز بر مدل‌سازی عدم‌قطعیت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994167"/>
                  </a:ext>
                </a:extLst>
              </a:tr>
              <a:tr h="673164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Camargo  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و همکاران (</a:t>
                      </a:r>
                      <a:r>
                        <a:rPr lang="fa-IR" sz="1100">
                          <a:effectLst/>
                          <a:cs typeface="B Nazanin" panose="00000400000000000000" pitchFamily="2" charset="-78"/>
                        </a:rPr>
                        <a:t>۲۰۲۲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Process Discovery + Deep Learning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ترکیبی (کشف فرآیند و یادگیری عمیق)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شبیه‌سازی توالی فعالیت‌ها و زمان اجرا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استفاده از یادگیری عمیق و اطلاعات زمانی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تمرکز بر کشف و شبیه‌سازی فرآیند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4523184"/>
                  </a:ext>
                </a:extLst>
              </a:tr>
              <a:tr h="1121940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پژوهش حاضر (</a:t>
                      </a:r>
                      <a:r>
                        <a:rPr lang="fa-IR" sz="1100">
                          <a:effectLst/>
                          <a:cs typeface="B Nazanin" panose="00000400000000000000" pitchFamily="2" charset="-78"/>
                        </a:rPr>
                        <a:t>۱۴۰۵</a:t>
                      </a:r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en-US" sz="1100">
                          <a:effectLst/>
                          <a:cs typeface="B Nazanin" panose="00000400000000000000" pitchFamily="2" charset="-78"/>
                        </a:rPr>
                        <a:t>Transformer + TCN + GNN + Cross-Attention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ترکیبی چندمعماری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فعالیت بعدی، زمان باقی‌مانده، پتانسیل بهبود تأخیر و گلوگاه‌ها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>
                          <a:effectLst/>
                          <a:cs typeface="B Nazanin" panose="00000400000000000000" pitchFamily="2" charset="-78"/>
                        </a:rPr>
                        <a:t>بهره‌گیری از یادگیری عمیق و اطلاعات فرآیندی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1100" dirty="0">
                          <a:effectLst/>
                          <a:cs typeface="B Nazanin" panose="00000400000000000000" pitchFamily="2" charset="-78"/>
                        </a:rPr>
                        <a:t>ادغام ویژگی‌های ترتیبی، زمانی و ساختاری در چارچوب چندوظیفه‌ای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7128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65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16843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</a:t>
            </a: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38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sz="2000" dirty="0">
              <a:solidFill>
                <a:prstClr val="white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587346" y="2581602"/>
            <a:ext cx="2594169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2549322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2582545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0617E-9278-1F5D-D89C-9C3AB4DF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cxnSp>
        <p:nvCxnSpPr>
          <p:cNvPr id="185" name="Straight Connector 184"/>
          <p:cNvCxnSpPr/>
          <p:nvPr/>
        </p:nvCxnSpPr>
        <p:spPr>
          <a:xfrm>
            <a:off x="10069110" y="21809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E255280-4F54-4164-83C2-E12ADF5AEECC}"/>
              </a:ext>
            </a:extLst>
          </p:cNvPr>
          <p:cNvSpPr txBox="1"/>
          <p:nvPr/>
        </p:nvSpPr>
        <p:spPr>
          <a:xfrm>
            <a:off x="3151746" y="788917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شکاف پژوهشی</a:t>
            </a:r>
          </a:p>
        </p:txBody>
      </p:sp>
      <p:sp>
        <p:nvSpPr>
          <p:cNvPr id="70" name="Rectangle: Rounded Corners 32">
            <a:extLst>
              <a:ext uri="{FF2B5EF4-FFF2-40B4-BE49-F238E27FC236}">
                <a16:creationId xmlns:a16="http://schemas.microsoft.com/office/drawing/2014/main" id="{146D0B7A-46E9-49E0-B0BE-4FC9AEDCD041}"/>
              </a:ext>
            </a:extLst>
          </p:cNvPr>
          <p:cNvSpPr/>
          <p:nvPr/>
        </p:nvSpPr>
        <p:spPr>
          <a:xfrm>
            <a:off x="814200" y="1907090"/>
            <a:ext cx="6498872" cy="96292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a-IR" dirty="0"/>
          </a:p>
        </p:txBody>
      </p:sp>
      <p:sp>
        <p:nvSpPr>
          <p:cNvPr id="71" name="Rectangle: Rounded Corners 32">
            <a:extLst>
              <a:ext uri="{FF2B5EF4-FFF2-40B4-BE49-F238E27FC236}">
                <a16:creationId xmlns:a16="http://schemas.microsoft.com/office/drawing/2014/main" id="{EFC597BB-C466-4891-BFC5-B45C148F7995}"/>
              </a:ext>
            </a:extLst>
          </p:cNvPr>
          <p:cNvSpPr/>
          <p:nvPr/>
        </p:nvSpPr>
        <p:spPr>
          <a:xfrm>
            <a:off x="7472083" y="1914250"/>
            <a:ext cx="1498727" cy="962924"/>
          </a:xfrm>
          <a:prstGeom prst="roundRect">
            <a:avLst/>
          </a:prstGeom>
          <a:solidFill>
            <a:schemeClr val="accent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1400" b="1" dirty="0">
                <a:cs typeface="B Titr" panose="00000700000000000000" pitchFamily="2" charset="-78"/>
              </a:rPr>
              <a:t>محدودیت در ترکیب ویژگی ها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B Titr" panose="00000700000000000000" pitchFamily="2" charset="-78"/>
            </a:endParaRPr>
          </a:p>
        </p:txBody>
      </p:sp>
      <p:sp>
        <p:nvSpPr>
          <p:cNvPr id="73" name="Rectangle: Rounded Corners 32">
            <a:extLst>
              <a:ext uri="{FF2B5EF4-FFF2-40B4-BE49-F238E27FC236}">
                <a16:creationId xmlns:a16="http://schemas.microsoft.com/office/drawing/2014/main" id="{8CECB402-8FA3-4933-B81F-D0C97A4A171B}"/>
              </a:ext>
            </a:extLst>
          </p:cNvPr>
          <p:cNvSpPr/>
          <p:nvPr/>
        </p:nvSpPr>
        <p:spPr>
          <a:xfrm>
            <a:off x="814200" y="3004878"/>
            <a:ext cx="6498872" cy="98310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74" name="Rectangle: Rounded Corners 32">
            <a:extLst>
              <a:ext uri="{FF2B5EF4-FFF2-40B4-BE49-F238E27FC236}">
                <a16:creationId xmlns:a16="http://schemas.microsoft.com/office/drawing/2014/main" id="{C98C5A63-AFA8-4F56-8804-61152835482E}"/>
              </a:ext>
            </a:extLst>
          </p:cNvPr>
          <p:cNvSpPr/>
          <p:nvPr/>
        </p:nvSpPr>
        <p:spPr>
          <a:xfrm>
            <a:off x="7472083" y="2981363"/>
            <a:ext cx="1498727" cy="10771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defRPr/>
            </a:pPr>
            <a:r>
              <a:rPr lang="fa-IR" sz="1400" b="1" dirty="0">
                <a:solidFill>
                  <a:srgbClr val="000000"/>
                </a:solidFill>
                <a:cs typeface="B Titr" panose="00000700000000000000" pitchFamily="2" charset="-78"/>
              </a:rPr>
              <a:t>محدودیت در یکپارچه سازی معماری ها</a:t>
            </a:r>
            <a:endParaRPr lang="ko-KR" altLang="en-US" sz="1400" kern="1200" dirty="0">
              <a:solidFill>
                <a:srgbClr val="000000"/>
              </a:solidFill>
              <a:latin typeface="Calibri" panose="020F0502020204030204"/>
              <a:cs typeface="B Titr" panose="00000700000000000000" pitchFamily="2" charset="-78"/>
            </a:endParaRPr>
          </a:p>
        </p:txBody>
      </p:sp>
      <p:sp>
        <p:nvSpPr>
          <p:cNvPr id="75" name="Rectangle: Rounded Corners 32">
            <a:extLst>
              <a:ext uri="{FF2B5EF4-FFF2-40B4-BE49-F238E27FC236}">
                <a16:creationId xmlns:a16="http://schemas.microsoft.com/office/drawing/2014/main" id="{794A7AFE-10D8-43AA-98C1-2F290DEA75AF}"/>
              </a:ext>
            </a:extLst>
          </p:cNvPr>
          <p:cNvSpPr/>
          <p:nvPr/>
        </p:nvSpPr>
        <p:spPr>
          <a:xfrm>
            <a:off x="786347" y="4101679"/>
            <a:ext cx="6542908" cy="96292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77" name="Rectangle: Rounded Corners 32">
            <a:extLst>
              <a:ext uri="{FF2B5EF4-FFF2-40B4-BE49-F238E27FC236}">
                <a16:creationId xmlns:a16="http://schemas.microsoft.com/office/drawing/2014/main" id="{675181D4-E203-45DA-9E81-3DC7AD70E3FA}"/>
              </a:ext>
            </a:extLst>
          </p:cNvPr>
          <p:cNvSpPr/>
          <p:nvPr/>
        </p:nvSpPr>
        <p:spPr>
          <a:xfrm>
            <a:off x="7467800" y="4140969"/>
            <a:ext cx="1464917" cy="984814"/>
          </a:xfrm>
          <a:prstGeom prst="roundRect">
            <a:avLst/>
          </a:prstGeom>
          <a:solidFill>
            <a:schemeClr val="accent3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defRPr/>
            </a:pPr>
            <a:r>
              <a:rPr lang="fa-IR" sz="1400" b="1" dirty="0">
                <a:cs typeface="B Titr" panose="00000700000000000000" pitchFamily="2" charset="-78"/>
              </a:rPr>
              <a:t>محدودیت درتحلیل چند وظیفه ای</a:t>
            </a:r>
            <a:endParaRPr lang="ko-KR" altLang="en-US" sz="1400" kern="1200" dirty="0">
              <a:solidFill>
                <a:prstClr val="white"/>
              </a:solidFill>
              <a:latin typeface="Calibri" panose="020F0502020204030204"/>
              <a:cs typeface="B Titr" panose="00000700000000000000" pitchFamily="2" charset="-78"/>
            </a:endParaRPr>
          </a:p>
        </p:txBody>
      </p:sp>
      <p:sp>
        <p:nvSpPr>
          <p:cNvPr id="78" name="Rectangle: Rounded Corners 32">
            <a:extLst>
              <a:ext uri="{FF2B5EF4-FFF2-40B4-BE49-F238E27FC236}">
                <a16:creationId xmlns:a16="http://schemas.microsoft.com/office/drawing/2014/main" id="{28BBF1F6-C237-4F68-BF17-AD70488C38EA}"/>
              </a:ext>
            </a:extLst>
          </p:cNvPr>
          <p:cNvSpPr/>
          <p:nvPr/>
        </p:nvSpPr>
        <p:spPr>
          <a:xfrm>
            <a:off x="814200" y="5214798"/>
            <a:ext cx="6525539" cy="9698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85" name="Rectangle: Rounded Corners 32">
            <a:extLst>
              <a:ext uri="{FF2B5EF4-FFF2-40B4-BE49-F238E27FC236}">
                <a16:creationId xmlns:a16="http://schemas.microsoft.com/office/drawing/2014/main" id="{4E5B1534-93C8-45D2-9BDB-27C41A2073E8}"/>
              </a:ext>
            </a:extLst>
          </p:cNvPr>
          <p:cNvSpPr/>
          <p:nvPr/>
        </p:nvSpPr>
        <p:spPr>
          <a:xfrm>
            <a:off x="7467800" y="5163775"/>
            <a:ext cx="1503010" cy="969862"/>
          </a:xfrm>
          <a:prstGeom prst="roundRect">
            <a:avLst/>
          </a:prstGeom>
          <a:solidFill>
            <a:schemeClr val="accent4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defRPr/>
            </a:pPr>
            <a:r>
              <a:rPr lang="fa-IR" sz="1600" b="1" dirty="0">
                <a:solidFill>
                  <a:srgbClr val="000000"/>
                </a:solidFill>
                <a:cs typeface="B Titr" panose="00000700000000000000" pitchFamily="2" charset="-78"/>
              </a:rPr>
              <a:t>شکاف اصلی پژوهش</a:t>
            </a:r>
            <a:endParaRPr lang="ko-KR" altLang="en-US" sz="1600" kern="1200" dirty="0">
              <a:solidFill>
                <a:srgbClr val="000000"/>
              </a:solidFill>
              <a:latin typeface="Calibri" panose="020F0502020204030204"/>
              <a:cs typeface="B Titr" panose="00000700000000000000" pitchFamily="2" charset="-78"/>
            </a:endParaRPr>
          </a:p>
        </p:txBody>
      </p:sp>
      <p:sp>
        <p:nvSpPr>
          <p:cNvPr id="42" name="TextBox 34">
            <a:extLst>
              <a:ext uri="{FF2B5EF4-FFF2-40B4-BE49-F238E27FC236}">
                <a16:creationId xmlns:a16="http://schemas.microsoft.com/office/drawing/2014/main" id="{5256D745-60E3-448B-AFD0-7119C4669455}"/>
              </a:ext>
            </a:extLst>
          </p:cNvPr>
          <p:cNvSpPr txBox="1"/>
          <p:nvPr/>
        </p:nvSpPr>
        <p:spPr>
          <a:xfrm>
            <a:off x="1037969" y="2065389"/>
            <a:ext cx="6295569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تمرکز بسیاری از پژوهش‌های پیشین بر بخشی از اطلاعات ترتیبی، زمانی یا ساختاری فرآیند، به‌جای بهره‌گیری یکپارچه از آن‌ها</a:t>
            </a:r>
          </a:p>
        </p:txBody>
      </p:sp>
      <p:sp>
        <p:nvSpPr>
          <p:cNvPr id="47" name="TextBox 34">
            <a:extLst>
              <a:ext uri="{FF2B5EF4-FFF2-40B4-BE49-F238E27FC236}">
                <a16:creationId xmlns:a16="http://schemas.microsoft.com/office/drawing/2014/main" id="{DE1A8778-7089-42B1-9A2B-CBFCB8ACF283}"/>
              </a:ext>
            </a:extLst>
          </p:cNvPr>
          <p:cNvSpPr txBox="1"/>
          <p:nvPr/>
        </p:nvSpPr>
        <p:spPr>
          <a:xfrm>
            <a:off x="929184" y="4119694"/>
            <a:ext cx="6295569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در پژوهش‌های پیشین تمرکز فقط بر یک وظیفه، مانند پیش‌بینی فعالیت بعدی یا زمان باقی‌مانده بوده است به‌جای بررسی یکپارچه این وظایف همراه با تحلیل تأخیر و گلوگاه‌ها</a:t>
            </a:r>
          </a:p>
        </p:txBody>
      </p:sp>
      <p:sp>
        <p:nvSpPr>
          <p:cNvPr id="48" name="TextBox 34">
            <a:extLst>
              <a:ext uri="{FF2B5EF4-FFF2-40B4-BE49-F238E27FC236}">
                <a16:creationId xmlns:a16="http://schemas.microsoft.com/office/drawing/2014/main" id="{E5E0BE43-DBA1-4653-BDE7-5B641A537531}"/>
              </a:ext>
            </a:extLst>
          </p:cNvPr>
          <p:cNvSpPr txBox="1"/>
          <p:nvPr/>
        </p:nvSpPr>
        <p:spPr>
          <a:xfrm>
            <a:off x="901924" y="3165028"/>
            <a:ext cx="6203322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algn="r" rtl="1"/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استفاده از معماری‌های منفرد یا ترکیب‌های محدود، بدون تلفیق هم‌زمان </a:t>
            </a:r>
            <a:r>
              <a:rPr lang="en-US" sz="1800" dirty="0">
                <a:solidFill>
                  <a:schemeClr val="tx1"/>
                </a:solidFill>
                <a:cs typeface="B Nazanin" panose="00000400000000000000" pitchFamily="2" charset="-78"/>
              </a:rPr>
              <a:t>Transformer، TCN </a:t>
            </a:r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و </a:t>
            </a:r>
            <a:r>
              <a:rPr lang="en-US" sz="1800" dirty="0">
                <a:solidFill>
                  <a:schemeClr val="tx1"/>
                </a:solidFill>
                <a:cs typeface="B Nazanin" panose="00000400000000000000" pitchFamily="2" charset="-78"/>
              </a:rPr>
              <a:t>GNN</a:t>
            </a:r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.</a:t>
            </a:r>
            <a:endParaRPr lang="en-US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EBDED03C-C8B8-4FC1-8039-23EA0F4483F4}"/>
              </a:ext>
            </a:extLst>
          </p:cNvPr>
          <p:cNvSpPr txBox="1"/>
          <p:nvPr/>
        </p:nvSpPr>
        <p:spPr>
          <a:xfrm>
            <a:off x="1177871" y="5266650"/>
            <a:ext cx="6019622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800" b="1">
                <a:solidFill>
                  <a:srgbClr val="45C4E3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نیاز به یک معماری ترکیبی برای یادگیری یکپارچه ویژگی‌های ترتیبی، زمانی و ساختاری فرآیند، با تمرکز بر پیش‌بینی فعالیت بعدی و پشتیبانی از تحلیل تأخیرهای زمانی</a:t>
            </a:r>
          </a:p>
        </p:txBody>
      </p:sp>
    </p:spTree>
    <p:extLst>
      <p:ext uri="{BB962C8B-B14F-4D97-AF65-F5344CB8AC3E}">
        <p14:creationId xmlns:p14="http://schemas.microsoft.com/office/powerpoint/2010/main" val="255851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93821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defRPr/>
            </a:pPr>
            <a:r>
              <a:rPr lang="fa-IR" sz="2200" kern="0" dirty="0">
                <a:latin typeface="IranNastaliq" panose="02020505000000020003" pitchFamily="18" charset="0"/>
                <a:cs typeface="B Nazanin" panose="00000400000000000000" pitchFamily="2" charset="-78"/>
              </a:rPr>
              <a:t>این شرکت توانسته در جهت کارآفرینی به طور مستقیم برای 50 نفر و غیر مستقیم 2000 هزار نفر در سرار کشور ایجاد شغل کرده است.</a:t>
            </a:r>
          </a:p>
        </p:txBody>
      </p:sp>
      <p:grpSp>
        <p:nvGrpSpPr>
          <p:cNvPr id="82" name="!!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!!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!!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504219" y="1843122"/>
            <a:ext cx="2687781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1809900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1843123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9BF89-0C43-2B68-A22C-A7B90732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62F8CC-698F-DA62-D782-5058FFC202DF}"/>
              </a:ext>
            </a:extLst>
          </p:cNvPr>
          <p:cNvSpPr/>
          <p:nvPr/>
        </p:nvSpPr>
        <p:spPr>
          <a:xfrm>
            <a:off x="555203" y="429863"/>
            <a:ext cx="835756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b="1" dirty="0">
                <a:cs typeface="B Titr" panose="00000700000000000000" pitchFamily="2" charset="-78"/>
              </a:rPr>
              <a:t>جنبه نوآوری تحقیق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azir Light FD" pitchFamily="2" charset="-78"/>
              <a:cs typeface="B Titr" panose="00000700000000000000" pitchFamily="2" charset="-78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F979317F-4F3B-49CF-9330-46A7A5A16C3C}"/>
              </a:ext>
            </a:extLst>
          </p:cNvPr>
          <p:cNvSpPr txBox="1">
            <a:spLocks/>
          </p:cNvSpPr>
          <p:nvPr/>
        </p:nvSpPr>
        <p:spPr>
          <a:xfrm>
            <a:off x="3508969" y="1855298"/>
            <a:ext cx="5262425" cy="4084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665" algn="r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ارائه یک مدل یادگیری عمیق سه‌جریانه با ترکیب معماری‌های </a:t>
            </a:r>
            <a:r>
              <a:rPr lang="en-US" sz="2000" dirty="0">
                <a:cs typeface="B Nazanin" panose="00000400000000000000" pitchFamily="2" charset="-78"/>
              </a:rPr>
              <a:t>Transformer</a:t>
            </a:r>
            <a:r>
              <a:rPr lang="en-US" dirty="0">
                <a:cs typeface="B Nazanin" panose="00000400000000000000" pitchFamily="2" charset="-78"/>
              </a:rPr>
              <a:t>، </a:t>
            </a:r>
            <a:r>
              <a:rPr lang="en-US" sz="2000" dirty="0">
                <a:cs typeface="B Nazanin" panose="00000400000000000000" pitchFamily="2" charset="-78"/>
              </a:rPr>
              <a:t>TCN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،</a:t>
            </a:r>
            <a:r>
              <a:rPr lang="en-US" sz="2000" dirty="0">
                <a:cs typeface="B Nazanin" panose="00000400000000000000" pitchFamily="2" charset="-78"/>
              </a:rPr>
              <a:t>GNN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و بهره‌گیری از سازوکار توجه متقابل</a:t>
            </a:r>
            <a:r>
              <a:rPr lang="en-US" sz="2000" dirty="0">
                <a:cs typeface="B Nazanin" panose="00000400000000000000" pitchFamily="2" charset="-78"/>
              </a:rPr>
              <a:t>(Cross-Attention) </a:t>
            </a:r>
            <a:r>
              <a:rPr lang="fa-IR" dirty="0">
                <a:cs typeface="B Nazanin" panose="00000400000000000000" pitchFamily="2" charset="-78"/>
              </a:rPr>
              <a:t>درچارچوب یادگیری چندوظیفه‌ای، به‌منظور پیش‌بینی فعالیت بعدی، تخمین زمان باقی‌مانده و شناسایی تأخیرها و گلوگاه‌های احتمالی در فرآیندهای مالی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A12701D-53D3-4565-8072-DD4F4B3FF560}"/>
              </a:ext>
            </a:extLst>
          </p:cNvPr>
          <p:cNvGrpSpPr/>
          <p:nvPr/>
        </p:nvGrpSpPr>
        <p:grpSpPr>
          <a:xfrm>
            <a:off x="610964" y="2137463"/>
            <a:ext cx="2523711" cy="2468152"/>
            <a:chOff x="838200" y="1140949"/>
            <a:chExt cx="2667858" cy="2861599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71A1639-EDAE-46EF-AC29-131EEEC1EF5B}"/>
                </a:ext>
              </a:extLst>
            </p:cNvPr>
            <p:cNvSpPr/>
            <p:nvPr/>
          </p:nvSpPr>
          <p:spPr>
            <a:xfrm>
              <a:off x="838200" y="1334690"/>
              <a:ext cx="2667858" cy="266785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FA6F47C-F7F1-4D00-B559-3C0412BE99C5}"/>
                </a:ext>
              </a:extLst>
            </p:cNvPr>
            <p:cNvGrpSpPr/>
            <p:nvPr/>
          </p:nvGrpSpPr>
          <p:grpSpPr>
            <a:xfrm>
              <a:off x="1400754" y="1140949"/>
              <a:ext cx="1415584" cy="2208184"/>
              <a:chOff x="2472380" y="2309691"/>
              <a:chExt cx="747047" cy="1165326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0D0D83E9-5D9A-44F7-B9D7-59F51FB73EAE}"/>
                  </a:ext>
                </a:extLst>
              </p:cNvPr>
              <p:cNvSpPr/>
              <p:nvPr/>
            </p:nvSpPr>
            <p:spPr>
              <a:xfrm>
                <a:off x="2613948" y="2979241"/>
                <a:ext cx="142745" cy="225387"/>
              </a:xfrm>
              <a:custGeom>
                <a:avLst/>
                <a:gdLst>
                  <a:gd name="connsiteX0" fmla="*/ 113520 w 142745"/>
                  <a:gd name="connsiteY0" fmla="*/ 146502 h 225387"/>
                  <a:gd name="connsiteX1" fmla="*/ 147553 w 142745"/>
                  <a:gd name="connsiteY1" fmla="*/ 176478 h 225387"/>
                  <a:gd name="connsiteX2" fmla="*/ 147553 w 142745"/>
                  <a:gd name="connsiteY2" fmla="*/ 0 h 225387"/>
                  <a:gd name="connsiteX3" fmla="*/ 27723 w 142745"/>
                  <a:gd name="connsiteY3" fmla="*/ 0 h 225387"/>
                  <a:gd name="connsiteX4" fmla="*/ 27723 w 142745"/>
                  <a:gd name="connsiteY4" fmla="*/ 23290 h 225387"/>
                  <a:gd name="connsiteX5" fmla="*/ 0 w 142745"/>
                  <a:gd name="connsiteY5" fmla="*/ 33958 h 225387"/>
                  <a:gd name="connsiteX6" fmla="*/ 0 w 142745"/>
                  <a:gd name="connsiteY6" fmla="*/ 45979 h 225387"/>
                  <a:gd name="connsiteX7" fmla="*/ 27723 w 142745"/>
                  <a:gd name="connsiteY7" fmla="*/ 73702 h 225387"/>
                  <a:gd name="connsiteX8" fmla="*/ 27723 w 142745"/>
                  <a:gd name="connsiteY8" fmla="*/ 83168 h 225387"/>
                  <a:gd name="connsiteX9" fmla="*/ 0 w 142745"/>
                  <a:gd name="connsiteY9" fmla="*/ 93911 h 225387"/>
                  <a:gd name="connsiteX10" fmla="*/ 0 w 142745"/>
                  <a:gd name="connsiteY10" fmla="*/ 105857 h 225387"/>
                  <a:gd name="connsiteX11" fmla="*/ 27723 w 142745"/>
                  <a:gd name="connsiteY11" fmla="*/ 133579 h 225387"/>
                  <a:gd name="connsiteX12" fmla="*/ 27723 w 142745"/>
                  <a:gd name="connsiteY12" fmla="*/ 156794 h 225387"/>
                  <a:gd name="connsiteX13" fmla="*/ 103603 w 142745"/>
                  <a:gd name="connsiteY13" fmla="*/ 232750 h 225387"/>
                  <a:gd name="connsiteX14" fmla="*/ 147478 w 142745"/>
                  <a:gd name="connsiteY14" fmla="*/ 232750 h 225387"/>
                  <a:gd name="connsiteX15" fmla="*/ 147478 w 142745"/>
                  <a:gd name="connsiteY15" fmla="*/ 217348 h 225387"/>
                  <a:gd name="connsiteX16" fmla="*/ 113520 w 142745"/>
                  <a:gd name="connsiteY16" fmla="*/ 146502 h 22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745" h="225387">
                    <a:moveTo>
                      <a:pt x="113520" y="146502"/>
                    </a:moveTo>
                    <a:lnTo>
                      <a:pt x="147553" y="176478"/>
                    </a:lnTo>
                    <a:lnTo>
                      <a:pt x="147553" y="0"/>
                    </a:lnTo>
                    <a:lnTo>
                      <a:pt x="27723" y="0"/>
                    </a:lnTo>
                    <a:lnTo>
                      <a:pt x="27723" y="23290"/>
                    </a:lnTo>
                    <a:lnTo>
                      <a:pt x="0" y="33958"/>
                    </a:lnTo>
                    <a:lnTo>
                      <a:pt x="0" y="45979"/>
                    </a:lnTo>
                    <a:lnTo>
                      <a:pt x="27723" y="73702"/>
                    </a:lnTo>
                    <a:lnTo>
                      <a:pt x="27723" y="83168"/>
                    </a:lnTo>
                    <a:lnTo>
                      <a:pt x="0" y="93911"/>
                    </a:lnTo>
                    <a:lnTo>
                      <a:pt x="0" y="105857"/>
                    </a:lnTo>
                    <a:lnTo>
                      <a:pt x="27723" y="133579"/>
                    </a:lnTo>
                    <a:lnTo>
                      <a:pt x="27723" y="156794"/>
                    </a:lnTo>
                    <a:cubicBezTo>
                      <a:pt x="27723" y="198716"/>
                      <a:pt x="61681" y="232750"/>
                      <a:pt x="103603" y="232750"/>
                    </a:cubicBezTo>
                    <a:lnTo>
                      <a:pt x="147478" y="232750"/>
                    </a:lnTo>
                    <a:lnTo>
                      <a:pt x="147478" y="217348"/>
                    </a:lnTo>
                    <a:lnTo>
                      <a:pt x="113520" y="146502"/>
                    </a:lnTo>
                    <a:close/>
                  </a:path>
                </a:pathLst>
              </a:custGeom>
              <a:solidFill>
                <a:srgbClr val="414042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CE697966-6C2F-4872-BF6E-FA2E76B7D991}"/>
                  </a:ext>
                </a:extLst>
              </p:cNvPr>
              <p:cNvSpPr/>
              <p:nvPr/>
            </p:nvSpPr>
            <p:spPr>
              <a:xfrm>
                <a:off x="2727468" y="3125743"/>
                <a:ext cx="30052" cy="67616"/>
              </a:xfrm>
              <a:custGeom>
                <a:avLst/>
                <a:gdLst>
                  <a:gd name="connsiteX0" fmla="*/ 34033 w 30051"/>
                  <a:gd name="connsiteY0" fmla="*/ 70847 h 67616"/>
                  <a:gd name="connsiteX1" fmla="*/ 34033 w 30051"/>
                  <a:gd name="connsiteY1" fmla="*/ 29901 h 67616"/>
                  <a:gd name="connsiteX2" fmla="*/ 0 w 30051"/>
                  <a:gd name="connsiteY2" fmla="*/ 0 h 67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51" h="67616">
                    <a:moveTo>
                      <a:pt x="34033" y="70847"/>
                    </a:moveTo>
                    <a:lnTo>
                      <a:pt x="34033" y="299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34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56C27B39-F6FB-4D1B-BBF2-BEBA041296F7}"/>
                  </a:ext>
                </a:extLst>
              </p:cNvPr>
              <p:cNvSpPr/>
              <p:nvPr/>
            </p:nvSpPr>
            <p:spPr>
              <a:xfrm>
                <a:off x="2761501" y="3196589"/>
                <a:ext cx="7513" cy="15026"/>
              </a:xfrm>
              <a:custGeom>
                <a:avLst/>
                <a:gdLst>
                  <a:gd name="connsiteX0" fmla="*/ 0 w 0"/>
                  <a:gd name="connsiteY0" fmla="*/ 15401 h 15025"/>
                  <a:gd name="connsiteX1" fmla="*/ 7363 w 0"/>
                  <a:gd name="connsiteY1" fmla="*/ 15401 h 15025"/>
                  <a:gd name="connsiteX2" fmla="*/ 0 w 0"/>
                  <a:gd name="connsiteY2" fmla="*/ 0 h 15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15025">
                    <a:moveTo>
                      <a:pt x="0" y="15401"/>
                    </a:moveTo>
                    <a:lnTo>
                      <a:pt x="7363" y="154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042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BFFCC7F-08BA-4B05-9CB8-3B9F70D67467}"/>
                  </a:ext>
                </a:extLst>
              </p:cNvPr>
              <p:cNvSpPr/>
              <p:nvPr/>
            </p:nvSpPr>
            <p:spPr>
              <a:xfrm>
                <a:off x="2761501" y="2979241"/>
                <a:ext cx="142745" cy="225387"/>
              </a:xfrm>
              <a:custGeom>
                <a:avLst/>
                <a:gdLst>
                  <a:gd name="connsiteX0" fmla="*/ 147553 w 142745"/>
                  <a:gd name="connsiteY0" fmla="*/ 65888 h 225387"/>
                  <a:gd name="connsiteX1" fmla="*/ 147553 w 142745"/>
                  <a:gd name="connsiteY1" fmla="*/ 53868 h 225387"/>
                  <a:gd name="connsiteX2" fmla="*/ 119831 w 142745"/>
                  <a:gd name="connsiteY2" fmla="*/ 43199 h 225387"/>
                  <a:gd name="connsiteX3" fmla="*/ 119831 w 142745"/>
                  <a:gd name="connsiteY3" fmla="*/ 0 h 225387"/>
                  <a:gd name="connsiteX4" fmla="*/ 0 w 142745"/>
                  <a:gd name="connsiteY4" fmla="*/ 0 h 225387"/>
                  <a:gd name="connsiteX5" fmla="*/ 0 w 142745"/>
                  <a:gd name="connsiteY5" fmla="*/ 176478 h 225387"/>
                  <a:gd name="connsiteX6" fmla="*/ 61531 w 142745"/>
                  <a:gd name="connsiteY6" fmla="*/ 230646 h 225387"/>
                  <a:gd name="connsiteX7" fmla="*/ 119831 w 142745"/>
                  <a:gd name="connsiteY7" fmla="*/ 156869 h 225387"/>
                  <a:gd name="connsiteX8" fmla="*/ 119831 w 142745"/>
                  <a:gd name="connsiteY8" fmla="*/ 153489 h 225387"/>
                  <a:gd name="connsiteX9" fmla="*/ 147553 w 142745"/>
                  <a:gd name="connsiteY9" fmla="*/ 125766 h 225387"/>
                  <a:gd name="connsiteX10" fmla="*/ 147553 w 142745"/>
                  <a:gd name="connsiteY10" fmla="*/ 113745 h 225387"/>
                  <a:gd name="connsiteX11" fmla="*/ 119831 w 142745"/>
                  <a:gd name="connsiteY11" fmla="*/ 103077 h 225387"/>
                  <a:gd name="connsiteX12" fmla="*/ 119831 w 142745"/>
                  <a:gd name="connsiteY12" fmla="*/ 93611 h 225387"/>
                  <a:gd name="connsiteX13" fmla="*/ 147553 w 142745"/>
                  <a:gd name="connsiteY13" fmla="*/ 65888 h 22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2745" h="225387">
                    <a:moveTo>
                      <a:pt x="147553" y="65888"/>
                    </a:moveTo>
                    <a:lnTo>
                      <a:pt x="147553" y="53868"/>
                    </a:lnTo>
                    <a:lnTo>
                      <a:pt x="119831" y="43199"/>
                    </a:lnTo>
                    <a:lnTo>
                      <a:pt x="119831" y="0"/>
                    </a:lnTo>
                    <a:lnTo>
                      <a:pt x="0" y="0"/>
                    </a:lnTo>
                    <a:lnTo>
                      <a:pt x="0" y="176478"/>
                    </a:lnTo>
                    <a:lnTo>
                      <a:pt x="61531" y="230646"/>
                    </a:lnTo>
                    <a:cubicBezTo>
                      <a:pt x="94963" y="222682"/>
                      <a:pt x="119831" y="192706"/>
                      <a:pt x="119831" y="156869"/>
                    </a:cubicBezTo>
                    <a:lnTo>
                      <a:pt x="119831" y="153489"/>
                    </a:lnTo>
                    <a:lnTo>
                      <a:pt x="147553" y="125766"/>
                    </a:lnTo>
                    <a:lnTo>
                      <a:pt x="147553" y="113745"/>
                    </a:lnTo>
                    <a:lnTo>
                      <a:pt x="119831" y="103077"/>
                    </a:lnTo>
                    <a:lnTo>
                      <a:pt x="119831" y="93611"/>
                    </a:lnTo>
                    <a:lnTo>
                      <a:pt x="147553" y="65888"/>
                    </a:lnTo>
                    <a:close/>
                  </a:path>
                </a:pathLst>
              </a:custGeom>
              <a:solidFill>
                <a:srgbClr val="2F2E30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CE24EAB-10EF-4913-88A1-F2215BF3CE72}"/>
                  </a:ext>
                </a:extLst>
              </p:cNvPr>
              <p:cNvSpPr/>
              <p:nvPr/>
            </p:nvSpPr>
            <p:spPr>
              <a:xfrm>
                <a:off x="2761501" y="3155644"/>
                <a:ext cx="60103" cy="52590"/>
              </a:xfrm>
              <a:custGeom>
                <a:avLst/>
                <a:gdLst>
                  <a:gd name="connsiteX0" fmla="*/ 0 w 60103"/>
                  <a:gd name="connsiteY0" fmla="*/ 40945 h 52590"/>
                  <a:gd name="connsiteX1" fmla="*/ 7363 w 60103"/>
                  <a:gd name="connsiteY1" fmla="*/ 56347 h 52590"/>
                  <a:gd name="connsiteX2" fmla="*/ 43875 w 60103"/>
                  <a:gd name="connsiteY2" fmla="*/ 56347 h 52590"/>
                  <a:gd name="connsiteX3" fmla="*/ 61531 w 60103"/>
                  <a:gd name="connsiteY3" fmla="*/ 54168 h 52590"/>
                  <a:gd name="connsiteX4" fmla="*/ 0 w 60103"/>
                  <a:gd name="connsiteY4" fmla="*/ 0 h 52590"/>
                  <a:gd name="connsiteX5" fmla="*/ 0 w 60103"/>
                  <a:gd name="connsiteY5" fmla="*/ 40945 h 52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103" h="52590">
                    <a:moveTo>
                      <a:pt x="0" y="40945"/>
                    </a:moveTo>
                    <a:lnTo>
                      <a:pt x="7363" y="56347"/>
                    </a:lnTo>
                    <a:lnTo>
                      <a:pt x="43875" y="56347"/>
                    </a:lnTo>
                    <a:cubicBezTo>
                      <a:pt x="49961" y="56347"/>
                      <a:pt x="55821" y="55520"/>
                      <a:pt x="61531" y="54168"/>
                    </a:cubicBezTo>
                    <a:lnTo>
                      <a:pt x="0" y="0"/>
                    </a:lnTo>
                    <a:lnTo>
                      <a:pt x="0" y="40945"/>
                    </a:lnTo>
                    <a:close/>
                  </a:path>
                </a:pathLst>
              </a:custGeom>
              <a:solidFill>
                <a:srgbClr val="262627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252662D-AAAC-46C7-B7E4-61816AD65AE0}"/>
                  </a:ext>
                </a:extLst>
              </p:cNvPr>
              <p:cNvSpPr/>
              <p:nvPr/>
            </p:nvSpPr>
            <p:spPr>
              <a:xfrm>
                <a:off x="2874946" y="2867449"/>
                <a:ext cx="67616" cy="67616"/>
              </a:xfrm>
              <a:custGeom>
                <a:avLst/>
                <a:gdLst>
                  <a:gd name="connsiteX0" fmla="*/ 43049 w 67616"/>
                  <a:gd name="connsiteY0" fmla="*/ 0 h 67616"/>
                  <a:gd name="connsiteX1" fmla="*/ 0 w 67616"/>
                  <a:gd name="connsiteY1" fmla="*/ 51689 h 67616"/>
                  <a:gd name="connsiteX2" fmla="*/ 48233 w 67616"/>
                  <a:gd name="connsiteY2" fmla="*/ 70246 h 67616"/>
                  <a:gd name="connsiteX3" fmla="*/ 71523 w 67616"/>
                  <a:gd name="connsiteY3" fmla="*/ 0 h 67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16" h="67616">
                    <a:moveTo>
                      <a:pt x="43049" y="0"/>
                    </a:moveTo>
                    <a:lnTo>
                      <a:pt x="0" y="51689"/>
                    </a:lnTo>
                    <a:lnTo>
                      <a:pt x="48233" y="70246"/>
                    </a:lnTo>
                    <a:lnTo>
                      <a:pt x="71523" y="0"/>
                    </a:lnTo>
                    <a:close/>
                  </a:path>
                </a:pathLst>
              </a:custGeom>
              <a:solidFill>
                <a:srgbClr val="C9A770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184297F-6921-489D-A830-D703E713E13F}"/>
                  </a:ext>
                </a:extLst>
              </p:cNvPr>
              <p:cNvSpPr/>
              <p:nvPr/>
            </p:nvSpPr>
            <p:spPr>
              <a:xfrm>
                <a:off x="2923179" y="2867449"/>
                <a:ext cx="45077" cy="75129"/>
              </a:xfrm>
              <a:custGeom>
                <a:avLst/>
                <a:gdLst>
                  <a:gd name="connsiteX0" fmla="*/ 23290 w 45077"/>
                  <a:gd name="connsiteY0" fmla="*/ 0 h 75129"/>
                  <a:gd name="connsiteX1" fmla="*/ 0 w 45077"/>
                  <a:gd name="connsiteY1" fmla="*/ 70246 h 75129"/>
                  <a:gd name="connsiteX2" fmla="*/ 7813 w 45077"/>
                  <a:gd name="connsiteY2" fmla="*/ 73251 h 75129"/>
                  <a:gd name="connsiteX3" fmla="*/ 13072 w 45077"/>
                  <a:gd name="connsiteY3" fmla="*/ 81290 h 75129"/>
                  <a:gd name="connsiteX4" fmla="*/ 49735 w 45077"/>
                  <a:gd name="connsiteY4" fmla="*/ 0 h 75129"/>
                  <a:gd name="connsiteX5" fmla="*/ 23290 w 45077"/>
                  <a:gd name="connsiteY5" fmla="*/ 0 h 75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077" h="75129">
                    <a:moveTo>
                      <a:pt x="23290" y="0"/>
                    </a:moveTo>
                    <a:lnTo>
                      <a:pt x="0" y="70246"/>
                    </a:lnTo>
                    <a:lnTo>
                      <a:pt x="7813" y="73251"/>
                    </a:lnTo>
                    <a:lnTo>
                      <a:pt x="13072" y="81290"/>
                    </a:lnTo>
                    <a:cubicBezTo>
                      <a:pt x="24567" y="54168"/>
                      <a:pt x="37489" y="27572"/>
                      <a:pt x="49735" y="0"/>
                    </a:cubicBezTo>
                    <a:lnTo>
                      <a:pt x="23290" y="0"/>
                    </a:lnTo>
                    <a:close/>
                  </a:path>
                </a:pathLst>
              </a:custGeom>
              <a:solidFill>
                <a:srgbClr val="E6BE80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AB73E3CA-22CE-461E-8A90-7B7144CBF6A2}"/>
                  </a:ext>
                </a:extLst>
              </p:cNvPr>
              <p:cNvSpPr/>
              <p:nvPr/>
            </p:nvSpPr>
            <p:spPr>
              <a:xfrm>
                <a:off x="2724613" y="3223561"/>
                <a:ext cx="30052" cy="22539"/>
              </a:xfrm>
              <a:custGeom>
                <a:avLst/>
                <a:gdLst>
                  <a:gd name="connsiteX0" fmla="*/ 0 w 30051"/>
                  <a:gd name="connsiteY0" fmla="*/ 6461 h 22538"/>
                  <a:gd name="connsiteX1" fmla="*/ 23365 w 30051"/>
                  <a:gd name="connsiteY1" fmla="*/ 29826 h 22538"/>
                  <a:gd name="connsiteX2" fmla="*/ 36888 w 30051"/>
                  <a:gd name="connsiteY2" fmla="*/ 29826 h 22538"/>
                  <a:gd name="connsiteX3" fmla="*/ 36888 w 30051"/>
                  <a:gd name="connsiteY3" fmla="*/ 0 h 22538"/>
                  <a:gd name="connsiteX4" fmla="*/ 0 w 30051"/>
                  <a:gd name="connsiteY4" fmla="*/ 0 h 22538"/>
                  <a:gd name="connsiteX5" fmla="*/ 0 w 30051"/>
                  <a:gd name="connsiteY5" fmla="*/ 6461 h 22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51" h="22538">
                    <a:moveTo>
                      <a:pt x="0" y="6461"/>
                    </a:moveTo>
                    <a:cubicBezTo>
                      <a:pt x="0" y="19383"/>
                      <a:pt x="10443" y="29826"/>
                      <a:pt x="23365" y="29826"/>
                    </a:cubicBezTo>
                    <a:lnTo>
                      <a:pt x="36888" y="29826"/>
                    </a:lnTo>
                    <a:lnTo>
                      <a:pt x="36888" y="0"/>
                    </a:lnTo>
                    <a:lnTo>
                      <a:pt x="0" y="0"/>
                    </a:lnTo>
                    <a:lnTo>
                      <a:pt x="0" y="6461"/>
                    </a:lnTo>
                    <a:close/>
                  </a:path>
                </a:pathLst>
              </a:custGeom>
              <a:solidFill>
                <a:srgbClr val="414042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FDE53968-7004-4D09-A5E5-7EB4D6230057}"/>
                  </a:ext>
                </a:extLst>
              </p:cNvPr>
              <p:cNvSpPr/>
              <p:nvPr/>
            </p:nvSpPr>
            <p:spPr>
              <a:xfrm>
                <a:off x="2761501" y="3223561"/>
                <a:ext cx="30052" cy="22539"/>
              </a:xfrm>
              <a:custGeom>
                <a:avLst/>
                <a:gdLst>
                  <a:gd name="connsiteX0" fmla="*/ 13523 w 30051"/>
                  <a:gd name="connsiteY0" fmla="*/ 29826 h 22538"/>
                  <a:gd name="connsiteX1" fmla="*/ 36888 w 30051"/>
                  <a:gd name="connsiteY1" fmla="*/ 6461 h 22538"/>
                  <a:gd name="connsiteX2" fmla="*/ 36888 w 30051"/>
                  <a:gd name="connsiteY2" fmla="*/ 0 h 22538"/>
                  <a:gd name="connsiteX3" fmla="*/ 0 w 30051"/>
                  <a:gd name="connsiteY3" fmla="*/ 0 h 22538"/>
                  <a:gd name="connsiteX4" fmla="*/ 0 w 30051"/>
                  <a:gd name="connsiteY4" fmla="*/ 29826 h 22538"/>
                  <a:gd name="connsiteX5" fmla="*/ 13523 w 30051"/>
                  <a:gd name="connsiteY5" fmla="*/ 29826 h 22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51" h="22538">
                    <a:moveTo>
                      <a:pt x="13523" y="29826"/>
                    </a:moveTo>
                    <a:cubicBezTo>
                      <a:pt x="26445" y="29826"/>
                      <a:pt x="36888" y="19383"/>
                      <a:pt x="36888" y="6461"/>
                    </a:cubicBezTo>
                    <a:lnTo>
                      <a:pt x="36888" y="0"/>
                    </a:lnTo>
                    <a:lnTo>
                      <a:pt x="0" y="0"/>
                    </a:lnTo>
                    <a:lnTo>
                      <a:pt x="0" y="29826"/>
                    </a:lnTo>
                    <a:lnTo>
                      <a:pt x="13523" y="29826"/>
                    </a:lnTo>
                    <a:close/>
                  </a:path>
                </a:pathLst>
              </a:custGeom>
              <a:solidFill>
                <a:srgbClr val="2F2E30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4FD3BD0-DD19-4E36-A630-BD020E1153CF}"/>
                  </a:ext>
                </a:extLst>
              </p:cNvPr>
              <p:cNvSpPr/>
              <p:nvPr/>
            </p:nvSpPr>
            <p:spPr>
              <a:xfrm>
                <a:off x="3076682" y="2963314"/>
                <a:ext cx="142745" cy="443261"/>
              </a:xfrm>
              <a:custGeom>
                <a:avLst/>
                <a:gdLst>
                  <a:gd name="connsiteX0" fmla="*/ 129072 w 142745"/>
                  <a:gd name="connsiteY0" fmla="*/ 437852 h 443261"/>
                  <a:gd name="connsiteX1" fmla="*/ 121484 w 142745"/>
                  <a:gd name="connsiteY1" fmla="*/ 379101 h 443261"/>
                  <a:gd name="connsiteX2" fmla="*/ 148154 w 142745"/>
                  <a:gd name="connsiteY2" fmla="*/ 168064 h 443261"/>
                  <a:gd name="connsiteX3" fmla="*/ 124940 w 142745"/>
                  <a:gd name="connsiteY3" fmla="*/ 89629 h 443261"/>
                  <a:gd name="connsiteX4" fmla="*/ 38842 w 142745"/>
                  <a:gd name="connsiteY4" fmla="*/ 0 h 443261"/>
                  <a:gd name="connsiteX5" fmla="*/ 0 w 142745"/>
                  <a:gd name="connsiteY5" fmla="*/ 445891 h 443261"/>
                  <a:gd name="connsiteX6" fmla="*/ 129072 w 142745"/>
                  <a:gd name="connsiteY6" fmla="*/ 437852 h 443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2745" h="443261">
                    <a:moveTo>
                      <a:pt x="129072" y="437852"/>
                    </a:moveTo>
                    <a:lnTo>
                      <a:pt x="121484" y="379101"/>
                    </a:lnTo>
                    <a:lnTo>
                      <a:pt x="148154" y="168064"/>
                    </a:lnTo>
                    <a:cubicBezTo>
                      <a:pt x="152512" y="114647"/>
                      <a:pt x="124940" y="89629"/>
                      <a:pt x="124940" y="89629"/>
                    </a:cubicBezTo>
                    <a:lnTo>
                      <a:pt x="38842" y="0"/>
                    </a:lnTo>
                    <a:lnTo>
                      <a:pt x="0" y="445891"/>
                    </a:lnTo>
                    <a:cubicBezTo>
                      <a:pt x="36738" y="437476"/>
                      <a:pt x="80163" y="433119"/>
                      <a:pt x="129072" y="437852"/>
                    </a:cubicBezTo>
                    <a:close/>
                  </a:path>
                </a:pathLst>
              </a:custGeom>
              <a:solidFill>
                <a:srgbClr val="D1AD74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B5F0A278-2384-4DC3-9533-E079DB011865}"/>
                  </a:ext>
                </a:extLst>
              </p:cNvPr>
              <p:cNvSpPr/>
              <p:nvPr/>
            </p:nvSpPr>
            <p:spPr>
              <a:xfrm>
                <a:off x="3078846" y="3404881"/>
                <a:ext cx="135232" cy="67616"/>
              </a:xfrm>
              <a:custGeom>
                <a:avLst/>
                <a:gdLst>
                  <a:gd name="connsiteX0" fmla="*/ 5409 w 135232"/>
                  <a:gd name="connsiteY0" fmla="*/ 10033 h 67616"/>
                  <a:gd name="connsiteX1" fmla="*/ 0 w 135232"/>
                  <a:gd name="connsiteY1" fmla="*/ 71939 h 67616"/>
                  <a:gd name="connsiteX2" fmla="*/ 142370 w 135232"/>
                  <a:gd name="connsiteY2" fmla="*/ 63825 h 67616"/>
                  <a:gd name="connsiteX3" fmla="*/ 134406 w 135232"/>
                  <a:gd name="connsiteY3" fmla="*/ 1994 h 67616"/>
                  <a:gd name="connsiteX4" fmla="*/ 5409 w 135232"/>
                  <a:gd name="connsiteY4" fmla="*/ 10033 h 67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232" h="67616">
                    <a:moveTo>
                      <a:pt x="5409" y="10033"/>
                    </a:moveTo>
                    <a:lnTo>
                      <a:pt x="0" y="71939"/>
                    </a:lnTo>
                    <a:lnTo>
                      <a:pt x="142370" y="63825"/>
                    </a:lnTo>
                    <a:lnTo>
                      <a:pt x="134406" y="1994"/>
                    </a:lnTo>
                    <a:cubicBezTo>
                      <a:pt x="85497" y="-2814"/>
                      <a:pt x="42072" y="1543"/>
                      <a:pt x="5409" y="10033"/>
                    </a:cubicBezTo>
                    <a:close/>
                  </a:path>
                </a:pathLst>
              </a:custGeom>
              <a:solidFill>
                <a:srgbClr val="BB9B67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4AA73F43-D2C8-472A-BEFB-67FB160A8305}"/>
                  </a:ext>
                </a:extLst>
              </p:cNvPr>
              <p:cNvSpPr/>
              <p:nvPr/>
            </p:nvSpPr>
            <p:spPr>
              <a:xfrm>
                <a:off x="2970360" y="3414914"/>
                <a:ext cx="112694" cy="60103"/>
              </a:xfrm>
              <a:custGeom>
                <a:avLst/>
                <a:gdLst>
                  <a:gd name="connsiteX0" fmla="*/ 0 w 112693"/>
                  <a:gd name="connsiteY0" fmla="*/ 53417 h 60103"/>
                  <a:gd name="connsiteX1" fmla="*/ 9466 w 112693"/>
                  <a:gd name="connsiteY1" fmla="*/ 67541 h 60103"/>
                  <a:gd name="connsiteX2" fmla="*/ 108486 w 112693"/>
                  <a:gd name="connsiteY2" fmla="*/ 61906 h 60103"/>
                  <a:gd name="connsiteX3" fmla="*/ 113896 w 112693"/>
                  <a:gd name="connsiteY3" fmla="*/ 0 h 60103"/>
                  <a:gd name="connsiteX4" fmla="*/ 0 w 112693"/>
                  <a:gd name="connsiteY4" fmla="*/ 53417 h 60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693" h="60103">
                    <a:moveTo>
                      <a:pt x="0" y="53417"/>
                    </a:moveTo>
                    <a:lnTo>
                      <a:pt x="9466" y="67541"/>
                    </a:lnTo>
                    <a:lnTo>
                      <a:pt x="108486" y="61906"/>
                    </a:lnTo>
                    <a:lnTo>
                      <a:pt x="113896" y="0"/>
                    </a:lnTo>
                    <a:cubicBezTo>
                      <a:pt x="57248" y="13072"/>
                      <a:pt x="20435" y="40044"/>
                      <a:pt x="0" y="53417"/>
                    </a:cubicBezTo>
                    <a:close/>
                  </a:path>
                </a:pathLst>
              </a:custGeom>
              <a:solidFill>
                <a:srgbClr val="BB9B67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059E2BF-BCDA-4A33-AA2F-9D94C6FF9A2E}"/>
                  </a:ext>
                </a:extLst>
              </p:cNvPr>
              <p:cNvSpPr/>
              <p:nvPr/>
            </p:nvSpPr>
            <p:spPr>
              <a:xfrm>
                <a:off x="2724838" y="3119586"/>
                <a:ext cx="82642" cy="60103"/>
              </a:xfrm>
              <a:custGeom>
                <a:avLst/>
                <a:gdLst>
                  <a:gd name="connsiteX0" fmla="*/ 85948 w 82641"/>
                  <a:gd name="connsiteY0" fmla="*/ 41617 h 60103"/>
                  <a:gd name="connsiteX1" fmla="*/ 32305 w 82641"/>
                  <a:gd name="connsiteY1" fmla="*/ 897 h 60103"/>
                  <a:gd name="connsiteX2" fmla="*/ 0 w 82641"/>
                  <a:gd name="connsiteY2" fmla="*/ 7208 h 60103"/>
                  <a:gd name="connsiteX3" fmla="*/ 9316 w 82641"/>
                  <a:gd name="connsiteY3" fmla="*/ 20506 h 60103"/>
                  <a:gd name="connsiteX4" fmla="*/ 55596 w 82641"/>
                  <a:gd name="connsiteY4" fmla="*/ 66260 h 60103"/>
                  <a:gd name="connsiteX5" fmla="*/ 85948 w 82641"/>
                  <a:gd name="connsiteY5" fmla="*/ 41617 h 60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641" h="60103">
                    <a:moveTo>
                      <a:pt x="85948" y="41617"/>
                    </a:moveTo>
                    <a:lnTo>
                      <a:pt x="32305" y="897"/>
                    </a:lnTo>
                    <a:cubicBezTo>
                      <a:pt x="25093" y="-2033"/>
                      <a:pt x="10518" y="2776"/>
                      <a:pt x="0" y="7208"/>
                    </a:cubicBezTo>
                    <a:cubicBezTo>
                      <a:pt x="1427" y="15698"/>
                      <a:pt x="9316" y="20506"/>
                      <a:pt x="9316" y="20506"/>
                    </a:cubicBezTo>
                    <a:lnTo>
                      <a:pt x="55596" y="66260"/>
                    </a:lnTo>
                    <a:cubicBezTo>
                      <a:pt x="71898" y="57244"/>
                      <a:pt x="85948" y="41617"/>
                      <a:pt x="85948" y="41617"/>
                    </a:cubicBezTo>
                    <a:close/>
                  </a:path>
                </a:pathLst>
              </a:custGeom>
              <a:solidFill>
                <a:srgbClr val="C5A46E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31A35077-201C-429D-9FDB-765BD416AF58}"/>
                  </a:ext>
                </a:extLst>
              </p:cNvPr>
              <p:cNvSpPr/>
              <p:nvPr/>
            </p:nvSpPr>
            <p:spPr>
              <a:xfrm>
                <a:off x="2724626" y="2867449"/>
                <a:ext cx="398184" cy="593519"/>
              </a:xfrm>
              <a:custGeom>
                <a:avLst/>
                <a:gdLst>
                  <a:gd name="connsiteX0" fmla="*/ 338143 w 398183"/>
                  <a:gd name="connsiteY0" fmla="*/ 38767 h 593519"/>
                  <a:gd name="connsiteX1" fmla="*/ 267522 w 398183"/>
                  <a:gd name="connsiteY1" fmla="*/ 0 h 593519"/>
                  <a:gd name="connsiteX2" fmla="*/ 248214 w 398183"/>
                  <a:gd name="connsiteY2" fmla="*/ 0 h 593519"/>
                  <a:gd name="connsiteX3" fmla="*/ 211551 w 398183"/>
                  <a:gd name="connsiteY3" fmla="*/ 81290 h 593519"/>
                  <a:gd name="connsiteX4" fmla="*/ 300203 w 398183"/>
                  <a:gd name="connsiteY4" fmla="*/ 217949 h 593519"/>
                  <a:gd name="connsiteX5" fmla="*/ 276913 w 398183"/>
                  <a:gd name="connsiteY5" fmla="*/ 320425 h 593519"/>
                  <a:gd name="connsiteX6" fmla="*/ 177893 w 398183"/>
                  <a:gd name="connsiteY6" fmla="*/ 294581 h 593519"/>
                  <a:gd name="connsiteX7" fmla="*/ 2166 w 398183"/>
                  <a:gd name="connsiteY7" fmla="*/ 248076 h 593519"/>
                  <a:gd name="connsiteX8" fmla="*/ 213 w 398183"/>
                  <a:gd name="connsiteY8" fmla="*/ 259346 h 593519"/>
                  <a:gd name="connsiteX9" fmla="*/ 32518 w 398183"/>
                  <a:gd name="connsiteY9" fmla="*/ 253035 h 593519"/>
                  <a:gd name="connsiteX10" fmla="*/ 86160 w 398183"/>
                  <a:gd name="connsiteY10" fmla="*/ 293755 h 593519"/>
                  <a:gd name="connsiteX11" fmla="*/ 55733 w 398183"/>
                  <a:gd name="connsiteY11" fmla="*/ 318397 h 593519"/>
                  <a:gd name="connsiteX12" fmla="*/ 167600 w 398183"/>
                  <a:gd name="connsiteY12" fmla="*/ 428912 h 593519"/>
                  <a:gd name="connsiteX13" fmla="*/ 208921 w 398183"/>
                  <a:gd name="connsiteY13" fmla="*/ 551222 h 593519"/>
                  <a:gd name="connsiteX14" fmla="*/ 245735 w 398183"/>
                  <a:gd name="connsiteY14" fmla="*/ 600882 h 593519"/>
                  <a:gd name="connsiteX15" fmla="*/ 359630 w 398183"/>
                  <a:gd name="connsiteY15" fmla="*/ 547465 h 593519"/>
                  <a:gd name="connsiteX16" fmla="*/ 398472 w 398183"/>
                  <a:gd name="connsiteY16" fmla="*/ 101575 h 593519"/>
                  <a:gd name="connsiteX17" fmla="*/ 338143 w 398183"/>
                  <a:gd name="connsiteY17" fmla="*/ 38767 h 593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98183" h="593519">
                    <a:moveTo>
                      <a:pt x="338143" y="38767"/>
                    </a:moveTo>
                    <a:cubicBezTo>
                      <a:pt x="311472" y="6912"/>
                      <a:pt x="267522" y="0"/>
                      <a:pt x="267522" y="0"/>
                    </a:cubicBezTo>
                    <a:lnTo>
                      <a:pt x="248214" y="0"/>
                    </a:lnTo>
                    <a:cubicBezTo>
                      <a:pt x="236043" y="27572"/>
                      <a:pt x="223046" y="54168"/>
                      <a:pt x="211551" y="81290"/>
                    </a:cubicBezTo>
                    <a:lnTo>
                      <a:pt x="300203" y="217949"/>
                    </a:lnTo>
                    <a:cubicBezTo>
                      <a:pt x="334612" y="290299"/>
                      <a:pt x="276913" y="320425"/>
                      <a:pt x="276913" y="320425"/>
                    </a:cubicBezTo>
                    <a:cubicBezTo>
                      <a:pt x="240776" y="347096"/>
                      <a:pt x="177893" y="294581"/>
                      <a:pt x="177893" y="294581"/>
                    </a:cubicBezTo>
                    <a:cubicBezTo>
                      <a:pt x="88339" y="194659"/>
                      <a:pt x="2166" y="248076"/>
                      <a:pt x="2166" y="248076"/>
                    </a:cubicBezTo>
                    <a:cubicBezTo>
                      <a:pt x="63" y="252359"/>
                      <a:pt x="-313" y="256115"/>
                      <a:pt x="213" y="259346"/>
                    </a:cubicBezTo>
                    <a:cubicBezTo>
                      <a:pt x="10731" y="254988"/>
                      <a:pt x="25306" y="250105"/>
                      <a:pt x="32518" y="253035"/>
                    </a:cubicBezTo>
                    <a:lnTo>
                      <a:pt x="86160" y="293755"/>
                    </a:lnTo>
                    <a:cubicBezTo>
                      <a:pt x="86160" y="293755"/>
                      <a:pt x="72036" y="309457"/>
                      <a:pt x="55733" y="318397"/>
                    </a:cubicBezTo>
                    <a:lnTo>
                      <a:pt x="167600" y="428912"/>
                    </a:lnTo>
                    <a:cubicBezTo>
                      <a:pt x="162416" y="485784"/>
                      <a:pt x="208921" y="551222"/>
                      <a:pt x="208921" y="551222"/>
                    </a:cubicBezTo>
                    <a:lnTo>
                      <a:pt x="245735" y="600882"/>
                    </a:lnTo>
                    <a:cubicBezTo>
                      <a:pt x="266170" y="587434"/>
                      <a:pt x="302983" y="560538"/>
                      <a:pt x="359630" y="547465"/>
                    </a:cubicBezTo>
                    <a:lnTo>
                      <a:pt x="398472" y="101575"/>
                    </a:lnTo>
                    <a:lnTo>
                      <a:pt x="338143" y="38767"/>
                    </a:lnTo>
                    <a:close/>
                  </a:path>
                </a:pathLst>
              </a:custGeom>
              <a:solidFill>
                <a:srgbClr val="E6BE80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D207CD5B-AE07-43CC-B627-453FC05B09BA}"/>
                  </a:ext>
                </a:extLst>
              </p:cNvPr>
              <p:cNvSpPr/>
              <p:nvPr/>
            </p:nvSpPr>
            <p:spPr>
              <a:xfrm>
                <a:off x="2472380" y="2309691"/>
                <a:ext cx="285490" cy="653623"/>
              </a:xfrm>
              <a:custGeom>
                <a:avLst/>
                <a:gdLst>
                  <a:gd name="connsiteX0" fmla="*/ 290925 w 285490"/>
                  <a:gd name="connsiteY0" fmla="*/ 0 h 653622"/>
                  <a:gd name="connsiteX1" fmla="*/ 289122 w 285490"/>
                  <a:gd name="connsiteY1" fmla="*/ 0 h 653622"/>
                  <a:gd name="connsiteX2" fmla="*/ 288896 w 285490"/>
                  <a:gd name="connsiteY2" fmla="*/ 0 h 653622"/>
                  <a:gd name="connsiteX3" fmla="*/ 140291 w 285490"/>
                  <a:gd name="connsiteY3" fmla="*/ 37489 h 653622"/>
                  <a:gd name="connsiteX4" fmla="*/ 25 w 285490"/>
                  <a:gd name="connsiteY4" fmla="*/ 280006 h 653622"/>
                  <a:gd name="connsiteX5" fmla="*/ 130073 w 285490"/>
                  <a:gd name="connsiteY5" fmla="*/ 531613 h 653622"/>
                  <a:gd name="connsiteX6" fmla="*/ 157195 w 285490"/>
                  <a:gd name="connsiteY6" fmla="*/ 658206 h 653622"/>
                  <a:gd name="connsiteX7" fmla="*/ 289122 w 285490"/>
                  <a:gd name="connsiteY7" fmla="*/ 658206 h 653622"/>
                  <a:gd name="connsiteX8" fmla="*/ 291000 w 285490"/>
                  <a:gd name="connsiteY8" fmla="*/ 658206 h 653622"/>
                  <a:gd name="connsiteX9" fmla="*/ 290925 w 285490"/>
                  <a:gd name="connsiteY9" fmla="*/ 0 h 653622"/>
                  <a:gd name="connsiteX10" fmla="*/ 290925 w 285490"/>
                  <a:gd name="connsiteY10" fmla="*/ 0 h 653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490" h="653622">
                    <a:moveTo>
                      <a:pt x="290925" y="0"/>
                    </a:moveTo>
                    <a:cubicBezTo>
                      <a:pt x="290549" y="0"/>
                      <a:pt x="289948" y="0"/>
                      <a:pt x="289122" y="0"/>
                    </a:cubicBezTo>
                    <a:cubicBezTo>
                      <a:pt x="289046" y="0"/>
                      <a:pt x="288971" y="0"/>
                      <a:pt x="288896" y="0"/>
                    </a:cubicBezTo>
                    <a:cubicBezTo>
                      <a:pt x="275824" y="0"/>
                      <a:pt x="207156" y="1803"/>
                      <a:pt x="140291" y="37489"/>
                    </a:cubicBezTo>
                    <a:cubicBezTo>
                      <a:pt x="80037" y="69570"/>
                      <a:pt x="6787" y="137636"/>
                      <a:pt x="25" y="280006"/>
                    </a:cubicBezTo>
                    <a:cubicBezTo>
                      <a:pt x="-125" y="286242"/>
                      <a:pt x="-2830" y="431541"/>
                      <a:pt x="130073" y="531613"/>
                    </a:cubicBezTo>
                    <a:lnTo>
                      <a:pt x="157195" y="658206"/>
                    </a:lnTo>
                    <a:lnTo>
                      <a:pt x="289122" y="658206"/>
                    </a:lnTo>
                    <a:lnTo>
                      <a:pt x="291000" y="658206"/>
                    </a:lnTo>
                    <a:lnTo>
                      <a:pt x="290925" y="0"/>
                    </a:lnTo>
                    <a:cubicBezTo>
                      <a:pt x="290925" y="0"/>
                      <a:pt x="290925" y="0"/>
                      <a:pt x="290925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93961DEF-494D-48EC-AC9E-73AD712CCC15}"/>
                  </a:ext>
                </a:extLst>
              </p:cNvPr>
              <p:cNvSpPr/>
              <p:nvPr/>
            </p:nvSpPr>
            <p:spPr>
              <a:xfrm>
                <a:off x="2763304" y="2309691"/>
                <a:ext cx="285490" cy="653623"/>
              </a:xfrm>
              <a:custGeom>
                <a:avLst/>
                <a:gdLst>
                  <a:gd name="connsiteX0" fmla="*/ 290975 w 285490"/>
                  <a:gd name="connsiteY0" fmla="*/ 279705 h 653622"/>
                  <a:gd name="connsiteX1" fmla="*/ 150709 w 285490"/>
                  <a:gd name="connsiteY1" fmla="*/ 37489 h 653622"/>
                  <a:gd name="connsiteX2" fmla="*/ 2104 w 285490"/>
                  <a:gd name="connsiteY2" fmla="*/ 0 h 653622"/>
                  <a:gd name="connsiteX3" fmla="*/ 0 w 285490"/>
                  <a:gd name="connsiteY3" fmla="*/ 0 h 653622"/>
                  <a:gd name="connsiteX4" fmla="*/ 0 w 285490"/>
                  <a:gd name="connsiteY4" fmla="*/ 658206 h 653622"/>
                  <a:gd name="connsiteX5" fmla="*/ 133730 w 285490"/>
                  <a:gd name="connsiteY5" fmla="*/ 658206 h 653622"/>
                  <a:gd name="connsiteX6" fmla="*/ 160851 w 285490"/>
                  <a:gd name="connsiteY6" fmla="*/ 531613 h 653622"/>
                  <a:gd name="connsiteX7" fmla="*/ 290975 w 285490"/>
                  <a:gd name="connsiteY7" fmla="*/ 279705 h 653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490" h="653622">
                    <a:moveTo>
                      <a:pt x="290975" y="279705"/>
                    </a:moveTo>
                    <a:cubicBezTo>
                      <a:pt x="284288" y="137712"/>
                      <a:pt x="211038" y="69645"/>
                      <a:pt x="150709" y="37489"/>
                    </a:cubicBezTo>
                    <a:cubicBezTo>
                      <a:pt x="83844" y="1803"/>
                      <a:pt x="15176" y="0"/>
                      <a:pt x="2104" y="0"/>
                    </a:cubicBezTo>
                    <a:cubicBezTo>
                      <a:pt x="1127" y="0"/>
                      <a:pt x="451" y="0"/>
                      <a:pt x="0" y="0"/>
                    </a:cubicBezTo>
                    <a:lnTo>
                      <a:pt x="0" y="658206"/>
                    </a:lnTo>
                    <a:lnTo>
                      <a:pt x="133730" y="658206"/>
                    </a:lnTo>
                    <a:lnTo>
                      <a:pt x="160851" y="531613"/>
                    </a:lnTo>
                    <a:cubicBezTo>
                      <a:pt x="293830" y="431541"/>
                      <a:pt x="291125" y="286167"/>
                      <a:pt x="290975" y="27970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EABC3B0D-A722-4D2C-9EE3-1E742F5320A1}"/>
                  </a:ext>
                </a:extLst>
              </p:cNvPr>
              <p:cNvSpPr/>
              <p:nvPr/>
            </p:nvSpPr>
            <p:spPr>
              <a:xfrm>
                <a:off x="2644826" y="2630868"/>
                <a:ext cx="105181" cy="323055"/>
              </a:xfrm>
              <a:custGeom>
                <a:avLst/>
                <a:gdLst>
                  <a:gd name="connsiteX0" fmla="*/ 81139 w 105180"/>
                  <a:gd name="connsiteY0" fmla="*/ 324858 h 323054"/>
                  <a:gd name="connsiteX1" fmla="*/ 112318 w 105180"/>
                  <a:gd name="connsiteY1" fmla="*/ 324858 h 323054"/>
                  <a:gd name="connsiteX2" fmla="*/ 62282 w 105180"/>
                  <a:gd name="connsiteY2" fmla="*/ 116826 h 323054"/>
                  <a:gd name="connsiteX3" fmla="*/ 0 w 105180"/>
                  <a:gd name="connsiteY3" fmla="*/ 0 h 323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180" h="323054">
                    <a:moveTo>
                      <a:pt x="81139" y="324858"/>
                    </a:moveTo>
                    <a:lnTo>
                      <a:pt x="112318" y="324858"/>
                    </a:lnTo>
                    <a:lnTo>
                      <a:pt x="62282" y="1168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7DB28AE3-2ABF-4803-8C3B-1081AE8A7A49}"/>
                  </a:ext>
                </a:extLst>
              </p:cNvPr>
              <p:cNvSpPr/>
              <p:nvPr/>
            </p:nvSpPr>
            <p:spPr>
              <a:xfrm>
                <a:off x="2769540" y="2631394"/>
                <a:ext cx="105181" cy="323055"/>
              </a:xfrm>
              <a:custGeom>
                <a:avLst/>
                <a:gdLst>
                  <a:gd name="connsiteX0" fmla="*/ 49811 w 105180"/>
                  <a:gd name="connsiteY0" fmla="*/ 116826 h 323054"/>
                  <a:gd name="connsiteX1" fmla="*/ 0 w 105180"/>
                  <a:gd name="connsiteY1" fmla="*/ 324332 h 323054"/>
                  <a:gd name="connsiteX2" fmla="*/ 31103 w 105180"/>
                  <a:gd name="connsiteY2" fmla="*/ 324332 h 323054"/>
                  <a:gd name="connsiteX3" fmla="*/ 112093 w 105180"/>
                  <a:gd name="connsiteY3" fmla="*/ 0 h 323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180" h="323054">
                    <a:moveTo>
                      <a:pt x="49811" y="116826"/>
                    </a:moveTo>
                    <a:lnTo>
                      <a:pt x="0" y="324332"/>
                    </a:lnTo>
                    <a:lnTo>
                      <a:pt x="31103" y="324332"/>
                    </a:lnTo>
                    <a:lnTo>
                      <a:pt x="112093" y="0"/>
                    </a:lnTo>
                    <a:close/>
                  </a:path>
                </a:pathLst>
              </a:custGeom>
              <a:solidFill>
                <a:schemeClr val="bg1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1788C731-3325-427A-A168-9B6FFFB0C8DC}"/>
                  </a:ext>
                </a:extLst>
              </p:cNvPr>
              <p:cNvSpPr/>
              <p:nvPr/>
            </p:nvSpPr>
            <p:spPr>
              <a:xfrm>
                <a:off x="2674577" y="2609304"/>
                <a:ext cx="172797" cy="60103"/>
              </a:xfrm>
              <a:custGeom>
                <a:avLst/>
                <a:gdLst>
                  <a:gd name="connsiteX0" fmla="*/ 0 w 172796"/>
                  <a:gd name="connsiteY0" fmla="*/ 29527 h 60103"/>
                  <a:gd name="connsiteX1" fmla="*/ 676 w 172796"/>
                  <a:gd name="connsiteY1" fmla="*/ 26973 h 60103"/>
                  <a:gd name="connsiteX2" fmla="*/ 3606 w 172796"/>
                  <a:gd name="connsiteY2" fmla="*/ 20136 h 60103"/>
                  <a:gd name="connsiteX3" fmla="*/ 6386 w 172796"/>
                  <a:gd name="connsiteY3" fmla="*/ 15478 h 60103"/>
                  <a:gd name="connsiteX4" fmla="*/ 10293 w 172796"/>
                  <a:gd name="connsiteY4" fmla="*/ 10369 h 60103"/>
                  <a:gd name="connsiteX5" fmla="*/ 15552 w 172796"/>
                  <a:gd name="connsiteY5" fmla="*/ 5035 h 60103"/>
                  <a:gd name="connsiteX6" fmla="*/ 19158 w 172796"/>
                  <a:gd name="connsiteY6" fmla="*/ 3533 h 60103"/>
                  <a:gd name="connsiteX7" fmla="*/ 23140 w 172796"/>
                  <a:gd name="connsiteY7" fmla="*/ 2556 h 60103"/>
                  <a:gd name="connsiteX8" fmla="*/ 31629 w 172796"/>
                  <a:gd name="connsiteY8" fmla="*/ 828 h 60103"/>
                  <a:gd name="connsiteX9" fmla="*/ 36212 w 172796"/>
                  <a:gd name="connsiteY9" fmla="*/ 227 h 60103"/>
                  <a:gd name="connsiteX10" fmla="*/ 40945 w 172796"/>
                  <a:gd name="connsiteY10" fmla="*/ 77 h 60103"/>
                  <a:gd name="connsiteX11" fmla="*/ 50712 w 172796"/>
                  <a:gd name="connsiteY11" fmla="*/ 603 h 60103"/>
                  <a:gd name="connsiteX12" fmla="*/ 60704 w 172796"/>
                  <a:gd name="connsiteY12" fmla="*/ 2481 h 60103"/>
                  <a:gd name="connsiteX13" fmla="*/ 70471 w 172796"/>
                  <a:gd name="connsiteY13" fmla="*/ 5711 h 60103"/>
                  <a:gd name="connsiteX14" fmla="*/ 79862 w 172796"/>
                  <a:gd name="connsiteY14" fmla="*/ 10144 h 60103"/>
                  <a:gd name="connsiteX15" fmla="*/ 84445 w 172796"/>
                  <a:gd name="connsiteY15" fmla="*/ 12623 h 60103"/>
                  <a:gd name="connsiteX16" fmla="*/ 88727 w 172796"/>
                  <a:gd name="connsiteY16" fmla="*/ 15478 h 60103"/>
                  <a:gd name="connsiteX17" fmla="*/ 96466 w 172796"/>
                  <a:gd name="connsiteY17" fmla="*/ 20812 h 60103"/>
                  <a:gd name="connsiteX18" fmla="*/ 103903 w 172796"/>
                  <a:gd name="connsiteY18" fmla="*/ 25846 h 60103"/>
                  <a:gd name="connsiteX19" fmla="*/ 110365 w 172796"/>
                  <a:gd name="connsiteY19" fmla="*/ 29452 h 60103"/>
                  <a:gd name="connsiteX20" fmla="*/ 117201 w 172796"/>
                  <a:gd name="connsiteY20" fmla="*/ 32382 h 60103"/>
                  <a:gd name="connsiteX21" fmla="*/ 123813 w 172796"/>
                  <a:gd name="connsiteY21" fmla="*/ 34110 h 60103"/>
                  <a:gd name="connsiteX22" fmla="*/ 129973 w 172796"/>
                  <a:gd name="connsiteY22" fmla="*/ 34786 h 60103"/>
                  <a:gd name="connsiteX23" fmla="*/ 135608 w 172796"/>
                  <a:gd name="connsiteY23" fmla="*/ 34411 h 60103"/>
                  <a:gd name="connsiteX24" fmla="*/ 145300 w 172796"/>
                  <a:gd name="connsiteY24" fmla="*/ 30804 h 60103"/>
                  <a:gd name="connsiteX25" fmla="*/ 147403 w 172796"/>
                  <a:gd name="connsiteY25" fmla="*/ 29452 h 60103"/>
                  <a:gd name="connsiteX26" fmla="*/ 149582 w 172796"/>
                  <a:gd name="connsiteY26" fmla="*/ 28250 h 60103"/>
                  <a:gd name="connsiteX27" fmla="*/ 155141 w 172796"/>
                  <a:gd name="connsiteY27" fmla="*/ 27348 h 60103"/>
                  <a:gd name="connsiteX28" fmla="*/ 164833 w 172796"/>
                  <a:gd name="connsiteY28" fmla="*/ 24494 h 60103"/>
                  <a:gd name="connsiteX29" fmla="*/ 171444 w 172796"/>
                  <a:gd name="connsiteY29" fmla="*/ 22165 h 60103"/>
                  <a:gd name="connsiteX30" fmla="*/ 173924 w 172796"/>
                  <a:gd name="connsiteY30" fmla="*/ 21338 h 60103"/>
                  <a:gd name="connsiteX31" fmla="*/ 172121 w 172796"/>
                  <a:gd name="connsiteY31" fmla="*/ 30955 h 60103"/>
                  <a:gd name="connsiteX32" fmla="*/ 168289 w 172796"/>
                  <a:gd name="connsiteY32" fmla="*/ 41848 h 60103"/>
                  <a:gd name="connsiteX33" fmla="*/ 164758 w 172796"/>
                  <a:gd name="connsiteY33" fmla="*/ 48460 h 60103"/>
                  <a:gd name="connsiteX34" fmla="*/ 161753 w 172796"/>
                  <a:gd name="connsiteY34" fmla="*/ 51014 h 60103"/>
                  <a:gd name="connsiteX35" fmla="*/ 158072 w 172796"/>
                  <a:gd name="connsiteY35" fmla="*/ 53118 h 60103"/>
                  <a:gd name="connsiteX36" fmla="*/ 140116 w 172796"/>
                  <a:gd name="connsiteY36" fmla="*/ 59729 h 60103"/>
                  <a:gd name="connsiteX37" fmla="*/ 129598 w 172796"/>
                  <a:gd name="connsiteY37" fmla="*/ 60480 h 60103"/>
                  <a:gd name="connsiteX38" fmla="*/ 118929 w 172796"/>
                  <a:gd name="connsiteY38" fmla="*/ 59353 h 60103"/>
                  <a:gd name="connsiteX39" fmla="*/ 108637 w 172796"/>
                  <a:gd name="connsiteY39" fmla="*/ 56574 h 60103"/>
                  <a:gd name="connsiteX40" fmla="*/ 99020 w 172796"/>
                  <a:gd name="connsiteY40" fmla="*/ 52517 h 60103"/>
                  <a:gd name="connsiteX41" fmla="*/ 89629 w 172796"/>
                  <a:gd name="connsiteY41" fmla="*/ 47183 h 60103"/>
                  <a:gd name="connsiteX42" fmla="*/ 81891 w 172796"/>
                  <a:gd name="connsiteY42" fmla="*/ 41924 h 60103"/>
                  <a:gd name="connsiteX43" fmla="*/ 74528 w 172796"/>
                  <a:gd name="connsiteY43" fmla="*/ 36890 h 60103"/>
                  <a:gd name="connsiteX44" fmla="*/ 71222 w 172796"/>
                  <a:gd name="connsiteY44" fmla="*/ 34636 h 60103"/>
                  <a:gd name="connsiteX45" fmla="*/ 67842 w 172796"/>
                  <a:gd name="connsiteY45" fmla="*/ 32833 h 60103"/>
                  <a:gd name="connsiteX46" fmla="*/ 61080 w 172796"/>
                  <a:gd name="connsiteY46" fmla="*/ 29602 h 60103"/>
                  <a:gd name="connsiteX47" fmla="*/ 54318 w 172796"/>
                  <a:gd name="connsiteY47" fmla="*/ 27348 h 60103"/>
                  <a:gd name="connsiteX48" fmla="*/ 47707 w 172796"/>
                  <a:gd name="connsiteY48" fmla="*/ 26071 h 60103"/>
                  <a:gd name="connsiteX49" fmla="*/ 41396 w 172796"/>
                  <a:gd name="connsiteY49" fmla="*/ 25696 h 60103"/>
                  <a:gd name="connsiteX50" fmla="*/ 38316 w 172796"/>
                  <a:gd name="connsiteY50" fmla="*/ 25771 h 60103"/>
                  <a:gd name="connsiteX51" fmla="*/ 35386 w 172796"/>
                  <a:gd name="connsiteY51" fmla="*/ 26222 h 60103"/>
                  <a:gd name="connsiteX52" fmla="*/ 29901 w 172796"/>
                  <a:gd name="connsiteY52" fmla="*/ 27348 h 60103"/>
                  <a:gd name="connsiteX53" fmla="*/ 27422 w 172796"/>
                  <a:gd name="connsiteY53" fmla="*/ 28250 h 60103"/>
                  <a:gd name="connsiteX54" fmla="*/ 24943 w 172796"/>
                  <a:gd name="connsiteY54" fmla="*/ 28926 h 60103"/>
                  <a:gd name="connsiteX55" fmla="*/ 19308 w 172796"/>
                  <a:gd name="connsiteY55" fmla="*/ 28325 h 60103"/>
                  <a:gd name="connsiteX56" fmla="*/ 9391 w 172796"/>
                  <a:gd name="connsiteY56" fmla="*/ 28400 h 60103"/>
                  <a:gd name="connsiteX57" fmla="*/ 2554 w 172796"/>
                  <a:gd name="connsiteY57" fmla="*/ 29152 h 60103"/>
                  <a:gd name="connsiteX58" fmla="*/ 0 w 172796"/>
                  <a:gd name="connsiteY58" fmla="*/ 29527 h 60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72796" h="60103">
                    <a:moveTo>
                      <a:pt x="0" y="29527"/>
                    </a:moveTo>
                    <a:cubicBezTo>
                      <a:pt x="0" y="29527"/>
                      <a:pt x="150" y="28626"/>
                      <a:pt x="676" y="26973"/>
                    </a:cubicBezTo>
                    <a:cubicBezTo>
                      <a:pt x="1277" y="25395"/>
                      <a:pt x="2104" y="22916"/>
                      <a:pt x="3606" y="20136"/>
                    </a:cubicBezTo>
                    <a:cubicBezTo>
                      <a:pt x="4433" y="18784"/>
                      <a:pt x="5334" y="17206"/>
                      <a:pt x="6386" y="15478"/>
                    </a:cubicBezTo>
                    <a:cubicBezTo>
                      <a:pt x="7513" y="13900"/>
                      <a:pt x="8790" y="12172"/>
                      <a:pt x="10293" y="10369"/>
                    </a:cubicBezTo>
                    <a:cubicBezTo>
                      <a:pt x="11870" y="8716"/>
                      <a:pt x="13523" y="6763"/>
                      <a:pt x="15552" y="5035"/>
                    </a:cubicBezTo>
                    <a:cubicBezTo>
                      <a:pt x="16528" y="4134"/>
                      <a:pt x="17806" y="3758"/>
                      <a:pt x="19158" y="3533"/>
                    </a:cubicBezTo>
                    <a:cubicBezTo>
                      <a:pt x="20435" y="3232"/>
                      <a:pt x="21712" y="2856"/>
                      <a:pt x="23140" y="2556"/>
                    </a:cubicBezTo>
                    <a:cubicBezTo>
                      <a:pt x="25844" y="1880"/>
                      <a:pt x="28624" y="1128"/>
                      <a:pt x="31629" y="828"/>
                    </a:cubicBezTo>
                    <a:cubicBezTo>
                      <a:pt x="33132" y="603"/>
                      <a:pt x="34634" y="452"/>
                      <a:pt x="36212" y="227"/>
                    </a:cubicBezTo>
                    <a:cubicBezTo>
                      <a:pt x="37790" y="152"/>
                      <a:pt x="39368" y="152"/>
                      <a:pt x="40945" y="77"/>
                    </a:cubicBezTo>
                    <a:cubicBezTo>
                      <a:pt x="44176" y="-149"/>
                      <a:pt x="47406" y="152"/>
                      <a:pt x="50712" y="603"/>
                    </a:cubicBezTo>
                    <a:cubicBezTo>
                      <a:pt x="54093" y="828"/>
                      <a:pt x="57323" y="1654"/>
                      <a:pt x="60704" y="2481"/>
                    </a:cubicBezTo>
                    <a:cubicBezTo>
                      <a:pt x="64160" y="3157"/>
                      <a:pt x="67241" y="4509"/>
                      <a:pt x="70471" y="5711"/>
                    </a:cubicBezTo>
                    <a:cubicBezTo>
                      <a:pt x="73777" y="6838"/>
                      <a:pt x="76782" y="8491"/>
                      <a:pt x="79862" y="10144"/>
                    </a:cubicBezTo>
                    <a:cubicBezTo>
                      <a:pt x="81365" y="10970"/>
                      <a:pt x="82942" y="11722"/>
                      <a:pt x="84445" y="12623"/>
                    </a:cubicBezTo>
                    <a:lnTo>
                      <a:pt x="88727" y="15478"/>
                    </a:lnTo>
                    <a:lnTo>
                      <a:pt x="96466" y="20812"/>
                    </a:lnTo>
                    <a:cubicBezTo>
                      <a:pt x="98945" y="22465"/>
                      <a:pt x="101575" y="24494"/>
                      <a:pt x="103903" y="25846"/>
                    </a:cubicBezTo>
                    <a:cubicBezTo>
                      <a:pt x="106082" y="27048"/>
                      <a:pt x="108261" y="28250"/>
                      <a:pt x="110365" y="29452"/>
                    </a:cubicBezTo>
                    <a:cubicBezTo>
                      <a:pt x="112694" y="30354"/>
                      <a:pt x="114947" y="31481"/>
                      <a:pt x="117201" y="32382"/>
                    </a:cubicBezTo>
                    <a:cubicBezTo>
                      <a:pt x="119455" y="32908"/>
                      <a:pt x="121709" y="33960"/>
                      <a:pt x="123813" y="34110"/>
                    </a:cubicBezTo>
                    <a:cubicBezTo>
                      <a:pt x="125916" y="34411"/>
                      <a:pt x="128020" y="34861"/>
                      <a:pt x="129973" y="34786"/>
                    </a:cubicBezTo>
                    <a:cubicBezTo>
                      <a:pt x="131927" y="35012"/>
                      <a:pt x="133805" y="34636"/>
                      <a:pt x="135608" y="34411"/>
                    </a:cubicBezTo>
                    <a:cubicBezTo>
                      <a:pt x="139139" y="33659"/>
                      <a:pt x="142370" y="32608"/>
                      <a:pt x="145300" y="30804"/>
                    </a:cubicBezTo>
                    <a:cubicBezTo>
                      <a:pt x="145976" y="30354"/>
                      <a:pt x="146802" y="30128"/>
                      <a:pt x="147403" y="29452"/>
                    </a:cubicBezTo>
                    <a:cubicBezTo>
                      <a:pt x="147929" y="28701"/>
                      <a:pt x="148605" y="28250"/>
                      <a:pt x="149582" y="28250"/>
                    </a:cubicBezTo>
                    <a:cubicBezTo>
                      <a:pt x="151535" y="28100"/>
                      <a:pt x="153338" y="27649"/>
                      <a:pt x="155141" y="27348"/>
                    </a:cubicBezTo>
                    <a:cubicBezTo>
                      <a:pt x="158673" y="26447"/>
                      <a:pt x="162053" y="25395"/>
                      <a:pt x="164833" y="24494"/>
                    </a:cubicBezTo>
                    <a:cubicBezTo>
                      <a:pt x="167538" y="23442"/>
                      <a:pt x="169942" y="22690"/>
                      <a:pt x="171444" y="22165"/>
                    </a:cubicBezTo>
                    <a:cubicBezTo>
                      <a:pt x="173022" y="21639"/>
                      <a:pt x="173924" y="21338"/>
                      <a:pt x="173924" y="21338"/>
                    </a:cubicBezTo>
                    <a:cubicBezTo>
                      <a:pt x="173924" y="21338"/>
                      <a:pt x="173548" y="24944"/>
                      <a:pt x="172121" y="30955"/>
                    </a:cubicBezTo>
                    <a:cubicBezTo>
                      <a:pt x="171294" y="33960"/>
                      <a:pt x="170242" y="37716"/>
                      <a:pt x="168289" y="41848"/>
                    </a:cubicBezTo>
                    <a:cubicBezTo>
                      <a:pt x="167237" y="43877"/>
                      <a:pt x="166185" y="46206"/>
                      <a:pt x="164758" y="48460"/>
                    </a:cubicBezTo>
                    <a:cubicBezTo>
                      <a:pt x="164082" y="49662"/>
                      <a:pt x="163030" y="50488"/>
                      <a:pt x="161753" y="51014"/>
                    </a:cubicBezTo>
                    <a:cubicBezTo>
                      <a:pt x="160551" y="51690"/>
                      <a:pt x="159349" y="52366"/>
                      <a:pt x="158072" y="53118"/>
                    </a:cubicBezTo>
                    <a:cubicBezTo>
                      <a:pt x="153113" y="56123"/>
                      <a:pt x="146877" y="58452"/>
                      <a:pt x="140116" y="59729"/>
                    </a:cubicBezTo>
                    <a:cubicBezTo>
                      <a:pt x="136735" y="60180"/>
                      <a:pt x="133204" y="60706"/>
                      <a:pt x="129598" y="60480"/>
                    </a:cubicBezTo>
                    <a:cubicBezTo>
                      <a:pt x="125991" y="60556"/>
                      <a:pt x="122535" y="59955"/>
                      <a:pt x="118929" y="59353"/>
                    </a:cubicBezTo>
                    <a:cubicBezTo>
                      <a:pt x="115323" y="58828"/>
                      <a:pt x="112168" y="57550"/>
                      <a:pt x="108637" y="56574"/>
                    </a:cubicBezTo>
                    <a:cubicBezTo>
                      <a:pt x="105331" y="55372"/>
                      <a:pt x="102251" y="53869"/>
                      <a:pt x="99020" y="52517"/>
                    </a:cubicBezTo>
                    <a:cubicBezTo>
                      <a:pt x="95865" y="50864"/>
                      <a:pt x="92784" y="48986"/>
                      <a:pt x="89629" y="47183"/>
                    </a:cubicBezTo>
                    <a:cubicBezTo>
                      <a:pt x="86699" y="45379"/>
                      <a:pt x="84520" y="43651"/>
                      <a:pt x="81891" y="41924"/>
                    </a:cubicBezTo>
                    <a:lnTo>
                      <a:pt x="74528" y="36890"/>
                    </a:lnTo>
                    <a:lnTo>
                      <a:pt x="71222" y="34636"/>
                    </a:lnTo>
                    <a:cubicBezTo>
                      <a:pt x="70095" y="33960"/>
                      <a:pt x="68968" y="33434"/>
                      <a:pt x="67842" y="32833"/>
                    </a:cubicBezTo>
                    <a:cubicBezTo>
                      <a:pt x="65588" y="31706"/>
                      <a:pt x="63409" y="30354"/>
                      <a:pt x="61080" y="29602"/>
                    </a:cubicBezTo>
                    <a:cubicBezTo>
                      <a:pt x="58826" y="28776"/>
                      <a:pt x="56572" y="27724"/>
                      <a:pt x="54318" y="27348"/>
                    </a:cubicBezTo>
                    <a:cubicBezTo>
                      <a:pt x="52064" y="26823"/>
                      <a:pt x="49886" y="26146"/>
                      <a:pt x="47707" y="26071"/>
                    </a:cubicBezTo>
                    <a:cubicBezTo>
                      <a:pt x="45528" y="25771"/>
                      <a:pt x="43425" y="25545"/>
                      <a:pt x="41396" y="25696"/>
                    </a:cubicBezTo>
                    <a:cubicBezTo>
                      <a:pt x="40344" y="25696"/>
                      <a:pt x="39368" y="25771"/>
                      <a:pt x="38316" y="25771"/>
                    </a:cubicBezTo>
                    <a:cubicBezTo>
                      <a:pt x="37339" y="25921"/>
                      <a:pt x="36362" y="26071"/>
                      <a:pt x="35386" y="26222"/>
                    </a:cubicBezTo>
                    <a:cubicBezTo>
                      <a:pt x="33432" y="26372"/>
                      <a:pt x="31629" y="26898"/>
                      <a:pt x="29901" y="27348"/>
                    </a:cubicBezTo>
                    <a:cubicBezTo>
                      <a:pt x="29000" y="27574"/>
                      <a:pt x="28173" y="27649"/>
                      <a:pt x="27422" y="28250"/>
                    </a:cubicBezTo>
                    <a:cubicBezTo>
                      <a:pt x="26671" y="28776"/>
                      <a:pt x="25920" y="29152"/>
                      <a:pt x="24943" y="28926"/>
                    </a:cubicBezTo>
                    <a:cubicBezTo>
                      <a:pt x="22989" y="28551"/>
                      <a:pt x="21186" y="28551"/>
                      <a:pt x="19308" y="28325"/>
                    </a:cubicBezTo>
                    <a:cubicBezTo>
                      <a:pt x="15702" y="28175"/>
                      <a:pt x="12246" y="28175"/>
                      <a:pt x="9391" y="28400"/>
                    </a:cubicBezTo>
                    <a:cubicBezTo>
                      <a:pt x="6611" y="28701"/>
                      <a:pt x="4132" y="28851"/>
                      <a:pt x="2554" y="29152"/>
                    </a:cubicBezTo>
                    <a:cubicBezTo>
                      <a:pt x="902" y="29302"/>
                      <a:pt x="0" y="29527"/>
                      <a:pt x="0" y="295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74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4A676F6-7B43-4809-959A-028F833EF89E}"/>
                </a:ext>
              </a:extLst>
            </p:cNvPr>
            <p:cNvSpPr/>
            <p:nvPr/>
          </p:nvSpPr>
          <p:spPr>
            <a:xfrm>
              <a:off x="2209800" y="3192945"/>
              <a:ext cx="464388" cy="804547"/>
            </a:xfrm>
            <a:custGeom>
              <a:avLst/>
              <a:gdLst>
                <a:gd name="connsiteX0" fmla="*/ 375411 w 464388"/>
                <a:gd name="connsiteY0" fmla="*/ 0 h 804547"/>
                <a:gd name="connsiteX1" fmla="*/ 464388 w 464388"/>
                <a:gd name="connsiteY1" fmla="*/ 711060 h 804547"/>
                <a:gd name="connsiteX2" fmla="*/ 358999 w 464388"/>
                <a:gd name="connsiteY2" fmla="*/ 749632 h 804547"/>
                <a:gd name="connsiteX3" fmla="*/ 98716 w 464388"/>
                <a:gd name="connsiteY3" fmla="*/ 802716 h 804547"/>
                <a:gd name="connsiteX4" fmla="*/ 62461 w 464388"/>
                <a:gd name="connsiteY4" fmla="*/ 804547 h 804547"/>
                <a:gd name="connsiteX5" fmla="*/ 0 w 464388"/>
                <a:gd name="connsiteY5" fmla="*/ 304898 h 804547"/>
                <a:gd name="connsiteX6" fmla="*/ 375411 w 464388"/>
                <a:gd name="connsiteY6" fmla="*/ 0 h 80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4388" h="804547">
                  <a:moveTo>
                    <a:pt x="375411" y="0"/>
                  </a:moveTo>
                  <a:lnTo>
                    <a:pt x="464388" y="711060"/>
                  </a:lnTo>
                  <a:lnTo>
                    <a:pt x="358999" y="749632"/>
                  </a:lnTo>
                  <a:cubicBezTo>
                    <a:pt x="275460" y="775616"/>
                    <a:pt x="188401" y="793608"/>
                    <a:pt x="98716" y="802716"/>
                  </a:cubicBezTo>
                  <a:lnTo>
                    <a:pt x="62461" y="804547"/>
                  </a:lnTo>
                  <a:lnTo>
                    <a:pt x="0" y="304898"/>
                  </a:lnTo>
                  <a:cubicBezTo>
                    <a:pt x="0" y="304898"/>
                    <a:pt x="140940" y="72608"/>
                    <a:pt x="375411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749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ID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041546B-A3A5-4212-AC56-8128BEF218A2}"/>
                </a:ext>
              </a:extLst>
            </p:cNvPr>
            <p:cNvSpPr/>
            <p:nvPr/>
          </p:nvSpPr>
          <p:spPr>
            <a:xfrm>
              <a:off x="2585353" y="3181350"/>
              <a:ext cx="379322" cy="723080"/>
            </a:xfrm>
            <a:custGeom>
              <a:avLst/>
              <a:gdLst>
                <a:gd name="connsiteX0" fmla="*/ 147132 w 379322"/>
                <a:gd name="connsiteY0" fmla="*/ 53 h 723080"/>
                <a:gd name="connsiteX1" fmla="*/ 313482 w 379322"/>
                <a:gd name="connsiteY1" fmla="*/ 31996 h 723080"/>
                <a:gd name="connsiteX2" fmla="*/ 379322 w 379322"/>
                <a:gd name="connsiteY2" fmla="*/ 558437 h 723080"/>
                <a:gd name="connsiteX3" fmla="*/ 332589 w 379322"/>
                <a:gd name="connsiteY3" fmla="*/ 593384 h 723080"/>
                <a:gd name="connsiteX4" fmla="*/ 106002 w 379322"/>
                <a:gd name="connsiteY4" fmla="*/ 716371 h 723080"/>
                <a:gd name="connsiteX5" fmla="*/ 87673 w 379322"/>
                <a:gd name="connsiteY5" fmla="*/ 723080 h 723080"/>
                <a:gd name="connsiteX6" fmla="*/ 0 w 379322"/>
                <a:gd name="connsiteY6" fmla="*/ 21456 h 723080"/>
                <a:gd name="connsiteX7" fmla="*/ 147132 w 379322"/>
                <a:gd name="connsiteY7" fmla="*/ 53 h 72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9322" h="723080">
                  <a:moveTo>
                    <a:pt x="147132" y="53"/>
                  </a:moveTo>
                  <a:cubicBezTo>
                    <a:pt x="199486" y="843"/>
                    <a:pt x="255042" y="10525"/>
                    <a:pt x="313482" y="31996"/>
                  </a:cubicBezTo>
                  <a:lnTo>
                    <a:pt x="379322" y="558437"/>
                  </a:lnTo>
                  <a:lnTo>
                    <a:pt x="332589" y="593384"/>
                  </a:lnTo>
                  <a:cubicBezTo>
                    <a:pt x="261623" y="641327"/>
                    <a:pt x="185796" y="682621"/>
                    <a:pt x="106002" y="716371"/>
                  </a:cubicBezTo>
                  <a:lnTo>
                    <a:pt x="87673" y="723080"/>
                  </a:lnTo>
                  <a:lnTo>
                    <a:pt x="0" y="21456"/>
                  </a:lnTo>
                  <a:cubicBezTo>
                    <a:pt x="45628" y="7364"/>
                    <a:pt x="94778" y="-737"/>
                    <a:pt x="147132" y="53"/>
                  </a:cubicBezTo>
                  <a:close/>
                </a:path>
              </a:pathLst>
            </a:custGeom>
            <a:solidFill>
              <a:schemeClr val="accent2"/>
            </a:solidFill>
            <a:ln w="749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4066709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92844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FCC9CFD4-5BE9-410C-9C6B-91A422B8EA50}"/>
              </a:ext>
            </a:extLst>
          </p:cNvPr>
          <p:cNvSpPr txBox="1">
            <a:spLocks/>
          </p:cNvSpPr>
          <p:nvPr/>
        </p:nvSpPr>
        <p:spPr>
          <a:xfrm>
            <a:off x="929898" y="2685689"/>
            <a:ext cx="3849919" cy="1393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012" rtl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fa-IR" sz="5400" spc="-150" dirty="0">
                <a:solidFill>
                  <a:schemeClr val="accent1"/>
                </a:solidFill>
                <a:latin typeface="Calibri"/>
                <a:cs typeface="B Titr" panose="00000700000000000000" pitchFamily="2" charset="-78"/>
              </a:rPr>
              <a:t>روش و معماری</a:t>
            </a:r>
            <a:endParaRPr lang="fa-IR" sz="6000" spc="-150" dirty="0">
              <a:solidFill>
                <a:schemeClr val="accent1"/>
              </a:solidFill>
              <a:latin typeface="Calibri"/>
              <a:cs typeface="B Titr" panose="00000700000000000000" pitchFamily="2" charset="-78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6224C93B-67FB-454F-BD30-9AAE2FD8AA78}"/>
              </a:ext>
            </a:extLst>
          </p:cNvPr>
          <p:cNvSpPr/>
          <p:nvPr/>
        </p:nvSpPr>
        <p:spPr>
          <a:xfrm rot="18900000">
            <a:off x="6254318" y="1928888"/>
            <a:ext cx="1401330" cy="3120660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rgbClr val="2D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54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00272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0E5FEA6-A263-403B-8C15-667628562998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مراحل اجرای پژوهش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5FE2129-6600-4061-A01E-9B7A4650A4F1}"/>
              </a:ext>
            </a:extLst>
          </p:cNvPr>
          <p:cNvGrpSpPr/>
          <p:nvPr/>
        </p:nvGrpSpPr>
        <p:grpSpPr>
          <a:xfrm>
            <a:off x="520528" y="3163492"/>
            <a:ext cx="8530048" cy="355158"/>
            <a:chOff x="5458" y="3541416"/>
            <a:chExt cx="12186542" cy="453581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99081A0-0F81-47B2-84CA-8A283B0ED59D}"/>
                </a:ext>
              </a:extLst>
            </p:cNvPr>
            <p:cNvGrpSpPr/>
            <p:nvPr/>
          </p:nvGrpSpPr>
          <p:grpSpPr>
            <a:xfrm>
              <a:off x="5458" y="3541416"/>
              <a:ext cx="12186542" cy="453581"/>
              <a:chOff x="5458" y="3541416"/>
              <a:chExt cx="12186542" cy="453581"/>
            </a:xfrm>
          </p:grpSpPr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E15A4EA-F898-4310-A6A4-0BB21353A242}"/>
                  </a:ext>
                </a:extLst>
              </p:cNvPr>
              <p:cNvSpPr/>
              <p:nvPr/>
            </p:nvSpPr>
            <p:spPr>
              <a:xfrm>
                <a:off x="5458" y="3577751"/>
                <a:ext cx="12186542" cy="380910"/>
              </a:xfrm>
              <a:custGeom>
                <a:avLst/>
                <a:gdLst>
                  <a:gd name="connsiteX0" fmla="*/ 0 w 8694770"/>
                  <a:gd name="connsiteY0" fmla="*/ 0 h 881070"/>
                  <a:gd name="connsiteX1" fmla="*/ 8694770 w 8694770"/>
                  <a:gd name="connsiteY1" fmla="*/ 0 h 881070"/>
                  <a:gd name="connsiteX2" fmla="*/ 8694770 w 8694770"/>
                  <a:gd name="connsiteY2" fmla="*/ 881070 h 881070"/>
                  <a:gd name="connsiteX3" fmla="*/ 0 w 8694770"/>
                  <a:gd name="connsiteY3" fmla="*/ 881070 h 881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94770" h="881070">
                    <a:moveTo>
                      <a:pt x="0" y="0"/>
                    </a:moveTo>
                    <a:lnTo>
                      <a:pt x="8694770" y="0"/>
                    </a:lnTo>
                    <a:lnTo>
                      <a:pt x="8694770" y="881070"/>
                    </a:lnTo>
                    <a:lnTo>
                      <a:pt x="0" y="88107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000" dirty="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6DD86D5-6DCF-49CA-9331-B289E29F5221}"/>
                  </a:ext>
                </a:extLst>
              </p:cNvPr>
              <p:cNvSpPr/>
              <p:nvPr/>
            </p:nvSpPr>
            <p:spPr>
              <a:xfrm>
                <a:off x="5458" y="3541416"/>
                <a:ext cx="12186542" cy="17542"/>
              </a:xfrm>
              <a:custGeom>
                <a:avLst/>
                <a:gdLst>
                  <a:gd name="connsiteX0" fmla="*/ 0 w 8694770"/>
                  <a:gd name="connsiteY0" fmla="*/ 0 h 40575"/>
                  <a:gd name="connsiteX1" fmla="*/ 8694770 w 8694770"/>
                  <a:gd name="connsiteY1" fmla="*/ 0 h 40575"/>
                  <a:gd name="connsiteX2" fmla="*/ 8694770 w 8694770"/>
                  <a:gd name="connsiteY2" fmla="*/ 40576 h 40575"/>
                  <a:gd name="connsiteX3" fmla="*/ 0 w 8694770"/>
                  <a:gd name="connsiteY3" fmla="*/ 40576 h 4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94770" h="40575">
                    <a:moveTo>
                      <a:pt x="0" y="0"/>
                    </a:moveTo>
                    <a:lnTo>
                      <a:pt x="8694770" y="0"/>
                    </a:lnTo>
                    <a:lnTo>
                      <a:pt x="8694770" y="40576"/>
                    </a:lnTo>
                    <a:lnTo>
                      <a:pt x="0" y="40576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2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00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F09A97B-67BA-4778-BAA1-E45003D7E932}"/>
                  </a:ext>
                </a:extLst>
              </p:cNvPr>
              <p:cNvSpPr/>
              <p:nvPr/>
            </p:nvSpPr>
            <p:spPr>
              <a:xfrm>
                <a:off x="5458" y="3977455"/>
                <a:ext cx="12186542" cy="17542"/>
              </a:xfrm>
              <a:custGeom>
                <a:avLst/>
                <a:gdLst>
                  <a:gd name="connsiteX0" fmla="*/ 0 w 8694770"/>
                  <a:gd name="connsiteY0" fmla="*/ 0 h 40575"/>
                  <a:gd name="connsiteX1" fmla="*/ 8694770 w 8694770"/>
                  <a:gd name="connsiteY1" fmla="*/ 0 h 40575"/>
                  <a:gd name="connsiteX2" fmla="*/ 8694770 w 8694770"/>
                  <a:gd name="connsiteY2" fmla="*/ 40576 h 40575"/>
                  <a:gd name="connsiteX3" fmla="*/ 0 w 8694770"/>
                  <a:gd name="connsiteY3" fmla="*/ 40576 h 4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94770" h="40575">
                    <a:moveTo>
                      <a:pt x="0" y="0"/>
                    </a:moveTo>
                    <a:lnTo>
                      <a:pt x="8694770" y="0"/>
                    </a:lnTo>
                    <a:lnTo>
                      <a:pt x="8694770" y="40576"/>
                    </a:lnTo>
                    <a:lnTo>
                      <a:pt x="0" y="40576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2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000"/>
              </a:p>
            </p:txBody>
          </p:sp>
        </p:grp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D6C0AE9-C4AE-42AD-BE57-2C03C3548BE3}"/>
                </a:ext>
              </a:extLst>
            </p:cNvPr>
            <p:cNvSpPr/>
            <p:nvPr/>
          </p:nvSpPr>
          <p:spPr>
            <a:xfrm>
              <a:off x="253615" y="3764992"/>
              <a:ext cx="11312280" cy="6264"/>
            </a:xfrm>
            <a:custGeom>
              <a:avLst/>
              <a:gdLst>
                <a:gd name="connsiteX0" fmla="*/ 8071008 w 8071007"/>
                <a:gd name="connsiteY0" fmla="*/ 14491 h 14491"/>
                <a:gd name="connsiteX1" fmla="*/ 7772081 w 8071007"/>
                <a:gd name="connsiteY1" fmla="*/ 14491 h 14491"/>
                <a:gd name="connsiteX2" fmla="*/ 7772081 w 8071007"/>
                <a:gd name="connsiteY2" fmla="*/ 0 h 14491"/>
                <a:gd name="connsiteX3" fmla="*/ 8071008 w 8071007"/>
                <a:gd name="connsiteY3" fmla="*/ 0 h 14491"/>
                <a:gd name="connsiteX4" fmla="*/ 8071008 w 8071007"/>
                <a:gd name="connsiteY4" fmla="*/ 14491 h 14491"/>
                <a:gd name="connsiteX5" fmla="*/ 7473155 w 8071007"/>
                <a:gd name="connsiteY5" fmla="*/ 14491 h 14491"/>
                <a:gd name="connsiteX6" fmla="*/ 7174229 w 8071007"/>
                <a:gd name="connsiteY6" fmla="*/ 14491 h 14491"/>
                <a:gd name="connsiteX7" fmla="*/ 7174229 w 8071007"/>
                <a:gd name="connsiteY7" fmla="*/ 0 h 14491"/>
                <a:gd name="connsiteX8" fmla="*/ 7473155 w 8071007"/>
                <a:gd name="connsiteY8" fmla="*/ 0 h 14491"/>
                <a:gd name="connsiteX9" fmla="*/ 7473155 w 8071007"/>
                <a:gd name="connsiteY9" fmla="*/ 14491 h 14491"/>
                <a:gd name="connsiteX10" fmla="*/ 6875303 w 8071007"/>
                <a:gd name="connsiteY10" fmla="*/ 14491 h 14491"/>
                <a:gd name="connsiteX11" fmla="*/ 6576376 w 8071007"/>
                <a:gd name="connsiteY11" fmla="*/ 14491 h 14491"/>
                <a:gd name="connsiteX12" fmla="*/ 6576376 w 8071007"/>
                <a:gd name="connsiteY12" fmla="*/ 0 h 14491"/>
                <a:gd name="connsiteX13" fmla="*/ 6875303 w 8071007"/>
                <a:gd name="connsiteY13" fmla="*/ 0 h 14491"/>
                <a:gd name="connsiteX14" fmla="*/ 6875303 w 8071007"/>
                <a:gd name="connsiteY14" fmla="*/ 14491 h 14491"/>
                <a:gd name="connsiteX15" fmla="*/ 6277450 w 8071007"/>
                <a:gd name="connsiteY15" fmla="*/ 14491 h 14491"/>
                <a:gd name="connsiteX16" fmla="*/ 5978524 w 8071007"/>
                <a:gd name="connsiteY16" fmla="*/ 14491 h 14491"/>
                <a:gd name="connsiteX17" fmla="*/ 5978524 w 8071007"/>
                <a:gd name="connsiteY17" fmla="*/ 0 h 14491"/>
                <a:gd name="connsiteX18" fmla="*/ 6277450 w 8071007"/>
                <a:gd name="connsiteY18" fmla="*/ 0 h 14491"/>
                <a:gd name="connsiteX19" fmla="*/ 6277450 w 8071007"/>
                <a:gd name="connsiteY19" fmla="*/ 14491 h 14491"/>
                <a:gd name="connsiteX20" fmla="*/ 5679598 w 8071007"/>
                <a:gd name="connsiteY20" fmla="*/ 14491 h 14491"/>
                <a:gd name="connsiteX21" fmla="*/ 5380672 w 8071007"/>
                <a:gd name="connsiteY21" fmla="*/ 14491 h 14491"/>
                <a:gd name="connsiteX22" fmla="*/ 5380672 w 8071007"/>
                <a:gd name="connsiteY22" fmla="*/ 0 h 14491"/>
                <a:gd name="connsiteX23" fmla="*/ 5679598 w 8071007"/>
                <a:gd name="connsiteY23" fmla="*/ 0 h 14491"/>
                <a:gd name="connsiteX24" fmla="*/ 5679598 w 8071007"/>
                <a:gd name="connsiteY24" fmla="*/ 14491 h 14491"/>
                <a:gd name="connsiteX25" fmla="*/ 5081746 w 8071007"/>
                <a:gd name="connsiteY25" fmla="*/ 14491 h 14491"/>
                <a:gd name="connsiteX26" fmla="*/ 4782819 w 8071007"/>
                <a:gd name="connsiteY26" fmla="*/ 14491 h 14491"/>
                <a:gd name="connsiteX27" fmla="*/ 4782819 w 8071007"/>
                <a:gd name="connsiteY27" fmla="*/ 0 h 14491"/>
                <a:gd name="connsiteX28" fmla="*/ 5081746 w 8071007"/>
                <a:gd name="connsiteY28" fmla="*/ 0 h 14491"/>
                <a:gd name="connsiteX29" fmla="*/ 5081746 w 8071007"/>
                <a:gd name="connsiteY29" fmla="*/ 14491 h 14491"/>
                <a:gd name="connsiteX30" fmla="*/ 4483893 w 8071007"/>
                <a:gd name="connsiteY30" fmla="*/ 14491 h 14491"/>
                <a:gd name="connsiteX31" fmla="*/ 4184967 w 8071007"/>
                <a:gd name="connsiteY31" fmla="*/ 14491 h 14491"/>
                <a:gd name="connsiteX32" fmla="*/ 4184967 w 8071007"/>
                <a:gd name="connsiteY32" fmla="*/ 0 h 14491"/>
                <a:gd name="connsiteX33" fmla="*/ 4483893 w 8071007"/>
                <a:gd name="connsiteY33" fmla="*/ 0 h 14491"/>
                <a:gd name="connsiteX34" fmla="*/ 4483893 w 8071007"/>
                <a:gd name="connsiteY34" fmla="*/ 14491 h 14491"/>
                <a:gd name="connsiteX35" fmla="*/ 3886041 w 8071007"/>
                <a:gd name="connsiteY35" fmla="*/ 14491 h 14491"/>
                <a:gd name="connsiteX36" fmla="*/ 3587115 w 8071007"/>
                <a:gd name="connsiteY36" fmla="*/ 14491 h 14491"/>
                <a:gd name="connsiteX37" fmla="*/ 3587115 w 8071007"/>
                <a:gd name="connsiteY37" fmla="*/ 0 h 14491"/>
                <a:gd name="connsiteX38" fmla="*/ 3886041 w 8071007"/>
                <a:gd name="connsiteY38" fmla="*/ 0 h 14491"/>
                <a:gd name="connsiteX39" fmla="*/ 3886041 w 8071007"/>
                <a:gd name="connsiteY39" fmla="*/ 14491 h 14491"/>
                <a:gd name="connsiteX40" fmla="*/ 3288188 w 8071007"/>
                <a:gd name="connsiteY40" fmla="*/ 14491 h 14491"/>
                <a:gd name="connsiteX41" fmla="*/ 2989262 w 8071007"/>
                <a:gd name="connsiteY41" fmla="*/ 14491 h 14491"/>
                <a:gd name="connsiteX42" fmla="*/ 2989262 w 8071007"/>
                <a:gd name="connsiteY42" fmla="*/ 0 h 14491"/>
                <a:gd name="connsiteX43" fmla="*/ 3288188 w 8071007"/>
                <a:gd name="connsiteY43" fmla="*/ 0 h 14491"/>
                <a:gd name="connsiteX44" fmla="*/ 3288188 w 8071007"/>
                <a:gd name="connsiteY44" fmla="*/ 14491 h 14491"/>
                <a:gd name="connsiteX45" fmla="*/ 2690336 w 8071007"/>
                <a:gd name="connsiteY45" fmla="*/ 14491 h 14491"/>
                <a:gd name="connsiteX46" fmla="*/ 2391410 w 8071007"/>
                <a:gd name="connsiteY46" fmla="*/ 14491 h 14491"/>
                <a:gd name="connsiteX47" fmla="*/ 2391410 w 8071007"/>
                <a:gd name="connsiteY47" fmla="*/ 0 h 14491"/>
                <a:gd name="connsiteX48" fmla="*/ 2690336 w 8071007"/>
                <a:gd name="connsiteY48" fmla="*/ 0 h 14491"/>
                <a:gd name="connsiteX49" fmla="*/ 2690336 w 8071007"/>
                <a:gd name="connsiteY49" fmla="*/ 14491 h 14491"/>
                <a:gd name="connsiteX50" fmla="*/ 2092483 w 8071007"/>
                <a:gd name="connsiteY50" fmla="*/ 14491 h 14491"/>
                <a:gd name="connsiteX51" fmla="*/ 1793557 w 8071007"/>
                <a:gd name="connsiteY51" fmla="*/ 14491 h 14491"/>
                <a:gd name="connsiteX52" fmla="*/ 1793557 w 8071007"/>
                <a:gd name="connsiteY52" fmla="*/ 0 h 14491"/>
                <a:gd name="connsiteX53" fmla="*/ 2092483 w 8071007"/>
                <a:gd name="connsiteY53" fmla="*/ 0 h 14491"/>
                <a:gd name="connsiteX54" fmla="*/ 2092483 w 8071007"/>
                <a:gd name="connsiteY54" fmla="*/ 14491 h 14491"/>
                <a:gd name="connsiteX55" fmla="*/ 1494631 w 8071007"/>
                <a:gd name="connsiteY55" fmla="*/ 14491 h 14491"/>
                <a:gd name="connsiteX56" fmla="*/ 1195705 w 8071007"/>
                <a:gd name="connsiteY56" fmla="*/ 14491 h 14491"/>
                <a:gd name="connsiteX57" fmla="*/ 1195705 w 8071007"/>
                <a:gd name="connsiteY57" fmla="*/ 0 h 14491"/>
                <a:gd name="connsiteX58" fmla="*/ 1494631 w 8071007"/>
                <a:gd name="connsiteY58" fmla="*/ 0 h 14491"/>
                <a:gd name="connsiteX59" fmla="*/ 1494631 w 8071007"/>
                <a:gd name="connsiteY59" fmla="*/ 14491 h 14491"/>
                <a:gd name="connsiteX60" fmla="*/ 896779 w 8071007"/>
                <a:gd name="connsiteY60" fmla="*/ 14491 h 14491"/>
                <a:gd name="connsiteX61" fmla="*/ 597852 w 8071007"/>
                <a:gd name="connsiteY61" fmla="*/ 14491 h 14491"/>
                <a:gd name="connsiteX62" fmla="*/ 597852 w 8071007"/>
                <a:gd name="connsiteY62" fmla="*/ 0 h 14491"/>
                <a:gd name="connsiteX63" fmla="*/ 896779 w 8071007"/>
                <a:gd name="connsiteY63" fmla="*/ 0 h 14491"/>
                <a:gd name="connsiteX64" fmla="*/ 896779 w 8071007"/>
                <a:gd name="connsiteY64" fmla="*/ 14491 h 14491"/>
                <a:gd name="connsiteX65" fmla="*/ 298926 w 8071007"/>
                <a:gd name="connsiteY65" fmla="*/ 14491 h 14491"/>
                <a:gd name="connsiteX66" fmla="*/ 0 w 8071007"/>
                <a:gd name="connsiteY66" fmla="*/ 14491 h 14491"/>
                <a:gd name="connsiteX67" fmla="*/ 0 w 8071007"/>
                <a:gd name="connsiteY67" fmla="*/ 0 h 14491"/>
                <a:gd name="connsiteX68" fmla="*/ 298926 w 8071007"/>
                <a:gd name="connsiteY68" fmla="*/ 0 h 14491"/>
                <a:gd name="connsiteX69" fmla="*/ 298926 w 8071007"/>
                <a:gd name="connsiteY69" fmla="*/ 14491 h 1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8071007" h="14491">
                  <a:moveTo>
                    <a:pt x="8071008" y="14491"/>
                  </a:moveTo>
                  <a:lnTo>
                    <a:pt x="7772081" y="14491"/>
                  </a:lnTo>
                  <a:lnTo>
                    <a:pt x="7772081" y="0"/>
                  </a:lnTo>
                  <a:lnTo>
                    <a:pt x="8071008" y="0"/>
                  </a:lnTo>
                  <a:lnTo>
                    <a:pt x="8071008" y="14491"/>
                  </a:lnTo>
                  <a:close/>
                  <a:moveTo>
                    <a:pt x="7473155" y="14491"/>
                  </a:moveTo>
                  <a:lnTo>
                    <a:pt x="7174229" y="14491"/>
                  </a:lnTo>
                  <a:lnTo>
                    <a:pt x="7174229" y="0"/>
                  </a:lnTo>
                  <a:lnTo>
                    <a:pt x="7473155" y="0"/>
                  </a:lnTo>
                  <a:lnTo>
                    <a:pt x="7473155" y="14491"/>
                  </a:lnTo>
                  <a:close/>
                  <a:moveTo>
                    <a:pt x="6875303" y="14491"/>
                  </a:moveTo>
                  <a:lnTo>
                    <a:pt x="6576376" y="14491"/>
                  </a:lnTo>
                  <a:lnTo>
                    <a:pt x="6576376" y="0"/>
                  </a:lnTo>
                  <a:lnTo>
                    <a:pt x="6875303" y="0"/>
                  </a:lnTo>
                  <a:lnTo>
                    <a:pt x="6875303" y="14491"/>
                  </a:lnTo>
                  <a:close/>
                  <a:moveTo>
                    <a:pt x="6277450" y="14491"/>
                  </a:moveTo>
                  <a:lnTo>
                    <a:pt x="5978524" y="14491"/>
                  </a:lnTo>
                  <a:lnTo>
                    <a:pt x="5978524" y="0"/>
                  </a:lnTo>
                  <a:lnTo>
                    <a:pt x="6277450" y="0"/>
                  </a:lnTo>
                  <a:lnTo>
                    <a:pt x="6277450" y="14491"/>
                  </a:lnTo>
                  <a:close/>
                  <a:moveTo>
                    <a:pt x="5679598" y="14491"/>
                  </a:moveTo>
                  <a:lnTo>
                    <a:pt x="5380672" y="14491"/>
                  </a:lnTo>
                  <a:lnTo>
                    <a:pt x="5380672" y="0"/>
                  </a:lnTo>
                  <a:lnTo>
                    <a:pt x="5679598" y="0"/>
                  </a:lnTo>
                  <a:lnTo>
                    <a:pt x="5679598" y="14491"/>
                  </a:lnTo>
                  <a:close/>
                  <a:moveTo>
                    <a:pt x="5081746" y="14491"/>
                  </a:moveTo>
                  <a:lnTo>
                    <a:pt x="4782819" y="14491"/>
                  </a:lnTo>
                  <a:lnTo>
                    <a:pt x="4782819" y="0"/>
                  </a:lnTo>
                  <a:lnTo>
                    <a:pt x="5081746" y="0"/>
                  </a:lnTo>
                  <a:lnTo>
                    <a:pt x="5081746" y="14491"/>
                  </a:lnTo>
                  <a:close/>
                  <a:moveTo>
                    <a:pt x="4483893" y="14491"/>
                  </a:moveTo>
                  <a:lnTo>
                    <a:pt x="4184967" y="14491"/>
                  </a:lnTo>
                  <a:lnTo>
                    <a:pt x="4184967" y="0"/>
                  </a:lnTo>
                  <a:lnTo>
                    <a:pt x="4483893" y="0"/>
                  </a:lnTo>
                  <a:lnTo>
                    <a:pt x="4483893" y="14491"/>
                  </a:lnTo>
                  <a:close/>
                  <a:moveTo>
                    <a:pt x="3886041" y="14491"/>
                  </a:moveTo>
                  <a:lnTo>
                    <a:pt x="3587115" y="14491"/>
                  </a:lnTo>
                  <a:lnTo>
                    <a:pt x="3587115" y="0"/>
                  </a:lnTo>
                  <a:lnTo>
                    <a:pt x="3886041" y="0"/>
                  </a:lnTo>
                  <a:lnTo>
                    <a:pt x="3886041" y="14491"/>
                  </a:lnTo>
                  <a:close/>
                  <a:moveTo>
                    <a:pt x="3288188" y="14491"/>
                  </a:moveTo>
                  <a:lnTo>
                    <a:pt x="2989262" y="14491"/>
                  </a:lnTo>
                  <a:lnTo>
                    <a:pt x="2989262" y="0"/>
                  </a:lnTo>
                  <a:lnTo>
                    <a:pt x="3288188" y="0"/>
                  </a:lnTo>
                  <a:lnTo>
                    <a:pt x="3288188" y="14491"/>
                  </a:lnTo>
                  <a:close/>
                  <a:moveTo>
                    <a:pt x="2690336" y="14491"/>
                  </a:moveTo>
                  <a:lnTo>
                    <a:pt x="2391410" y="14491"/>
                  </a:lnTo>
                  <a:lnTo>
                    <a:pt x="2391410" y="0"/>
                  </a:lnTo>
                  <a:lnTo>
                    <a:pt x="2690336" y="0"/>
                  </a:lnTo>
                  <a:lnTo>
                    <a:pt x="2690336" y="14491"/>
                  </a:lnTo>
                  <a:close/>
                  <a:moveTo>
                    <a:pt x="2092483" y="14491"/>
                  </a:moveTo>
                  <a:lnTo>
                    <a:pt x="1793557" y="14491"/>
                  </a:lnTo>
                  <a:lnTo>
                    <a:pt x="1793557" y="0"/>
                  </a:lnTo>
                  <a:lnTo>
                    <a:pt x="2092483" y="0"/>
                  </a:lnTo>
                  <a:lnTo>
                    <a:pt x="2092483" y="14491"/>
                  </a:lnTo>
                  <a:close/>
                  <a:moveTo>
                    <a:pt x="1494631" y="14491"/>
                  </a:moveTo>
                  <a:lnTo>
                    <a:pt x="1195705" y="14491"/>
                  </a:lnTo>
                  <a:lnTo>
                    <a:pt x="1195705" y="0"/>
                  </a:lnTo>
                  <a:lnTo>
                    <a:pt x="1494631" y="0"/>
                  </a:lnTo>
                  <a:lnTo>
                    <a:pt x="1494631" y="14491"/>
                  </a:lnTo>
                  <a:close/>
                  <a:moveTo>
                    <a:pt x="896779" y="14491"/>
                  </a:moveTo>
                  <a:lnTo>
                    <a:pt x="597852" y="14491"/>
                  </a:lnTo>
                  <a:lnTo>
                    <a:pt x="597852" y="0"/>
                  </a:lnTo>
                  <a:lnTo>
                    <a:pt x="896779" y="0"/>
                  </a:lnTo>
                  <a:lnTo>
                    <a:pt x="896779" y="14491"/>
                  </a:lnTo>
                  <a:close/>
                  <a:moveTo>
                    <a:pt x="298926" y="14491"/>
                  </a:moveTo>
                  <a:lnTo>
                    <a:pt x="0" y="14491"/>
                  </a:lnTo>
                  <a:lnTo>
                    <a:pt x="0" y="0"/>
                  </a:lnTo>
                  <a:lnTo>
                    <a:pt x="298926" y="0"/>
                  </a:lnTo>
                  <a:lnTo>
                    <a:pt x="298926" y="1449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D0FBBA9-F772-4D94-99C5-629C1D113F91}"/>
              </a:ext>
            </a:extLst>
          </p:cNvPr>
          <p:cNvGrpSpPr/>
          <p:nvPr/>
        </p:nvGrpSpPr>
        <p:grpSpPr>
          <a:xfrm>
            <a:off x="3263728" y="2101925"/>
            <a:ext cx="685800" cy="1263765"/>
            <a:chOff x="4240697" y="1166328"/>
            <a:chExt cx="1496756" cy="2694671"/>
          </a:xfrm>
          <a:solidFill>
            <a:srgbClr val="AAE5DF"/>
          </a:solidFill>
        </p:grpSpPr>
        <p:sp>
          <p:nvSpPr>
            <p:cNvPr id="159" name="Flowchart: Connector 158">
              <a:extLst>
                <a:ext uri="{FF2B5EF4-FFF2-40B4-BE49-F238E27FC236}">
                  <a16:creationId xmlns:a16="http://schemas.microsoft.com/office/drawing/2014/main" id="{276F9995-0C62-4360-9247-13B0032A9FC6}"/>
                </a:ext>
              </a:extLst>
            </p:cNvPr>
            <p:cNvSpPr/>
            <p:nvPr/>
          </p:nvSpPr>
          <p:spPr bwMode="auto">
            <a:xfrm>
              <a:off x="4240697" y="1166328"/>
              <a:ext cx="1496756" cy="1496748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60" name="Flowchart: Connector 159">
              <a:extLst>
                <a:ext uri="{FF2B5EF4-FFF2-40B4-BE49-F238E27FC236}">
                  <a16:creationId xmlns:a16="http://schemas.microsoft.com/office/drawing/2014/main" id="{1DA39D88-76C9-4EB5-9FDF-72ECC7F9D007}"/>
                </a:ext>
              </a:extLst>
            </p:cNvPr>
            <p:cNvSpPr/>
            <p:nvPr/>
          </p:nvSpPr>
          <p:spPr>
            <a:xfrm>
              <a:off x="4896007" y="2577233"/>
              <a:ext cx="186136" cy="186291"/>
            </a:xfrm>
            <a:prstGeom prst="flowChartConnector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F6B7B2D-C6BF-4CE0-887E-5CD66CAD7BF1}"/>
                </a:ext>
              </a:extLst>
            </p:cNvPr>
            <p:cNvSpPr/>
            <p:nvPr/>
          </p:nvSpPr>
          <p:spPr bwMode="auto">
            <a:xfrm>
              <a:off x="4904201" y="3691837"/>
              <a:ext cx="169750" cy="169162"/>
            </a:xfrm>
            <a:custGeom>
              <a:avLst/>
              <a:gdLst>
                <a:gd name="connsiteX0" fmla="*/ 63810 w 127620"/>
                <a:gd name="connsiteY0" fmla="*/ 0 h 127182"/>
                <a:gd name="connsiteX1" fmla="*/ 127620 w 127620"/>
                <a:gd name="connsiteY1" fmla="*/ 63591 h 127182"/>
                <a:gd name="connsiteX2" fmla="*/ 63810 w 127620"/>
                <a:gd name="connsiteY2" fmla="*/ 127182 h 127182"/>
                <a:gd name="connsiteX3" fmla="*/ 0 w 127620"/>
                <a:gd name="connsiteY3" fmla="*/ 63591 h 127182"/>
                <a:gd name="connsiteX4" fmla="*/ 63810 w 127620"/>
                <a:gd name="connsiteY4" fmla="*/ 0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620" h="127182">
                  <a:moveTo>
                    <a:pt x="63810" y="0"/>
                  </a:moveTo>
                  <a:cubicBezTo>
                    <a:pt x="99051" y="0"/>
                    <a:pt x="127620" y="28471"/>
                    <a:pt x="127620" y="63591"/>
                  </a:cubicBezTo>
                  <a:cubicBezTo>
                    <a:pt x="127620" y="98711"/>
                    <a:pt x="99051" y="127182"/>
                    <a:pt x="63810" y="127182"/>
                  </a:cubicBezTo>
                  <a:cubicBezTo>
                    <a:pt x="28569" y="127182"/>
                    <a:pt x="0" y="98711"/>
                    <a:pt x="0" y="63591"/>
                  </a:cubicBezTo>
                  <a:cubicBezTo>
                    <a:pt x="0" y="28471"/>
                    <a:pt x="28569" y="0"/>
                    <a:pt x="63810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dirty="0">
                <a:cs typeface="B Titr" panose="00000700000000000000" pitchFamily="2" charset="-78"/>
              </a:endParaRP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AC559A9-30DA-49D8-BAA4-98B486CDDB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9075" y="2672649"/>
              <a:ext cx="1" cy="1108578"/>
            </a:xfrm>
            <a:prstGeom prst="line">
              <a:avLst/>
            </a:prstGeom>
            <a:grpFill/>
            <a:ln w="28575">
              <a:solidFill>
                <a:schemeClr val="accent1">
                  <a:lumMod val="7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Flowchart: Connector 162">
              <a:extLst>
                <a:ext uri="{FF2B5EF4-FFF2-40B4-BE49-F238E27FC236}">
                  <a16:creationId xmlns:a16="http://schemas.microsoft.com/office/drawing/2014/main" id="{C32C58C0-A5B7-4AD1-B51A-8C2A2C7A9536}"/>
                </a:ext>
              </a:extLst>
            </p:cNvPr>
            <p:cNvSpPr/>
            <p:nvPr/>
          </p:nvSpPr>
          <p:spPr bwMode="auto">
            <a:xfrm>
              <a:off x="4324927" y="1250557"/>
              <a:ext cx="1328296" cy="132829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000" dirty="0">
                  <a:cs typeface="B Titr" panose="00000700000000000000" pitchFamily="2" charset="-78"/>
                </a:rPr>
                <a:t>5</a:t>
              </a:r>
              <a:endParaRPr lang="en-IN" sz="2000" dirty="0">
                <a:cs typeface="B Titr" panose="00000700000000000000" pitchFamily="2" charset="-78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B53E1F7-80E8-4F13-A459-EFD8532C7A9F}"/>
              </a:ext>
            </a:extLst>
          </p:cNvPr>
          <p:cNvGrpSpPr/>
          <p:nvPr/>
        </p:nvGrpSpPr>
        <p:grpSpPr>
          <a:xfrm>
            <a:off x="5544832" y="2101925"/>
            <a:ext cx="685800" cy="1263765"/>
            <a:chOff x="6694875" y="1166328"/>
            <a:chExt cx="1496756" cy="2694671"/>
          </a:xfrm>
        </p:grpSpPr>
        <p:sp>
          <p:nvSpPr>
            <p:cNvPr id="165" name="Flowchart: Connector 164">
              <a:extLst>
                <a:ext uri="{FF2B5EF4-FFF2-40B4-BE49-F238E27FC236}">
                  <a16:creationId xmlns:a16="http://schemas.microsoft.com/office/drawing/2014/main" id="{F689E4E7-02B8-438D-9844-4466BDBD1C0D}"/>
                </a:ext>
              </a:extLst>
            </p:cNvPr>
            <p:cNvSpPr/>
            <p:nvPr/>
          </p:nvSpPr>
          <p:spPr bwMode="auto">
            <a:xfrm>
              <a:off x="6694875" y="1166328"/>
              <a:ext cx="1496756" cy="1496748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66" name="Flowchart: Connector 165">
              <a:extLst>
                <a:ext uri="{FF2B5EF4-FFF2-40B4-BE49-F238E27FC236}">
                  <a16:creationId xmlns:a16="http://schemas.microsoft.com/office/drawing/2014/main" id="{2647E3BF-10FA-4F72-BCA1-7FA38900E811}"/>
                </a:ext>
              </a:extLst>
            </p:cNvPr>
            <p:cNvSpPr/>
            <p:nvPr/>
          </p:nvSpPr>
          <p:spPr>
            <a:xfrm>
              <a:off x="7350185" y="2577233"/>
              <a:ext cx="186136" cy="186291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DF32435-6467-4C7D-B44B-8B82ACAEA202}"/>
                </a:ext>
              </a:extLst>
            </p:cNvPr>
            <p:cNvSpPr/>
            <p:nvPr/>
          </p:nvSpPr>
          <p:spPr bwMode="auto">
            <a:xfrm>
              <a:off x="7358379" y="3691837"/>
              <a:ext cx="169750" cy="169162"/>
            </a:xfrm>
            <a:custGeom>
              <a:avLst/>
              <a:gdLst>
                <a:gd name="connsiteX0" fmla="*/ 63810 w 127620"/>
                <a:gd name="connsiteY0" fmla="*/ 0 h 127182"/>
                <a:gd name="connsiteX1" fmla="*/ 127620 w 127620"/>
                <a:gd name="connsiteY1" fmla="*/ 63591 h 127182"/>
                <a:gd name="connsiteX2" fmla="*/ 63810 w 127620"/>
                <a:gd name="connsiteY2" fmla="*/ 127182 h 127182"/>
                <a:gd name="connsiteX3" fmla="*/ 0 w 127620"/>
                <a:gd name="connsiteY3" fmla="*/ 63591 h 127182"/>
                <a:gd name="connsiteX4" fmla="*/ 63810 w 127620"/>
                <a:gd name="connsiteY4" fmla="*/ 0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620" h="127182">
                  <a:moveTo>
                    <a:pt x="63810" y="0"/>
                  </a:moveTo>
                  <a:cubicBezTo>
                    <a:pt x="99051" y="0"/>
                    <a:pt x="127620" y="28471"/>
                    <a:pt x="127620" y="63591"/>
                  </a:cubicBezTo>
                  <a:cubicBezTo>
                    <a:pt x="127620" y="98711"/>
                    <a:pt x="99051" y="127182"/>
                    <a:pt x="63810" y="127182"/>
                  </a:cubicBezTo>
                  <a:cubicBezTo>
                    <a:pt x="28569" y="127182"/>
                    <a:pt x="0" y="98711"/>
                    <a:pt x="0" y="63591"/>
                  </a:cubicBezTo>
                  <a:cubicBezTo>
                    <a:pt x="0" y="28471"/>
                    <a:pt x="28569" y="0"/>
                    <a:pt x="63810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dirty="0">
                <a:cs typeface="B Titr" panose="00000700000000000000" pitchFamily="2" charset="-78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61B9002-2AA9-42E0-BB01-8C87DEC86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3254" y="2672649"/>
              <a:ext cx="1" cy="1108578"/>
            </a:xfrm>
            <a:prstGeom prst="line">
              <a:avLst/>
            </a:prstGeom>
            <a:ln w="28575">
              <a:solidFill>
                <a:schemeClr val="accent3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Flowchart: Connector 168">
              <a:extLst>
                <a:ext uri="{FF2B5EF4-FFF2-40B4-BE49-F238E27FC236}">
                  <a16:creationId xmlns:a16="http://schemas.microsoft.com/office/drawing/2014/main" id="{D8303B58-716F-43A5-9931-D21653C170D0}"/>
                </a:ext>
              </a:extLst>
            </p:cNvPr>
            <p:cNvSpPr/>
            <p:nvPr/>
          </p:nvSpPr>
          <p:spPr bwMode="auto">
            <a:xfrm>
              <a:off x="6779104" y="1250556"/>
              <a:ext cx="1328296" cy="1328289"/>
            </a:xfrm>
            <a:prstGeom prst="flowChartConnector">
              <a:avLst/>
            </a:prstGeom>
            <a:solidFill>
              <a:schemeClr val="accent3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000" dirty="0">
                  <a:solidFill>
                    <a:schemeClr val="bg1"/>
                  </a:solidFill>
                  <a:cs typeface="B Titr" panose="00000700000000000000" pitchFamily="2" charset="-78"/>
                </a:rPr>
                <a:t>3</a:t>
              </a:r>
              <a:endParaRPr lang="en-IN" sz="2000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736F925-3979-41FF-BDC4-CBF12B038766}"/>
              </a:ext>
            </a:extLst>
          </p:cNvPr>
          <p:cNvGrpSpPr/>
          <p:nvPr/>
        </p:nvGrpSpPr>
        <p:grpSpPr>
          <a:xfrm>
            <a:off x="7678432" y="2101925"/>
            <a:ext cx="685800" cy="1263765"/>
            <a:chOff x="9149052" y="1166328"/>
            <a:chExt cx="1496756" cy="2694671"/>
          </a:xfrm>
        </p:grpSpPr>
        <p:sp>
          <p:nvSpPr>
            <p:cNvPr id="171" name="Flowchart: Connector 170">
              <a:extLst>
                <a:ext uri="{FF2B5EF4-FFF2-40B4-BE49-F238E27FC236}">
                  <a16:creationId xmlns:a16="http://schemas.microsoft.com/office/drawing/2014/main" id="{0D305076-1C30-4A9E-B67C-DDE5C920BDFF}"/>
                </a:ext>
              </a:extLst>
            </p:cNvPr>
            <p:cNvSpPr/>
            <p:nvPr/>
          </p:nvSpPr>
          <p:spPr bwMode="auto">
            <a:xfrm>
              <a:off x="9149052" y="1166328"/>
              <a:ext cx="1496756" cy="1496748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72" name="Flowchart: Connector 171">
              <a:extLst>
                <a:ext uri="{FF2B5EF4-FFF2-40B4-BE49-F238E27FC236}">
                  <a16:creationId xmlns:a16="http://schemas.microsoft.com/office/drawing/2014/main" id="{63933C72-79A8-4AE3-9CFE-C422B1E88570}"/>
                </a:ext>
              </a:extLst>
            </p:cNvPr>
            <p:cNvSpPr/>
            <p:nvPr/>
          </p:nvSpPr>
          <p:spPr>
            <a:xfrm>
              <a:off x="9804362" y="2577233"/>
              <a:ext cx="186136" cy="186291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DD43FB5-3DD1-4AF3-986D-881A1D7A2E3D}"/>
                </a:ext>
              </a:extLst>
            </p:cNvPr>
            <p:cNvSpPr/>
            <p:nvPr/>
          </p:nvSpPr>
          <p:spPr bwMode="auto">
            <a:xfrm>
              <a:off x="9812555" y="3691837"/>
              <a:ext cx="169750" cy="169162"/>
            </a:xfrm>
            <a:custGeom>
              <a:avLst/>
              <a:gdLst>
                <a:gd name="connsiteX0" fmla="*/ 63810 w 127620"/>
                <a:gd name="connsiteY0" fmla="*/ 0 h 127182"/>
                <a:gd name="connsiteX1" fmla="*/ 127620 w 127620"/>
                <a:gd name="connsiteY1" fmla="*/ 63591 h 127182"/>
                <a:gd name="connsiteX2" fmla="*/ 63810 w 127620"/>
                <a:gd name="connsiteY2" fmla="*/ 127182 h 127182"/>
                <a:gd name="connsiteX3" fmla="*/ 0 w 127620"/>
                <a:gd name="connsiteY3" fmla="*/ 63591 h 127182"/>
                <a:gd name="connsiteX4" fmla="*/ 63810 w 127620"/>
                <a:gd name="connsiteY4" fmla="*/ 0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620" h="127182">
                  <a:moveTo>
                    <a:pt x="63810" y="0"/>
                  </a:moveTo>
                  <a:cubicBezTo>
                    <a:pt x="99051" y="0"/>
                    <a:pt x="127620" y="28471"/>
                    <a:pt x="127620" y="63591"/>
                  </a:cubicBezTo>
                  <a:cubicBezTo>
                    <a:pt x="127620" y="98711"/>
                    <a:pt x="99051" y="127182"/>
                    <a:pt x="63810" y="127182"/>
                  </a:cubicBezTo>
                  <a:cubicBezTo>
                    <a:pt x="28569" y="127182"/>
                    <a:pt x="0" y="98711"/>
                    <a:pt x="0" y="63591"/>
                  </a:cubicBezTo>
                  <a:cubicBezTo>
                    <a:pt x="0" y="28471"/>
                    <a:pt x="28569" y="0"/>
                    <a:pt x="6381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dirty="0">
                <a:cs typeface="B Titr" panose="00000700000000000000" pitchFamily="2" charset="-78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CB56AAE-6544-4701-85C7-D49B1E7E6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7430" y="2672649"/>
              <a:ext cx="1" cy="1108578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Flowchart: Connector 174">
              <a:extLst>
                <a:ext uri="{FF2B5EF4-FFF2-40B4-BE49-F238E27FC236}">
                  <a16:creationId xmlns:a16="http://schemas.microsoft.com/office/drawing/2014/main" id="{461A83AD-D419-485E-8E92-DA892AFF08EF}"/>
                </a:ext>
              </a:extLst>
            </p:cNvPr>
            <p:cNvSpPr/>
            <p:nvPr/>
          </p:nvSpPr>
          <p:spPr bwMode="auto">
            <a:xfrm>
              <a:off x="9233282" y="1250557"/>
              <a:ext cx="1328296" cy="1328290"/>
            </a:xfrm>
            <a:prstGeom prst="flowChart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000" dirty="0">
                  <a:cs typeface="B Titr" panose="00000700000000000000" pitchFamily="2" charset="-78"/>
                </a:rPr>
                <a:t>1</a:t>
              </a:r>
              <a:endParaRPr lang="en-IN" sz="2000" dirty="0">
                <a:cs typeface="B Titr" panose="00000700000000000000" pitchFamily="2" charset="-78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5675676-596E-4F71-853B-2B74313D4911}"/>
              </a:ext>
            </a:extLst>
          </p:cNvPr>
          <p:cNvGrpSpPr/>
          <p:nvPr/>
        </p:nvGrpSpPr>
        <p:grpSpPr>
          <a:xfrm>
            <a:off x="1968328" y="3321125"/>
            <a:ext cx="685800" cy="1263765"/>
            <a:chOff x="3013608" y="3702333"/>
            <a:chExt cx="1496756" cy="2694671"/>
          </a:xfrm>
        </p:grpSpPr>
        <p:sp>
          <p:nvSpPr>
            <p:cNvPr id="177" name="Flowchart: Connector 176">
              <a:extLst>
                <a:ext uri="{FF2B5EF4-FFF2-40B4-BE49-F238E27FC236}">
                  <a16:creationId xmlns:a16="http://schemas.microsoft.com/office/drawing/2014/main" id="{A90E90F2-969B-488E-A03B-D2FAEC292F7D}"/>
                </a:ext>
              </a:extLst>
            </p:cNvPr>
            <p:cNvSpPr/>
            <p:nvPr/>
          </p:nvSpPr>
          <p:spPr bwMode="auto">
            <a:xfrm>
              <a:off x="3013608" y="4900256"/>
              <a:ext cx="1496756" cy="1496748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78" name="Flowchart: Connector 177">
              <a:extLst>
                <a:ext uri="{FF2B5EF4-FFF2-40B4-BE49-F238E27FC236}">
                  <a16:creationId xmlns:a16="http://schemas.microsoft.com/office/drawing/2014/main" id="{BA8367DF-0992-4994-AC32-17FF578AD354}"/>
                </a:ext>
              </a:extLst>
            </p:cNvPr>
            <p:cNvSpPr/>
            <p:nvPr/>
          </p:nvSpPr>
          <p:spPr>
            <a:xfrm>
              <a:off x="3668918" y="4799809"/>
              <a:ext cx="186136" cy="186291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E53FA0D6-2E2F-4A0D-8D04-68F0278A060C}"/>
                </a:ext>
              </a:extLst>
            </p:cNvPr>
            <p:cNvSpPr/>
            <p:nvPr/>
          </p:nvSpPr>
          <p:spPr bwMode="auto">
            <a:xfrm>
              <a:off x="3677111" y="3702333"/>
              <a:ext cx="169750" cy="169162"/>
            </a:xfrm>
            <a:custGeom>
              <a:avLst/>
              <a:gdLst>
                <a:gd name="connsiteX0" fmla="*/ 63810 w 127620"/>
                <a:gd name="connsiteY0" fmla="*/ 0 h 127182"/>
                <a:gd name="connsiteX1" fmla="*/ 127620 w 127620"/>
                <a:gd name="connsiteY1" fmla="*/ 63591 h 127182"/>
                <a:gd name="connsiteX2" fmla="*/ 63810 w 127620"/>
                <a:gd name="connsiteY2" fmla="*/ 127182 h 127182"/>
                <a:gd name="connsiteX3" fmla="*/ 0 w 127620"/>
                <a:gd name="connsiteY3" fmla="*/ 63591 h 127182"/>
                <a:gd name="connsiteX4" fmla="*/ 63810 w 127620"/>
                <a:gd name="connsiteY4" fmla="*/ 0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620" h="127182">
                  <a:moveTo>
                    <a:pt x="63810" y="0"/>
                  </a:moveTo>
                  <a:cubicBezTo>
                    <a:pt x="99051" y="0"/>
                    <a:pt x="127620" y="28471"/>
                    <a:pt x="127620" y="63591"/>
                  </a:cubicBezTo>
                  <a:cubicBezTo>
                    <a:pt x="127620" y="98711"/>
                    <a:pt x="99051" y="127182"/>
                    <a:pt x="63810" y="127182"/>
                  </a:cubicBezTo>
                  <a:cubicBezTo>
                    <a:pt x="28569" y="127182"/>
                    <a:pt x="0" y="98711"/>
                    <a:pt x="0" y="63591"/>
                  </a:cubicBezTo>
                  <a:cubicBezTo>
                    <a:pt x="0" y="28471"/>
                    <a:pt x="28569" y="0"/>
                    <a:pt x="6381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dirty="0">
                <a:cs typeface="B Titr" panose="00000700000000000000" pitchFamily="2" charset="-78"/>
              </a:endParaRPr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C244BCC-752C-4083-9C4F-A628B6D838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986" y="3782106"/>
              <a:ext cx="1" cy="1108578"/>
            </a:xfrm>
            <a:prstGeom prst="line">
              <a:avLst/>
            </a:prstGeom>
            <a:ln w="28575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Flowchart: Connector 180">
              <a:extLst>
                <a:ext uri="{FF2B5EF4-FFF2-40B4-BE49-F238E27FC236}">
                  <a16:creationId xmlns:a16="http://schemas.microsoft.com/office/drawing/2014/main" id="{401FEC3A-104D-4789-ACC9-9379A6B71F89}"/>
                </a:ext>
              </a:extLst>
            </p:cNvPr>
            <p:cNvSpPr/>
            <p:nvPr/>
          </p:nvSpPr>
          <p:spPr bwMode="auto">
            <a:xfrm>
              <a:off x="3097838" y="4984486"/>
              <a:ext cx="1328296" cy="132829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000" dirty="0">
                  <a:solidFill>
                    <a:schemeClr val="bg1"/>
                  </a:solidFill>
                  <a:cs typeface="B Titr" panose="00000700000000000000" pitchFamily="2" charset="-78"/>
                </a:rPr>
                <a:t>6</a:t>
              </a:r>
              <a:endParaRPr lang="en-IN" sz="2000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0A39139-4E4D-45BE-B7CB-6A28634333E2}"/>
              </a:ext>
            </a:extLst>
          </p:cNvPr>
          <p:cNvGrpSpPr/>
          <p:nvPr/>
        </p:nvGrpSpPr>
        <p:grpSpPr>
          <a:xfrm>
            <a:off x="4330528" y="3321125"/>
            <a:ext cx="685800" cy="1263765"/>
            <a:chOff x="5467786" y="3702333"/>
            <a:chExt cx="1496756" cy="2694671"/>
          </a:xfrm>
        </p:grpSpPr>
        <p:sp>
          <p:nvSpPr>
            <p:cNvPr id="183" name="Flowchart: Connector 182">
              <a:extLst>
                <a:ext uri="{FF2B5EF4-FFF2-40B4-BE49-F238E27FC236}">
                  <a16:creationId xmlns:a16="http://schemas.microsoft.com/office/drawing/2014/main" id="{B803D478-AF05-4B49-82E1-CA289F061C74}"/>
                </a:ext>
              </a:extLst>
            </p:cNvPr>
            <p:cNvSpPr/>
            <p:nvPr/>
          </p:nvSpPr>
          <p:spPr bwMode="auto">
            <a:xfrm>
              <a:off x="5467786" y="4900256"/>
              <a:ext cx="1496756" cy="1496748"/>
            </a:xfrm>
            <a:prstGeom prst="flowChartConnector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84" name="Flowchart: Connector 183">
              <a:extLst>
                <a:ext uri="{FF2B5EF4-FFF2-40B4-BE49-F238E27FC236}">
                  <a16:creationId xmlns:a16="http://schemas.microsoft.com/office/drawing/2014/main" id="{3B5BA99D-1300-4DFB-8A80-54A19817C211}"/>
                </a:ext>
              </a:extLst>
            </p:cNvPr>
            <p:cNvSpPr/>
            <p:nvPr/>
          </p:nvSpPr>
          <p:spPr>
            <a:xfrm>
              <a:off x="6123096" y="4799809"/>
              <a:ext cx="186136" cy="186291"/>
            </a:xfrm>
            <a:prstGeom prst="flowChartConnector">
              <a:avLst/>
            </a:prstGeom>
            <a:solidFill>
              <a:schemeClr val="accent4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481442B-ECD3-4D28-939F-76FD773AA06B}"/>
                </a:ext>
              </a:extLst>
            </p:cNvPr>
            <p:cNvSpPr/>
            <p:nvPr/>
          </p:nvSpPr>
          <p:spPr bwMode="auto">
            <a:xfrm>
              <a:off x="6131289" y="3702333"/>
              <a:ext cx="169750" cy="169162"/>
            </a:xfrm>
            <a:custGeom>
              <a:avLst/>
              <a:gdLst>
                <a:gd name="connsiteX0" fmla="*/ 63810 w 127620"/>
                <a:gd name="connsiteY0" fmla="*/ 0 h 127182"/>
                <a:gd name="connsiteX1" fmla="*/ 127620 w 127620"/>
                <a:gd name="connsiteY1" fmla="*/ 63591 h 127182"/>
                <a:gd name="connsiteX2" fmla="*/ 63810 w 127620"/>
                <a:gd name="connsiteY2" fmla="*/ 127182 h 127182"/>
                <a:gd name="connsiteX3" fmla="*/ 0 w 127620"/>
                <a:gd name="connsiteY3" fmla="*/ 63591 h 127182"/>
                <a:gd name="connsiteX4" fmla="*/ 63810 w 127620"/>
                <a:gd name="connsiteY4" fmla="*/ 0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620" h="127182">
                  <a:moveTo>
                    <a:pt x="63810" y="0"/>
                  </a:moveTo>
                  <a:cubicBezTo>
                    <a:pt x="99051" y="0"/>
                    <a:pt x="127620" y="28471"/>
                    <a:pt x="127620" y="63591"/>
                  </a:cubicBezTo>
                  <a:cubicBezTo>
                    <a:pt x="127620" y="98711"/>
                    <a:pt x="99051" y="127182"/>
                    <a:pt x="63810" y="127182"/>
                  </a:cubicBezTo>
                  <a:cubicBezTo>
                    <a:pt x="28569" y="127182"/>
                    <a:pt x="0" y="98711"/>
                    <a:pt x="0" y="63591"/>
                  </a:cubicBezTo>
                  <a:cubicBezTo>
                    <a:pt x="0" y="28471"/>
                    <a:pt x="28569" y="0"/>
                    <a:pt x="6381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dirty="0">
                <a:cs typeface="B Titr" panose="00000700000000000000" pitchFamily="2" charset="-78"/>
              </a:endParaRPr>
            </a:p>
          </p:txBody>
        </p: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C32B5FB4-6984-48B6-9DDE-0E24B3C326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6164" y="3782106"/>
              <a:ext cx="1" cy="1108578"/>
            </a:xfrm>
            <a:prstGeom prst="line">
              <a:avLst/>
            </a:prstGeom>
            <a:ln w="28575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Flowchart: Connector 186">
              <a:extLst>
                <a:ext uri="{FF2B5EF4-FFF2-40B4-BE49-F238E27FC236}">
                  <a16:creationId xmlns:a16="http://schemas.microsoft.com/office/drawing/2014/main" id="{EAA318CC-D30B-4300-8EB0-FBDF5849D4E8}"/>
                </a:ext>
              </a:extLst>
            </p:cNvPr>
            <p:cNvSpPr/>
            <p:nvPr/>
          </p:nvSpPr>
          <p:spPr bwMode="auto">
            <a:xfrm>
              <a:off x="5552016" y="4984486"/>
              <a:ext cx="1328296" cy="1328290"/>
            </a:xfrm>
            <a:prstGeom prst="flowChartConnector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000" dirty="0">
                  <a:cs typeface="B Titr" panose="00000700000000000000" pitchFamily="2" charset="-78"/>
                </a:rPr>
                <a:t>4</a:t>
              </a:r>
              <a:endParaRPr lang="en-IN" sz="2000" dirty="0">
                <a:cs typeface="B Titr" panose="00000700000000000000" pitchFamily="2" charset="-78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0012C9D-1A56-4BD9-9A3B-F84F12577957}"/>
              </a:ext>
            </a:extLst>
          </p:cNvPr>
          <p:cNvGrpSpPr/>
          <p:nvPr/>
        </p:nvGrpSpPr>
        <p:grpSpPr>
          <a:xfrm>
            <a:off x="6692728" y="3321125"/>
            <a:ext cx="685800" cy="1263765"/>
            <a:chOff x="7921964" y="3702333"/>
            <a:chExt cx="1496756" cy="2694671"/>
          </a:xfrm>
        </p:grpSpPr>
        <p:sp>
          <p:nvSpPr>
            <p:cNvPr id="189" name="Flowchart: Connector 188">
              <a:extLst>
                <a:ext uri="{FF2B5EF4-FFF2-40B4-BE49-F238E27FC236}">
                  <a16:creationId xmlns:a16="http://schemas.microsoft.com/office/drawing/2014/main" id="{D582EE53-09D3-44E0-8C50-1CF75F626D87}"/>
                </a:ext>
              </a:extLst>
            </p:cNvPr>
            <p:cNvSpPr/>
            <p:nvPr/>
          </p:nvSpPr>
          <p:spPr bwMode="auto">
            <a:xfrm>
              <a:off x="7921964" y="4900256"/>
              <a:ext cx="1496756" cy="1496748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90" name="Flowchart: Connector 189">
              <a:extLst>
                <a:ext uri="{FF2B5EF4-FFF2-40B4-BE49-F238E27FC236}">
                  <a16:creationId xmlns:a16="http://schemas.microsoft.com/office/drawing/2014/main" id="{C31C9F4B-3BC0-4E02-A909-BE3544514813}"/>
                </a:ext>
              </a:extLst>
            </p:cNvPr>
            <p:cNvSpPr/>
            <p:nvPr/>
          </p:nvSpPr>
          <p:spPr>
            <a:xfrm>
              <a:off x="8577274" y="4799809"/>
              <a:ext cx="186136" cy="186291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000">
                <a:cs typeface="B Titr" panose="00000700000000000000" pitchFamily="2" charset="-78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5B27ADD-462B-484B-A17C-A56B221382C4}"/>
                </a:ext>
              </a:extLst>
            </p:cNvPr>
            <p:cNvSpPr/>
            <p:nvPr/>
          </p:nvSpPr>
          <p:spPr bwMode="auto">
            <a:xfrm>
              <a:off x="8585467" y="3702333"/>
              <a:ext cx="169750" cy="169162"/>
            </a:xfrm>
            <a:custGeom>
              <a:avLst/>
              <a:gdLst>
                <a:gd name="connsiteX0" fmla="*/ 63810 w 127620"/>
                <a:gd name="connsiteY0" fmla="*/ 0 h 127182"/>
                <a:gd name="connsiteX1" fmla="*/ 127620 w 127620"/>
                <a:gd name="connsiteY1" fmla="*/ 63591 h 127182"/>
                <a:gd name="connsiteX2" fmla="*/ 63810 w 127620"/>
                <a:gd name="connsiteY2" fmla="*/ 127182 h 127182"/>
                <a:gd name="connsiteX3" fmla="*/ 0 w 127620"/>
                <a:gd name="connsiteY3" fmla="*/ 63591 h 127182"/>
                <a:gd name="connsiteX4" fmla="*/ 63810 w 127620"/>
                <a:gd name="connsiteY4" fmla="*/ 0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620" h="127182">
                  <a:moveTo>
                    <a:pt x="63810" y="0"/>
                  </a:moveTo>
                  <a:cubicBezTo>
                    <a:pt x="99051" y="0"/>
                    <a:pt x="127620" y="28471"/>
                    <a:pt x="127620" y="63591"/>
                  </a:cubicBezTo>
                  <a:cubicBezTo>
                    <a:pt x="127620" y="98711"/>
                    <a:pt x="99051" y="127182"/>
                    <a:pt x="63810" y="127182"/>
                  </a:cubicBezTo>
                  <a:cubicBezTo>
                    <a:pt x="28569" y="127182"/>
                    <a:pt x="0" y="98711"/>
                    <a:pt x="0" y="63591"/>
                  </a:cubicBezTo>
                  <a:cubicBezTo>
                    <a:pt x="0" y="28471"/>
                    <a:pt x="28569" y="0"/>
                    <a:pt x="6381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dirty="0">
                <a:cs typeface="B Titr" panose="00000700000000000000" pitchFamily="2" charset="-78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8242A34E-CE38-48C1-AD0E-F497DF9EA5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70342" y="3782106"/>
              <a:ext cx="1" cy="1108578"/>
            </a:xfrm>
            <a:prstGeom prst="line">
              <a:avLst/>
            </a:prstGeom>
            <a:ln w="28575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Flowchart: Connector 192">
              <a:extLst>
                <a:ext uri="{FF2B5EF4-FFF2-40B4-BE49-F238E27FC236}">
                  <a16:creationId xmlns:a16="http://schemas.microsoft.com/office/drawing/2014/main" id="{BB10BC9B-32AE-4B9F-BEBE-E7CBD7D42E48}"/>
                </a:ext>
              </a:extLst>
            </p:cNvPr>
            <p:cNvSpPr/>
            <p:nvPr/>
          </p:nvSpPr>
          <p:spPr bwMode="auto">
            <a:xfrm>
              <a:off x="8006194" y="4984486"/>
              <a:ext cx="1328296" cy="132829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000" dirty="0">
                  <a:solidFill>
                    <a:schemeClr val="bg1"/>
                  </a:solidFill>
                  <a:cs typeface="B Titr" panose="00000700000000000000" pitchFamily="2" charset="-78"/>
                </a:rPr>
                <a:t>2</a:t>
              </a:r>
              <a:endParaRPr lang="en-IN" sz="2000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194" name="Google Shape;500;p37">
            <a:extLst>
              <a:ext uri="{FF2B5EF4-FFF2-40B4-BE49-F238E27FC236}">
                <a16:creationId xmlns:a16="http://schemas.microsoft.com/office/drawing/2014/main" id="{6B1F81C9-9E1E-41F2-9F03-E83814FDFE09}"/>
              </a:ext>
            </a:extLst>
          </p:cNvPr>
          <p:cNvSpPr txBox="1">
            <a:spLocks/>
          </p:cNvSpPr>
          <p:nvPr/>
        </p:nvSpPr>
        <p:spPr>
          <a:xfrm>
            <a:off x="6409951" y="2141354"/>
            <a:ext cx="1283193" cy="74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0" lvl="0" indent="0" algn="ctr" rtl="1">
              <a:buClr>
                <a:srgbClr val="626279"/>
              </a:buClr>
              <a:buNone/>
            </a:pP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جمع آوری داده ها</a:t>
            </a:r>
          </a:p>
        </p:txBody>
      </p:sp>
      <p:sp>
        <p:nvSpPr>
          <p:cNvPr id="195" name="Google Shape;500;p37">
            <a:extLst>
              <a:ext uri="{FF2B5EF4-FFF2-40B4-BE49-F238E27FC236}">
                <a16:creationId xmlns:a16="http://schemas.microsoft.com/office/drawing/2014/main" id="{C89C63A3-B4C1-4581-B4B1-151235DE8F28}"/>
              </a:ext>
            </a:extLst>
          </p:cNvPr>
          <p:cNvSpPr txBox="1">
            <a:spLocks/>
          </p:cNvSpPr>
          <p:nvPr/>
        </p:nvSpPr>
        <p:spPr>
          <a:xfrm>
            <a:off x="4233433" y="2170615"/>
            <a:ext cx="1283193" cy="74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0" lvl="0" indent="0" algn="ctr" rtl="1">
              <a:buClr>
                <a:srgbClr val="626279"/>
              </a:buClr>
              <a:buNone/>
            </a:pP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استخراج </a:t>
            </a:r>
            <a:b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</a:b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ویژگی ها</a:t>
            </a:r>
          </a:p>
        </p:txBody>
      </p:sp>
      <p:sp>
        <p:nvSpPr>
          <p:cNvPr id="196" name="Google Shape;500;p37">
            <a:extLst>
              <a:ext uri="{FF2B5EF4-FFF2-40B4-BE49-F238E27FC236}">
                <a16:creationId xmlns:a16="http://schemas.microsoft.com/office/drawing/2014/main" id="{9F71BEE8-E67F-4EAD-91BE-11D02CD197A4}"/>
              </a:ext>
            </a:extLst>
          </p:cNvPr>
          <p:cNvSpPr txBox="1">
            <a:spLocks/>
          </p:cNvSpPr>
          <p:nvPr/>
        </p:nvSpPr>
        <p:spPr>
          <a:xfrm>
            <a:off x="1892128" y="2187087"/>
            <a:ext cx="1283193" cy="74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0" lvl="0" indent="0" algn="ctr" rtl="1">
              <a:buClr>
                <a:srgbClr val="626279"/>
              </a:buClr>
              <a:buNone/>
            </a:pP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آموزش مدل</a:t>
            </a:r>
          </a:p>
        </p:txBody>
      </p:sp>
      <p:sp>
        <p:nvSpPr>
          <p:cNvPr id="197" name="Google Shape;500;p37">
            <a:extLst>
              <a:ext uri="{FF2B5EF4-FFF2-40B4-BE49-F238E27FC236}">
                <a16:creationId xmlns:a16="http://schemas.microsoft.com/office/drawing/2014/main" id="{C1E4117B-700E-4A28-9F32-23B2097F811A}"/>
              </a:ext>
            </a:extLst>
          </p:cNvPr>
          <p:cNvSpPr txBox="1">
            <a:spLocks/>
          </p:cNvSpPr>
          <p:nvPr/>
        </p:nvSpPr>
        <p:spPr>
          <a:xfrm>
            <a:off x="5168729" y="3805423"/>
            <a:ext cx="1511793" cy="74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0" lvl="0" indent="0" algn="ctr" rtl="1">
              <a:buClr>
                <a:srgbClr val="626279"/>
              </a:buClr>
              <a:buNone/>
            </a:pP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پیش پردازش داده ها</a:t>
            </a:r>
          </a:p>
        </p:txBody>
      </p:sp>
      <p:sp>
        <p:nvSpPr>
          <p:cNvPr id="198" name="Google Shape;500;p37">
            <a:extLst>
              <a:ext uri="{FF2B5EF4-FFF2-40B4-BE49-F238E27FC236}">
                <a16:creationId xmlns:a16="http://schemas.microsoft.com/office/drawing/2014/main" id="{35A90CD8-E40B-49E2-BF8A-F4C7E2220083}"/>
              </a:ext>
            </a:extLst>
          </p:cNvPr>
          <p:cNvSpPr txBox="1">
            <a:spLocks/>
          </p:cNvSpPr>
          <p:nvPr/>
        </p:nvSpPr>
        <p:spPr>
          <a:xfrm>
            <a:off x="3047335" y="3805423"/>
            <a:ext cx="1283193" cy="74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0" lvl="0" indent="0" algn="ctr" rtl="1">
              <a:buClr>
                <a:srgbClr val="626279"/>
              </a:buClr>
              <a:buNone/>
            </a:pP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طراحی مدل </a:t>
            </a:r>
            <a:b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</a:b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پیشنهادی</a:t>
            </a:r>
          </a:p>
        </p:txBody>
      </p:sp>
      <p:sp>
        <p:nvSpPr>
          <p:cNvPr id="199" name="Google Shape;500;p37">
            <a:extLst>
              <a:ext uri="{FF2B5EF4-FFF2-40B4-BE49-F238E27FC236}">
                <a16:creationId xmlns:a16="http://schemas.microsoft.com/office/drawing/2014/main" id="{7D0C828F-5E51-4488-BF4F-1295A9E486BB}"/>
              </a:ext>
            </a:extLst>
          </p:cNvPr>
          <p:cNvSpPr txBox="1">
            <a:spLocks/>
          </p:cNvSpPr>
          <p:nvPr/>
        </p:nvSpPr>
        <p:spPr>
          <a:xfrm>
            <a:off x="685135" y="3805423"/>
            <a:ext cx="1283193" cy="74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0" lvl="0" indent="0" algn="ctr" rtl="1">
              <a:buClr>
                <a:srgbClr val="626279"/>
              </a:buClr>
              <a:buNone/>
            </a:pPr>
            <a:r>
              <a:rPr lang="fa-IR" sz="1600" b="1" kern="0" dirty="0">
                <a:solidFill>
                  <a:srgbClr val="272A35"/>
                </a:solidFill>
                <a:latin typeface="Iransans" panose="020B0506030804020204" pitchFamily="34" charset="-78"/>
                <a:cs typeface="B Nazanin" panose="00000400000000000000" pitchFamily="2" charset="-78"/>
              </a:rPr>
              <a:t>ارزیابی عملکرد</a:t>
            </a:r>
          </a:p>
        </p:txBody>
      </p:sp>
    </p:spTree>
    <p:extLst>
      <p:ext uri="{BB962C8B-B14F-4D97-AF65-F5344CB8AC3E}">
        <p14:creationId xmlns:p14="http://schemas.microsoft.com/office/powerpoint/2010/main" val="3856673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83334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38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sz="2000" dirty="0">
              <a:solidFill>
                <a:prstClr val="white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587346" y="2581602"/>
            <a:ext cx="2594169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2549322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2582545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0617E-9278-1F5D-D89C-9C3AB4DF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cxnSp>
        <p:nvCxnSpPr>
          <p:cNvPr id="185" name="Straight Connector 184"/>
          <p:cNvCxnSpPr/>
          <p:nvPr/>
        </p:nvCxnSpPr>
        <p:spPr>
          <a:xfrm>
            <a:off x="10069110" y="21809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8622474" y="337410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E255280-4F54-4164-83C2-E12ADF5AEECC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چارچوب مفهومی راه حل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A21F8-7F49-482F-B2B6-512313805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37" y="1430284"/>
            <a:ext cx="8722962" cy="436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14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92713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FA8F170-5052-4247-AAC0-C7A0E37CAFCA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معماری مدل پیشنهادی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0C4E83-3EDC-43F4-9645-1EE49744A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5"/>
          <a:stretch>
            <a:fillRect/>
          </a:stretch>
        </p:blipFill>
        <p:spPr bwMode="auto">
          <a:xfrm>
            <a:off x="2136687" y="1175862"/>
            <a:ext cx="5286375" cy="52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6089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09938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787609A-9F3B-4F04-ABDC-8A41BCF9B194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پیش پردازش داده ها</a:t>
            </a:r>
          </a:p>
        </p:txBody>
      </p:sp>
      <p:sp>
        <p:nvSpPr>
          <p:cNvPr id="39" name="Freeform 48">
            <a:extLst>
              <a:ext uri="{FF2B5EF4-FFF2-40B4-BE49-F238E27FC236}">
                <a16:creationId xmlns:a16="http://schemas.microsoft.com/office/drawing/2014/main" id="{73C20DD1-C109-43C3-84A2-C4B8FBC11BB2}"/>
              </a:ext>
            </a:extLst>
          </p:cNvPr>
          <p:cNvSpPr>
            <a:spLocks/>
          </p:cNvSpPr>
          <p:nvPr/>
        </p:nvSpPr>
        <p:spPr bwMode="auto">
          <a:xfrm>
            <a:off x="7225390" y="2902733"/>
            <a:ext cx="505229" cy="1010456"/>
          </a:xfrm>
          <a:custGeom>
            <a:avLst/>
            <a:gdLst>
              <a:gd name="T0" fmla="*/ 0 w 320"/>
              <a:gd name="T1" fmla="*/ 320 h 640"/>
              <a:gd name="T2" fmla="*/ 320 w 320"/>
              <a:gd name="T3" fmla="*/ 640 h 640"/>
              <a:gd name="T4" fmla="*/ 320 w 320"/>
              <a:gd name="T5" fmla="*/ 576 h 640"/>
              <a:gd name="T6" fmla="*/ 64 w 320"/>
              <a:gd name="T7" fmla="*/ 320 h 640"/>
              <a:gd name="T8" fmla="*/ 320 w 320"/>
              <a:gd name="T9" fmla="*/ 64 h 640"/>
              <a:gd name="T10" fmla="*/ 320 w 320"/>
              <a:gd name="T11" fmla="*/ 0 h 640"/>
              <a:gd name="T12" fmla="*/ 0 w 320"/>
              <a:gd name="T13" fmla="*/ 320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0" h="640">
                <a:moveTo>
                  <a:pt x="0" y="320"/>
                </a:moveTo>
                <a:cubicBezTo>
                  <a:pt x="0" y="497"/>
                  <a:pt x="143" y="640"/>
                  <a:pt x="320" y="640"/>
                </a:cubicBezTo>
                <a:cubicBezTo>
                  <a:pt x="320" y="576"/>
                  <a:pt x="320" y="576"/>
                  <a:pt x="320" y="576"/>
                </a:cubicBezTo>
                <a:cubicBezTo>
                  <a:pt x="179" y="576"/>
                  <a:pt x="64" y="461"/>
                  <a:pt x="64" y="320"/>
                </a:cubicBezTo>
                <a:cubicBezTo>
                  <a:pt x="64" y="179"/>
                  <a:pt x="179" y="64"/>
                  <a:pt x="320" y="64"/>
                </a:cubicBezTo>
                <a:cubicBezTo>
                  <a:pt x="320" y="0"/>
                  <a:pt x="320" y="0"/>
                  <a:pt x="320" y="0"/>
                </a:cubicBezTo>
                <a:cubicBezTo>
                  <a:pt x="143" y="0"/>
                  <a:pt x="0" y="143"/>
                  <a:pt x="0" y="320"/>
                </a:cubicBezTo>
                <a:close/>
              </a:path>
            </a:pathLst>
          </a:custGeom>
          <a:solidFill>
            <a:srgbClr val="E8E8E8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D30339-F5AA-497A-8D5B-997CDA5A0BA4}"/>
              </a:ext>
            </a:extLst>
          </p:cNvPr>
          <p:cNvSpPr/>
          <p:nvPr/>
        </p:nvSpPr>
        <p:spPr bwMode="auto">
          <a:xfrm>
            <a:off x="3593257" y="2197077"/>
            <a:ext cx="2417762" cy="227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Titr" panose="00000700000000000000" pitchFamily="2" charset="-78"/>
              </a:rPr>
              <a:t>2-تشکیل توالی های فرآیند</a:t>
            </a:r>
            <a:endParaRPr lang="en-US" sz="1600" dirty="0">
              <a:cs typeface="B Titr" panose="00000700000000000000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1E76FA-E185-44AD-9DA5-F41262B7A679}"/>
              </a:ext>
            </a:extLst>
          </p:cNvPr>
          <p:cNvSpPr/>
          <p:nvPr/>
        </p:nvSpPr>
        <p:spPr bwMode="auto">
          <a:xfrm>
            <a:off x="3593257" y="2490136"/>
            <a:ext cx="2417762" cy="10208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/>
              <a:t>گروه ‌بندی رویدادها بر اساس شناسه پرونده </a:t>
            </a:r>
            <a:r>
              <a:rPr lang="en-US" sz="1600" dirty="0"/>
              <a:t>Case ID)</a:t>
            </a:r>
            <a:r>
              <a:rPr lang="fa-IR" sz="1600" dirty="0">
                <a:solidFill>
                  <a:srgbClr val="000000"/>
                </a:solidFill>
                <a:latin typeface="Iransans" panose="020B0506030804020204" pitchFamily="34" charset="-78"/>
              </a:rPr>
              <a:t>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1DA24F-E405-40A7-BD18-9C73BD52CD06}"/>
              </a:ext>
            </a:extLst>
          </p:cNvPr>
          <p:cNvSpPr/>
          <p:nvPr/>
        </p:nvSpPr>
        <p:spPr bwMode="auto">
          <a:xfrm>
            <a:off x="6219766" y="2197077"/>
            <a:ext cx="2417762" cy="2279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Titr" panose="00000700000000000000" pitchFamily="2" charset="-78"/>
              </a:rPr>
              <a:t>1- مرتب سازی رویدادها</a:t>
            </a:r>
            <a:endParaRPr lang="en-US" sz="1600" dirty="0">
              <a:cs typeface="B Titr" panose="00000700000000000000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5CBD98-2627-4961-8C6A-6955BB350FC2}"/>
              </a:ext>
            </a:extLst>
          </p:cNvPr>
          <p:cNvSpPr/>
          <p:nvPr/>
        </p:nvSpPr>
        <p:spPr bwMode="auto">
          <a:xfrm>
            <a:off x="6219766" y="2490136"/>
            <a:ext cx="2417762" cy="10208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/>
              <a:t>مرتب‌سازی فعالیت‌های هر پرونده بر اساس زمان وقوع</a:t>
            </a:r>
            <a:endParaRPr lang="fa-IR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B412D7-6222-4759-A183-53379B189E0A}"/>
              </a:ext>
            </a:extLst>
          </p:cNvPr>
          <p:cNvSpPr/>
          <p:nvPr/>
        </p:nvSpPr>
        <p:spPr bwMode="auto">
          <a:xfrm>
            <a:off x="3593257" y="3638730"/>
            <a:ext cx="2417762" cy="2279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solidFill>
                  <a:sysClr val="windowText" lastClr="000000"/>
                </a:solidFill>
                <a:cs typeface="B Titr" panose="00000700000000000000" pitchFamily="2" charset="-78"/>
              </a:rPr>
              <a:t>5-ساخت نمایش گرافی</a:t>
            </a:r>
            <a:endParaRPr lang="en-US" sz="1600" dirty="0">
              <a:solidFill>
                <a:sysClr val="windowText" lastClr="000000"/>
              </a:solidFill>
              <a:cs typeface="B Titr" panose="00000700000000000000" pitchFamily="2" charset="-78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762A10E-4F42-4955-8A27-C7179CCB62F7}"/>
              </a:ext>
            </a:extLst>
          </p:cNvPr>
          <p:cNvSpPr/>
          <p:nvPr/>
        </p:nvSpPr>
        <p:spPr bwMode="auto">
          <a:xfrm>
            <a:off x="3593257" y="3931789"/>
            <a:ext cx="2417762" cy="10208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/>
              <a:t>نمایش روابط بین فعالیت‌ها برای ورودی شبکه </a:t>
            </a:r>
            <a:r>
              <a:rPr lang="en-US" sz="1600" dirty="0"/>
              <a:t>GNN</a:t>
            </a:r>
            <a:endParaRPr lang="fa-IR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6772B0-78FA-4B09-BA57-4DAAF41A65BB}"/>
              </a:ext>
            </a:extLst>
          </p:cNvPr>
          <p:cNvSpPr/>
          <p:nvPr/>
        </p:nvSpPr>
        <p:spPr bwMode="auto">
          <a:xfrm>
            <a:off x="6219766" y="3638730"/>
            <a:ext cx="2417762" cy="227935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solidFill>
                  <a:sysClr val="windowText" lastClr="000000"/>
                </a:solidFill>
                <a:cs typeface="B Titr" panose="00000700000000000000" pitchFamily="2" charset="-78"/>
              </a:rPr>
              <a:t>4-استخراج ویژگی ها</a:t>
            </a:r>
            <a:endParaRPr lang="en-US" sz="1600" dirty="0">
              <a:solidFill>
                <a:sysClr val="windowText" lastClr="000000"/>
              </a:solidFill>
              <a:cs typeface="B Titr" panose="00000700000000000000" pitchFamily="2" charset="-78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07F971-2F5A-48F5-BFA4-55B17F14DC92}"/>
              </a:ext>
            </a:extLst>
          </p:cNvPr>
          <p:cNvSpPr/>
          <p:nvPr/>
        </p:nvSpPr>
        <p:spPr bwMode="auto">
          <a:xfrm>
            <a:off x="6219766" y="3931789"/>
            <a:ext cx="2417762" cy="10208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/>
              <a:t>آماده‌سازی ویژگی‌های فعالیت، موقعیت، فاصله زمانی، زمان تجمعی و فراوانی فعالیت‌ها</a:t>
            </a:r>
            <a:endParaRPr lang="fa-IR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AC20D4-B33C-4325-A17B-7A655A34E041}"/>
              </a:ext>
            </a:extLst>
          </p:cNvPr>
          <p:cNvSpPr/>
          <p:nvPr/>
        </p:nvSpPr>
        <p:spPr bwMode="auto">
          <a:xfrm>
            <a:off x="914845" y="2200138"/>
            <a:ext cx="2417762" cy="227935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solidFill>
                  <a:schemeClr val="bg1"/>
                </a:solidFill>
                <a:cs typeface="B Titr" panose="00000700000000000000" pitchFamily="2" charset="-78"/>
              </a:rPr>
              <a:t>3- تولید پیشوند ها</a:t>
            </a:r>
            <a:endParaRPr lang="en-US" sz="16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5C1C747-EFFB-46B1-874D-09C279BAD626}"/>
              </a:ext>
            </a:extLst>
          </p:cNvPr>
          <p:cNvSpPr/>
          <p:nvPr/>
        </p:nvSpPr>
        <p:spPr bwMode="auto">
          <a:xfrm>
            <a:off x="914845" y="2493197"/>
            <a:ext cx="2417762" cy="10208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/>
              <a:t>استخراج توالی‌های جزئی با حداقل طول ۲ رویداد برای پیش‌بینی فعالیت بعدی</a:t>
            </a:r>
            <a:endParaRPr lang="fa-IR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B2918BF-9937-45EA-B0BB-F59CE8F09E2E}"/>
              </a:ext>
            </a:extLst>
          </p:cNvPr>
          <p:cNvSpPr/>
          <p:nvPr/>
        </p:nvSpPr>
        <p:spPr bwMode="auto">
          <a:xfrm>
            <a:off x="914845" y="3641792"/>
            <a:ext cx="2417762" cy="2279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solidFill>
                  <a:sysClr val="windowText" lastClr="000000"/>
                </a:solidFill>
                <a:cs typeface="B Titr" panose="00000700000000000000" pitchFamily="2" charset="-78"/>
              </a:rPr>
              <a:t>6-آماده سازی داده ها</a:t>
            </a:r>
            <a:endParaRPr lang="en-US" sz="1600" dirty="0">
              <a:solidFill>
                <a:sysClr val="windowText" lastClr="000000"/>
              </a:solidFill>
              <a:cs typeface="B Titr" panose="00000700000000000000" pitchFamily="2" charset="-78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24845FB-3D76-4204-B7C6-DCE09D9D9772}"/>
              </a:ext>
            </a:extLst>
          </p:cNvPr>
          <p:cNvSpPr/>
          <p:nvPr/>
        </p:nvSpPr>
        <p:spPr bwMode="auto">
          <a:xfrm>
            <a:off x="914845" y="3934850"/>
            <a:ext cx="2417762" cy="10208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</a:pPr>
            <a:r>
              <a:rPr lang="fa-IR" sz="1600" dirty="0"/>
              <a:t>آماده سازی دنباله ها برای ورود به مدل با استفاده از </a:t>
            </a:r>
            <a:r>
              <a:rPr lang="en-US" sz="1600" dirty="0"/>
              <a:t>padding</a:t>
            </a:r>
            <a:r>
              <a:rPr lang="fa-IR" sz="1600" dirty="0"/>
              <a:t> و </a:t>
            </a:r>
            <a:r>
              <a:rPr lang="en-US" sz="1600" dirty="0"/>
              <a:t>masking</a:t>
            </a:r>
            <a:r>
              <a:rPr lang="fa-IR" sz="1600" dirty="0"/>
              <a:t> </a:t>
            </a:r>
            <a:endParaRPr lang="fa-IR" sz="1600" b="1" dirty="0">
              <a:solidFill>
                <a:srgbClr val="000000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07006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23814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AFC40F8-4BBA-40A8-9E78-0A7E3FAB4A82}"/>
              </a:ext>
            </a:extLst>
          </p:cNvPr>
          <p:cNvSpPr txBox="1"/>
          <p:nvPr/>
        </p:nvSpPr>
        <p:spPr>
          <a:xfrm>
            <a:off x="2859531" y="479541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آموزش مدل و تنظیمات آموزش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E4FA6C-7397-4A87-BB37-7D26155D36A3}"/>
              </a:ext>
            </a:extLst>
          </p:cNvPr>
          <p:cNvSpPr/>
          <p:nvPr/>
        </p:nvSpPr>
        <p:spPr>
          <a:xfrm flipH="1">
            <a:off x="7389971" y="3257802"/>
            <a:ext cx="1383834" cy="2103934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500" dirty="0">
                <a:solidFill>
                  <a:schemeClr val="tx1"/>
                </a:solidFill>
                <a:cs typeface="B Nazanin" panose="00000400000000000000" pitchFamily="2" charset="-78"/>
              </a:rPr>
              <a:t>استفاده از یادگیری چندوظیفه‌ای برای آموزش هم ‌زمان چهار خروجی مدل</a:t>
            </a:r>
            <a:endParaRPr lang="fa-IR" altLang="ko-KR" sz="15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8AA737-B26A-4B99-ACFD-E114A1E8DE32}"/>
              </a:ext>
            </a:extLst>
          </p:cNvPr>
          <p:cNvSpPr/>
          <p:nvPr/>
        </p:nvSpPr>
        <p:spPr>
          <a:xfrm flipH="1">
            <a:off x="2564583" y="3257801"/>
            <a:ext cx="1383834" cy="2121126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400" dirty="0"/>
              <a:t>Mixed Precision</a:t>
            </a:r>
          </a:p>
          <a:p>
            <a:pPr algn="ctr" rtl="1"/>
            <a:r>
              <a:rPr lang="fa-IR" altLang="ko-KR" sz="1400" dirty="0">
                <a:solidFill>
                  <a:schemeClr val="tx1"/>
                </a:solidFill>
              </a:rPr>
              <a:t>آموزش با دقت مختلط</a:t>
            </a:r>
          </a:p>
          <a:p>
            <a:pPr algn="ctr" rtl="1"/>
            <a:endParaRPr lang="fa-IR" altLang="ko-KR" sz="1400" dirty="0">
              <a:solidFill>
                <a:schemeClr val="tx1"/>
              </a:solidFill>
            </a:endParaRPr>
          </a:p>
          <a:p>
            <a:pPr algn="ctr" rtl="1"/>
            <a:r>
              <a:rPr lang="en-US" sz="1400" dirty="0"/>
              <a:t>Gradient Clipping</a:t>
            </a:r>
            <a:endParaRPr lang="fa-IR" sz="1400" dirty="0">
              <a:solidFill>
                <a:schemeClr val="tx1"/>
              </a:solidFill>
            </a:endParaRPr>
          </a:p>
          <a:p>
            <a:pPr algn="ctr" rtl="1"/>
            <a:r>
              <a:rPr lang="fa-IR" altLang="ko-KR" sz="1400" dirty="0">
                <a:solidFill>
                  <a:schemeClr val="tx1"/>
                </a:solidFill>
              </a:rPr>
              <a:t>برش گرادیان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4F3143-F2FD-47BD-8091-55BCC3B36D55}"/>
              </a:ext>
            </a:extLst>
          </p:cNvPr>
          <p:cNvSpPr/>
          <p:nvPr/>
        </p:nvSpPr>
        <p:spPr>
          <a:xfrm flipH="1">
            <a:off x="5721781" y="3274993"/>
            <a:ext cx="1471077" cy="210393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400" dirty="0">
                <a:solidFill>
                  <a:schemeClr val="bg1"/>
                </a:solidFill>
              </a:rPr>
              <a:t>Cross-Entropy</a:t>
            </a:r>
          </a:p>
          <a:p>
            <a:pPr algn="ctr" rtl="1"/>
            <a:r>
              <a:rPr lang="fa-IR" sz="1400" dirty="0">
                <a:solidFill>
                  <a:schemeClr val="tx1"/>
                </a:solidFill>
              </a:rPr>
              <a:t>پیش بینی فعالیت بعدی</a:t>
            </a:r>
          </a:p>
          <a:p>
            <a:pPr algn="ctr" rtl="1"/>
            <a:endParaRPr lang="fa-IR" sz="1400" dirty="0">
              <a:solidFill>
                <a:schemeClr val="tx1"/>
              </a:solidFill>
            </a:endParaRPr>
          </a:p>
          <a:p>
            <a:pPr algn="ctr" rtl="1"/>
            <a:r>
              <a:rPr lang="en-US" sz="1400" dirty="0">
                <a:solidFill>
                  <a:schemeClr val="bg1"/>
                </a:solidFill>
              </a:rPr>
              <a:t>Huber Loss</a:t>
            </a:r>
          </a:p>
          <a:p>
            <a:pPr algn="ctr" rtl="1"/>
            <a:r>
              <a:rPr lang="fa-IR" sz="1400" dirty="0">
                <a:solidFill>
                  <a:schemeClr val="tx1"/>
                </a:solidFill>
              </a:rPr>
              <a:t>خروجی های زمانی</a:t>
            </a:r>
          </a:p>
          <a:p>
            <a:pPr algn="ctr" rtl="1"/>
            <a:endParaRPr lang="fa-IR" sz="1400" dirty="0">
              <a:solidFill>
                <a:schemeClr val="tx1"/>
              </a:solidFill>
            </a:endParaRPr>
          </a:p>
          <a:p>
            <a:pPr algn="ctr" rtl="1"/>
            <a:r>
              <a:rPr lang="en-US" sz="1400" dirty="0">
                <a:solidFill>
                  <a:schemeClr val="bg1"/>
                </a:solidFill>
              </a:rPr>
              <a:t>Binary Cross-Entropy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fa-IR" sz="1400" dirty="0">
                <a:solidFill>
                  <a:schemeClr val="tx1"/>
                </a:solidFill>
              </a:rPr>
              <a:t>تشخیص گلوگاه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427C47-DD41-402C-AE90-1FD711C030E2}"/>
              </a:ext>
            </a:extLst>
          </p:cNvPr>
          <p:cNvSpPr/>
          <p:nvPr/>
        </p:nvSpPr>
        <p:spPr>
          <a:xfrm flipH="1">
            <a:off x="4134673" y="3257802"/>
            <a:ext cx="1471077" cy="212112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400" dirty="0"/>
              <a:t>Learning Rate Scheduler</a:t>
            </a:r>
            <a:endParaRPr lang="fa-IR" sz="1400" dirty="0"/>
          </a:p>
          <a:p>
            <a:pPr algn="ctr" rtl="1"/>
            <a:r>
              <a:rPr lang="fa-IR" altLang="ko-KR" sz="1400" dirty="0">
                <a:solidFill>
                  <a:schemeClr val="tx1"/>
                </a:solidFill>
                <a:cs typeface="B Nazanin" panose="00000400000000000000" pitchFamily="2" charset="-78"/>
              </a:rPr>
              <a:t>تنظیم نرخ یادگیری</a:t>
            </a:r>
          </a:p>
          <a:p>
            <a:pPr algn="ctr" rtl="1"/>
            <a:endParaRPr lang="fa-IR" altLang="ko-KR" sz="1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ctr" rtl="1"/>
            <a:r>
              <a:rPr lang="en-US" sz="1400" dirty="0"/>
              <a:t>Class Weighting</a:t>
            </a:r>
            <a:endParaRPr lang="fa-IR" sz="1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ctr" rtl="1"/>
            <a:r>
              <a:rPr lang="fa-IR" altLang="ko-KR" sz="1400" dirty="0">
                <a:solidFill>
                  <a:schemeClr val="tx1"/>
                </a:solidFill>
                <a:cs typeface="B Nazanin" panose="00000400000000000000" pitchFamily="2" charset="-78"/>
              </a:rPr>
              <a:t>وزن دهی کلاس ها</a:t>
            </a:r>
          </a:p>
          <a:p>
            <a:pPr algn="ctr" rtl="1"/>
            <a:endParaRPr lang="fa-IR" altLang="ko-KR" sz="1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ctr" rtl="1"/>
            <a:r>
              <a:rPr lang="en-US" sz="1400" dirty="0"/>
              <a:t>Label Smoothing</a:t>
            </a:r>
            <a:endParaRPr lang="fa-IR" sz="1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ctr" rtl="1"/>
            <a:r>
              <a:rPr lang="fa-IR" altLang="ko-KR" sz="1400" dirty="0">
                <a:solidFill>
                  <a:schemeClr val="tx1"/>
                </a:solidFill>
                <a:cs typeface="B Nazanin" panose="00000400000000000000" pitchFamily="2" charset="-78"/>
              </a:rPr>
              <a:t>هموارسازی برچسب ها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773947-5347-4AD0-9CCA-37F5BA339F77}"/>
              </a:ext>
            </a:extLst>
          </p:cNvPr>
          <p:cNvSpPr/>
          <p:nvPr/>
        </p:nvSpPr>
        <p:spPr>
          <a:xfrm flipH="1">
            <a:off x="956120" y="3257801"/>
            <a:ext cx="1383834" cy="212112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400" dirty="0">
                <a:solidFill>
                  <a:schemeClr val="tx1"/>
                </a:solidFill>
                <a:cs typeface="B Nazanin" panose="00000400000000000000" pitchFamily="2" charset="-78"/>
              </a:rPr>
              <a:t>پایش عملکرد روی داده‌های اعتبارسنجی و استفاده از توقف زودهنگام </a:t>
            </a:r>
          </a:p>
          <a:p>
            <a:pPr algn="ctr" rtl="1"/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Early Stopping</a:t>
            </a:r>
            <a:endParaRPr lang="fa-IR" altLang="ko-KR" sz="1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2DD8D57-6F14-462E-B25B-761CEF540A5F}"/>
              </a:ext>
            </a:extLst>
          </p:cNvPr>
          <p:cNvCxnSpPr/>
          <p:nvPr/>
        </p:nvCxnSpPr>
        <p:spPr>
          <a:xfrm>
            <a:off x="8076639" y="2526587"/>
            <a:ext cx="10497" cy="731216"/>
          </a:xfrm>
          <a:prstGeom prst="straightConnector1">
            <a:avLst/>
          </a:prstGeom>
          <a:ln w="25400">
            <a:solidFill>
              <a:srgbClr val="E0E0E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AE255E0-528F-49EE-A8FB-312BBAD1FFDB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418951" y="2507806"/>
            <a:ext cx="38368" cy="767187"/>
          </a:xfrm>
          <a:prstGeom prst="straightConnector1">
            <a:avLst/>
          </a:prstGeom>
          <a:ln w="254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05CFCDE-B142-4E44-B2BA-1D0A3DC8375C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4837092" y="2526587"/>
            <a:ext cx="33119" cy="731215"/>
          </a:xfrm>
          <a:prstGeom prst="straightConnector1">
            <a:avLst/>
          </a:prstGeom>
          <a:ln w="254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B215AF-2718-42E2-8627-B58427DE09C8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3256500" y="2526587"/>
            <a:ext cx="13042" cy="731214"/>
          </a:xfrm>
          <a:prstGeom prst="straightConnector1">
            <a:avLst/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E712CAA-CB3D-4B25-98B2-F8A6292E1592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1648037" y="2526587"/>
            <a:ext cx="0" cy="731214"/>
          </a:xfrm>
          <a:prstGeom prst="straightConnector1">
            <a:avLst/>
          </a:prstGeom>
          <a:ln w="254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hevron 2">
            <a:extLst>
              <a:ext uri="{FF2B5EF4-FFF2-40B4-BE49-F238E27FC236}">
                <a16:creationId xmlns:a16="http://schemas.microsoft.com/office/drawing/2014/main" id="{E4C68AE3-6633-4C01-A1AC-941C423B10A4}"/>
              </a:ext>
            </a:extLst>
          </p:cNvPr>
          <p:cNvSpPr/>
          <p:nvPr/>
        </p:nvSpPr>
        <p:spPr>
          <a:xfrm flipH="1">
            <a:off x="7252589" y="2205972"/>
            <a:ext cx="1658600" cy="388907"/>
          </a:xfrm>
          <a:prstGeom prst="chevron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0" name="Chevron 3">
            <a:extLst>
              <a:ext uri="{FF2B5EF4-FFF2-40B4-BE49-F238E27FC236}">
                <a16:creationId xmlns:a16="http://schemas.microsoft.com/office/drawing/2014/main" id="{BC0E0DC4-43C0-4C8C-9CBA-0AAE81829D27}"/>
              </a:ext>
            </a:extLst>
          </p:cNvPr>
          <p:cNvSpPr/>
          <p:nvPr/>
        </p:nvSpPr>
        <p:spPr>
          <a:xfrm flipH="1">
            <a:off x="5644126" y="2205972"/>
            <a:ext cx="1658600" cy="388907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Chevron 4">
            <a:extLst>
              <a:ext uri="{FF2B5EF4-FFF2-40B4-BE49-F238E27FC236}">
                <a16:creationId xmlns:a16="http://schemas.microsoft.com/office/drawing/2014/main" id="{2F1358D2-81EC-46F0-9423-460114D6E144}"/>
              </a:ext>
            </a:extLst>
          </p:cNvPr>
          <p:cNvSpPr/>
          <p:nvPr/>
        </p:nvSpPr>
        <p:spPr>
          <a:xfrm flipH="1">
            <a:off x="4035664" y="2205972"/>
            <a:ext cx="1658600" cy="388907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3" name="Chevron 5">
            <a:extLst>
              <a:ext uri="{FF2B5EF4-FFF2-40B4-BE49-F238E27FC236}">
                <a16:creationId xmlns:a16="http://schemas.microsoft.com/office/drawing/2014/main" id="{0C5FA3D6-C162-4C25-9F41-716FD204AAE7}"/>
              </a:ext>
            </a:extLst>
          </p:cNvPr>
          <p:cNvSpPr/>
          <p:nvPr/>
        </p:nvSpPr>
        <p:spPr>
          <a:xfrm flipH="1">
            <a:off x="2427200" y="2205972"/>
            <a:ext cx="1658600" cy="388907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Chevron 6">
            <a:extLst>
              <a:ext uri="{FF2B5EF4-FFF2-40B4-BE49-F238E27FC236}">
                <a16:creationId xmlns:a16="http://schemas.microsoft.com/office/drawing/2014/main" id="{91F229C8-31D1-4D4F-9E37-18D9A0395FF7}"/>
              </a:ext>
            </a:extLst>
          </p:cNvPr>
          <p:cNvSpPr/>
          <p:nvPr/>
        </p:nvSpPr>
        <p:spPr>
          <a:xfrm flipH="1">
            <a:off x="818738" y="2205972"/>
            <a:ext cx="1658600" cy="388907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5CE6A98-80B9-4B5A-8E6E-74047A25A61E}"/>
              </a:ext>
            </a:extLst>
          </p:cNvPr>
          <p:cNvSpPr/>
          <p:nvPr/>
        </p:nvSpPr>
        <p:spPr>
          <a:xfrm flipH="1">
            <a:off x="7846608" y="2699126"/>
            <a:ext cx="447355" cy="429153"/>
          </a:xfrm>
          <a:prstGeom prst="ellipse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solidFill>
                  <a:srgbClr val="000000"/>
                </a:solidFill>
                <a:cs typeface="B Titr" panose="00000700000000000000" pitchFamily="2" charset="-78"/>
              </a:rPr>
              <a:t>1</a:t>
            </a:r>
            <a:endParaRPr lang="ko-KR" altLang="en-US" dirty="0">
              <a:solidFill>
                <a:srgbClr val="000000"/>
              </a:solidFill>
              <a:cs typeface="B Titr" panose="00000700000000000000" pitchFamily="2" charset="-78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B865A98-C210-49D5-8F5B-4CEEEC2BC373}"/>
              </a:ext>
            </a:extLst>
          </p:cNvPr>
          <p:cNvSpPr/>
          <p:nvPr/>
        </p:nvSpPr>
        <p:spPr>
          <a:xfrm flipH="1">
            <a:off x="6222906" y="2656232"/>
            <a:ext cx="447355" cy="4291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cs typeface="B Titr" panose="00000700000000000000" pitchFamily="2" charset="-78"/>
              </a:rPr>
              <a:t>2</a:t>
            </a:r>
            <a:endParaRPr lang="ko-KR" altLang="en-US" dirty="0">
              <a:cs typeface="B Titr" panose="00000700000000000000" pitchFamily="2" charset="-78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0C7F76A-CC08-4B73-949C-FE810366C982}"/>
              </a:ext>
            </a:extLst>
          </p:cNvPr>
          <p:cNvSpPr/>
          <p:nvPr/>
        </p:nvSpPr>
        <p:spPr>
          <a:xfrm flipH="1">
            <a:off x="4629683" y="2699126"/>
            <a:ext cx="447355" cy="4291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cs typeface="B Titr" panose="00000700000000000000" pitchFamily="2" charset="-78"/>
              </a:rPr>
              <a:t>3</a:t>
            </a:r>
            <a:endParaRPr lang="ko-KR" altLang="en-US" dirty="0">
              <a:cs typeface="B Titr" panose="00000700000000000000" pitchFamily="2" charset="-78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E08E168-B939-423E-8799-6ABF78113C24}"/>
              </a:ext>
            </a:extLst>
          </p:cNvPr>
          <p:cNvSpPr/>
          <p:nvPr/>
        </p:nvSpPr>
        <p:spPr>
          <a:xfrm flipH="1">
            <a:off x="3021220" y="2699126"/>
            <a:ext cx="447355" cy="4291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cs typeface="B Titr" panose="00000700000000000000" pitchFamily="2" charset="-78"/>
              </a:rPr>
              <a:t>4</a:t>
            </a:r>
            <a:endParaRPr lang="ko-KR" altLang="en-US" dirty="0">
              <a:cs typeface="B Titr" panose="00000700000000000000" pitchFamily="2" charset="-78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9AE520E-9B24-45A2-B7C4-67D12DA030ED}"/>
              </a:ext>
            </a:extLst>
          </p:cNvPr>
          <p:cNvSpPr/>
          <p:nvPr/>
        </p:nvSpPr>
        <p:spPr>
          <a:xfrm flipH="1">
            <a:off x="1412757" y="2699126"/>
            <a:ext cx="447355" cy="42915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altLang="ko-KR" dirty="0">
                <a:cs typeface="B Titr" panose="00000700000000000000" pitchFamily="2" charset="-78"/>
              </a:rPr>
              <a:t>5</a:t>
            </a:r>
            <a:endParaRPr lang="ko-KR" altLang="en-US" dirty="0">
              <a:cs typeface="B Titr" panose="00000700000000000000" pitchFamily="2" charset="-78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A6970C-1E27-4FA1-935C-FC18A6660811}"/>
              </a:ext>
            </a:extLst>
          </p:cNvPr>
          <p:cNvSpPr txBox="1"/>
          <p:nvPr/>
        </p:nvSpPr>
        <p:spPr>
          <a:xfrm flipH="1">
            <a:off x="7541548" y="2231876"/>
            <a:ext cx="1080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ko-KR" sz="1400" b="1" dirty="0">
                <a:solidFill>
                  <a:srgbClr val="000000"/>
                </a:solidFill>
                <a:cs typeface="B Titr" panose="00000700000000000000" pitchFamily="2" charset="-78"/>
              </a:rPr>
              <a:t>روش آموزش</a:t>
            </a:r>
            <a:endParaRPr lang="ko-KR" altLang="en-US" sz="1400" b="1" dirty="0">
              <a:solidFill>
                <a:srgbClr val="000000"/>
              </a:solidFill>
              <a:cs typeface="B Titr" panose="00000700000000000000" pitchFamily="2" charset="-78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9DDED4-23BC-4C46-A09B-6C63BC40F734}"/>
              </a:ext>
            </a:extLst>
          </p:cNvPr>
          <p:cNvSpPr txBox="1"/>
          <p:nvPr/>
        </p:nvSpPr>
        <p:spPr>
          <a:xfrm flipH="1">
            <a:off x="5933086" y="2231876"/>
            <a:ext cx="1080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B Titr" panose="00000700000000000000" pitchFamily="2" charset="-78"/>
              </a:rPr>
              <a:t>تابع خطا</a:t>
            </a:r>
            <a:endParaRPr lang="ko-KR" altLang="en-US" sz="1400" b="1" dirty="0">
              <a:solidFill>
                <a:schemeClr val="tx1">
                  <a:lumMod val="85000"/>
                  <a:lumOff val="1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CC26B94-6C56-41E2-A73A-7EAB74EE547D}"/>
              </a:ext>
            </a:extLst>
          </p:cNvPr>
          <p:cNvSpPr txBox="1"/>
          <p:nvPr/>
        </p:nvSpPr>
        <p:spPr>
          <a:xfrm flipH="1">
            <a:off x="4324623" y="2231876"/>
            <a:ext cx="1080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ko-KR" sz="1400" b="1" dirty="0">
                <a:solidFill>
                  <a:schemeClr val="bg1"/>
                </a:solidFill>
                <a:cs typeface="B Titr" panose="00000700000000000000" pitchFamily="2" charset="-78"/>
              </a:rPr>
              <a:t>بهینه سازی</a:t>
            </a:r>
            <a:endParaRPr lang="ko-KR" altLang="en-US" sz="14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7D2BA14-2C30-4DF8-B5C5-C56227B8E5E1}"/>
              </a:ext>
            </a:extLst>
          </p:cNvPr>
          <p:cNvSpPr txBox="1"/>
          <p:nvPr/>
        </p:nvSpPr>
        <p:spPr>
          <a:xfrm flipH="1">
            <a:off x="2364955" y="2225664"/>
            <a:ext cx="1613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ko-KR" sz="1400" b="1" dirty="0">
                <a:solidFill>
                  <a:schemeClr val="bg1"/>
                </a:solidFill>
                <a:cs typeface="B Titr" panose="00000700000000000000" pitchFamily="2" charset="-78"/>
              </a:rPr>
              <a:t>بهبود پایداری آموزش</a:t>
            </a:r>
            <a:endParaRPr lang="ko-KR" altLang="en-US" sz="14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5E2CB49-56A0-4565-8CC6-5D46D4CDD6A0}"/>
              </a:ext>
            </a:extLst>
          </p:cNvPr>
          <p:cNvSpPr txBox="1"/>
          <p:nvPr/>
        </p:nvSpPr>
        <p:spPr>
          <a:xfrm flipH="1">
            <a:off x="804541" y="2231876"/>
            <a:ext cx="1383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B Titr" panose="00000700000000000000" pitchFamily="2" charset="-78"/>
              </a:rPr>
              <a:t>کنترل بیش برازش</a:t>
            </a:r>
            <a:endParaRPr lang="ko-KR" altLang="en-US" sz="1400" b="1" dirty="0">
              <a:solidFill>
                <a:schemeClr val="tx1">
                  <a:lumMod val="85000"/>
                  <a:lumOff val="15000"/>
                </a:schemeClr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983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21672" y="167331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/>
              <a:t>میزان صحت پیش‌بینی‌های هر کلاس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8E58D9-0371-44A5-B880-857CD75EB786}"/>
              </a:ext>
            </a:extLst>
          </p:cNvPr>
          <p:cNvSpPr txBox="1"/>
          <p:nvPr/>
        </p:nvSpPr>
        <p:spPr>
          <a:xfrm>
            <a:off x="2716741" y="579312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معیار های ارزیابی عملکرد مدل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8BB2C1D-E231-40FF-8F9B-0A502127E5BC}"/>
              </a:ext>
            </a:extLst>
          </p:cNvPr>
          <p:cNvSpPr/>
          <p:nvPr/>
        </p:nvSpPr>
        <p:spPr bwMode="auto">
          <a:xfrm>
            <a:off x="4245637" y="2901992"/>
            <a:ext cx="1422141" cy="1422139"/>
          </a:xfrm>
          <a:prstGeom prst="ellipse">
            <a:avLst/>
          </a:prstGeom>
          <a:solidFill>
            <a:srgbClr val="727278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sz="1600" b="1" dirty="0">
                <a:solidFill>
                  <a:schemeClr val="bg1"/>
                </a:solidFill>
                <a:cs typeface="B Titr" panose="00000700000000000000" pitchFamily="2" charset="-78"/>
              </a:rPr>
              <a:t>معیار های ارزیابی عملکرد مدل</a:t>
            </a:r>
            <a:endParaRPr lang="en-US" sz="16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E9865BF-C63D-45D0-AACA-B44CDC651E07}"/>
              </a:ext>
            </a:extLst>
          </p:cNvPr>
          <p:cNvGrpSpPr/>
          <p:nvPr/>
        </p:nvGrpSpPr>
        <p:grpSpPr>
          <a:xfrm>
            <a:off x="4026452" y="2679392"/>
            <a:ext cx="1860512" cy="3047678"/>
            <a:chOff x="3565350" y="1580273"/>
            <a:chExt cx="2013300" cy="3297958"/>
          </a:xfrm>
          <a:solidFill>
            <a:srgbClr val="727278"/>
          </a:solidFill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A2AADCE-A497-4C82-964E-5511C69B3925}"/>
                </a:ext>
              </a:extLst>
            </p:cNvPr>
            <p:cNvGrpSpPr/>
            <p:nvPr/>
          </p:nvGrpSpPr>
          <p:grpSpPr>
            <a:xfrm>
              <a:off x="4419600" y="3486150"/>
              <a:ext cx="304800" cy="1392081"/>
              <a:chOff x="4419600" y="3418921"/>
              <a:chExt cx="304800" cy="1392081"/>
            </a:xfrm>
            <a:grpFill/>
          </p:grpSpPr>
          <p:sp>
            <p:nvSpPr>
              <p:cNvPr id="74" name="Rounded Rectangle 91">
                <a:extLst>
                  <a:ext uri="{FF2B5EF4-FFF2-40B4-BE49-F238E27FC236}">
                    <a16:creationId xmlns:a16="http://schemas.microsoft.com/office/drawing/2014/main" id="{D4CFF336-9E0F-4363-897C-DD956908099E}"/>
                  </a:ext>
                </a:extLst>
              </p:cNvPr>
              <p:cNvSpPr/>
              <p:nvPr/>
            </p:nvSpPr>
            <p:spPr bwMode="auto">
              <a:xfrm>
                <a:off x="4419600" y="3929867"/>
                <a:ext cx="304800" cy="881135"/>
              </a:xfrm>
              <a:prstGeom prst="round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Rounded Rectangle 92">
                <a:extLst>
                  <a:ext uri="{FF2B5EF4-FFF2-40B4-BE49-F238E27FC236}">
                    <a16:creationId xmlns:a16="http://schemas.microsoft.com/office/drawing/2014/main" id="{43496B5A-696A-4D36-81FB-63C723149E4C}"/>
                  </a:ext>
                </a:extLst>
              </p:cNvPr>
              <p:cNvSpPr/>
              <p:nvPr/>
            </p:nvSpPr>
            <p:spPr bwMode="auto">
              <a:xfrm>
                <a:off x="4503124" y="3418921"/>
                <a:ext cx="137752" cy="592220"/>
              </a:xfrm>
              <a:prstGeom prst="round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F3BF568-602F-4087-8205-904204800E96}"/>
                  </a:ext>
                </a:extLst>
              </p:cNvPr>
              <p:cNvSpPr/>
              <p:nvPr/>
            </p:nvSpPr>
            <p:spPr bwMode="auto">
              <a:xfrm>
                <a:off x="4419600" y="4054823"/>
                <a:ext cx="304800" cy="7620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2DBF602-E026-492A-BA0C-97B8A64F99F5}"/>
                  </a:ext>
                </a:extLst>
              </p:cNvPr>
              <p:cNvSpPr/>
              <p:nvPr/>
            </p:nvSpPr>
            <p:spPr bwMode="auto">
              <a:xfrm>
                <a:off x="4419600" y="4598287"/>
                <a:ext cx="304800" cy="7620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73" name="Donut 90">
              <a:extLst>
                <a:ext uri="{FF2B5EF4-FFF2-40B4-BE49-F238E27FC236}">
                  <a16:creationId xmlns:a16="http://schemas.microsoft.com/office/drawing/2014/main" id="{CF8F5299-3BFA-47B0-B330-FB2FE604DAF6}"/>
                </a:ext>
              </a:extLst>
            </p:cNvPr>
            <p:cNvSpPr/>
            <p:nvPr/>
          </p:nvSpPr>
          <p:spPr>
            <a:xfrm>
              <a:off x="3565350" y="1580273"/>
              <a:ext cx="2013300" cy="2013298"/>
            </a:xfrm>
            <a:prstGeom prst="donut">
              <a:avLst>
                <a:gd name="adj" fmla="val 609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5" name="Oval 84">
            <a:extLst>
              <a:ext uri="{FF2B5EF4-FFF2-40B4-BE49-F238E27FC236}">
                <a16:creationId xmlns:a16="http://schemas.microsoft.com/office/drawing/2014/main" id="{3CB5D370-D030-471F-AA39-4D4182E920A9}"/>
              </a:ext>
            </a:extLst>
          </p:cNvPr>
          <p:cNvSpPr/>
          <p:nvPr/>
        </p:nvSpPr>
        <p:spPr>
          <a:xfrm>
            <a:off x="3592272" y="4304001"/>
            <a:ext cx="356358" cy="2876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07503BD-F996-40A2-B285-EBC210E20D2F}"/>
              </a:ext>
            </a:extLst>
          </p:cNvPr>
          <p:cNvSpPr/>
          <p:nvPr/>
        </p:nvSpPr>
        <p:spPr>
          <a:xfrm>
            <a:off x="3389574" y="2832829"/>
            <a:ext cx="356358" cy="3563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latin typeface="+mj-lt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D6B4131-5FB2-48DA-A081-2D8E9284750B}"/>
              </a:ext>
            </a:extLst>
          </p:cNvPr>
          <p:cNvSpPr/>
          <p:nvPr/>
        </p:nvSpPr>
        <p:spPr>
          <a:xfrm>
            <a:off x="4805062" y="1962487"/>
            <a:ext cx="356358" cy="3563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384446C-2840-4DA7-A46C-620F1F2D772F}"/>
              </a:ext>
            </a:extLst>
          </p:cNvPr>
          <p:cNvCxnSpPr>
            <a:cxnSpLocks/>
          </p:cNvCxnSpPr>
          <p:nvPr/>
        </p:nvCxnSpPr>
        <p:spPr>
          <a:xfrm>
            <a:off x="4968877" y="2320241"/>
            <a:ext cx="0" cy="38169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BF852EE-B514-4240-A7CB-4AFDD4F69C56}"/>
              </a:ext>
            </a:extLst>
          </p:cNvPr>
          <p:cNvCxnSpPr>
            <a:cxnSpLocks/>
          </p:cNvCxnSpPr>
          <p:nvPr/>
        </p:nvCxnSpPr>
        <p:spPr>
          <a:xfrm>
            <a:off x="3724992" y="3050864"/>
            <a:ext cx="391252" cy="16011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AE94EEF-134E-4D2B-875C-4B9AFB3B8629}"/>
              </a:ext>
            </a:extLst>
          </p:cNvPr>
          <p:cNvCxnSpPr>
            <a:cxnSpLocks/>
          </p:cNvCxnSpPr>
          <p:nvPr/>
        </p:nvCxnSpPr>
        <p:spPr>
          <a:xfrm flipV="1">
            <a:off x="3869681" y="4244795"/>
            <a:ext cx="403631" cy="1663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F79B63D-5EB9-437D-982D-713BE571A71B}"/>
              </a:ext>
            </a:extLst>
          </p:cNvPr>
          <p:cNvSpPr/>
          <p:nvPr/>
        </p:nvSpPr>
        <p:spPr>
          <a:xfrm flipH="1">
            <a:off x="6016357" y="4295082"/>
            <a:ext cx="285273" cy="3249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8C8BE5D-E0E0-4F90-A6C7-182C588BD4DD}"/>
              </a:ext>
            </a:extLst>
          </p:cNvPr>
          <p:cNvSpPr/>
          <p:nvPr/>
        </p:nvSpPr>
        <p:spPr>
          <a:xfrm flipH="1">
            <a:off x="6117833" y="2782388"/>
            <a:ext cx="356358" cy="3563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C91F5F3-DE9B-42EE-8EB9-B29945C3F614}"/>
              </a:ext>
            </a:extLst>
          </p:cNvPr>
          <p:cNvCxnSpPr>
            <a:cxnSpLocks/>
          </p:cNvCxnSpPr>
          <p:nvPr/>
        </p:nvCxnSpPr>
        <p:spPr>
          <a:xfrm flipH="1">
            <a:off x="5769999" y="3015377"/>
            <a:ext cx="382664" cy="15761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2900EB5-BD59-40DF-AAEC-BBA856751D1F}"/>
              </a:ext>
            </a:extLst>
          </p:cNvPr>
          <p:cNvCxnSpPr>
            <a:cxnSpLocks/>
          </p:cNvCxnSpPr>
          <p:nvPr/>
        </p:nvCxnSpPr>
        <p:spPr>
          <a:xfrm flipH="1" flipV="1">
            <a:off x="5719503" y="4103603"/>
            <a:ext cx="324232" cy="245904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Google Shape;500;p37">
            <a:extLst>
              <a:ext uri="{FF2B5EF4-FFF2-40B4-BE49-F238E27FC236}">
                <a16:creationId xmlns:a16="http://schemas.microsoft.com/office/drawing/2014/main" id="{465A1ED9-A59A-444D-A021-8FDD2ED5F343}"/>
              </a:ext>
            </a:extLst>
          </p:cNvPr>
          <p:cNvSpPr txBox="1">
            <a:spLocks/>
          </p:cNvSpPr>
          <p:nvPr/>
        </p:nvSpPr>
        <p:spPr>
          <a:xfrm>
            <a:off x="6610203" y="2581602"/>
            <a:ext cx="1654368" cy="35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latin typeface="+mn-lt"/>
              </a:rPr>
              <a:t>Accuracy</a:t>
            </a:r>
            <a:endParaRPr lang="fa-IR" sz="1600" b="1" kern="0" dirty="0">
              <a:solidFill>
                <a:srgbClr val="272A35"/>
              </a:solidFill>
              <a:latin typeface="+mn-lt"/>
              <a:cs typeface="B Titr" panose="00000700000000000000" pitchFamily="2" charset="-78"/>
            </a:endParaRPr>
          </a:p>
        </p:txBody>
      </p:sp>
      <p:sp>
        <p:nvSpPr>
          <p:cNvPr id="129" name="Google Shape;500;p37">
            <a:extLst>
              <a:ext uri="{FF2B5EF4-FFF2-40B4-BE49-F238E27FC236}">
                <a16:creationId xmlns:a16="http://schemas.microsoft.com/office/drawing/2014/main" id="{BD2831EB-0EAA-4840-B4AB-AED008630E13}"/>
              </a:ext>
            </a:extLst>
          </p:cNvPr>
          <p:cNvSpPr txBox="1">
            <a:spLocks/>
          </p:cNvSpPr>
          <p:nvPr/>
        </p:nvSpPr>
        <p:spPr>
          <a:xfrm>
            <a:off x="6549668" y="2872547"/>
            <a:ext cx="2076876" cy="56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درصد پیش‌بینی‌های صحیح فعالیت بعدی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30" name="Google Shape;500;p37">
            <a:extLst>
              <a:ext uri="{FF2B5EF4-FFF2-40B4-BE49-F238E27FC236}">
                <a16:creationId xmlns:a16="http://schemas.microsoft.com/office/drawing/2014/main" id="{BC5944F7-A303-4B0C-9BCC-01249E8A70C7}"/>
              </a:ext>
            </a:extLst>
          </p:cNvPr>
          <p:cNvSpPr txBox="1">
            <a:spLocks/>
          </p:cNvSpPr>
          <p:nvPr/>
        </p:nvSpPr>
        <p:spPr>
          <a:xfrm>
            <a:off x="6501646" y="4168471"/>
            <a:ext cx="1674614" cy="48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latin typeface="+mn-lt"/>
              </a:rPr>
              <a:t>Top-K Accuracy</a:t>
            </a:r>
            <a:endParaRPr lang="fa-IR" sz="1600" b="1" kern="0" dirty="0">
              <a:solidFill>
                <a:srgbClr val="272A35"/>
              </a:solidFill>
              <a:latin typeface="+mn-lt"/>
              <a:cs typeface="B Titr" panose="00000700000000000000" pitchFamily="2" charset="-78"/>
            </a:endParaRPr>
          </a:p>
        </p:txBody>
      </p:sp>
      <p:sp>
        <p:nvSpPr>
          <p:cNvPr id="131" name="Google Shape;500;p37">
            <a:extLst>
              <a:ext uri="{FF2B5EF4-FFF2-40B4-BE49-F238E27FC236}">
                <a16:creationId xmlns:a16="http://schemas.microsoft.com/office/drawing/2014/main" id="{619675A9-E37F-41D7-8F24-7C374E7D00F5}"/>
              </a:ext>
            </a:extLst>
          </p:cNvPr>
          <p:cNvSpPr txBox="1">
            <a:spLocks/>
          </p:cNvSpPr>
          <p:nvPr/>
        </p:nvSpPr>
        <p:spPr>
          <a:xfrm>
            <a:off x="6467141" y="4603383"/>
            <a:ext cx="2076876" cy="56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بررسی قرارگیری فعالیت واقعی در میان </a:t>
            </a:r>
            <a:r>
              <a:rPr lang="en-US" dirty="0"/>
              <a:t>K </a:t>
            </a:r>
            <a:r>
              <a:rPr lang="fa-IR" dirty="0"/>
              <a:t>پیش‌بینی برتر مدل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36" name="Google Shape;500;p37">
            <a:extLst>
              <a:ext uri="{FF2B5EF4-FFF2-40B4-BE49-F238E27FC236}">
                <a16:creationId xmlns:a16="http://schemas.microsoft.com/office/drawing/2014/main" id="{021E8E8A-E7E8-4E6E-BD72-511032E1C6A7}"/>
              </a:ext>
            </a:extLst>
          </p:cNvPr>
          <p:cNvSpPr txBox="1">
            <a:spLocks/>
          </p:cNvSpPr>
          <p:nvPr/>
        </p:nvSpPr>
        <p:spPr>
          <a:xfrm>
            <a:off x="2369717" y="2687409"/>
            <a:ext cx="949265" cy="44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cs typeface="+mn-cs"/>
              </a:rPr>
              <a:t>Recall</a:t>
            </a:r>
            <a:endParaRPr lang="fa-IR" sz="1600" b="1" kern="0" dirty="0">
              <a:solidFill>
                <a:srgbClr val="272A35"/>
              </a:solidFill>
              <a:latin typeface="Iransans" panose="020B0506030804020204" pitchFamily="34" charset="-78"/>
              <a:cs typeface="+mn-cs"/>
            </a:endParaRPr>
          </a:p>
        </p:txBody>
      </p:sp>
      <p:sp>
        <p:nvSpPr>
          <p:cNvPr id="137" name="Google Shape;500;p37">
            <a:extLst>
              <a:ext uri="{FF2B5EF4-FFF2-40B4-BE49-F238E27FC236}">
                <a16:creationId xmlns:a16="http://schemas.microsoft.com/office/drawing/2014/main" id="{B78F704F-3212-4007-912C-76C1EE5D93FA}"/>
              </a:ext>
            </a:extLst>
          </p:cNvPr>
          <p:cNvSpPr txBox="1">
            <a:spLocks/>
          </p:cNvSpPr>
          <p:nvPr/>
        </p:nvSpPr>
        <p:spPr>
          <a:xfrm>
            <a:off x="1892636" y="3085160"/>
            <a:ext cx="1939809" cy="76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میزان شناسایی صحیح نمونه‌های واقعی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96" name="Google Shape;500;p37">
            <a:extLst>
              <a:ext uri="{FF2B5EF4-FFF2-40B4-BE49-F238E27FC236}">
                <a16:creationId xmlns:a16="http://schemas.microsoft.com/office/drawing/2014/main" id="{C9CC5795-DD4C-4D72-82FF-14F7098C66F1}"/>
              </a:ext>
            </a:extLst>
          </p:cNvPr>
          <p:cNvSpPr txBox="1">
            <a:spLocks/>
          </p:cNvSpPr>
          <p:nvPr/>
        </p:nvSpPr>
        <p:spPr>
          <a:xfrm>
            <a:off x="3724992" y="1556960"/>
            <a:ext cx="1701367" cy="44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cs typeface="+mn-cs"/>
              </a:rPr>
              <a:t>Precision</a:t>
            </a:r>
            <a:endParaRPr lang="fa-IR" sz="1600" b="1" kern="0" dirty="0">
              <a:solidFill>
                <a:srgbClr val="272A35"/>
              </a:solidFill>
              <a:latin typeface="Iransans" panose="020B0506030804020204" pitchFamily="34" charset="-78"/>
              <a:cs typeface="+mn-cs"/>
            </a:endParaRPr>
          </a:p>
        </p:txBody>
      </p:sp>
      <p:sp>
        <p:nvSpPr>
          <p:cNvPr id="97" name="Google Shape;500;p37">
            <a:extLst>
              <a:ext uri="{FF2B5EF4-FFF2-40B4-BE49-F238E27FC236}">
                <a16:creationId xmlns:a16="http://schemas.microsoft.com/office/drawing/2014/main" id="{56813150-727F-46DF-AEDB-6C7D1DEC16FB}"/>
              </a:ext>
            </a:extLst>
          </p:cNvPr>
          <p:cNvSpPr txBox="1">
            <a:spLocks/>
          </p:cNvSpPr>
          <p:nvPr/>
        </p:nvSpPr>
        <p:spPr>
          <a:xfrm>
            <a:off x="3239672" y="1837517"/>
            <a:ext cx="1701368" cy="58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میزان صحت پیش‌بینی‌های هر کلاس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98" name="Google Shape;500;p37">
            <a:extLst>
              <a:ext uri="{FF2B5EF4-FFF2-40B4-BE49-F238E27FC236}">
                <a16:creationId xmlns:a16="http://schemas.microsoft.com/office/drawing/2014/main" id="{CB8671E3-FFEB-4DE6-8518-B825ECBE9F1F}"/>
              </a:ext>
            </a:extLst>
          </p:cNvPr>
          <p:cNvSpPr txBox="1">
            <a:spLocks/>
          </p:cNvSpPr>
          <p:nvPr/>
        </p:nvSpPr>
        <p:spPr>
          <a:xfrm>
            <a:off x="2124810" y="4279492"/>
            <a:ext cx="1341028" cy="44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cs typeface="+mn-cs"/>
              </a:rPr>
              <a:t>F1-Score</a:t>
            </a:r>
            <a:endParaRPr lang="fa-IR" sz="1600" b="1" kern="0" dirty="0">
              <a:solidFill>
                <a:srgbClr val="272A35"/>
              </a:solidFill>
              <a:latin typeface="Iransans" panose="020B0506030804020204" pitchFamily="34" charset="-78"/>
              <a:cs typeface="+mn-cs"/>
            </a:endParaRPr>
          </a:p>
        </p:txBody>
      </p:sp>
      <p:sp>
        <p:nvSpPr>
          <p:cNvPr id="99" name="Google Shape;500;p37">
            <a:extLst>
              <a:ext uri="{FF2B5EF4-FFF2-40B4-BE49-F238E27FC236}">
                <a16:creationId xmlns:a16="http://schemas.microsoft.com/office/drawing/2014/main" id="{F3810EE9-9C4C-4F32-A8A8-A0BDA8D10ECE}"/>
              </a:ext>
            </a:extLst>
          </p:cNvPr>
          <p:cNvSpPr txBox="1">
            <a:spLocks/>
          </p:cNvSpPr>
          <p:nvPr/>
        </p:nvSpPr>
        <p:spPr>
          <a:xfrm>
            <a:off x="1871529" y="4728579"/>
            <a:ext cx="1939809" cy="76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میانگین هماهنگ </a:t>
            </a:r>
            <a:r>
              <a:rPr lang="en-US" dirty="0"/>
              <a:t>Precision </a:t>
            </a:r>
            <a:r>
              <a:rPr lang="fa-IR" dirty="0"/>
              <a:t>و </a:t>
            </a:r>
            <a:r>
              <a:rPr lang="en-US" dirty="0"/>
              <a:t>Recall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74643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21672" y="167331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/>
              <a:t>میزان صحت پیش‌بینی‌های هر کلاس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8E58D9-0371-44A5-B880-857CD75EB786}"/>
              </a:ext>
            </a:extLst>
          </p:cNvPr>
          <p:cNvSpPr txBox="1"/>
          <p:nvPr/>
        </p:nvSpPr>
        <p:spPr>
          <a:xfrm>
            <a:off x="2716741" y="579312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معیار های ارزیابی عملکرد مدل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8BB2C1D-E231-40FF-8F9B-0A502127E5BC}"/>
              </a:ext>
            </a:extLst>
          </p:cNvPr>
          <p:cNvSpPr/>
          <p:nvPr/>
        </p:nvSpPr>
        <p:spPr bwMode="auto">
          <a:xfrm>
            <a:off x="4245637" y="2901992"/>
            <a:ext cx="1422141" cy="1422139"/>
          </a:xfrm>
          <a:prstGeom prst="ellipse">
            <a:avLst/>
          </a:prstGeom>
          <a:solidFill>
            <a:srgbClr val="727278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sz="1600" b="1" dirty="0">
                <a:solidFill>
                  <a:schemeClr val="bg1"/>
                </a:solidFill>
                <a:cs typeface="B Titr" panose="00000700000000000000" pitchFamily="2" charset="-78"/>
              </a:rPr>
              <a:t>معیار های ارزیابی عملکرد مدل</a:t>
            </a:r>
            <a:endParaRPr lang="en-US" sz="16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E9865BF-C63D-45D0-AACA-B44CDC651E07}"/>
              </a:ext>
            </a:extLst>
          </p:cNvPr>
          <p:cNvGrpSpPr/>
          <p:nvPr/>
        </p:nvGrpSpPr>
        <p:grpSpPr>
          <a:xfrm>
            <a:off x="4026452" y="2679392"/>
            <a:ext cx="1860512" cy="3047678"/>
            <a:chOff x="3565350" y="1580273"/>
            <a:chExt cx="2013300" cy="3297958"/>
          </a:xfrm>
          <a:solidFill>
            <a:srgbClr val="727278"/>
          </a:solidFill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A2AADCE-A497-4C82-964E-5511C69B3925}"/>
                </a:ext>
              </a:extLst>
            </p:cNvPr>
            <p:cNvGrpSpPr/>
            <p:nvPr/>
          </p:nvGrpSpPr>
          <p:grpSpPr>
            <a:xfrm>
              <a:off x="4419600" y="3486150"/>
              <a:ext cx="304800" cy="1392081"/>
              <a:chOff x="4419600" y="3418921"/>
              <a:chExt cx="304800" cy="1392081"/>
            </a:xfrm>
            <a:grpFill/>
          </p:grpSpPr>
          <p:sp>
            <p:nvSpPr>
              <p:cNvPr id="74" name="Rounded Rectangle 91">
                <a:extLst>
                  <a:ext uri="{FF2B5EF4-FFF2-40B4-BE49-F238E27FC236}">
                    <a16:creationId xmlns:a16="http://schemas.microsoft.com/office/drawing/2014/main" id="{D4CFF336-9E0F-4363-897C-DD956908099E}"/>
                  </a:ext>
                </a:extLst>
              </p:cNvPr>
              <p:cNvSpPr/>
              <p:nvPr/>
            </p:nvSpPr>
            <p:spPr bwMode="auto">
              <a:xfrm>
                <a:off x="4419600" y="3929867"/>
                <a:ext cx="304800" cy="881135"/>
              </a:xfrm>
              <a:prstGeom prst="round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Rounded Rectangle 92">
                <a:extLst>
                  <a:ext uri="{FF2B5EF4-FFF2-40B4-BE49-F238E27FC236}">
                    <a16:creationId xmlns:a16="http://schemas.microsoft.com/office/drawing/2014/main" id="{43496B5A-696A-4D36-81FB-63C723149E4C}"/>
                  </a:ext>
                </a:extLst>
              </p:cNvPr>
              <p:cNvSpPr/>
              <p:nvPr/>
            </p:nvSpPr>
            <p:spPr bwMode="auto">
              <a:xfrm>
                <a:off x="4503124" y="3418921"/>
                <a:ext cx="137752" cy="592220"/>
              </a:xfrm>
              <a:prstGeom prst="round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F3BF568-602F-4087-8205-904204800E96}"/>
                  </a:ext>
                </a:extLst>
              </p:cNvPr>
              <p:cNvSpPr/>
              <p:nvPr/>
            </p:nvSpPr>
            <p:spPr bwMode="auto">
              <a:xfrm>
                <a:off x="4419600" y="4054823"/>
                <a:ext cx="304800" cy="7620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2DBF602-E026-492A-BA0C-97B8A64F99F5}"/>
                  </a:ext>
                </a:extLst>
              </p:cNvPr>
              <p:cNvSpPr/>
              <p:nvPr/>
            </p:nvSpPr>
            <p:spPr bwMode="auto">
              <a:xfrm>
                <a:off x="4419600" y="4598287"/>
                <a:ext cx="304800" cy="7620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73" name="Donut 90">
              <a:extLst>
                <a:ext uri="{FF2B5EF4-FFF2-40B4-BE49-F238E27FC236}">
                  <a16:creationId xmlns:a16="http://schemas.microsoft.com/office/drawing/2014/main" id="{CF8F5299-3BFA-47B0-B330-FB2FE604DAF6}"/>
                </a:ext>
              </a:extLst>
            </p:cNvPr>
            <p:cNvSpPr/>
            <p:nvPr/>
          </p:nvSpPr>
          <p:spPr>
            <a:xfrm>
              <a:off x="3565350" y="1580273"/>
              <a:ext cx="2013300" cy="2013298"/>
            </a:xfrm>
            <a:prstGeom prst="donut">
              <a:avLst>
                <a:gd name="adj" fmla="val 609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5" name="Oval 84">
            <a:extLst>
              <a:ext uri="{FF2B5EF4-FFF2-40B4-BE49-F238E27FC236}">
                <a16:creationId xmlns:a16="http://schemas.microsoft.com/office/drawing/2014/main" id="{3CB5D370-D030-471F-AA39-4D4182E920A9}"/>
              </a:ext>
            </a:extLst>
          </p:cNvPr>
          <p:cNvSpPr/>
          <p:nvPr/>
        </p:nvSpPr>
        <p:spPr>
          <a:xfrm>
            <a:off x="3592272" y="4304001"/>
            <a:ext cx="356358" cy="2876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07503BD-F996-40A2-B285-EBC210E20D2F}"/>
              </a:ext>
            </a:extLst>
          </p:cNvPr>
          <p:cNvSpPr/>
          <p:nvPr/>
        </p:nvSpPr>
        <p:spPr>
          <a:xfrm>
            <a:off x="3389574" y="2832829"/>
            <a:ext cx="356358" cy="3563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latin typeface="+mj-lt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D6B4131-5FB2-48DA-A081-2D8E9284750B}"/>
              </a:ext>
            </a:extLst>
          </p:cNvPr>
          <p:cNvSpPr/>
          <p:nvPr/>
        </p:nvSpPr>
        <p:spPr>
          <a:xfrm>
            <a:off x="4805062" y="1962487"/>
            <a:ext cx="356358" cy="3563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384446C-2840-4DA7-A46C-620F1F2D772F}"/>
              </a:ext>
            </a:extLst>
          </p:cNvPr>
          <p:cNvCxnSpPr>
            <a:cxnSpLocks/>
          </p:cNvCxnSpPr>
          <p:nvPr/>
        </p:nvCxnSpPr>
        <p:spPr>
          <a:xfrm>
            <a:off x="4968877" y="2320241"/>
            <a:ext cx="0" cy="38169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BF852EE-B514-4240-A7CB-4AFDD4F69C56}"/>
              </a:ext>
            </a:extLst>
          </p:cNvPr>
          <p:cNvCxnSpPr>
            <a:cxnSpLocks/>
          </p:cNvCxnSpPr>
          <p:nvPr/>
        </p:nvCxnSpPr>
        <p:spPr>
          <a:xfrm>
            <a:off x="3724992" y="3050864"/>
            <a:ext cx="391252" cy="16011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AE94EEF-134E-4D2B-875C-4B9AFB3B8629}"/>
              </a:ext>
            </a:extLst>
          </p:cNvPr>
          <p:cNvCxnSpPr>
            <a:cxnSpLocks/>
          </p:cNvCxnSpPr>
          <p:nvPr/>
        </p:nvCxnSpPr>
        <p:spPr>
          <a:xfrm flipV="1">
            <a:off x="3869681" y="4244795"/>
            <a:ext cx="403631" cy="1663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F79B63D-5EB9-437D-982D-713BE571A71B}"/>
              </a:ext>
            </a:extLst>
          </p:cNvPr>
          <p:cNvSpPr/>
          <p:nvPr/>
        </p:nvSpPr>
        <p:spPr>
          <a:xfrm flipH="1">
            <a:off x="6016357" y="4295082"/>
            <a:ext cx="285273" cy="3249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8C8BE5D-E0E0-4F90-A6C7-182C588BD4DD}"/>
              </a:ext>
            </a:extLst>
          </p:cNvPr>
          <p:cNvSpPr/>
          <p:nvPr/>
        </p:nvSpPr>
        <p:spPr>
          <a:xfrm flipH="1">
            <a:off x="6117833" y="2782388"/>
            <a:ext cx="356358" cy="3563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C91F5F3-DE9B-42EE-8EB9-B29945C3F614}"/>
              </a:ext>
            </a:extLst>
          </p:cNvPr>
          <p:cNvCxnSpPr>
            <a:cxnSpLocks/>
          </p:cNvCxnSpPr>
          <p:nvPr/>
        </p:nvCxnSpPr>
        <p:spPr>
          <a:xfrm flipH="1">
            <a:off x="5769999" y="3015377"/>
            <a:ext cx="382664" cy="15761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2900EB5-BD59-40DF-AAEC-BBA856751D1F}"/>
              </a:ext>
            </a:extLst>
          </p:cNvPr>
          <p:cNvCxnSpPr>
            <a:cxnSpLocks/>
          </p:cNvCxnSpPr>
          <p:nvPr/>
        </p:nvCxnSpPr>
        <p:spPr>
          <a:xfrm flipH="1" flipV="1">
            <a:off x="5719503" y="4103603"/>
            <a:ext cx="324232" cy="245904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Google Shape;500;p37">
            <a:extLst>
              <a:ext uri="{FF2B5EF4-FFF2-40B4-BE49-F238E27FC236}">
                <a16:creationId xmlns:a16="http://schemas.microsoft.com/office/drawing/2014/main" id="{465A1ED9-A59A-444D-A021-8FDD2ED5F343}"/>
              </a:ext>
            </a:extLst>
          </p:cNvPr>
          <p:cNvSpPr txBox="1">
            <a:spLocks/>
          </p:cNvSpPr>
          <p:nvPr/>
        </p:nvSpPr>
        <p:spPr>
          <a:xfrm>
            <a:off x="6610203" y="2581602"/>
            <a:ext cx="1654368" cy="35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latin typeface="+mn-lt"/>
              </a:rPr>
              <a:t>Accuracy</a:t>
            </a:r>
            <a:endParaRPr lang="fa-IR" sz="1600" b="1" kern="0" dirty="0">
              <a:solidFill>
                <a:srgbClr val="272A35"/>
              </a:solidFill>
              <a:latin typeface="+mn-lt"/>
              <a:cs typeface="B Titr" panose="00000700000000000000" pitchFamily="2" charset="-78"/>
            </a:endParaRPr>
          </a:p>
        </p:txBody>
      </p:sp>
      <p:sp>
        <p:nvSpPr>
          <p:cNvPr id="129" name="Google Shape;500;p37">
            <a:extLst>
              <a:ext uri="{FF2B5EF4-FFF2-40B4-BE49-F238E27FC236}">
                <a16:creationId xmlns:a16="http://schemas.microsoft.com/office/drawing/2014/main" id="{BD2831EB-0EAA-4840-B4AB-AED008630E13}"/>
              </a:ext>
            </a:extLst>
          </p:cNvPr>
          <p:cNvSpPr txBox="1">
            <a:spLocks/>
          </p:cNvSpPr>
          <p:nvPr/>
        </p:nvSpPr>
        <p:spPr>
          <a:xfrm>
            <a:off x="6549668" y="2872547"/>
            <a:ext cx="2076876" cy="56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درصد پیش‌بینی‌های صحیح فعالیت بعدی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30" name="Google Shape;500;p37">
            <a:extLst>
              <a:ext uri="{FF2B5EF4-FFF2-40B4-BE49-F238E27FC236}">
                <a16:creationId xmlns:a16="http://schemas.microsoft.com/office/drawing/2014/main" id="{BC5944F7-A303-4B0C-9BCC-01249E8A70C7}"/>
              </a:ext>
            </a:extLst>
          </p:cNvPr>
          <p:cNvSpPr txBox="1">
            <a:spLocks/>
          </p:cNvSpPr>
          <p:nvPr/>
        </p:nvSpPr>
        <p:spPr>
          <a:xfrm>
            <a:off x="6501646" y="4168471"/>
            <a:ext cx="1674614" cy="48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latin typeface="+mn-lt"/>
              </a:rPr>
              <a:t>Top-K Accuracy</a:t>
            </a:r>
            <a:endParaRPr lang="fa-IR" sz="1600" b="1" kern="0" dirty="0">
              <a:solidFill>
                <a:srgbClr val="272A35"/>
              </a:solidFill>
              <a:latin typeface="+mn-lt"/>
              <a:cs typeface="B Titr" panose="00000700000000000000" pitchFamily="2" charset="-78"/>
            </a:endParaRPr>
          </a:p>
        </p:txBody>
      </p:sp>
      <p:sp>
        <p:nvSpPr>
          <p:cNvPr id="131" name="Google Shape;500;p37">
            <a:extLst>
              <a:ext uri="{FF2B5EF4-FFF2-40B4-BE49-F238E27FC236}">
                <a16:creationId xmlns:a16="http://schemas.microsoft.com/office/drawing/2014/main" id="{619675A9-E37F-41D7-8F24-7C374E7D00F5}"/>
              </a:ext>
            </a:extLst>
          </p:cNvPr>
          <p:cNvSpPr txBox="1">
            <a:spLocks/>
          </p:cNvSpPr>
          <p:nvPr/>
        </p:nvSpPr>
        <p:spPr>
          <a:xfrm>
            <a:off x="6467141" y="4603383"/>
            <a:ext cx="2076876" cy="56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بررسی قرارگیری فعالیت واقعی در میان </a:t>
            </a:r>
            <a:r>
              <a:rPr lang="en-US" dirty="0"/>
              <a:t>K </a:t>
            </a:r>
            <a:r>
              <a:rPr lang="fa-IR" dirty="0"/>
              <a:t>پیش‌بینی برتر مدل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136" name="Google Shape;500;p37">
            <a:extLst>
              <a:ext uri="{FF2B5EF4-FFF2-40B4-BE49-F238E27FC236}">
                <a16:creationId xmlns:a16="http://schemas.microsoft.com/office/drawing/2014/main" id="{021E8E8A-E7E8-4E6E-BD72-511032E1C6A7}"/>
              </a:ext>
            </a:extLst>
          </p:cNvPr>
          <p:cNvSpPr txBox="1">
            <a:spLocks/>
          </p:cNvSpPr>
          <p:nvPr/>
        </p:nvSpPr>
        <p:spPr>
          <a:xfrm>
            <a:off x="2369717" y="2687409"/>
            <a:ext cx="949265" cy="44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cs typeface="+mn-cs"/>
              </a:rPr>
              <a:t>Recall</a:t>
            </a:r>
            <a:endParaRPr lang="fa-IR" sz="1600" b="1" kern="0" dirty="0">
              <a:solidFill>
                <a:srgbClr val="272A35"/>
              </a:solidFill>
              <a:latin typeface="Iransans" panose="020B0506030804020204" pitchFamily="34" charset="-78"/>
              <a:cs typeface="+mn-cs"/>
            </a:endParaRPr>
          </a:p>
        </p:txBody>
      </p:sp>
      <p:sp>
        <p:nvSpPr>
          <p:cNvPr id="137" name="Google Shape;500;p37">
            <a:extLst>
              <a:ext uri="{FF2B5EF4-FFF2-40B4-BE49-F238E27FC236}">
                <a16:creationId xmlns:a16="http://schemas.microsoft.com/office/drawing/2014/main" id="{B78F704F-3212-4007-912C-76C1EE5D93FA}"/>
              </a:ext>
            </a:extLst>
          </p:cNvPr>
          <p:cNvSpPr txBox="1">
            <a:spLocks/>
          </p:cNvSpPr>
          <p:nvPr/>
        </p:nvSpPr>
        <p:spPr>
          <a:xfrm>
            <a:off x="1892636" y="3085160"/>
            <a:ext cx="1939809" cy="76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میزان شناسایی صحیح نمونه‌های واقعی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96" name="Google Shape;500;p37">
            <a:extLst>
              <a:ext uri="{FF2B5EF4-FFF2-40B4-BE49-F238E27FC236}">
                <a16:creationId xmlns:a16="http://schemas.microsoft.com/office/drawing/2014/main" id="{C9CC5795-DD4C-4D72-82FF-14F7098C66F1}"/>
              </a:ext>
            </a:extLst>
          </p:cNvPr>
          <p:cNvSpPr txBox="1">
            <a:spLocks/>
          </p:cNvSpPr>
          <p:nvPr/>
        </p:nvSpPr>
        <p:spPr>
          <a:xfrm>
            <a:off x="3724992" y="1556960"/>
            <a:ext cx="1701367" cy="44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cs typeface="+mn-cs"/>
              </a:rPr>
              <a:t>Precision</a:t>
            </a:r>
            <a:endParaRPr lang="fa-IR" sz="1600" b="1" kern="0" dirty="0">
              <a:solidFill>
                <a:srgbClr val="272A35"/>
              </a:solidFill>
              <a:latin typeface="Iransans" panose="020B0506030804020204" pitchFamily="34" charset="-78"/>
              <a:cs typeface="+mn-cs"/>
            </a:endParaRPr>
          </a:p>
        </p:txBody>
      </p:sp>
      <p:sp>
        <p:nvSpPr>
          <p:cNvPr id="97" name="Google Shape;500;p37">
            <a:extLst>
              <a:ext uri="{FF2B5EF4-FFF2-40B4-BE49-F238E27FC236}">
                <a16:creationId xmlns:a16="http://schemas.microsoft.com/office/drawing/2014/main" id="{56813150-727F-46DF-AEDB-6C7D1DEC16FB}"/>
              </a:ext>
            </a:extLst>
          </p:cNvPr>
          <p:cNvSpPr txBox="1">
            <a:spLocks/>
          </p:cNvSpPr>
          <p:nvPr/>
        </p:nvSpPr>
        <p:spPr>
          <a:xfrm>
            <a:off x="3239672" y="1837517"/>
            <a:ext cx="1701368" cy="58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میزان صحت پیش‌بینی‌های هر کلاس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  <p:sp>
        <p:nvSpPr>
          <p:cNvPr id="98" name="Google Shape;500;p37">
            <a:extLst>
              <a:ext uri="{FF2B5EF4-FFF2-40B4-BE49-F238E27FC236}">
                <a16:creationId xmlns:a16="http://schemas.microsoft.com/office/drawing/2014/main" id="{CB8671E3-FFEB-4DE6-8518-B825ECBE9F1F}"/>
              </a:ext>
            </a:extLst>
          </p:cNvPr>
          <p:cNvSpPr txBox="1">
            <a:spLocks/>
          </p:cNvSpPr>
          <p:nvPr/>
        </p:nvSpPr>
        <p:spPr>
          <a:xfrm>
            <a:off x="2124810" y="4279492"/>
            <a:ext cx="1341028" cy="44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en-US" sz="1600" b="1" dirty="0">
                <a:cs typeface="+mn-cs"/>
              </a:rPr>
              <a:t>F1-Score</a:t>
            </a:r>
            <a:endParaRPr lang="fa-IR" sz="1600" b="1" kern="0" dirty="0">
              <a:solidFill>
                <a:srgbClr val="272A35"/>
              </a:solidFill>
              <a:latin typeface="Iransans" panose="020B0506030804020204" pitchFamily="34" charset="-78"/>
              <a:cs typeface="+mn-cs"/>
            </a:endParaRPr>
          </a:p>
        </p:txBody>
      </p:sp>
      <p:sp>
        <p:nvSpPr>
          <p:cNvPr id="99" name="Google Shape;500;p37">
            <a:extLst>
              <a:ext uri="{FF2B5EF4-FFF2-40B4-BE49-F238E27FC236}">
                <a16:creationId xmlns:a16="http://schemas.microsoft.com/office/drawing/2014/main" id="{F3810EE9-9C4C-4F32-A8A8-A0BDA8D10ECE}"/>
              </a:ext>
            </a:extLst>
          </p:cNvPr>
          <p:cNvSpPr txBox="1">
            <a:spLocks/>
          </p:cNvSpPr>
          <p:nvPr/>
        </p:nvSpPr>
        <p:spPr>
          <a:xfrm>
            <a:off x="1871529" y="4728579"/>
            <a:ext cx="1939809" cy="76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lvl="0" indent="0" algn="ctr" rtl="1">
              <a:buClr>
                <a:srgbClr val="626279"/>
              </a:buClr>
              <a:buNone/>
            </a:pPr>
            <a:r>
              <a:rPr lang="fa-IR" dirty="0"/>
              <a:t>میانگین هماهنگ </a:t>
            </a:r>
            <a:r>
              <a:rPr lang="en-US" dirty="0"/>
              <a:t>Precision </a:t>
            </a:r>
            <a:r>
              <a:rPr lang="fa-IR" dirty="0"/>
              <a:t>و </a:t>
            </a:r>
            <a:r>
              <a:rPr lang="en-US" dirty="0"/>
              <a:t>Recall</a:t>
            </a:r>
            <a:endParaRPr lang="fa-IR" b="1" kern="0" dirty="0">
              <a:solidFill>
                <a:srgbClr val="272A35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6432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21672" y="167331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میزان صحت پیش‌بینی‌های هر کلاس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8E58D9-0371-44A5-B880-857CD75EB786}"/>
              </a:ext>
            </a:extLst>
          </p:cNvPr>
          <p:cNvSpPr txBox="1"/>
          <p:nvPr/>
        </p:nvSpPr>
        <p:spPr>
          <a:xfrm>
            <a:off x="2716741" y="579312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معیار های ارزیابی عملکرد مدل</a:t>
            </a:r>
          </a:p>
        </p:txBody>
      </p:sp>
      <p:sp>
        <p:nvSpPr>
          <p:cNvPr id="201" name="Rounded Rectangle 2">
            <a:extLst>
              <a:ext uri="{FF2B5EF4-FFF2-40B4-BE49-F238E27FC236}">
                <a16:creationId xmlns:a16="http://schemas.microsoft.com/office/drawing/2014/main" id="{34C7F4D4-345A-43E9-B821-ACBE16313C1D}"/>
              </a:ext>
            </a:extLst>
          </p:cNvPr>
          <p:cNvSpPr/>
          <p:nvPr/>
        </p:nvSpPr>
        <p:spPr>
          <a:xfrm>
            <a:off x="2083828" y="1293250"/>
            <a:ext cx="5897880" cy="3904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6510"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900" b="1">
                <a:solidFill>
                  <a:srgbClr val="1E3657"/>
                </a:solidFill>
                <a:latin typeface="Arial"/>
              </a:defRPr>
            </a:pPr>
            <a:r>
              <a:rPr lang="fa-IR" dirty="0">
                <a:cs typeface="B Nazanin" panose="00000400000000000000" pitchFamily="2" charset="-78"/>
              </a:rPr>
              <a:t>پیش بینی مدل و  بر چسب واقعی (داده های آزمون)</a:t>
            </a:r>
            <a:endParaRPr dirty="0">
              <a:cs typeface="B Nazanin" panose="00000400000000000000" pitchFamily="2" charset="-78"/>
            </a:endParaRPr>
          </a:p>
        </p:txBody>
      </p:sp>
      <p:sp>
        <p:nvSpPr>
          <p:cNvPr id="203" name="Rounded Rectangle 5">
            <a:extLst>
              <a:ext uri="{FF2B5EF4-FFF2-40B4-BE49-F238E27FC236}">
                <a16:creationId xmlns:a16="http://schemas.microsoft.com/office/drawing/2014/main" id="{B1426E33-FD3B-45F1-A91E-C31EF250B542}"/>
              </a:ext>
            </a:extLst>
          </p:cNvPr>
          <p:cNvSpPr/>
          <p:nvPr/>
        </p:nvSpPr>
        <p:spPr>
          <a:xfrm>
            <a:off x="2687782" y="1962835"/>
            <a:ext cx="4434840" cy="4621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6510"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900" b="1">
                <a:solidFill>
                  <a:srgbClr val="1E3657"/>
                </a:solidFill>
                <a:latin typeface="Arial"/>
              </a:defRPr>
            </a:pPr>
            <a:r>
              <a:rPr lang="fa-IR" dirty="0">
                <a:cs typeface="B Nazanin" panose="00000400000000000000" pitchFamily="2" charset="-78"/>
              </a:rPr>
              <a:t>محاسبه معیارهای ارزیابی</a:t>
            </a:r>
            <a:endParaRPr dirty="0">
              <a:cs typeface="B Nazanin" panose="00000400000000000000" pitchFamily="2" charset="-78"/>
            </a:endParaRPr>
          </a:p>
        </p:txBody>
      </p:sp>
      <p:sp>
        <p:nvSpPr>
          <p:cNvPr id="205" name="Rounded Rectangle 8">
            <a:extLst>
              <a:ext uri="{FF2B5EF4-FFF2-40B4-BE49-F238E27FC236}">
                <a16:creationId xmlns:a16="http://schemas.microsoft.com/office/drawing/2014/main" id="{9E060F3A-07B7-48C2-B0C1-C1A5F144F42A}"/>
              </a:ext>
            </a:extLst>
          </p:cNvPr>
          <p:cNvSpPr/>
          <p:nvPr/>
        </p:nvSpPr>
        <p:spPr>
          <a:xfrm>
            <a:off x="810937" y="2645532"/>
            <a:ext cx="3753689" cy="873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651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 rtl="1">
              <a:defRPr sz="1600" b="1">
                <a:solidFill>
                  <a:srgbClr val="1E3657"/>
                </a:solidFill>
                <a:latin typeface="Arial"/>
              </a:defRPr>
            </a:pPr>
            <a:r>
              <a:rPr dirty="0">
                <a:cs typeface="B Nazanin" panose="00000400000000000000" pitchFamily="2" charset="-78"/>
              </a:rPr>
              <a:t>Accuracy 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dirty="0">
                <a:cs typeface="B Nazanin" panose="00000400000000000000" pitchFamily="2" charset="-78"/>
              </a:rPr>
              <a:t>و Top-K Accuracy</a:t>
            </a:r>
            <a:br>
              <a:rPr sz="1400" dirty="0">
                <a:cs typeface="B Nazanin" panose="00000400000000000000" pitchFamily="2" charset="-78"/>
              </a:rPr>
            </a:br>
            <a:r>
              <a:rPr lang="fa-IR" sz="1200" dirty="0">
                <a:cs typeface="B Nazanin" panose="00000400000000000000" pitchFamily="2" charset="-78"/>
              </a:rPr>
              <a:t>صحت پیش بینی اول و حضور پاسخ صحیح در </a:t>
            </a:r>
            <a:r>
              <a:rPr lang="en-US" sz="1200" dirty="0">
                <a:cs typeface="B Nazanin" panose="00000400000000000000" pitchFamily="2" charset="-78"/>
              </a:rPr>
              <a:t> k</a:t>
            </a:r>
            <a:r>
              <a:rPr lang="fa-IR" sz="1200" dirty="0">
                <a:cs typeface="B Nazanin" panose="00000400000000000000" pitchFamily="2" charset="-78"/>
              </a:rPr>
              <a:t>گزینه برتر</a:t>
            </a:r>
            <a:endParaRPr sz="1200" dirty="0">
              <a:cs typeface="B Nazanin" panose="00000400000000000000" pitchFamily="2" charset="-78"/>
            </a:endParaRPr>
          </a:p>
        </p:txBody>
      </p:sp>
      <p:sp>
        <p:nvSpPr>
          <p:cNvPr id="206" name="Rounded Rectangle 9">
            <a:extLst>
              <a:ext uri="{FF2B5EF4-FFF2-40B4-BE49-F238E27FC236}">
                <a16:creationId xmlns:a16="http://schemas.microsoft.com/office/drawing/2014/main" id="{3A2D43EE-595E-4BD0-95FB-343EFE21BD89}"/>
              </a:ext>
            </a:extLst>
          </p:cNvPr>
          <p:cNvSpPr/>
          <p:nvPr/>
        </p:nvSpPr>
        <p:spPr>
          <a:xfrm>
            <a:off x="4939922" y="2581602"/>
            <a:ext cx="4288918" cy="10271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651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600" b="1">
                <a:solidFill>
                  <a:srgbClr val="1E3657"/>
                </a:solidFill>
                <a:latin typeface="Arial"/>
              </a:defRPr>
            </a:pPr>
            <a:endParaRPr lang="fa-IR" sz="1400" dirty="0">
              <a:cs typeface="B Nazanin" panose="00000400000000000000" pitchFamily="2" charset="-78"/>
            </a:endParaRPr>
          </a:p>
          <a:p>
            <a:pPr algn="ctr">
              <a:defRPr sz="1600" b="1">
                <a:solidFill>
                  <a:srgbClr val="1E3657"/>
                </a:solidFill>
                <a:latin typeface="Arial"/>
              </a:defRPr>
            </a:pPr>
            <a:r>
              <a:rPr dirty="0">
                <a:cs typeface="B Nazanin" panose="00000400000000000000" pitchFamily="2" charset="-78"/>
              </a:rPr>
              <a:t>Precision </a:t>
            </a:r>
            <a:r>
              <a:rPr lang="fa-IR" dirty="0">
                <a:cs typeface="B Nazanin" panose="00000400000000000000" pitchFamily="2" charset="-78"/>
              </a:rPr>
              <a:t> و</a:t>
            </a:r>
            <a:r>
              <a:rPr dirty="0">
                <a:cs typeface="B Nazanin" panose="00000400000000000000" pitchFamily="2" charset="-78"/>
              </a:rPr>
              <a:t>Recall</a:t>
            </a:r>
            <a:br>
              <a:rPr sz="1400" dirty="0"/>
            </a:br>
            <a:r>
              <a:rPr lang="fa-IR" sz="1200" dirty="0">
                <a:cs typeface="B Nazanin" panose="00000400000000000000" pitchFamily="2" charset="-78"/>
              </a:rPr>
              <a:t>سنجش کیفیت شناسایی کلاس های فعالیت</a:t>
            </a:r>
            <a:br>
              <a:rPr lang="fa-IR" sz="1400" dirty="0"/>
            </a:br>
            <a:r>
              <a:rPr lang="en-US" sz="1600" dirty="0">
                <a:cs typeface="B Nazanin" panose="00000400000000000000" pitchFamily="2" charset="-78"/>
              </a:rPr>
              <a:t>F1-Score</a:t>
            </a:r>
            <a:br>
              <a:rPr lang="fa-IR" sz="1400" dirty="0"/>
            </a:br>
            <a:r>
              <a:rPr lang="en-US" sz="1200" dirty="0">
                <a:cs typeface="B Nazanin" panose="00000400000000000000" pitchFamily="2" charset="-78"/>
              </a:rPr>
              <a:t>Precision </a:t>
            </a:r>
            <a:r>
              <a:rPr lang="fa-IR" sz="1200" dirty="0">
                <a:cs typeface="B Nazanin" panose="00000400000000000000" pitchFamily="2" charset="-78"/>
              </a:rPr>
              <a:t> و</a:t>
            </a:r>
            <a:r>
              <a:rPr lang="en-US" sz="1200" dirty="0">
                <a:cs typeface="B Nazanin" panose="00000400000000000000" pitchFamily="2" charset="-78"/>
              </a:rPr>
              <a:t>Recall</a:t>
            </a:r>
            <a:r>
              <a:rPr lang="fa-IR" sz="1200" dirty="0">
                <a:cs typeface="B Nazanin" panose="00000400000000000000" pitchFamily="2" charset="-78"/>
              </a:rPr>
              <a:t>میانگین </a:t>
            </a:r>
            <a:br>
              <a:rPr lang="fa-IR" dirty="0"/>
            </a:br>
            <a:endParaRPr dirty="0"/>
          </a:p>
        </p:txBody>
      </p:sp>
      <p:sp>
        <p:nvSpPr>
          <p:cNvPr id="207" name="Rounded Rectangle 12">
            <a:extLst>
              <a:ext uri="{FF2B5EF4-FFF2-40B4-BE49-F238E27FC236}">
                <a16:creationId xmlns:a16="http://schemas.microsoft.com/office/drawing/2014/main" id="{07C46635-A550-42E4-AAB8-282697ED7339}"/>
              </a:ext>
            </a:extLst>
          </p:cNvPr>
          <p:cNvSpPr/>
          <p:nvPr/>
        </p:nvSpPr>
        <p:spPr>
          <a:xfrm>
            <a:off x="5163676" y="3887961"/>
            <a:ext cx="3236976" cy="49792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6510">
            <a:solidFill>
              <a:srgbClr val="6F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600" b="1">
                <a:solidFill>
                  <a:srgbClr val="1E3657"/>
                </a:solidFill>
                <a:latin typeface="Arial"/>
              </a:defRPr>
            </a:pPr>
            <a:r>
              <a:rPr dirty="0">
                <a:cs typeface="B Nazanin" panose="00000400000000000000" pitchFamily="2" charset="-78"/>
              </a:rPr>
              <a:t>F1-Score = 2PR / (P + R)</a:t>
            </a:r>
          </a:p>
        </p:txBody>
      </p:sp>
      <p:sp>
        <p:nvSpPr>
          <p:cNvPr id="208" name="Rounded Rectangle 17">
            <a:extLst>
              <a:ext uri="{FF2B5EF4-FFF2-40B4-BE49-F238E27FC236}">
                <a16:creationId xmlns:a16="http://schemas.microsoft.com/office/drawing/2014/main" id="{32F6B520-2ACA-4903-B548-0BE27FA4443F}"/>
              </a:ext>
            </a:extLst>
          </p:cNvPr>
          <p:cNvSpPr/>
          <p:nvPr/>
        </p:nvSpPr>
        <p:spPr>
          <a:xfrm>
            <a:off x="599758" y="4704711"/>
            <a:ext cx="8458200" cy="4051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651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800" b="1">
                <a:solidFill>
                  <a:srgbClr val="1E3657"/>
                </a:solidFill>
                <a:latin typeface="Arial"/>
              </a:defRPr>
            </a:pPr>
            <a:r>
              <a:rPr lang="fa-IR" dirty="0">
                <a:cs typeface="B Nazanin" panose="00000400000000000000" pitchFamily="2" charset="-78"/>
              </a:rPr>
              <a:t>تحلیل هم زمان معیار ها و مقایسه با مدل های مبنا</a:t>
            </a:r>
            <a:endParaRPr dirty="0">
              <a:cs typeface="B Nazanin" panose="00000400000000000000" pitchFamily="2" charset="-78"/>
            </a:endParaRPr>
          </a:p>
        </p:txBody>
      </p:sp>
      <p:sp>
        <p:nvSpPr>
          <p:cNvPr id="209" name="Rounded Rectangle 20">
            <a:extLst>
              <a:ext uri="{FF2B5EF4-FFF2-40B4-BE49-F238E27FC236}">
                <a16:creationId xmlns:a16="http://schemas.microsoft.com/office/drawing/2014/main" id="{5FA937D1-90FE-4B04-87CB-73B294EA392D}"/>
              </a:ext>
            </a:extLst>
          </p:cNvPr>
          <p:cNvSpPr/>
          <p:nvPr/>
        </p:nvSpPr>
        <p:spPr>
          <a:xfrm>
            <a:off x="1968037" y="5584046"/>
            <a:ext cx="5623560" cy="3291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6510">
            <a:solidFill>
              <a:srgbClr val="649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900" b="1">
                <a:solidFill>
                  <a:srgbClr val="1E3657"/>
                </a:solidFill>
                <a:latin typeface="Arial"/>
              </a:defRPr>
            </a:pPr>
            <a:r>
              <a:rPr lang="fa-IR" dirty="0">
                <a:cs typeface="B Nazanin" panose="00000400000000000000" pitchFamily="2" charset="-78"/>
              </a:rPr>
              <a:t>نتیجه گیری درباره عملکرد مدل</a:t>
            </a:r>
            <a:endParaRPr dirty="0">
              <a:cs typeface="B Nazanin" panose="00000400000000000000" pitchFamily="2" charset="-78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BF196C-AA10-46DC-85A1-D9DCA6BF10A0}"/>
              </a:ext>
            </a:extLst>
          </p:cNvPr>
          <p:cNvCxnSpPr/>
          <p:nvPr/>
        </p:nvCxnSpPr>
        <p:spPr>
          <a:xfrm>
            <a:off x="4779817" y="1683653"/>
            <a:ext cx="0" cy="279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33D6913E-DEEF-4FA9-89DA-21BB4A538AC5}"/>
              </a:ext>
            </a:extLst>
          </p:cNvPr>
          <p:cNvCxnSpPr/>
          <p:nvPr/>
        </p:nvCxnSpPr>
        <p:spPr>
          <a:xfrm>
            <a:off x="4779817" y="2425012"/>
            <a:ext cx="0" cy="279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2DF1D9E-2FB6-4B97-BE1C-EBC5223AE461}"/>
              </a:ext>
            </a:extLst>
          </p:cNvPr>
          <p:cNvCxnSpPr>
            <a:cxnSpLocks/>
          </p:cNvCxnSpPr>
          <p:nvPr/>
        </p:nvCxnSpPr>
        <p:spPr>
          <a:xfrm>
            <a:off x="6379898" y="3595456"/>
            <a:ext cx="0" cy="2561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475A132-179E-4F72-A39E-B198F13A26FD}"/>
              </a:ext>
            </a:extLst>
          </p:cNvPr>
          <p:cNvCxnSpPr>
            <a:cxnSpLocks/>
          </p:cNvCxnSpPr>
          <p:nvPr/>
        </p:nvCxnSpPr>
        <p:spPr>
          <a:xfrm>
            <a:off x="2899356" y="3518822"/>
            <a:ext cx="0" cy="11349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5D57408F-2C49-4800-96F8-53E45D78D300}"/>
              </a:ext>
            </a:extLst>
          </p:cNvPr>
          <p:cNvCxnSpPr>
            <a:cxnSpLocks/>
          </p:cNvCxnSpPr>
          <p:nvPr/>
        </p:nvCxnSpPr>
        <p:spPr>
          <a:xfrm>
            <a:off x="4668746" y="5109886"/>
            <a:ext cx="0" cy="474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B5F5200-C5CA-456E-A48E-5D0D3BA81DC4}"/>
              </a:ext>
            </a:extLst>
          </p:cNvPr>
          <p:cNvCxnSpPr/>
          <p:nvPr/>
        </p:nvCxnSpPr>
        <p:spPr>
          <a:xfrm>
            <a:off x="6370976" y="4385885"/>
            <a:ext cx="0" cy="279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43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0748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001B04BA-F4E3-4762-B5B5-65DC429EFEB1}"/>
              </a:ext>
            </a:extLst>
          </p:cNvPr>
          <p:cNvSpPr txBox="1">
            <a:spLocks/>
          </p:cNvSpPr>
          <p:nvPr/>
        </p:nvSpPr>
        <p:spPr>
          <a:xfrm>
            <a:off x="1458291" y="2969471"/>
            <a:ext cx="3276601" cy="1393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012" rtl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fa-IR" sz="5400" dirty="0">
                <a:solidFill>
                  <a:schemeClr val="accent1"/>
                </a:solidFill>
                <a:latin typeface="Calibri"/>
                <a:cs typeface="B Titr" panose="00000700000000000000" pitchFamily="2" charset="-78"/>
              </a:rPr>
              <a:t>نتایج و بحث</a:t>
            </a:r>
            <a:endParaRPr lang="fa-IR" sz="6000" dirty="0">
              <a:solidFill>
                <a:schemeClr val="accent1"/>
              </a:solidFill>
              <a:latin typeface="Calibri"/>
              <a:cs typeface="B Titr" panose="00000700000000000000" pitchFamily="2" charset="-78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25C8DEB-F553-42FD-98D1-D34DD012250A}"/>
              </a:ext>
            </a:extLst>
          </p:cNvPr>
          <p:cNvGrpSpPr/>
          <p:nvPr/>
        </p:nvGrpSpPr>
        <p:grpSpPr>
          <a:xfrm>
            <a:off x="5136562" y="1580939"/>
            <a:ext cx="3028050" cy="2936527"/>
            <a:chOff x="7156450" y="2708275"/>
            <a:chExt cx="233363" cy="234950"/>
          </a:xfrm>
          <a:solidFill>
            <a:schemeClr val="accent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AF0973-3215-44D7-A2AC-ADDD75C9B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162496" tIns="81248" rIns="162496" bIns="812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166167">
                <a:buClrTx/>
                <a:defRPr/>
              </a:pPr>
              <a:endParaRPr lang="en-US" sz="2488">
                <a:solidFill>
                  <a:srgbClr val="000000"/>
                </a:solidFill>
                <a:latin typeface="Calibri" panose="020F0502020204030204" pitchFamily="34" charset="0"/>
                <a:cs typeface="B Titr" panose="00000700000000000000" pitchFamily="2" charset="-78"/>
              </a:endParaRPr>
            </a:p>
          </p:txBody>
        </p:sp>
        <p:sp>
          <p:nvSpPr>
            <p:cNvPr id="71" name="Freeform 48">
              <a:extLst>
                <a:ext uri="{FF2B5EF4-FFF2-40B4-BE49-F238E27FC236}">
                  <a16:creationId xmlns:a16="http://schemas.microsoft.com/office/drawing/2014/main" id="{425F6816-48A2-4F35-97FF-8BC5932B7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496" tIns="81248" rIns="162496" bIns="812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121888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166167">
                <a:buClrTx/>
                <a:defRPr/>
              </a:pPr>
              <a:endParaRPr lang="en-US" sz="2488">
                <a:solidFill>
                  <a:srgbClr val="000000"/>
                </a:solidFill>
                <a:latin typeface="Calibri" panose="020F0502020204030204" pitchFamily="34" charset="0"/>
                <a:cs typeface="B Titr" panose="000007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4886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20748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BH" dirty="0"/>
              <a:t>چالش های اصلی </a:t>
            </a:r>
            <a:r>
              <a:rPr lang="fa-IR" dirty="0"/>
              <a:t>آ</a:t>
            </a: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Vazir" panose="020B0603030804020204" pitchFamily="34" charset="-78"/>
              </a:rPr>
              <a:t> 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5856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587346" y="332008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3274994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3308217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38544" y="631395"/>
            <a:ext cx="9282546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8EB7-5ACF-0F68-4B1D-36314F4B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FC6E4D46-000E-4098-9EC8-0C2A2116CCB8}"/>
              </a:ext>
            </a:extLst>
          </p:cNvPr>
          <p:cNvSpPr txBox="1"/>
          <p:nvPr/>
        </p:nvSpPr>
        <p:spPr>
          <a:xfrm>
            <a:off x="2716741" y="579312"/>
            <a:ext cx="381000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معرفی دیتاست</a:t>
            </a:r>
          </a:p>
        </p:txBody>
      </p:sp>
      <p:sp>
        <p:nvSpPr>
          <p:cNvPr id="105" name="Freeform 5">
            <a:extLst>
              <a:ext uri="{FF2B5EF4-FFF2-40B4-BE49-F238E27FC236}">
                <a16:creationId xmlns:a16="http://schemas.microsoft.com/office/drawing/2014/main" id="{6DBEB0A6-EF34-48F7-8805-B3F28C09D058}"/>
              </a:ext>
            </a:extLst>
          </p:cNvPr>
          <p:cNvSpPr>
            <a:spLocks/>
          </p:cNvSpPr>
          <p:nvPr/>
        </p:nvSpPr>
        <p:spPr bwMode="auto">
          <a:xfrm flipH="1">
            <a:off x="6818721" y="1239123"/>
            <a:ext cx="1620180" cy="2743572"/>
          </a:xfrm>
          <a:custGeom>
            <a:avLst/>
            <a:gdLst/>
            <a:ahLst/>
            <a:cxnLst/>
            <a:rect l="l" t="t" r="r" b="b"/>
            <a:pathLst>
              <a:path w="1620180" h="3192123">
                <a:moveTo>
                  <a:pt x="175619" y="98"/>
                </a:moveTo>
                <a:cubicBezTo>
                  <a:pt x="189197" y="-316"/>
                  <a:pt x="203071" y="565"/>
                  <a:pt x="217047" y="2846"/>
                </a:cubicBezTo>
                <a:lnTo>
                  <a:pt x="1498868" y="213511"/>
                </a:lnTo>
                <a:cubicBezTo>
                  <a:pt x="1566467" y="224396"/>
                  <a:pt x="1620180" y="281064"/>
                  <a:pt x="1620180" y="346377"/>
                </a:cubicBezTo>
                <a:lnTo>
                  <a:pt x="1620180" y="792725"/>
                </a:lnTo>
                <a:lnTo>
                  <a:pt x="1620180" y="2187291"/>
                </a:lnTo>
                <a:lnTo>
                  <a:pt x="1620180" y="2633639"/>
                </a:lnTo>
                <a:cubicBezTo>
                  <a:pt x="1620180" y="2702473"/>
                  <a:pt x="1571582" y="2746975"/>
                  <a:pt x="1519330" y="2763944"/>
                </a:cubicBezTo>
                <a:lnTo>
                  <a:pt x="250299" y="3181111"/>
                </a:lnTo>
                <a:cubicBezTo>
                  <a:pt x="126428" y="3221771"/>
                  <a:pt x="0" y="3144613"/>
                  <a:pt x="0" y="3035439"/>
                </a:cubicBezTo>
                <a:lnTo>
                  <a:pt x="0" y="2589091"/>
                </a:lnTo>
                <a:lnTo>
                  <a:pt x="0" y="608633"/>
                </a:lnTo>
                <a:lnTo>
                  <a:pt x="0" y="162285"/>
                </a:lnTo>
                <a:cubicBezTo>
                  <a:pt x="0" y="69279"/>
                  <a:pt x="80571" y="2991"/>
                  <a:pt x="175619" y="98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/>
            <a:endParaRPr lang="zh-CN" altLang="en-US">
              <a:latin typeface="Calibri" panose="020F0502020204030204" pitchFamily="34" charset="0"/>
              <a:cs typeface="B Titr" panose="00000700000000000000" pitchFamily="2" charset="-78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F8081E4-6153-4B9A-B033-30555C94572F}"/>
              </a:ext>
            </a:extLst>
          </p:cNvPr>
          <p:cNvSpPr txBox="1"/>
          <p:nvPr/>
        </p:nvSpPr>
        <p:spPr>
          <a:xfrm flipH="1">
            <a:off x="6858480" y="2398268"/>
            <a:ext cx="1540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600" dirty="0">
                <a:cs typeface="B Nazanin" panose="00000400000000000000" pitchFamily="2" charset="-78"/>
              </a:rPr>
              <a:t>BPI Challenge 2012</a:t>
            </a:r>
            <a:endParaRPr kumimoji="0" lang="fa-IR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软雅黑" pitchFamily="34" charset="-122"/>
              <a:cs typeface="B Nazanin" panose="00000400000000000000" pitchFamily="2" charset="-78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248246-2861-432A-85E6-D2D0AE375C00}"/>
              </a:ext>
            </a:extLst>
          </p:cNvPr>
          <p:cNvSpPr txBox="1"/>
          <p:nvPr/>
        </p:nvSpPr>
        <p:spPr>
          <a:xfrm flipH="1">
            <a:off x="6948131" y="1566531"/>
            <a:ext cx="1370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zh-CN" sz="1600" b="1" dirty="0">
                <a:latin typeface="Calibri" panose="020F0502020204030204" pitchFamily="34" charset="0"/>
                <a:ea typeface="微软雅黑" pitchFamily="34" charset="-122"/>
                <a:cs typeface="B Titr" panose="00000700000000000000" pitchFamily="2" charset="-78"/>
              </a:rPr>
              <a:t>نام نام دیتا ست</a:t>
            </a:r>
            <a:endParaRPr lang="zh-CN" altLang="en-US" sz="1600" b="1" dirty="0">
              <a:latin typeface="Calibri" panose="020F0502020204030204" pitchFamily="34" charset="0"/>
              <a:ea typeface="微软雅黑" pitchFamily="34" charset="-122"/>
              <a:cs typeface="B Titr" panose="00000700000000000000" pitchFamily="2" charset="-78"/>
            </a:endParaRPr>
          </a:p>
        </p:txBody>
      </p:sp>
      <p:sp>
        <p:nvSpPr>
          <p:cNvPr id="108" name="Freeform 5">
            <a:extLst>
              <a:ext uri="{FF2B5EF4-FFF2-40B4-BE49-F238E27FC236}">
                <a16:creationId xmlns:a16="http://schemas.microsoft.com/office/drawing/2014/main" id="{84D5ECD2-2976-416F-95D3-2E9ADF01ED69}"/>
              </a:ext>
            </a:extLst>
          </p:cNvPr>
          <p:cNvSpPr>
            <a:spLocks/>
          </p:cNvSpPr>
          <p:nvPr/>
        </p:nvSpPr>
        <p:spPr bwMode="auto">
          <a:xfrm flipH="1">
            <a:off x="4957501" y="1347432"/>
            <a:ext cx="1620180" cy="2743572"/>
          </a:xfrm>
          <a:custGeom>
            <a:avLst/>
            <a:gdLst/>
            <a:ahLst/>
            <a:cxnLst/>
            <a:rect l="l" t="t" r="r" b="b"/>
            <a:pathLst>
              <a:path w="1620180" h="3192123">
                <a:moveTo>
                  <a:pt x="175619" y="98"/>
                </a:moveTo>
                <a:cubicBezTo>
                  <a:pt x="189197" y="-316"/>
                  <a:pt x="203071" y="565"/>
                  <a:pt x="217047" y="2846"/>
                </a:cubicBezTo>
                <a:lnTo>
                  <a:pt x="1498868" y="213511"/>
                </a:lnTo>
                <a:cubicBezTo>
                  <a:pt x="1566467" y="224396"/>
                  <a:pt x="1620180" y="281064"/>
                  <a:pt x="1620180" y="346377"/>
                </a:cubicBezTo>
                <a:lnTo>
                  <a:pt x="1620180" y="792725"/>
                </a:lnTo>
                <a:lnTo>
                  <a:pt x="1620180" y="2187291"/>
                </a:lnTo>
                <a:lnTo>
                  <a:pt x="1620180" y="2633639"/>
                </a:lnTo>
                <a:cubicBezTo>
                  <a:pt x="1620180" y="2702473"/>
                  <a:pt x="1571582" y="2746975"/>
                  <a:pt x="1519330" y="2763944"/>
                </a:cubicBezTo>
                <a:lnTo>
                  <a:pt x="250299" y="3181111"/>
                </a:lnTo>
                <a:cubicBezTo>
                  <a:pt x="126428" y="3221771"/>
                  <a:pt x="0" y="3144613"/>
                  <a:pt x="0" y="3035439"/>
                </a:cubicBezTo>
                <a:lnTo>
                  <a:pt x="0" y="2589091"/>
                </a:lnTo>
                <a:lnTo>
                  <a:pt x="0" y="608633"/>
                </a:lnTo>
                <a:lnTo>
                  <a:pt x="0" y="162285"/>
                </a:lnTo>
                <a:cubicBezTo>
                  <a:pt x="0" y="69279"/>
                  <a:pt x="80571" y="2991"/>
                  <a:pt x="175619" y="98"/>
                </a:cubicBezTo>
                <a:close/>
              </a:path>
            </a:pathLst>
          </a:custGeom>
          <a:solidFill>
            <a:schemeClr val="accent2"/>
          </a:solidFill>
          <a:ln w="12700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/>
            <a:endParaRPr lang="zh-CN" altLang="en-US">
              <a:latin typeface="Calibri" panose="020F0502020204030204" pitchFamily="34" charset="0"/>
              <a:cs typeface="B Titr" panose="00000700000000000000" pitchFamily="2" charset="-78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ECD4F07-48E6-429F-A029-EC179B7D7C88}"/>
              </a:ext>
            </a:extLst>
          </p:cNvPr>
          <p:cNvSpPr txBox="1"/>
          <p:nvPr/>
        </p:nvSpPr>
        <p:spPr>
          <a:xfrm flipH="1">
            <a:off x="5042357" y="2412711"/>
            <a:ext cx="142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软雅黑" pitchFamily="34" charset="-122"/>
                <a:cs typeface="B Nazanin" panose="00000400000000000000" pitchFamily="2" charset="-78"/>
              </a:rPr>
              <a:t>فرآیند</a:t>
            </a:r>
            <a:r>
              <a:rPr kumimoji="0" lang="fa-IR" altLang="zh-CN" sz="160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微软雅黑" pitchFamily="34" charset="-122"/>
                <a:cs typeface="B Nazanin" panose="00000400000000000000" pitchFamily="2" charset="-78"/>
              </a:rPr>
              <a:t> درخواست وام بانکی</a:t>
            </a:r>
            <a:endParaRPr kumimoji="0" lang="fa-IR" alt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微软雅黑" pitchFamily="34" charset="-122"/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B246B52-6141-4CAB-8986-FD392FD224EB}"/>
              </a:ext>
            </a:extLst>
          </p:cNvPr>
          <p:cNvSpPr txBox="1"/>
          <p:nvPr/>
        </p:nvSpPr>
        <p:spPr>
          <a:xfrm flipH="1">
            <a:off x="5060303" y="1664804"/>
            <a:ext cx="1337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zh-CN" sz="1600" b="1" dirty="0">
                <a:solidFill>
                  <a:schemeClr val="bg1"/>
                </a:solidFill>
                <a:latin typeface="Calibri" panose="020F0502020204030204" pitchFamily="34" charset="0"/>
                <a:ea typeface="微软雅黑" pitchFamily="34" charset="-122"/>
                <a:cs typeface="B Titr" panose="00000700000000000000" pitchFamily="2" charset="-78"/>
              </a:rPr>
              <a:t>حوزه کاربرد</a:t>
            </a:r>
            <a:endParaRPr lang="zh-CN" altLang="en-US" sz="1600" b="1" dirty="0">
              <a:solidFill>
                <a:schemeClr val="bg1"/>
              </a:solidFill>
              <a:latin typeface="Calibri" panose="020F0502020204030204" pitchFamily="34" charset="0"/>
              <a:ea typeface="微软雅黑" pitchFamily="34" charset="-122"/>
              <a:cs typeface="B Titr" panose="00000700000000000000" pitchFamily="2" charset="-78"/>
            </a:endParaRPr>
          </a:p>
        </p:txBody>
      </p:sp>
      <p:sp>
        <p:nvSpPr>
          <p:cNvPr id="111" name="Freeform 5">
            <a:extLst>
              <a:ext uri="{FF2B5EF4-FFF2-40B4-BE49-F238E27FC236}">
                <a16:creationId xmlns:a16="http://schemas.microsoft.com/office/drawing/2014/main" id="{73823D1D-3E4B-4519-BA58-0D5D766D62B2}"/>
              </a:ext>
            </a:extLst>
          </p:cNvPr>
          <p:cNvSpPr>
            <a:spLocks/>
          </p:cNvSpPr>
          <p:nvPr/>
        </p:nvSpPr>
        <p:spPr bwMode="auto">
          <a:xfrm flipH="1">
            <a:off x="3022446" y="1357718"/>
            <a:ext cx="1620180" cy="2743572"/>
          </a:xfrm>
          <a:custGeom>
            <a:avLst/>
            <a:gdLst/>
            <a:ahLst/>
            <a:cxnLst/>
            <a:rect l="l" t="t" r="r" b="b"/>
            <a:pathLst>
              <a:path w="1620180" h="3192123">
                <a:moveTo>
                  <a:pt x="175619" y="98"/>
                </a:moveTo>
                <a:cubicBezTo>
                  <a:pt x="189197" y="-316"/>
                  <a:pt x="203071" y="565"/>
                  <a:pt x="217047" y="2846"/>
                </a:cubicBezTo>
                <a:lnTo>
                  <a:pt x="1498868" y="213511"/>
                </a:lnTo>
                <a:cubicBezTo>
                  <a:pt x="1566467" y="224396"/>
                  <a:pt x="1620180" y="281064"/>
                  <a:pt x="1620180" y="346377"/>
                </a:cubicBezTo>
                <a:lnTo>
                  <a:pt x="1620180" y="792725"/>
                </a:lnTo>
                <a:lnTo>
                  <a:pt x="1620180" y="2187291"/>
                </a:lnTo>
                <a:lnTo>
                  <a:pt x="1620180" y="2633639"/>
                </a:lnTo>
                <a:cubicBezTo>
                  <a:pt x="1620180" y="2702473"/>
                  <a:pt x="1571582" y="2746975"/>
                  <a:pt x="1519330" y="2763944"/>
                </a:cubicBezTo>
                <a:lnTo>
                  <a:pt x="250299" y="3181111"/>
                </a:lnTo>
                <a:cubicBezTo>
                  <a:pt x="126428" y="3221771"/>
                  <a:pt x="0" y="3144613"/>
                  <a:pt x="0" y="3035439"/>
                </a:cubicBezTo>
                <a:lnTo>
                  <a:pt x="0" y="2589091"/>
                </a:lnTo>
                <a:lnTo>
                  <a:pt x="0" y="608633"/>
                </a:lnTo>
                <a:lnTo>
                  <a:pt x="0" y="162285"/>
                </a:lnTo>
                <a:cubicBezTo>
                  <a:pt x="0" y="69279"/>
                  <a:pt x="80571" y="2991"/>
                  <a:pt x="175619" y="98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/>
            <a:endParaRPr lang="zh-CN" altLang="en-US">
              <a:latin typeface="Calibri" panose="020F0502020204030204" pitchFamily="34" charset="0"/>
              <a:cs typeface="B Titr" panose="00000700000000000000" pitchFamily="2" charset="-78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AEA8F9-6EBB-468C-8028-78B652014B57}"/>
              </a:ext>
            </a:extLst>
          </p:cNvPr>
          <p:cNvSpPr txBox="1"/>
          <p:nvPr/>
        </p:nvSpPr>
        <p:spPr>
          <a:xfrm flipH="1">
            <a:off x="3156896" y="2421908"/>
            <a:ext cx="129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600" dirty="0">
                <a:cs typeface="B Nazanin" panose="00000400000000000000" pitchFamily="2" charset="-78"/>
              </a:rPr>
              <a:t>رویدادنگار واقعی </a:t>
            </a:r>
            <a:r>
              <a:rPr lang="en-US" sz="1600" dirty="0">
                <a:cs typeface="B Nazanin" panose="00000400000000000000" pitchFamily="2" charset="-78"/>
              </a:rPr>
              <a:t>(Event Log)</a:t>
            </a:r>
            <a:endParaRPr kumimoji="0" lang="fa-IR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软雅黑" pitchFamily="34" charset="-122"/>
              <a:cs typeface="B Nazanin" panose="00000400000000000000" pitchFamily="2" charset="-7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19D9195-7AB0-4AC6-8027-A0E7749BF402}"/>
              </a:ext>
            </a:extLst>
          </p:cNvPr>
          <p:cNvSpPr txBox="1"/>
          <p:nvPr/>
        </p:nvSpPr>
        <p:spPr>
          <a:xfrm flipH="1">
            <a:off x="3237696" y="1691570"/>
            <a:ext cx="1337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zh-CN" sz="1600" b="1" dirty="0">
                <a:latin typeface="Calibri" panose="020F0502020204030204" pitchFamily="34" charset="0"/>
                <a:ea typeface="微软雅黑" pitchFamily="34" charset="-122"/>
                <a:cs typeface="B Titr" panose="00000700000000000000" pitchFamily="2" charset="-78"/>
              </a:rPr>
              <a:t>نوع داده</a:t>
            </a:r>
            <a:endParaRPr lang="zh-CN" altLang="en-US" sz="1600" b="1" dirty="0">
              <a:latin typeface="Calibri" panose="020F0502020204030204" pitchFamily="34" charset="0"/>
              <a:ea typeface="微软雅黑" pitchFamily="34" charset="-122"/>
              <a:cs typeface="B Titr" panose="00000700000000000000" pitchFamily="2" charset="-78"/>
            </a:endParaRPr>
          </a:p>
        </p:txBody>
      </p:sp>
      <p:sp>
        <p:nvSpPr>
          <p:cNvPr id="114" name="Freeform 5">
            <a:extLst>
              <a:ext uri="{FF2B5EF4-FFF2-40B4-BE49-F238E27FC236}">
                <a16:creationId xmlns:a16="http://schemas.microsoft.com/office/drawing/2014/main" id="{68CB0E57-5850-49D2-8646-3059A3F5E360}"/>
              </a:ext>
            </a:extLst>
          </p:cNvPr>
          <p:cNvSpPr>
            <a:spLocks/>
          </p:cNvSpPr>
          <p:nvPr/>
        </p:nvSpPr>
        <p:spPr bwMode="auto">
          <a:xfrm flipH="1">
            <a:off x="1032398" y="1347432"/>
            <a:ext cx="1620180" cy="2743572"/>
          </a:xfrm>
          <a:custGeom>
            <a:avLst/>
            <a:gdLst/>
            <a:ahLst/>
            <a:cxnLst/>
            <a:rect l="l" t="t" r="r" b="b"/>
            <a:pathLst>
              <a:path w="1620180" h="3192123">
                <a:moveTo>
                  <a:pt x="175619" y="98"/>
                </a:moveTo>
                <a:cubicBezTo>
                  <a:pt x="189197" y="-316"/>
                  <a:pt x="203071" y="565"/>
                  <a:pt x="217047" y="2846"/>
                </a:cubicBezTo>
                <a:lnTo>
                  <a:pt x="1498868" y="213511"/>
                </a:lnTo>
                <a:cubicBezTo>
                  <a:pt x="1566467" y="224396"/>
                  <a:pt x="1620180" y="281064"/>
                  <a:pt x="1620180" y="346377"/>
                </a:cubicBezTo>
                <a:lnTo>
                  <a:pt x="1620180" y="792725"/>
                </a:lnTo>
                <a:lnTo>
                  <a:pt x="1620180" y="2187291"/>
                </a:lnTo>
                <a:lnTo>
                  <a:pt x="1620180" y="2633639"/>
                </a:lnTo>
                <a:cubicBezTo>
                  <a:pt x="1620180" y="2702473"/>
                  <a:pt x="1571582" y="2746975"/>
                  <a:pt x="1519330" y="2763944"/>
                </a:cubicBezTo>
                <a:lnTo>
                  <a:pt x="250299" y="3181111"/>
                </a:lnTo>
                <a:cubicBezTo>
                  <a:pt x="126428" y="3221771"/>
                  <a:pt x="0" y="3144613"/>
                  <a:pt x="0" y="3035439"/>
                </a:cubicBezTo>
                <a:lnTo>
                  <a:pt x="0" y="2589091"/>
                </a:lnTo>
                <a:lnTo>
                  <a:pt x="0" y="608633"/>
                </a:lnTo>
                <a:lnTo>
                  <a:pt x="0" y="162285"/>
                </a:lnTo>
                <a:cubicBezTo>
                  <a:pt x="0" y="69279"/>
                  <a:pt x="80571" y="2991"/>
                  <a:pt x="175619" y="98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/>
            <a:endParaRPr lang="zh-CN" altLang="en-US">
              <a:latin typeface="Calibri" panose="020F0502020204030204" pitchFamily="34" charset="0"/>
              <a:cs typeface="B Titr" panose="00000700000000000000" pitchFamily="2" charset="-78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3F2D14A-115A-414F-A466-A289C70011DB}"/>
              </a:ext>
            </a:extLst>
          </p:cNvPr>
          <p:cNvSpPr txBox="1"/>
          <p:nvPr/>
        </p:nvSpPr>
        <p:spPr>
          <a:xfrm flipH="1">
            <a:off x="1192650" y="2229566"/>
            <a:ext cx="1296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600" dirty="0">
                <a:cs typeface="B Nazanin" panose="00000400000000000000" pitchFamily="2" charset="-78"/>
              </a:rPr>
              <a:t>شناسه پرونده، نام فعالیت ، زمان وقوع رویداد</a:t>
            </a:r>
            <a:endParaRPr kumimoji="0" lang="fa-IR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微软雅黑" pitchFamily="34" charset="-122"/>
              <a:cs typeface="B Nazanin" panose="00000400000000000000" pitchFamily="2" charset="-78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A643C5A-BEF8-486C-81F3-9526CD3A166B}"/>
              </a:ext>
            </a:extLst>
          </p:cNvPr>
          <p:cNvSpPr txBox="1"/>
          <p:nvPr/>
        </p:nvSpPr>
        <p:spPr>
          <a:xfrm flipH="1">
            <a:off x="1172118" y="1691570"/>
            <a:ext cx="1337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zh-CN" sz="1600" b="1" dirty="0">
                <a:latin typeface="Calibri" panose="020F0502020204030204" pitchFamily="34" charset="0"/>
                <a:ea typeface="微软雅黑" pitchFamily="34" charset="-122"/>
                <a:cs typeface="B Titr" panose="00000700000000000000" pitchFamily="2" charset="-78"/>
              </a:rPr>
              <a:t>اطلاعات اصلی</a:t>
            </a:r>
            <a:endParaRPr lang="zh-CN" altLang="en-US" sz="1600" b="1" dirty="0">
              <a:latin typeface="Calibri" panose="020F0502020204030204" pitchFamily="34" charset="0"/>
              <a:ea typeface="微软雅黑" pitchFamily="34" charset="-122"/>
              <a:cs typeface="B Titr" panose="00000700000000000000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7F70D3-E44A-495C-AB8C-A5FB3146D6FF}"/>
              </a:ext>
            </a:extLst>
          </p:cNvPr>
          <p:cNvSpPr txBox="1"/>
          <p:nvPr/>
        </p:nvSpPr>
        <p:spPr>
          <a:xfrm flipH="1">
            <a:off x="3753384" y="4416093"/>
            <a:ext cx="2190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zh-CN" sz="1600" b="1" dirty="0">
                <a:latin typeface="Calibri" panose="020F0502020204030204" pitchFamily="34" charset="0"/>
                <a:ea typeface="微软雅黑" pitchFamily="34" charset="-122"/>
                <a:cs typeface="B Titr" panose="00000700000000000000" pitchFamily="2" charset="-78"/>
              </a:rPr>
              <a:t>نمونه ساختار رویدادنگار</a:t>
            </a:r>
            <a:endParaRPr lang="zh-CN" altLang="en-US" sz="1600" b="1" dirty="0">
              <a:latin typeface="Calibri" panose="020F0502020204030204" pitchFamily="34" charset="0"/>
              <a:ea typeface="微软雅黑" pitchFamily="34" charset="-122"/>
              <a:cs typeface="B Titr" panose="00000700000000000000" pitchFamily="2" charset="-7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BD6A93-C079-4EF7-B8FB-B3311EF2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63140"/>
              </p:ext>
            </p:extLst>
          </p:nvPr>
        </p:nvGraphicFramePr>
        <p:xfrm>
          <a:off x="1781575" y="4889201"/>
          <a:ext cx="6134364" cy="1330234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044788">
                  <a:extLst>
                    <a:ext uri="{9D8B030D-6E8A-4147-A177-3AD203B41FA5}">
                      <a16:colId xmlns:a16="http://schemas.microsoft.com/office/drawing/2014/main" val="1095339053"/>
                    </a:ext>
                  </a:extLst>
                </a:gridCol>
                <a:gridCol w="2044788">
                  <a:extLst>
                    <a:ext uri="{9D8B030D-6E8A-4147-A177-3AD203B41FA5}">
                      <a16:colId xmlns:a16="http://schemas.microsoft.com/office/drawing/2014/main" val="1880636799"/>
                    </a:ext>
                  </a:extLst>
                </a:gridCol>
                <a:gridCol w="2044788">
                  <a:extLst>
                    <a:ext uri="{9D8B030D-6E8A-4147-A177-3AD203B41FA5}">
                      <a16:colId xmlns:a16="http://schemas.microsoft.com/office/drawing/2014/main" val="419663646"/>
                    </a:ext>
                  </a:extLst>
                </a:gridCol>
              </a:tblGrid>
              <a:tr h="2646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cs typeface="B Traffic" panose="00000400000000000000" pitchFamily="2" charset="-78"/>
                        </a:rPr>
                        <a:t>شناسه پرونده</a:t>
                      </a:r>
                      <a:r>
                        <a:rPr lang="en-US" sz="1400">
                          <a:effectLst/>
                          <a:cs typeface="B Traffic" panose="00000400000000000000" pitchFamily="2" charset="-78"/>
                        </a:rPr>
                        <a:t> (Case ID)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Traffic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cs typeface="B Traffic" panose="00000400000000000000" pitchFamily="2" charset="-78"/>
                        </a:rPr>
                        <a:t>نام فعالیت</a:t>
                      </a:r>
                      <a:r>
                        <a:rPr lang="en-US" sz="1400">
                          <a:effectLst/>
                          <a:cs typeface="B Traffic" panose="00000400000000000000" pitchFamily="2" charset="-78"/>
                        </a:rPr>
                        <a:t> (Activity)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Traffic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  <a:cs typeface="B Traffic" panose="00000400000000000000" pitchFamily="2" charset="-78"/>
                        </a:rPr>
                        <a:t>زمان وقوع</a:t>
                      </a:r>
                      <a:r>
                        <a:rPr lang="en-US" sz="1400" dirty="0">
                          <a:effectLst/>
                          <a:cs typeface="B Traffic" panose="00000400000000000000" pitchFamily="2" charset="-78"/>
                        </a:rPr>
                        <a:t> (Timestamp)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Traffic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7600056"/>
                  </a:ext>
                </a:extLst>
              </a:tr>
              <a:tr h="26639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A_SUBMITTED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09:00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6578026"/>
                  </a:ext>
                </a:extLst>
              </a:tr>
              <a:tr h="26639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A_PARTLYSUBMITTED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09:05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7781449"/>
                  </a:ext>
                </a:extLst>
              </a:tr>
              <a:tr h="26639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A_PREACCEPTED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09:12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7008694"/>
                  </a:ext>
                </a:extLst>
              </a:tr>
              <a:tr h="26639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1002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A_SUBMITTED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10:00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7209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599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D6C5907-EB8F-4796-9D9D-CB9EE334F43C}"/>
              </a:ext>
            </a:extLst>
          </p:cNvPr>
          <p:cNvSpPr txBox="1"/>
          <p:nvPr/>
        </p:nvSpPr>
        <p:spPr>
          <a:xfrm>
            <a:off x="2716741" y="579312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نتایج ارزیابی مدل پیشنهادی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505D63E5-DF30-448F-B66E-7686D79C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827313"/>
              </p:ext>
            </p:extLst>
          </p:nvPr>
        </p:nvGraphicFramePr>
        <p:xfrm>
          <a:off x="461639" y="2263806"/>
          <a:ext cx="3653160" cy="2443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6580">
                  <a:extLst>
                    <a:ext uri="{9D8B030D-6E8A-4147-A177-3AD203B41FA5}">
                      <a16:colId xmlns:a16="http://schemas.microsoft.com/office/drawing/2014/main" val="3306612505"/>
                    </a:ext>
                  </a:extLst>
                </a:gridCol>
                <a:gridCol w="1826580">
                  <a:extLst>
                    <a:ext uri="{9D8B030D-6E8A-4147-A177-3AD203B41FA5}">
                      <a16:colId xmlns:a16="http://schemas.microsoft.com/office/drawing/2014/main" val="4231164716"/>
                    </a:ext>
                  </a:extLst>
                </a:gridCol>
              </a:tblGrid>
              <a:tr h="488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معیار ارزیابی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دقت (%)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3542499"/>
                  </a:ext>
                </a:extLst>
              </a:tr>
              <a:tr h="488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Top-1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84.27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5700380"/>
                  </a:ext>
                </a:extLst>
              </a:tr>
              <a:tr h="488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Top-3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98.01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1150432"/>
                  </a:ext>
                </a:extLst>
              </a:tr>
              <a:tr h="488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Top-5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99.35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0363540"/>
                  </a:ext>
                </a:extLst>
              </a:tr>
              <a:tr h="488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Top-10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99.9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8088345"/>
                  </a:ext>
                </a:extLst>
              </a:tr>
            </a:tbl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ADE794C0-4CAD-4717-BA02-F34823DF1115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955" r="657"/>
          <a:stretch/>
        </p:blipFill>
        <p:spPr bwMode="auto">
          <a:xfrm>
            <a:off x="4297381" y="2263807"/>
            <a:ext cx="4715001" cy="25056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923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614CE23-26A9-4829-B7A8-C4F6795FDF04}"/>
              </a:ext>
            </a:extLst>
          </p:cNvPr>
          <p:cNvSpPr txBox="1"/>
          <p:nvPr/>
        </p:nvSpPr>
        <p:spPr>
          <a:xfrm>
            <a:off x="1526931" y="496488"/>
            <a:ext cx="6505773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dirty="0">
                <a:cs typeface="B Titr" panose="00000700000000000000" pitchFamily="2" charset="-78"/>
              </a:rPr>
              <a:t>تحلیل خطا های پیش بینی با ماتریس درهم ریختگی</a:t>
            </a:r>
            <a:endParaRPr lang="fa-IR" sz="2800" kern="0" dirty="0">
              <a:solidFill>
                <a:prstClr val="black"/>
              </a:solidFill>
              <a:latin typeface="Vazir" panose="020B0604020202020204" charset="-78"/>
              <a:cs typeface="B Titr" panose="00000700000000000000" pitchFamily="2" charset="-78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E1F7AE5-E02C-45DE-9F4A-E0AEC511CC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8" y="1460992"/>
            <a:ext cx="8507069" cy="436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67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38A245F-3435-42B5-9DB7-FA72C610BE20}"/>
              </a:ext>
            </a:extLst>
          </p:cNvPr>
          <p:cNvSpPr txBox="1"/>
          <p:nvPr/>
        </p:nvSpPr>
        <p:spPr>
          <a:xfrm>
            <a:off x="1020932" y="496488"/>
            <a:ext cx="7696939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dirty="0">
                <a:cs typeface="B Titr" panose="00000700000000000000" pitchFamily="2" charset="-78"/>
              </a:rPr>
              <a:t>معیارهای </a:t>
            </a:r>
            <a:r>
              <a:rPr lang="en-US" sz="2800" dirty="0">
                <a:cs typeface="B Titr" panose="00000700000000000000" pitchFamily="2" charset="-78"/>
              </a:rPr>
              <a:t> </a:t>
            </a:r>
            <a:r>
              <a:rPr lang="en-US" sz="2800" b="1" dirty="0">
                <a:cs typeface="B Titr" panose="00000700000000000000" pitchFamily="2" charset="-78"/>
              </a:rPr>
              <a:t>Precision / Recall / F1</a:t>
            </a:r>
            <a:r>
              <a:rPr lang="fa-IR" sz="2800" dirty="0">
                <a:cs typeface="B Titr" panose="00000700000000000000" pitchFamily="2" charset="-78"/>
              </a:rPr>
              <a:t>به تفکیک کلاس </a:t>
            </a:r>
            <a:r>
              <a:rPr lang="en-US" sz="2800" b="1" dirty="0">
                <a:cs typeface="B Titr" panose="00000700000000000000" pitchFamily="2" charset="-78"/>
              </a:rPr>
              <a:t>Top-15</a:t>
            </a:r>
            <a:endParaRPr lang="fa-IR" sz="2800" kern="0" dirty="0">
              <a:solidFill>
                <a:prstClr val="black"/>
              </a:solidFill>
              <a:latin typeface="Vazir" panose="020B0604020202020204" charset="-78"/>
              <a:cs typeface="B Titr" panose="00000700000000000000" pitchFamily="2" charset="-78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886B368D-B9D7-404C-A61C-588549932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7"/>
          <a:stretch>
            <a:fillRect/>
          </a:stretch>
        </p:blipFill>
        <p:spPr bwMode="auto">
          <a:xfrm>
            <a:off x="527212" y="1553592"/>
            <a:ext cx="8403685" cy="4543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307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4832708-D02F-4043-92D7-F97F84FB71FA}"/>
              </a:ext>
            </a:extLst>
          </p:cNvPr>
          <p:cNvSpPr txBox="1"/>
          <p:nvPr/>
        </p:nvSpPr>
        <p:spPr>
          <a:xfrm>
            <a:off x="2716741" y="579312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توزیع فراوانی فعالیت ها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A3AD911-9C22-4B1E-AADD-9E2A6299B1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7" y="1402673"/>
            <a:ext cx="7802724" cy="460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0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4832708-D02F-4043-92D7-F97F84FB71FA}"/>
              </a:ext>
            </a:extLst>
          </p:cNvPr>
          <p:cNvSpPr txBox="1"/>
          <p:nvPr/>
        </p:nvSpPr>
        <p:spPr>
          <a:xfrm>
            <a:off x="2716741" y="579312"/>
            <a:ext cx="436764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توزیع طول پیشوند ها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57E638E-093D-473C-A1B7-CD50B3C6FC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44" y="1487880"/>
            <a:ext cx="8522638" cy="44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28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4832708-D02F-4043-92D7-F97F84FB71FA}"/>
              </a:ext>
            </a:extLst>
          </p:cNvPr>
          <p:cNvSpPr txBox="1"/>
          <p:nvPr/>
        </p:nvSpPr>
        <p:spPr>
          <a:xfrm>
            <a:off x="1987387" y="555417"/>
            <a:ext cx="5584862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مقایسه عملکرد مدل با پژوهش های پیشین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193C565-4EF3-446A-AE2D-D1245BDF2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148667"/>
              </p:ext>
            </p:extLst>
          </p:nvPr>
        </p:nvGraphicFramePr>
        <p:xfrm>
          <a:off x="440447" y="1597981"/>
          <a:ext cx="8392835" cy="408373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326197">
                  <a:extLst>
                    <a:ext uri="{9D8B030D-6E8A-4147-A177-3AD203B41FA5}">
                      <a16:colId xmlns:a16="http://schemas.microsoft.com/office/drawing/2014/main" val="2122524854"/>
                    </a:ext>
                  </a:extLst>
                </a:gridCol>
                <a:gridCol w="1054426">
                  <a:extLst>
                    <a:ext uri="{9D8B030D-6E8A-4147-A177-3AD203B41FA5}">
                      <a16:colId xmlns:a16="http://schemas.microsoft.com/office/drawing/2014/main" val="1075574625"/>
                    </a:ext>
                  </a:extLst>
                </a:gridCol>
                <a:gridCol w="3601224">
                  <a:extLst>
                    <a:ext uri="{9D8B030D-6E8A-4147-A177-3AD203B41FA5}">
                      <a16:colId xmlns:a16="http://schemas.microsoft.com/office/drawing/2014/main" val="2430034056"/>
                    </a:ext>
                  </a:extLst>
                </a:gridCol>
                <a:gridCol w="1129197">
                  <a:extLst>
                    <a:ext uri="{9D8B030D-6E8A-4147-A177-3AD203B41FA5}">
                      <a16:colId xmlns:a16="http://schemas.microsoft.com/office/drawing/2014/main" val="437966947"/>
                    </a:ext>
                  </a:extLst>
                </a:gridCol>
                <a:gridCol w="1281791">
                  <a:extLst>
                    <a:ext uri="{9D8B030D-6E8A-4147-A177-3AD203B41FA5}">
                      <a16:colId xmlns:a16="http://schemas.microsoft.com/office/drawing/2014/main" val="841100071"/>
                    </a:ext>
                  </a:extLst>
                </a:gridCol>
              </a:tblGrid>
              <a:tr h="453697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400" dirty="0">
                          <a:effectLst/>
                        </a:rPr>
                        <a:t>پژوهشگر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سال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روش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دقت </a:t>
                      </a:r>
                      <a:r>
                        <a:rPr lang="en-US" sz="1400" dirty="0">
                          <a:effectLst/>
                        </a:rPr>
                        <a:t>Top-1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دیتاست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492032"/>
                  </a:ext>
                </a:extLst>
              </a:tr>
              <a:tr h="499066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Li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۲۰۲۵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Stacked Autoencoders + N-gram + Feature Hashing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۸۳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۱٪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BPI 2012_A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700207"/>
                  </a:ext>
                </a:extLst>
              </a:tr>
              <a:tr h="474205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/>
                        <a:t>Wuyts</a:t>
                      </a:r>
                      <a:r>
                        <a:rPr lang="en-US" sz="1200" dirty="0"/>
                        <a:t> </a:t>
                      </a:r>
                      <a:r>
                        <a:rPr lang="fa-IR" sz="1200" dirty="0"/>
                        <a:t>همکاران و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 dirty="0">
                          <a:effectLst/>
                        </a:rPr>
                        <a:t>۲۰۲۴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LSTM-based Predictive 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۸۲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۳۱٪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BPI 2012 Full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8428659"/>
                  </a:ext>
                </a:extLst>
              </a:tr>
              <a:tr h="474205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Camargo </a:t>
                      </a:r>
                      <a:r>
                        <a:rPr lang="fa-IR" sz="1200" dirty="0"/>
                        <a:t>همکاران و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 dirty="0">
                          <a:effectLst/>
                        </a:rPr>
                        <a:t>۲۰۲۴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LSTM + Bucketing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۷۷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۸٪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BPI 2012_W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345633"/>
                  </a:ext>
                </a:extLst>
              </a:tr>
              <a:tr h="474205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Venugopal </a:t>
                      </a:r>
                      <a:r>
                        <a:rPr lang="fa-IR" sz="1200" dirty="0"/>
                        <a:t>همکاران و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۲۰۲۴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MLP (Multi-Layer Perceptron)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۶۵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۵۹٪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BPI 2012_W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376632"/>
                  </a:ext>
                </a:extLst>
              </a:tr>
              <a:tr h="474205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/>
                        <a:t>Taymouri</a:t>
                      </a:r>
                      <a:r>
                        <a:rPr lang="fa-IR" sz="1200" dirty="0"/>
                        <a:t> و </a:t>
                      </a:r>
                      <a:r>
                        <a:rPr lang="en-US" sz="1200" dirty="0"/>
                        <a:t> </a:t>
                      </a:r>
                      <a:r>
                        <a:rPr lang="fa-IR" sz="1200" dirty="0"/>
                        <a:t> همکاران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۲۰۲۴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GAN+LSTM (k=4)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۸۰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۰۹٪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BPI 2012_W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8971086"/>
                  </a:ext>
                </a:extLst>
              </a:tr>
              <a:tr h="379972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Tax </a:t>
                      </a:r>
                      <a:r>
                        <a:rPr lang="fa-IR" sz="1200" dirty="0"/>
                        <a:t>همکاران و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۲۰۲۴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Attention-based LSTM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۷۸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۷٪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BPI 2012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3123504"/>
                  </a:ext>
                </a:extLst>
              </a:tr>
              <a:tr h="474205"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Hsieh</a:t>
                      </a:r>
                      <a:r>
                        <a:rPr lang="fa-IR" sz="1200" dirty="0"/>
                        <a:t> و </a:t>
                      </a:r>
                      <a:r>
                        <a:rPr lang="en-US" sz="1200" dirty="0"/>
                        <a:t> </a:t>
                      </a:r>
                      <a:r>
                        <a:rPr lang="fa-IR" sz="1200" dirty="0"/>
                        <a:t>همکاران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۲۰۲۴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DiCE4EL (LSTM + Dense)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۸۲٪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BPI 2012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1816639"/>
                  </a:ext>
                </a:extLst>
              </a:tr>
              <a:tr h="379972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200" dirty="0">
                          <a:effectLst/>
                        </a:rPr>
                        <a:t>مدل پیشنهادی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2026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200" dirty="0">
                          <a:effectLst/>
                        </a:rPr>
                        <a:t>تبدیل کننده با ویژگی‌های غنی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200">
                          <a:effectLst/>
                        </a:rPr>
                        <a:t>۸۴</a:t>
                      </a:r>
                      <a:r>
                        <a:rPr lang="ar-SA" sz="1200">
                          <a:effectLst/>
                        </a:rPr>
                        <a:t>٫</a:t>
                      </a:r>
                      <a:r>
                        <a:rPr lang="fa-IR" sz="1200">
                          <a:effectLst/>
                        </a:rPr>
                        <a:t>۲۷٪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BPI 2012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09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676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3854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769928" y="479704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587347" y="4035450"/>
            <a:ext cx="257378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hlinkClick r:id="rId3" action="ppaction://hlinksldjump"/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000813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034036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E5C838-7591-FD8C-DBB8-4DDDC5B0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4832708-D02F-4043-92D7-F97F84FB71FA}"/>
              </a:ext>
            </a:extLst>
          </p:cNvPr>
          <p:cNvSpPr txBox="1"/>
          <p:nvPr/>
        </p:nvSpPr>
        <p:spPr>
          <a:xfrm>
            <a:off x="2218610" y="579312"/>
            <a:ext cx="5122416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تحلیل کارایی محاسباتی مدل پیشنهادی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8241EB-B36E-4CDC-9D22-9D2D26D62C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84" y="1487880"/>
            <a:ext cx="8645208" cy="429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3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66255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587346" y="479704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35450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770838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804061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8ADBD8-16E9-C214-588B-0FEE053D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25FF0717-DCDF-4D3D-925E-3D4BA8220C45}"/>
              </a:ext>
            </a:extLst>
          </p:cNvPr>
          <p:cNvSpPr txBox="1">
            <a:spLocks/>
          </p:cNvSpPr>
          <p:nvPr/>
        </p:nvSpPr>
        <p:spPr>
          <a:xfrm>
            <a:off x="613618" y="2790343"/>
            <a:ext cx="5589493" cy="1276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012" rtl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fa-IR" sz="4400" dirty="0">
                <a:solidFill>
                  <a:schemeClr val="accent1"/>
                </a:solidFill>
                <a:latin typeface="Calibri"/>
                <a:cs typeface="B Titr" panose="00000700000000000000" pitchFamily="2" charset="-78"/>
              </a:rPr>
              <a:t>نتیجه گیری و پیشنهادات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C7B9D5-9DF5-4B73-8C3E-8D41A9CB8EF9}"/>
              </a:ext>
            </a:extLst>
          </p:cNvPr>
          <p:cNvGrpSpPr/>
          <p:nvPr/>
        </p:nvGrpSpPr>
        <p:grpSpPr>
          <a:xfrm>
            <a:off x="6070706" y="2181299"/>
            <a:ext cx="2483929" cy="2495401"/>
            <a:chOff x="11614433" y="4916269"/>
            <a:chExt cx="424088" cy="426047"/>
          </a:xfrm>
          <a:solidFill>
            <a:schemeClr val="accent1"/>
          </a:solidFill>
        </p:grpSpPr>
        <p:sp>
          <p:nvSpPr>
            <p:cNvPr id="37" name="Google Shape;10969;p65">
              <a:extLst>
                <a:ext uri="{FF2B5EF4-FFF2-40B4-BE49-F238E27FC236}">
                  <a16:creationId xmlns:a16="http://schemas.microsoft.com/office/drawing/2014/main" id="{F4583BF6-2B08-4E3F-A6F2-3D1F6C57DF52}"/>
                </a:ext>
              </a:extLst>
            </p:cNvPr>
            <p:cNvSpPr/>
            <p:nvPr/>
          </p:nvSpPr>
          <p:spPr>
            <a:xfrm>
              <a:off x="11685292" y="4916269"/>
              <a:ext cx="277513" cy="426047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38" name="Google Shape;10970;p65">
              <a:extLst>
                <a:ext uri="{FF2B5EF4-FFF2-40B4-BE49-F238E27FC236}">
                  <a16:creationId xmlns:a16="http://schemas.microsoft.com/office/drawing/2014/main" id="{389960AA-084D-46AE-8E71-85397CF545FD}"/>
                </a:ext>
              </a:extLst>
            </p:cNvPr>
            <p:cNvSpPr/>
            <p:nvPr/>
          </p:nvSpPr>
          <p:spPr>
            <a:xfrm>
              <a:off x="11988199" y="5041657"/>
              <a:ext cx="50322" cy="2634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39" name="Google Shape;10971;p65">
              <a:extLst>
                <a:ext uri="{FF2B5EF4-FFF2-40B4-BE49-F238E27FC236}">
                  <a16:creationId xmlns:a16="http://schemas.microsoft.com/office/drawing/2014/main" id="{F0899D69-F75D-4F26-8583-5B54DA20AA35}"/>
                </a:ext>
              </a:extLst>
            </p:cNvPr>
            <p:cNvSpPr/>
            <p:nvPr/>
          </p:nvSpPr>
          <p:spPr>
            <a:xfrm>
              <a:off x="11614433" y="5041657"/>
              <a:ext cx="50322" cy="2634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40" name="Google Shape;10972;p65">
              <a:extLst>
                <a:ext uri="{FF2B5EF4-FFF2-40B4-BE49-F238E27FC236}">
                  <a16:creationId xmlns:a16="http://schemas.microsoft.com/office/drawing/2014/main" id="{A37DFF24-76F9-449E-AEE0-7CBB164C83A6}"/>
                </a:ext>
              </a:extLst>
            </p:cNvPr>
            <p:cNvSpPr/>
            <p:nvPr/>
          </p:nvSpPr>
          <p:spPr>
            <a:xfrm>
              <a:off x="11963057" y="4941231"/>
              <a:ext cx="51446" cy="38567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42" name="Google Shape;10973;p65">
              <a:extLst>
                <a:ext uri="{FF2B5EF4-FFF2-40B4-BE49-F238E27FC236}">
                  <a16:creationId xmlns:a16="http://schemas.microsoft.com/office/drawing/2014/main" id="{28EDAE11-03FA-4504-91DC-E2976259275F}"/>
                </a:ext>
              </a:extLst>
            </p:cNvPr>
            <p:cNvSpPr/>
            <p:nvPr/>
          </p:nvSpPr>
          <p:spPr>
            <a:xfrm>
              <a:off x="11638415" y="5129203"/>
              <a:ext cx="51483" cy="38059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47" name="Google Shape;10974;p65">
              <a:extLst>
                <a:ext uri="{FF2B5EF4-FFF2-40B4-BE49-F238E27FC236}">
                  <a16:creationId xmlns:a16="http://schemas.microsoft.com/office/drawing/2014/main" id="{B3850174-7660-49FB-9F36-EB8E458BE759}"/>
                </a:ext>
              </a:extLst>
            </p:cNvPr>
            <p:cNvSpPr/>
            <p:nvPr/>
          </p:nvSpPr>
          <p:spPr>
            <a:xfrm>
              <a:off x="11964181" y="5129203"/>
              <a:ext cx="50322" cy="37043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48" name="Google Shape;10975;p65">
              <a:extLst>
                <a:ext uri="{FF2B5EF4-FFF2-40B4-BE49-F238E27FC236}">
                  <a16:creationId xmlns:a16="http://schemas.microsoft.com/office/drawing/2014/main" id="{7074CD8E-F240-4D03-9EB1-C41155C80869}"/>
                </a:ext>
              </a:extLst>
            </p:cNvPr>
            <p:cNvSpPr/>
            <p:nvPr/>
          </p:nvSpPr>
          <p:spPr>
            <a:xfrm>
              <a:off x="11639576" y="4942247"/>
              <a:ext cx="50322" cy="37043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  <p:sp>
          <p:nvSpPr>
            <p:cNvPr id="51" name="Google Shape;10976;p65">
              <a:extLst>
                <a:ext uri="{FF2B5EF4-FFF2-40B4-BE49-F238E27FC236}">
                  <a16:creationId xmlns:a16="http://schemas.microsoft.com/office/drawing/2014/main" id="{696AD508-814A-4834-BB74-12BF203ADE4A}"/>
                </a:ext>
              </a:extLst>
            </p:cNvPr>
            <p:cNvSpPr/>
            <p:nvPr/>
          </p:nvSpPr>
          <p:spPr>
            <a:xfrm>
              <a:off x="11751575" y="4968115"/>
              <a:ext cx="148643" cy="222184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62533" tIns="162533" rIns="162533" bIns="162533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2933" b="1">
                <a:cs typeface="B Titr" panose="000007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541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60780" y="11230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587346" y="479704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35450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770838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804061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8ADBD8-16E9-C214-588B-0FEE053D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17EF720-8C8C-4F8B-8756-69B6779BAE0A}"/>
              </a:ext>
            </a:extLst>
          </p:cNvPr>
          <p:cNvSpPr txBox="1"/>
          <p:nvPr/>
        </p:nvSpPr>
        <p:spPr>
          <a:xfrm>
            <a:off x="2227488" y="679731"/>
            <a:ext cx="5362920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نتیجه گیری و پاسخ به پرسش های پژوهش</a:t>
            </a:r>
          </a:p>
        </p:txBody>
      </p:sp>
      <p:sp>
        <p:nvSpPr>
          <p:cNvPr id="40" name="Rounded Rectangle 46">
            <a:extLst>
              <a:ext uri="{FF2B5EF4-FFF2-40B4-BE49-F238E27FC236}">
                <a16:creationId xmlns:a16="http://schemas.microsoft.com/office/drawing/2014/main" id="{EA40EF6D-2BFA-4D5A-969D-253056400A8B}"/>
              </a:ext>
            </a:extLst>
          </p:cNvPr>
          <p:cNvSpPr/>
          <p:nvPr/>
        </p:nvSpPr>
        <p:spPr bwMode="auto">
          <a:xfrm>
            <a:off x="5011188" y="3876471"/>
            <a:ext cx="3355640" cy="114511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9050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Nazanin" panose="00000400000000000000" pitchFamily="2" charset="-78"/>
              </a:rPr>
              <a:t>طراحی خروجی کمکی برای برآورد پتانسیل بهبود تأخیر زمانی و شناسایی فرصت‌های احتمالی بهینه‌سازی زمان اجرای فرآیند</a:t>
            </a:r>
            <a:br>
              <a:rPr lang="fa-IR" sz="1600" dirty="0"/>
            </a:br>
            <a:r>
              <a:rPr lang="fa-IR" sz="1400" i="1" dirty="0">
                <a:cs typeface="B Nazanin" panose="00000400000000000000" pitchFamily="2" charset="-78"/>
              </a:rPr>
              <a:t>مستند: معماری مدل، اسلاید ۱۷</a:t>
            </a:r>
            <a:endParaRPr lang="fa-IR" sz="1600" dirty="0">
              <a:cs typeface="B Nazanin" panose="00000400000000000000" pitchFamily="2" charset="-78"/>
            </a:endParaRPr>
          </a:p>
        </p:txBody>
      </p:sp>
      <p:sp>
        <p:nvSpPr>
          <p:cNvPr id="42" name="Rounded Rectangle 48">
            <a:extLst>
              <a:ext uri="{FF2B5EF4-FFF2-40B4-BE49-F238E27FC236}">
                <a16:creationId xmlns:a16="http://schemas.microsoft.com/office/drawing/2014/main" id="{62B34690-57D0-4564-8F4D-8BCD7B2F6F8D}"/>
              </a:ext>
            </a:extLst>
          </p:cNvPr>
          <p:cNvSpPr/>
          <p:nvPr/>
        </p:nvSpPr>
        <p:spPr bwMode="auto">
          <a:xfrm>
            <a:off x="1065053" y="2081510"/>
            <a:ext cx="3213638" cy="1039673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9050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Nazanin" panose="00000400000000000000" pitchFamily="2" charset="-78"/>
              </a:rPr>
              <a:t>طراحی خروجی مستقل برای تخمین زمان باقی‌مانده با بهره‌گیری از ویژگی‌های استخراج‌شده و تابع زیان  </a:t>
            </a:r>
            <a:r>
              <a:rPr lang="en-US" sz="1600" dirty="0">
                <a:cs typeface="B Nazanin" panose="00000400000000000000" pitchFamily="2" charset="-78"/>
              </a:rPr>
              <a:t>Huber</a:t>
            </a:r>
            <a:br>
              <a:rPr lang="en-US" sz="1600" dirty="0">
                <a:cs typeface="B Nazanin" panose="00000400000000000000" pitchFamily="2" charset="-78"/>
              </a:rPr>
            </a:br>
            <a:r>
              <a:rPr lang="fa-IR" sz="1400" dirty="0">
                <a:cs typeface="B Nazanin" panose="00000400000000000000" pitchFamily="2" charset="-78"/>
              </a:rPr>
              <a:t>مستند:معماری مدل و روش آموزش اسلاید 17 و 19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47" name="Rounded Rectangle 50">
            <a:extLst>
              <a:ext uri="{FF2B5EF4-FFF2-40B4-BE49-F238E27FC236}">
                <a16:creationId xmlns:a16="http://schemas.microsoft.com/office/drawing/2014/main" id="{189E3C99-1B67-4B33-A568-CB19EFEED06A}"/>
              </a:ext>
            </a:extLst>
          </p:cNvPr>
          <p:cNvSpPr/>
          <p:nvPr/>
        </p:nvSpPr>
        <p:spPr bwMode="auto">
          <a:xfrm>
            <a:off x="4971495" y="2076427"/>
            <a:ext cx="3351083" cy="103967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9050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Nazanin" panose="00000400000000000000" pitchFamily="2" charset="-78"/>
              </a:rPr>
              <a:t>دستیابی به دقت %۸۴٫۲۷ در</a:t>
            </a:r>
            <a:r>
              <a:rPr lang="fa-IR" sz="1600" b="1" i="1" dirty="0">
                <a:cs typeface="B Nazanin" panose="00000400000000000000" pitchFamily="2" charset="-78"/>
              </a:rPr>
              <a:t> </a:t>
            </a:r>
            <a:r>
              <a:rPr lang="en-US" sz="1600" dirty="0">
                <a:cs typeface="B Nazanin" panose="00000400000000000000" pitchFamily="2" charset="-78"/>
              </a:rPr>
              <a:t>Top-1 </a:t>
            </a:r>
            <a:r>
              <a:rPr lang="fa-IR" sz="1600" dirty="0">
                <a:cs typeface="B Nazanin" panose="00000400000000000000" pitchFamily="2" charset="-78"/>
              </a:rPr>
              <a:t>و %۹۸٫۰۱ </a:t>
            </a:r>
            <a:r>
              <a:rPr lang="fa-IR" sz="1600" b="1" dirty="0">
                <a:cs typeface="B Nazanin" panose="00000400000000000000" pitchFamily="2" charset="-78"/>
              </a:rPr>
              <a:t>در </a:t>
            </a:r>
            <a:r>
              <a:rPr lang="en-US" sz="1600" dirty="0">
                <a:cs typeface="B Nazanin" panose="00000400000000000000" pitchFamily="2" charset="-78"/>
              </a:rPr>
              <a:t>Top-3 </a:t>
            </a:r>
            <a:r>
              <a:rPr lang="fa-IR" sz="1600" dirty="0">
                <a:cs typeface="B Nazanin" panose="00000400000000000000" pitchFamily="2" charset="-78"/>
              </a:rPr>
              <a:t>برای پیش‌بینی فعالیت بعدی در دیتاست </a:t>
            </a:r>
            <a:r>
              <a:rPr lang="en-US" sz="1600" dirty="0">
                <a:cs typeface="B Nazanin" panose="00000400000000000000" pitchFamily="2" charset="-78"/>
              </a:rPr>
              <a:t>BPI 2012</a:t>
            </a:r>
            <a:endParaRPr lang="fa-IR" sz="1600" dirty="0">
              <a:cs typeface="B Nazanin" panose="00000400000000000000" pitchFamily="2" charset="-78"/>
            </a:endParaRPr>
          </a:p>
          <a:p>
            <a:pPr algn="ctr" rtl="1"/>
            <a:r>
              <a:rPr lang="fa-IR" sz="1400" dirty="0">
                <a:cs typeface="B Nazanin" panose="00000400000000000000" pitchFamily="2" charset="-78"/>
              </a:rPr>
              <a:t>مستند:جدول نتایج ارزیابی اسلاید25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48" name="Rounded Rectangle 51">
            <a:extLst>
              <a:ext uri="{FF2B5EF4-FFF2-40B4-BE49-F238E27FC236}">
                <a16:creationId xmlns:a16="http://schemas.microsoft.com/office/drawing/2014/main" id="{20864A04-F67F-4DF8-9F7A-8D12D5339311}"/>
              </a:ext>
            </a:extLst>
          </p:cNvPr>
          <p:cNvSpPr/>
          <p:nvPr/>
        </p:nvSpPr>
        <p:spPr bwMode="auto">
          <a:xfrm>
            <a:off x="1012055" y="3822173"/>
            <a:ext cx="3319634" cy="119940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9050">
            <a:solidFill>
              <a:srgbClr val="144BD5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Nazanin" panose="00000400000000000000" pitchFamily="2" charset="-78"/>
              </a:rPr>
              <a:t>ترکیب </a:t>
            </a:r>
            <a:r>
              <a:rPr lang="en-US" sz="1600" dirty="0">
                <a:cs typeface="B Nazanin" panose="00000400000000000000" pitchFamily="2" charset="-78"/>
              </a:rPr>
              <a:t>Transformer، TCN </a:t>
            </a:r>
            <a:r>
              <a:rPr lang="fa-IR" sz="1600" dirty="0">
                <a:cs typeface="B Nazanin" panose="00000400000000000000" pitchFamily="2" charset="-78"/>
              </a:rPr>
              <a:t>و </a:t>
            </a:r>
            <a:r>
              <a:rPr lang="en-US" sz="1600" dirty="0">
                <a:cs typeface="B Nazanin" panose="00000400000000000000" pitchFamily="2" charset="-78"/>
              </a:rPr>
              <a:t>GNN </a:t>
            </a:r>
            <a:r>
              <a:rPr lang="fa-IR" sz="1600" dirty="0">
                <a:cs typeface="B Nazanin" panose="00000400000000000000" pitchFamily="2" charset="-78"/>
              </a:rPr>
              <a:t>با سازوکار </a:t>
            </a:r>
            <a:r>
              <a:rPr lang="en-US" sz="1600" dirty="0">
                <a:cs typeface="B Nazanin" panose="00000400000000000000" pitchFamily="2" charset="-78"/>
              </a:rPr>
              <a:t>Cross-Attention </a:t>
            </a:r>
            <a:r>
              <a:rPr lang="fa-IR" sz="1600" dirty="0">
                <a:cs typeface="B Nazanin" panose="00000400000000000000" pitchFamily="2" charset="-78"/>
              </a:rPr>
              <a:t>برای بهره‌گیری یکپارچه از اطلاعات ترتیبی، زمانی و ساختاری فرآیند</a:t>
            </a:r>
            <a:br>
              <a:rPr lang="fa-IR" sz="1600" dirty="0">
                <a:cs typeface="B Nazanin" panose="00000400000000000000" pitchFamily="2" charset="-78"/>
              </a:rPr>
            </a:br>
            <a:r>
              <a:rPr lang="fa-IR" sz="1400" i="1" dirty="0">
                <a:cs typeface="B Nazanin" panose="00000400000000000000" pitchFamily="2" charset="-78"/>
              </a:rPr>
              <a:t>مستند: نمودار معماری پیشنهادی، اسلاید ۱۷</a:t>
            </a:r>
            <a:endParaRPr lang="fa-IR" sz="1400" dirty="0">
              <a:cs typeface="B Nazanin" panose="00000400000000000000" pitchFamily="2" charset="-78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BA1451-BA29-4C57-AADA-DABB6BB906D4}"/>
              </a:ext>
            </a:extLst>
          </p:cNvPr>
          <p:cNvSpPr/>
          <p:nvPr/>
        </p:nvSpPr>
        <p:spPr bwMode="auto">
          <a:xfrm>
            <a:off x="4989447" y="1562100"/>
            <a:ext cx="3333129" cy="426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Titr" panose="00000700000000000000" pitchFamily="2" charset="-78"/>
              </a:rPr>
              <a:t>1- عملکرد مدل پیشنهادی</a:t>
            </a:r>
            <a:endParaRPr lang="en-US" sz="1600" dirty="0">
              <a:cs typeface="B Titr" panose="00000700000000000000" pitchFamily="2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CF621F-44BF-458D-98C2-E58E9570E4DC}"/>
              </a:ext>
            </a:extLst>
          </p:cNvPr>
          <p:cNvSpPr/>
          <p:nvPr/>
        </p:nvSpPr>
        <p:spPr bwMode="auto">
          <a:xfrm>
            <a:off x="1101550" y="3341703"/>
            <a:ext cx="3256435" cy="426720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Titr" panose="00000700000000000000" pitchFamily="2" charset="-78"/>
              </a:rPr>
              <a:t>4- </a:t>
            </a:r>
            <a:r>
              <a:rPr lang="fa-IR" sz="1500" b="1" dirty="0">
                <a:cs typeface="B Titr" panose="00000700000000000000" pitchFamily="2" charset="-78"/>
              </a:rPr>
              <a:t>یکپارچه‌سازی معماری‌های یادگیری عمیق</a:t>
            </a:r>
            <a:endParaRPr lang="fa-IR" sz="1500" dirty="0">
              <a:cs typeface="B Titr" panose="00000700000000000000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8B88A6-BCFF-4A8A-9346-B501D9F77660}"/>
              </a:ext>
            </a:extLst>
          </p:cNvPr>
          <p:cNvSpPr/>
          <p:nvPr/>
        </p:nvSpPr>
        <p:spPr bwMode="auto">
          <a:xfrm>
            <a:off x="4989447" y="3397665"/>
            <a:ext cx="3351083" cy="426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Titr" panose="00000700000000000000" pitchFamily="2" charset="-78"/>
              </a:rPr>
              <a:t>3- </a:t>
            </a:r>
            <a:r>
              <a:rPr lang="fa-IR" sz="1600" b="1" dirty="0">
                <a:cs typeface="B Titr" panose="00000700000000000000" pitchFamily="2" charset="-78"/>
              </a:rPr>
              <a:t>برآورد پتانسیل بهبود تأخیر زمانی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FADFD7-C003-4D42-A756-1267DB94E5BB}"/>
              </a:ext>
            </a:extLst>
          </p:cNvPr>
          <p:cNvSpPr/>
          <p:nvPr/>
        </p:nvSpPr>
        <p:spPr bwMode="auto">
          <a:xfrm>
            <a:off x="1012055" y="1562100"/>
            <a:ext cx="3210733" cy="426720"/>
          </a:xfrm>
          <a:prstGeom prst="rect">
            <a:avLst/>
          </a:prstGeom>
          <a:solidFill>
            <a:srgbClr val="00B0F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/>
            <a:r>
              <a:rPr lang="fa-IR" sz="1600" dirty="0">
                <a:cs typeface="B Titr" panose="00000700000000000000" pitchFamily="2" charset="-78"/>
              </a:rPr>
              <a:t>2- </a:t>
            </a:r>
            <a:r>
              <a:rPr lang="fa-IR" sz="1600" b="1" dirty="0">
                <a:cs typeface="B Titr" panose="00000700000000000000" pitchFamily="2" charset="-78"/>
              </a:rPr>
              <a:t>تخمین زمان باقی‌مانده فرآیند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54" name="Google Shape;500;p37">
            <a:extLst>
              <a:ext uri="{FF2B5EF4-FFF2-40B4-BE49-F238E27FC236}">
                <a16:creationId xmlns:a16="http://schemas.microsoft.com/office/drawing/2014/main" id="{88F2BFE6-F0F9-4721-A846-B1D116852434}"/>
              </a:ext>
            </a:extLst>
          </p:cNvPr>
          <p:cNvSpPr txBox="1">
            <a:spLocks/>
          </p:cNvSpPr>
          <p:nvPr/>
        </p:nvSpPr>
        <p:spPr>
          <a:xfrm>
            <a:off x="917609" y="5285449"/>
            <a:ext cx="7581530" cy="91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●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kta"/>
              <a:buChar char="○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ukta"/>
              <a:buChar char="■"/>
              <a:defRPr sz="1400" b="0" i="0" u="none" strike="noStrike" cap="none">
                <a:solidFill>
                  <a:schemeClr val="dk2"/>
                </a:solidFill>
                <a:latin typeface="Mukta"/>
                <a:ea typeface="Mukta"/>
                <a:cs typeface="Mukta"/>
                <a:sym typeface="Mukta"/>
              </a:defRPr>
            </a:lvl9pPr>
          </a:lstStyle>
          <a:p>
            <a:pPr marL="139700" indent="0" algn="r" rtl="1">
              <a:buNone/>
            </a:pPr>
            <a:r>
              <a:rPr lang="fa-IR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نتایج پژوهش، عملکرد مدل در پیش‌بینی فعالیت بعدی و ارائه چارچوبی یکپارچه برای تحلیل تأخیرهای فرآیندی با هدف کمک به بهبود زمان اجرای فرآیندهای مالی را نشان می‌ دهد.</a:t>
            </a:r>
          </a:p>
        </p:txBody>
      </p:sp>
    </p:spTree>
    <p:extLst>
      <p:ext uri="{BB962C8B-B14F-4D97-AF65-F5344CB8AC3E}">
        <p14:creationId xmlns:p14="http://schemas.microsoft.com/office/powerpoint/2010/main" val="333122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83334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587346" y="479704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35450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770838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804061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8ADBD8-16E9-C214-588B-0FEE053D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3CEC9AB-EE3F-40F2-B877-9A128AE00AA7}"/>
              </a:ext>
            </a:extLst>
          </p:cNvPr>
          <p:cNvSpPr txBox="1"/>
          <p:nvPr/>
        </p:nvSpPr>
        <p:spPr>
          <a:xfrm>
            <a:off x="2227488" y="679731"/>
            <a:ext cx="5122416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محدودیت ها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F1D438F-F321-4C3F-A629-B329357A732A}"/>
              </a:ext>
            </a:extLst>
          </p:cNvPr>
          <p:cNvSpPr/>
          <p:nvPr/>
        </p:nvSpPr>
        <p:spPr bwMode="auto">
          <a:xfrm>
            <a:off x="8579769" y="1847465"/>
            <a:ext cx="496918" cy="531981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sz="1600" b="1" dirty="0">
                <a:solidFill>
                  <a:schemeClr val="bg1"/>
                </a:solidFill>
                <a:cs typeface="B Titr" panose="00000700000000000000" pitchFamily="2" charset="-78"/>
              </a:rPr>
              <a:t>1</a:t>
            </a:r>
            <a:endParaRPr lang="en-US" sz="16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1A4F279-050B-4AC3-8F25-D7A0E100532B}"/>
              </a:ext>
            </a:extLst>
          </p:cNvPr>
          <p:cNvSpPr/>
          <p:nvPr/>
        </p:nvSpPr>
        <p:spPr bwMode="auto">
          <a:xfrm>
            <a:off x="8554123" y="2694270"/>
            <a:ext cx="548211" cy="52564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sz="1600" b="1" dirty="0">
                <a:solidFill>
                  <a:schemeClr val="bg1"/>
                </a:solidFill>
                <a:cs typeface="B Titr" panose="00000700000000000000" pitchFamily="2" charset="-78"/>
              </a:rPr>
              <a:t>2</a:t>
            </a:r>
            <a:endParaRPr lang="en-US" sz="16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40E670-3349-4D03-8DEA-D5CD057AA52A}"/>
              </a:ext>
            </a:extLst>
          </p:cNvPr>
          <p:cNvSpPr/>
          <p:nvPr/>
        </p:nvSpPr>
        <p:spPr bwMode="auto">
          <a:xfrm>
            <a:off x="8554124" y="3570789"/>
            <a:ext cx="548211" cy="459224"/>
          </a:xfrm>
          <a:prstGeom prst="ellipse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sz="1600" b="1" dirty="0">
                <a:solidFill>
                  <a:schemeClr val="bg1"/>
                </a:solidFill>
                <a:cs typeface="B Titr" panose="00000700000000000000" pitchFamily="2" charset="-78"/>
              </a:rPr>
              <a:t>3</a:t>
            </a:r>
            <a:endParaRPr lang="en-US" sz="16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4DE43AD-18CC-42A2-827F-9E4C11687016}"/>
              </a:ext>
            </a:extLst>
          </p:cNvPr>
          <p:cNvSpPr/>
          <p:nvPr/>
        </p:nvSpPr>
        <p:spPr bwMode="auto">
          <a:xfrm>
            <a:off x="8565895" y="4362786"/>
            <a:ext cx="508882" cy="459224"/>
          </a:xfrm>
          <a:prstGeom prst="ellipse">
            <a:avLst/>
          </a:prstGeom>
          <a:solidFill>
            <a:srgbClr val="07E7E7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sz="1600" b="1" dirty="0">
                <a:solidFill>
                  <a:schemeClr val="bg1"/>
                </a:solidFill>
                <a:cs typeface="B Titr" panose="00000700000000000000" pitchFamily="2" charset="-78"/>
              </a:rPr>
              <a:t>4</a:t>
            </a:r>
            <a:endParaRPr lang="en-US" sz="16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1DDA9B-0CFE-4DAA-92D2-D911A734E263}"/>
              </a:ext>
            </a:extLst>
          </p:cNvPr>
          <p:cNvSpPr txBox="1"/>
          <p:nvPr/>
        </p:nvSpPr>
        <p:spPr>
          <a:xfrm flipH="1">
            <a:off x="1335894" y="1856227"/>
            <a:ext cx="6977426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پیچیدگی محاسباتی: پیچیدگی زمانی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200" dirty="0">
                <a:solidFill>
                  <a:schemeClr val="tx1"/>
                </a:solidFill>
                <a:cs typeface="B Nazanin" panose="00000400000000000000" pitchFamily="2" charset="-78"/>
              </a:rPr>
              <a:t>Transformer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از مرتبه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200" dirty="0">
                <a:solidFill>
                  <a:schemeClr val="tx1"/>
                </a:solidFill>
                <a:cs typeface="B Nazanin" panose="00000400000000000000" pitchFamily="2" charset="-78"/>
              </a:rPr>
              <a:t>O(n²) </a:t>
            </a: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است که با محدود کردن طول</a:t>
            </a:r>
            <a:b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 توالی به ۱۰۰ رویداد مدیریت شده است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AA3EB5-9543-4DD8-AE8D-4BE6E6D43256}"/>
              </a:ext>
            </a:extLst>
          </p:cNvPr>
          <p:cNvSpPr txBox="1"/>
          <p:nvPr/>
        </p:nvSpPr>
        <p:spPr>
          <a:xfrm flipH="1">
            <a:off x="1335279" y="2805161"/>
            <a:ext cx="6978041" cy="590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rtl="1"/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عدم مدل‌سازی وابستگی بین پرونده‌ها:</a:t>
            </a:r>
            <a:r>
              <a:rPr lang="fa-IR" sz="1600" b="1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مدل روابط میان رویدادهای یک پرونده را یاد می‌گیرد، اما تأثیر</a:t>
            </a:r>
            <a:b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endParaRPr lang="en-US" sz="16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rtl="1"/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 متقابل پرونده‌های مختلف بر یکدیگر را در نظر نمی‌گیرد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0C0201-DE87-40DD-8461-DD4F1C7161A9}"/>
              </a:ext>
            </a:extLst>
          </p:cNvPr>
          <p:cNvSpPr txBox="1"/>
          <p:nvPr/>
        </p:nvSpPr>
        <p:spPr>
          <a:xfrm flipH="1">
            <a:off x="1353905" y="3722744"/>
            <a:ext cx="6959415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محدودیت تفسیرپذیری: تفسیر تصمیمات مدل در کاربردهای حساس مالی همچنان چالش‌برانگیز است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156FB8-B264-4C19-9F4D-365E3D42F197}"/>
              </a:ext>
            </a:extLst>
          </p:cNvPr>
          <p:cNvSpPr txBox="1"/>
          <p:nvPr/>
        </p:nvSpPr>
        <p:spPr>
          <a:xfrm flipH="1">
            <a:off x="1353905" y="4407859"/>
            <a:ext cx="699691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محدودیت تعمیم‌پذیری: ارزیابی مدل تنها بر روی مجموعه‌داده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BPI 2012</a:t>
            </a:r>
            <a:r>
              <a:rPr lang="en-US" sz="18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انجام شده است</a:t>
            </a:r>
            <a:endParaRPr lang="fa-IR" sz="2000" dirty="0">
              <a:solidFill>
                <a:schemeClr val="tx1"/>
              </a:solidFill>
              <a:latin typeface="Iransans" panose="020B0506030804020204" pitchFamily="3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624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مستطیل ثابت راست">
            <a:extLst>
              <a:ext uri="{FF2B5EF4-FFF2-40B4-BE49-F238E27FC236}">
                <a16:creationId xmlns:a16="http://schemas.microsoft.com/office/drawing/2014/main" id="{98AFF3B7-79A9-635D-0951-215BD9172D30}"/>
              </a:ext>
            </a:extLst>
          </p:cNvPr>
          <p:cNvSpPr/>
          <p:nvPr/>
        </p:nvSpPr>
        <p:spPr>
          <a:xfrm>
            <a:off x="9587346" y="193964"/>
            <a:ext cx="2466109" cy="6470072"/>
          </a:xfrm>
          <a:prstGeom prst="roundRect">
            <a:avLst>
              <a:gd name="adj" fmla="val 88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83390" y="193964"/>
            <a:ext cx="9282546" cy="6470072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11116662" y="6262471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10688157" y="6262471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10259652" y="6262471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5" name="!!آنالیز">
            <a:extLst>
              <a:ext uri="{FF2B5EF4-FFF2-40B4-BE49-F238E27FC236}">
                <a16:creationId xmlns:a16="http://schemas.microsoft.com/office/drawing/2014/main" id="{AF2225DF-E44D-2FB9-EAEC-7A5511237505}"/>
              </a:ext>
            </a:extLst>
          </p:cNvPr>
          <p:cNvSpPr/>
          <p:nvPr/>
        </p:nvSpPr>
        <p:spPr>
          <a:xfrm>
            <a:off x="9587346" y="4797042"/>
            <a:ext cx="2604654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5692CA-C8CE-A31D-B325-C9EAAFD7AE52}"/>
              </a:ext>
            </a:extLst>
          </p:cNvPr>
          <p:cNvSpPr/>
          <p:nvPr/>
        </p:nvSpPr>
        <p:spPr>
          <a:xfrm>
            <a:off x="9672616" y="4797038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 گیری و پیشنهادات</a:t>
            </a: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4" name="!!روش‌شناسی">
            <a:extLst>
              <a:ext uri="{FF2B5EF4-FFF2-40B4-BE49-F238E27FC236}">
                <a16:creationId xmlns:a16="http://schemas.microsoft.com/office/drawing/2014/main" id="{C00FE098-62AE-68C6-6919-F56C9E7FBFD6}"/>
              </a:ext>
            </a:extLst>
          </p:cNvPr>
          <p:cNvSpPr/>
          <p:nvPr/>
        </p:nvSpPr>
        <p:spPr>
          <a:xfrm>
            <a:off x="9769928" y="4035450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و بحث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725B05-6AF1-878E-99E6-9F386B4AEDF6}"/>
              </a:ext>
            </a:extLst>
          </p:cNvPr>
          <p:cNvSpPr/>
          <p:nvPr/>
        </p:nvSpPr>
        <p:spPr>
          <a:xfrm>
            <a:off x="9695022" y="4071841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Vazir" panose="020B0603030804020204" pitchFamily="34" charset="-78"/>
            </a:endParaRPr>
          </a:p>
        </p:txBody>
      </p:sp>
      <p:sp>
        <p:nvSpPr>
          <p:cNvPr id="43" name="!!پیشنینه پژوهش">
            <a:extLst>
              <a:ext uri="{FF2B5EF4-FFF2-40B4-BE49-F238E27FC236}">
                <a16:creationId xmlns:a16="http://schemas.microsoft.com/office/drawing/2014/main" id="{E325618D-A9CC-428E-9393-41CAB626AB54}"/>
              </a:ext>
            </a:extLst>
          </p:cNvPr>
          <p:cNvSpPr/>
          <p:nvPr/>
        </p:nvSpPr>
        <p:spPr>
          <a:xfrm>
            <a:off x="9769928" y="332008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FD9B647-EA7D-CCF2-5DC5-0332E68073E4}"/>
              </a:ext>
            </a:extLst>
          </p:cNvPr>
          <p:cNvSpPr/>
          <p:nvPr/>
        </p:nvSpPr>
        <p:spPr>
          <a:xfrm>
            <a:off x="9683100" y="3320080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 و معماری</a:t>
            </a:r>
          </a:p>
        </p:txBody>
      </p:sp>
      <p:sp>
        <p:nvSpPr>
          <p:cNvPr id="41" name="!!کلیات پژوهش">
            <a:extLst>
              <a:ext uri="{FF2B5EF4-FFF2-40B4-BE49-F238E27FC236}">
                <a16:creationId xmlns:a16="http://schemas.microsoft.com/office/drawing/2014/main" id="{DF82BD05-4170-B4BF-9E83-6F703B6B3071}"/>
              </a:ext>
            </a:extLst>
          </p:cNvPr>
          <p:cNvSpPr/>
          <p:nvPr/>
        </p:nvSpPr>
        <p:spPr>
          <a:xfrm>
            <a:off x="9769928" y="258160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EC03DB-8929-6E08-1629-AC8F24E34A88}"/>
              </a:ext>
            </a:extLst>
          </p:cNvPr>
          <p:cNvSpPr/>
          <p:nvPr/>
        </p:nvSpPr>
        <p:spPr>
          <a:xfrm>
            <a:off x="9677139" y="2594879"/>
            <a:ext cx="25089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lvl="0" algn="ctr">
              <a:defRPr/>
            </a:pPr>
            <a:r>
              <a:rPr lang="fa-IR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مبانی و پیشینه</a:t>
            </a:r>
          </a:p>
        </p:txBody>
      </p:sp>
      <p:sp>
        <p:nvSpPr>
          <p:cNvPr id="9" name="!!مقدمه پژوهش">
            <a:extLst>
              <a:ext uri="{FF2B5EF4-FFF2-40B4-BE49-F238E27FC236}">
                <a16:creationId xmlns:a16="http://schemas.microsoft.com/office/drawing/2014/main" id="{27E7BBB3-1585-11C9-11ED-2BC2B442605A}"/>
              </a:ext>
            </a:extLst>
          </p:cNvPr>
          <p:cNvSpPr/>
          <p:nvPr/>
        </p:nvSpPr>
        <p:spPr>
          <a:xfrm>
            <a:off x="9769928" y="1843122"/>
            <a:ext cx="2100942" cy="581890"/>
          </a:xfrm>
          <a:prstGeom prst="roundRect">
            <a:avLst/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20321A-7AC5-AE1B-DF4A-AB22450360DA}"/>
              </a:ext>
            </a:extLst>
          </p:cNvPr>
          <p:cNvSpPr/>
          <p:nvPr/>
        </p:nvSpPr>
        <p:spPr>
          <a:xfrm>
            <a:off x="9683100" y="1836331"/>
            <a:ext cx="2508900" cy="58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5760" rtlCol="1" anchor="ctr"/>
          <a:lstStyle/>
          <a:p>
            <a:pPr algn="ctr">
              <a:defRPr/>
            </a:pPr>
            <a:r>
              <a:rPr lang="fa-IR" sz="2000" dirty="0">
                <a:solidFill>
                  <a:prstClr val="whit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مقدمه و کلیات</a:t>
            </a: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9178637" y="4770838"/>
            <a:ext cx="651164" cy="651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شماره صفحه">
            <a:extLst>
              <a:ext uri="{FF2B5EF4-FFF2-40B4-BE49-F238E27FC236}">
                <a16:creationId xmlns:a16="http://schemas.microsoft.com/office/drawing/2014/main" id="{7A99828F-28F9-BB5C-83FD-60012493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637" y="4804061"/>
            <a:ext cx="651164" cy="588680"/>
          </a:xfrm>
        </p:spPr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8C16B-DC67-42D7-A8C7-AF8F65DFA904}" type="slidenum">
              <a:rPr kumimoji="0" lang="fa-IR" sz="2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Vazir" panose="020B0603030804020204" pitchFamily="34" charset="-78"/>
                <a:ea typeface="+mn-ea"/>
                <a:cs typeface="B Yekan" panose="00000400000000000000" pitchFamily="2" charset="-78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a-IR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Vazir" panose="020B0603030804020204" pitchFamily="34" charset="-78"/>
              <a:ea typeface="+mn-ea"/>
              <a:cs typeface="B Yekan" panose="00000400000000000000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8ADBD8-16E9-C214-588B-0FEE053D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825" y="303608"/>
            <a:ext cx="1530567" cy="1432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17EF720-8C8C-4F8B-8756-69B6779BAE0A}"/>
              </a:ext>
            </a:extLst>
          </p:cNvPr>
          <p:cNvSpPr txBox="1"/>
          <p:nvPr/>
        </p:nvSpPr>
        <p:spPr>
          <a:xfrm>
            <a:off x="2227488" y="679731"/>
            <a:ext cx="5122416" cy="52322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>
              <a:defRPr/>
            </a:pPr>
            <a:r>
              <a:rPr lang="fa-IR" sz="2800" kern="0" dirty="0">
                <a:solidFill>
                  <a:prstClr val="black"/>
                </a:solidFill>
                <a:latin typeface="Vazir" panose="020B0604020202020204" charset="-78"/>
                <a:cs typeface="B Titr" panose="00000700000000000000" pitchFamily="2" charset="-78"/>
              </a:rPr>
              <a:t>پیشنهادات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06DE800-E6DE-419D-916C-7D9C6CD45976}"/>
              </a:ext>
            </a:extLst>
          </p:cNvPr>
          <p:cNvSpPr/>
          <p:nvPr/>
        </p:nvSpPr>
        <p:spPr bwMode="auto">
          <a:xfrm>
            <a:off x="8499911" y="1687194"/>
            <a:ext cx="548211" cy="548211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1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E16FA22-949D-449C-97BE-C7D7B1A1154D}"/>
              </a:ext>
            </a:extLst>
          </p:cNvPr>
          <p:cNvSpPr/>
          <p:nvPr/>
        </p:nvSpPr>
        <p:spPr bwMode="auto">
          <a:xfrm>
            <a:off x="8502364" y="2628558"/>
            <a:ext cx="548211" cy="548211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2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A9C3D26-7DB8-475E-8673-47AE8628A062}"/>
              </a:ext>
            </a:extLst>
          </p:cNvPr>
          <p:cNvSpPr/>
          <p:nvPr/>
        </p:nvSpPr>
        <p:spPr bwMode="auto">
          <a:xfrm>
            <a:off x="8509926" y="3514515"/>
            <a:ext cx="548211" cy="548211"/>
          </a:xfrm>
          <a:prstGeom prst="ellipse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3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5F3E5A53-F021-4C6C-B263-A4C9E6C7B214}"/>
              </a:ext>
            </a:extLst>
          </p:cNvPr>
          <p:cNvSpPr/>
          <p:nvPr/>
        </p:nvSpPr>
        <p:spPr bwMode="auto">
          <a:xfrm>
            <a:off x="8502365" y="4408542"/>
            <a:ext cx="548211" cy="548211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a-IR" b="1" dirty="0">
                <a:solidFill>
                  <a:schemeClr val="bg1"/>
                </a:solidFill>
                <a:cs typeface="B Titr" panose="00000700000000000000" pitchFamily="2" charset="-78"/>
              </a:rPr>
              <a:t>4</a:t>
            </a:r>
            <a:endParaRPr lang="en-US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E1FD7EA-3905-49BD-B641-173D1AD252B5}"/>
              </a:ext>
            </a:extLst>
          </p:cNvPr>
          <p:cNvSpPr txBox="1"/>
          <p:nvPr/>
        </p:nvSpPr>
        <p:spPr>
          <a:xfrm flipH="1">
            <a:off x="2550000" y="1805606"/>
            <a:ext cx="5652406" cy="590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r" rtl="1"/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بهبود کارایی محاسباتی: استفاده از </a:t>
            </a:r>
            <a:r>
              <a:rPr lang="en-US" sz="1400" dirty="0">
                <a:solidFill>
                  <a:schemeClr val="tx1"/>
                </a:solidFill>
                <a:cs typeface="B Nazanin" panose="00000400000000000000" pitchFamily="2" charset="-78"/>
              </a:rPr>
              <a:t>Transformer</a:t>
            </a: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های کارآمد و سازوکارهای توجه پراکنده</a:t>
            </a:r>
          </a:p>
          <a:p>
            <a:pPr algn="r" rtl="1"/>
            <a:endParaRPr lang="fa-IR" sz="16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r" rtl="1"/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 برای پردازش توالی‌های طولانی‌تر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51FD53D-5C19-4818-B1ED-B931396B3EF5}"/>
              </a:ext>
            </a:extLst>
          </p:cNvPr>
          <p:cNvSpPr txBox="1"/>
          <p:nvPr/>
        </p:nvSpPr>
        <p:spPr>
          <a:xfrm flipH="1">
            <a:off x="2672394" y="2720258"/>
            <a:ext cx="5530012" cy="590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rtl="1"/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مدل‌سازی وابستگی بین پرونده‌ها: بررسی تأثیر تعامل و اشتراک منابع میان پرونده‌های</a:t>
            </a:r>
            <a:b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b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 مختلف بر زمان اجرای فرآیند.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CB50C23-BB86-4B2B-8DC3-D206F49385D0}"/>
              </a:ext>
            </a:extLst>
          </p:cNvPr>
          <p:cNvSpPr txBox="1"/>
          <p:nvPr/>
        </p:nvSpPr>
        <p:spPr>
          <a:xfrm flipH="1">
            <a:off x="2550000" y="3532384"/>
            <a:ext cx="5747374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  ارزیابی عملی بهبود تاخیر : بررسی تاثیر پیشنهادی مدل بر کاهش واقعی زمان اجرای فرآیند ها در محیط های عملیاتی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742D1B4-1ACD-4140-8469-77AA0B9EA443}"/>
              </a:ext>
            </a:extLst>
          </p:cNvPr>
          <p:cNvSpPr txBox="1"/>
          <p:nvPr/>
        </p:nvSpPr>
        <p:spPr>
          <a:xfrm flipH="1">
            <a:off x="2767362" y="4408542"/>
            <a:ext cx="5530013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r" rtl="1">
              <a:lnSpc>
                <a:spcPct val="120000"/>
              </a:lnSpc>
            </a:pPr>
            <a:r>
              <a:rPr lang="fa-IR" sz="1600" dirty="0">
                <a:solidFill>
                  <a:schemeClr val="tx1"/>
                </a:solidFill>
                <a:cs typeface="B Nazanin" panose="00000400000000000000" pitchFamily="2" charset="-78"/>
              </a:rPr>
              <a:t>ارزیابی بر مجموعه‌داده‌های متنوع: بررسی عملکرد و تعمیم‌پذیری مدل در سایر فرآیندهای مالی و مجموعه‌داده‌های واقعی</a:t>
            </a:r>
          </a:p>
        </p:txBody>
      </p:sp>
    </p:spTree>
    <p:extLst>
      <p:ext uri="{BB962C8B-B14F-4D97-AF65-F5344CB8AC3E}">
        <p14:creationId xmlns:p14="http://schemas.microsoft.com/office/powerpoint/2010/main" val="1323882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مستطیل ثابت چب">
            <a:extLst>
              <a:ext uri="{FF2B5EF4-FFF2-40B4-BE49-F238E27FC236}">
                <a16:creationId xmlns:a16="http://schemas.microsoft.com/office/drawing/2014/main" id="{500AD743-5FD1-1C0F-DB86-6B42607556C4}"/>
              </a:ext>
            </a:extLst>
          </p:cNvPr>
          <p:cNvSpPr/>
          <p:nvPr/>
        </p:nvSpPr>
        <p:spPr>
          <a:xfrm>
            <a:off x="1452821" y="1439550"/>
            <a:ext cx="9286359" cy="4616928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2" name="دکمه اسلاید بعد">
            <a:extLst>
              <a:ext uri="{FF2B5EF4-FFF2-40B4-BE49-F238E27FC236}">
                <a16:creationId xmlns:a16="http://schemas.microsoft.com/office/drawing/2014/main" id="{F4BD51EE-3693-95B1-E4AB-46652A4BC4A0}"/>
              </a:ext>
            </a:extLst>
          </p:cNvPr>
          <p:cNvGrpSpPr/>
          <p:nvPr/>
        </p:nvGrpSpPr>
        <p:grpSpPr>
          <a:xfrm>
            <a:off x="6633106" y="7619323"/>
            <a:ext cx="319904" cy="319905"/>
            <a:chOff x="11188223" y="6237754"/>
            <a:chExt cx="319904" cy="31990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C593BA6-1578-7F01-9479-BE76272A3C86}"/>
                </a:ext>
              </a:extLst>
            </p:cNvPr>
            <p:cNvSpPr/>
            <p:nvPr/>
          </p:nvSpPr>
          <p:spPr>
            <a:xfrm>
              <a:off x="11188223" y="6237754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2" name="Isosceles Triangle 6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2D8488-A296-9D3A-CD56-C2DF5C432F65}"/>
                </a:ext>
              </a:extLst>
            </p:cNvPr>
            <p:cNvSpPr/>
            <p:nvPr/>
          </p:nvSpPr>
          <p:spPr>
            <a:xfrm rot="5400000" flipH="1">
              <a:off x="11311031" y="6344677"/>
              <a:ext cx="118315" cy="99963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grpSp>
        <p:nvGrpSpPr>
          <p:cNvPr id="83" name="دکمه فهرست مطالب">
            <a:extLst>
              <a:ext uri="{FF2B5EF4-FFF2-40B4-BE49-F238E27FC236}">
                <a16:creationId xmlns:a16="http://schemas.microsoft.com/office/drawing/2014/main" id="{742AB5D2-E764-5EEB-9823-D7A644FEC526}"/>
              </a:ext>
            </a:extLst>
          </p:cNvPr>
          <p:cNvGrpSpPr/>
          <p:nvPr/>
        </p:nvGrpSpPr>
        <p:grpSpPr>
          <a:xfrm>
            <a:off x="6204601" y="7619323"/>
            <a:ext cx="319905" cy="319905"/>
            <a:chOff x="10759668" y="6237755"/>
            <a:chExt cx="319905" cy="3199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1507CB-52B3-3C23-9475-3CAE25989FAB}"/>
                </a:ext>
              </a:extLst>
            </p:cNvPr>
            <p:cNvGrpSpPr/>
            <p:nvPr/>
          </p:nvGrpSpPr>
          <p:grpSpPr>
            <a:xfrm>
              <a:off x="10759668" y="6237755"/>
              <a:ext cx="319905" cy="319905"/>
              <a:chOff x="8469631" y="2462211"/>
              <a:chExt cx="1544642" cy="15446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99B1D2-1E3A-7521-DA19-46F3BED41506}"/>
                  </a:ext>
                </a:extLst>
              </p:cNvPr>
              <p:cNvSpPr/>
              <p:nvPr/>
            </p:nvSpPr>
            <p:spPr>
              <a:xfrm>
                <a:off x="8469631" y="2462211"/>
                <a:ext cx="1544639" cy="1544639"/>
              </a:xfrm>
              <a:prstGeom prst="ellipse">
                <a:avLst/>
              </a:prstGeom>
              <a:solidFill>
                <a:srgbClr val="242E3D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" dist="12700" dir="2700000" algn="tl" rotWithShape="0">
                  <a:srgbClr val="10141A">
                    <a:lumMod val="50000"/>
                    <a:alpha val="5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E32ECC9A-441A-BA14-14F6-1B2C0A6D8821}"/>
                  </a:ext>
                </a:extLst>
              </p:cNvPr>
              <p:cNvSpPr/>
              <p:nvPr/>
            </p:nvSpPr>
            <p:spPr>
              <a:xfrm>
                <a:off x="8469636" y="2462211"/>
                <a:ext cx="1544637" cy="1544639"/>
              </a:xfrm>
              <a:prstGeom prst="ellipse">
                <a:avLst/>
              </a:prstGeom>
              <a:solidFill>
                <a:srgbClr val="144B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algn="br" rotWithShape="0">
                  <a:srgbClr val="334257">
                    <a:alpha val="56000"/>
                  </a:srgbClr>
                </a:outerShdw>
              </a:effectLst>
            </p:spPr>
            <p:txBody>
              <a:bodyPr tIns="0" rtlCol="0" anchor="ctr"/>
              <a:lstStyle/>
              <a:p>
                <a:pPr marL="0" marR="0" lvl="0" indent="0" algn="ctr" defTabSz="91439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a-ET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B Yekan" panose="00000400000000000000" pitchFamily="2" charset="-78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A49B2C-70B1-0A37-7F71-324DCA23C224}"/>
                </a:ext>
              </a:extLst>
            </p:cNvPr>
            <p:cNvGrpSpPr/>
            <p:nvPr/>
          </p:nvGrpSpPr>
          <p:grpSpPr>
            <a:xfrm>
              <a:off x="10851041" y="6342200"/>
              <a:ext cx="137160" cy="106343"/>
              <a:chOff x="10826462" y="1103998"/>
              <a:chExt cx="137160" cy="10634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5E029FE-1AA9-2FEE-394E-67733489F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03998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71C95E0-4C6B-FFD0-2F5C-BCBD82E08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157170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5DD3D7-8498-3F25-8CAB-E230BFAD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6462" y="1210341"/>
                <a:ext cx="137160" cy="0"/>
              </a:xfrm>
              <a:prstGeom prst="line">
                <a:avLst/>
              </a:prstGeom>
              <a:ln w="3492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دکمه اسلاید قبل">
            <a:extLst>
              <a:ext uri="{FF2B5EF4-FFF2-40B4-BE49-F238E27FC236}">
                <a16:creationId xmlns:a16="http://schemas.microsoft.com/office/drawing/2014/main" id="{BCF24735-2748-7544-C628-A01F2CF33C70}"/>
              </a:ext>
            </a:extLst>
          </p:cNvPr>
          <p:cNvGrpSpPr/>
          <p:nvPr/>
        </p:nvGrpSpPr>
        <p:grpSpPr>
          <a:xfrm>
            <a:off x="5776096" y="7619323"/>
            <a:ext cx="319904" cy="319905"/>
            <a:chOff x="10331213" y="6255423"/>
            <a:chExt cx="319904" cy="31990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ADB89D1-9B1A-2D21-4CBD-A0AA1C649BBF}"/>
                </a:ext>
              </a:extLst>
            </p:cNvPr>
            <p:cNvSpPr/>
            <p:nvPr/>
          </p:nvSpPr>
          <p:spPr>
            <a:xfrm rot="19362752">
              <a:off x="10331213" y="6255423"/>
              <a:ext cx="319904" cy="319905"/>
            </a:xfrm>
            <a:prstGeom prst="ellipse">
              <a:avLst/>
            </a:prstGeom>
            <a:solidFill>
              <a:srgbClr val="144B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algn="br" rotWithShape="0">
                <a:srgbClr val="334257">
                  <a:alpha val="56000"/>
                </a:srgbClr>
              </a:outerShdw>
            </a:effectLst>
          </p:spPr>
          <p:txBody>
            <a:bodyPr tIns="0" rtlCol="0" anchor="ctr"/>
            <a:lstStyle/>
            <a:p>
              <a:pPr marL="0" marR="0" lvl="0" indent="0" algn="ctr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a-ET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B Yekan" panose="00000400000000000000" pitchFamily="2" charset="-78"/>
              </a:endParaRPr>
            </a:p>
          </p:txBody>
        </p:sp>
        <p:sp>
          <p:nvSpPr>
            <p:cNvPr id="64" name="Isosceles Triangle 63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C5292B0-1BAF-326E-B251-DE6F8E72B7CE}"/>
                </a:ext>
              </a:extLst>
            </p:cNvPr>
            <p:cNvSpPr/>
            <p:nvPr/>
          </p:nvSpPr>
          <p:spPr>
            <a:xfrm rot="16200000">
              <a:off x="10404826" y="6362037"/>
              <a:ext cx="118872" cy="100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3810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Vazir Light FD" pitchFamily="2" charset="-78"/>
              </a:endParaRPr>
            </a:p>
          </p:txBody>
        </p:sp>
      </p:grpSp>
      <p:sp>
        <p:nvSpPr>
          <p:cNvPr id="46" name="!!نتیجه">
            <a:extLst>
              <a:ext uri="{FF2B5EF4-FFF2-40B4-BE49-F238E27FC236}">
                <a16:creationId xmlns:a16="http://schemas.microsoft.com/office/drawing/2014/main" id="{A1D96A8F-EBAB-AF75-916D-C3F93ECD8FDD}"/>
              </a:ext>
            </a:extLst>
          </p:cNvPr>
          <p:cNvSpPr/>
          <p:nvPr/>
        </p:nvSpPr>
        <p:spPr>
          <a:xfrm>
            <a:off x="1450507" y="3775262"/>
            <a:ext cx="9286359" cy="1165347"/>
          </a:xfrm>
          <a:prstGeom prst="roundRect">
            <a:avLst>
              <a:gd name="adj" fmla="val 50000"/>
            </a:avLst>
          </a:prstGeom>
          <a:solidFill>
            <a:srgbClr val="144BD5"/>
          </a:solidFill>
          <a:ln w="3175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!!دایره شماره صفحه">
            <a:extLst>
              <a:ext uri="{FF2B5EF4-FFF2-40B4-BE49-F238E27FC236}">
                <a16:creationId xmlns:a16="http://schemas.microsoft.com/office/drawing/2014/main" id="{6874AA32-0AB4-AEAA-2429-FBECFF08111B}"/>
              </a:ext>
            </a:extLst>
          </p:cNvPr>
          <p:cNvSpPr/>
          <p:nvPr/>
        </p:nvSpPr>
        <p:spPr>
          <a:xfrm>
            <a:off x="5123851" y="2076084"/>
            <a:ext cx="1944298" cy="1944298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144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Google Shape;289;p27">
            <a:extLst>
              <a:ext uri="{FF2B5EF4-FFF2-40B4-BE49-F238E27FC236}">
                <a16:creationId xmlns:a16="http://schemas.microsoft.com/office/drawing/2014/main" id="{DC7A2261-E2FC-7D40-EB04-BEFE42B73C16}"/>
              </a:ext>
            </a:extLst>
          </p:cNvPr>
          <p:cNvSpPr txBox="1">
            <a:spLocks/>
          </p:cNvSpPr>
          <p:nvPr/>
        </p:nvSpPr>
        <p:spPr>
          <a:xfrm>
            <a:off x="1452821" y="4108322"/>
            <a:ext cx="9286359" cy="6077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azir" panose="020B0603030804020204" pitchFamily="34" charset="-78"/>
                <a:ea typeface="+mj-ea"/>
                <a:cs typeface="Vazir" panose="020B0603030804020204" pitchFamily="34" charset="-78"/>
              </a:rPr>
              <a:t>با تشکر از توجه همه شما عزیزان</a:t>
            </a:r>
            <a:endParaRPr kumimoji="0" lang="fa-IR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zir" panose="020B0603030804020204" pitchFamily="34" charset="-78"/>
              <a:ea typeface="+mj-ea"/>
              <a:cs typeface="Vazir" panose="020B0603030804020204" pitchFamily="34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D3966-FA69-C796-EEF4-0E4D1B6C9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486" y="2332133"/>
            <a:ext cx="1530567" cy="14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9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10258</TotalTime>
  <Words>2673</Words>
  <Application>Microsoft Office PowerPoint</Application>
  <PresentationFormat>Widescreen</PresentationFormat>
  <Paragraphs>572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2" baseType="lpstr">
      <vt:lpstr>Calibri Light</vt:lpstr>
      <vt:lpstr>Calibri</vt:lpstr>
      <vt:lpstr>Vazir Light FD</vt:lpstr>
      <vt:lpstr>Avenir Next</vt:lpstr>
      <vt:lpstr>Georgia Pro Cond</vt:lpstr>
      <vt:lpstr>IRANSans</vt:lpstr>
      <vt:lpstr>B Nazanin</vt:lpstr>
      <vt:lpstr>Georgia</vt:lpstr>
      <vt:lpstr>Vazir</vt:lpstr>
      <vt:lpstr>IranNastaliq</vt:lpstr>
      <vt:lpstr>Microsoft YaHei</vt:lpstr>
      <vt:lpstr>Arial</vt:lpstr>
      <vt:lpstr>Mukta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ahmadi</dc:creator>
  <cp:lastModifiedBy>it</cp:lastModifiedBy>
  <cp:revision>443</cp:revision>
  <dcterms:created xsi:type="dcterms:W3CDTF">2023-05-27T13:45:41Z</dcterms:created>
  <dcterms:modified xsi:type="dcterms:W3CDTF">2026-10-21T04:24:19Z</dcterms:modified>
</cp:coreProperties>
</file>