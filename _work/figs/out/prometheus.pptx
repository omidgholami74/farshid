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763261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5737" y="430295"/>
            <a:ext cx="3298929" cy="799119"/>
          </a:xfrm>
          <a:prstGeom prst="roundRect">
            <a:avLst>
              <a:gd name="adj" fmla="val 8974"/>
            </a:avLst>
          </a:prstGeom>
          <a:solidFill>
            <a:srgbClr val="DEEAF6"/>
          </a:solidFill>
          <a:ln w="1651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1050" b="0">
                <a:solidFill>
                  <a:srgbClr val="1F3864"/>
                </a:solidFill>
                <a:latin typeface="Vazirmatn"/>
              </a:rPr>
              <a:t>سامانه مالی / ERP</a:t>
            </a:r>
          </a:p>
          <a:p>
            <a:pPr algn="ctr" rtl="1"/>
            <a:r>
              <a:rPr sz="1050" b="0">
                <a:solidFill>
                  <a:srgbClr val="1F3864"/>
                </a:solidFill>
                <a:latin typeface="Vazirmatn"/>
              </a:rPr>
              <a:t>(رویدادهای فرآیند)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35697" y="430295"/>
            <a:ext cx="3278439" cy="799119"/>
          </a:xfrm>
          <a:prstGeom prst="roundRect">
            <a:avLst>
              <a:gd name="adj" fmla="val 8974"/>
            </a:avLst>
          </a:prstGeom>
          <a:solidFill>
            <a:srgbClr val="DEEAF6"/>
          </a:solidFill>
          <a:ln w="1651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1050" b="0">
                <a:solidFill>
                  <a:srgbClr val="1F3864"/>
                </a:solidFill>
                <a:latin typeface="Vazirmatn"/>
              </a:rPr>
              <a:t>پایگاه داده رویدادنگار</a:t>
            </a:r>
          </a:p>
          <a:p>
            <a:pPr algn="ctr" rtl="1"/>
            <a:r>
              <a:rPr sz="1050" b="0">
                <a:solidFill>
                  <a:srgbClr val="1F3864"/>
                </a:solidFill>
                <a:latin typeface="Vazirmatn"/>
              </a:rPr>
              <a:t>(BPI Challenge 2012)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36637" y="430295"/>
            <a:ext cx="3298929" cy="799119"/>
          </a:xfrm>
          <a:prstGeom prst="roundRect">
            <a:avLst>
              <a:gd name="adj" fmla="val 8974"/>
            </a:avLst>
          </a:prstGeom>
          <a:solidFill>
            <a:srgbClr val="DEEAF6"/>
          </a:solidFill>
          <a:ln w="1651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1050" b="0">
                <a:solidFill>
                  <a:srgbClr val="1F3864"/>
                </a:solidFill>
                <a:latin typeface="Vazirmatn"/>
              </a:rPr>
              <a:t>سرویس پیش‌بینی</a:t>
            </a:r>
          </a:p>
          <a:p>
            <a:pPr algn="ctr" rtl="1"/>
            <a:r>
              <a:rPr sz="1050" b="0">
                <a:solidFill>
                  <a:srgbClr val="1F3864"/>
                </a:solidFill>
                <a:latin typeface="Vazirmatn"/>
              </a:rPr>
              <a:t>(مدل سه‌جریانه)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5737" y="1639219"/>
            <a:ext cx="3298929" cy="778629"/>
          </a:xfrm>
          <a:prstGeom prst="roundRect">
            <a:avLst>
              <a:gd name="adj" fmla="val 9210"/>
            </a:avLst>
          </a:prstGeom>
          <a:solidFill>
            <a:srgbClr val="E2EFDA"/>
          </a:solidFill>
          <a:ln w="1651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1050" b="0">
                <a:solidFill>
                  <a:srgbClr val="1F3864"/>
                </a:solidFill>
                <a:latin typeface="Vazirmatn"/>
              </a:rPr>
              <a:t>صادرکننده متریک فرآیند</a:t>
            </a:r>
          </a:p>
          <a:p>
            <a:pPr algn="ctr" rtl="1"/>
            <a:r>
              <a:rPr sz="1050" b="0">
                <a:solidFill>
                  <a:srgbClr val="1F3864"/>
                </a:solidFill>
                <a:latin typeface="Vazirmatn"/>
              </a:rPr>
              <a:t>(exporter اختصاصی پایتون)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35697" y="1639219"/>
            <a:ext cx="3278439" cy="778629"/>
          </a:xfrm>
          <a:prstGeom prst="roundRect">
            <a:avLst>
              <a:gd name="adj" fmla="val 9210"/>
            </a:avLst>
          </a:prstGeom>
          <a:solidFill>
            <a:srgbClr val="FFF2CC"/>
          </a:solidFill>
          <a:ln w="1651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1050" b="0">
                <a:solidFill>
                  <a:srgbClr val="1F3864"/>
                </a:solidFill>
                <a:latin typeface="Vazirmatn"/>
              </a:rPr>
              <a:t>Prometheus Agent</a:t>
            </a:r>
          </a:p>
          <a:p>
            <a:pPr algn="ctr" rtl="1"/>
            <a:r>
              <a:rPr sz="1050" b="0">
                <a:solidFill>
                  <a:srgbClr val="1F3864"/>
                </a:solidFill>
                <a:latin typeface="Vazirmatn"/>
              </a:rPr>
              <a:t>(حالت عامل: حفظ کوتاه‌مدت)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36637" y="1639219"/>
            <a:ext cx="3298929" cy="778629"/>
          </a:xfrm>
          <a:prstGeom prst="roundRect">
            <a:avLst>
              <a:gd name="adj" fmla="val 9210"/>
            </a:avLst>
          </a:prstGeom>
          <a:solidFill>
            <a:srgbClr val="E2EFDA"/>
          </a:solidFill>
          <a:ln w="1651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1050" b="0">
                <a:solidFill>
                  <a:srgbClr val="1F3864"/>
                </a:solidFill>
                <a:latin typeface="Vazirmatn"/>
              </a:rPr>
              <a:t>node_exporter</a:t>
            </a:r>
          </a:p>
          <a:p>
            <a:pPr algn="ctr" rtl="1"/>
            <a:r>
              <a:rPr sz="1050" b="0">
                <a:solidFill>
                  <a:srgbClr val="1F3864"/>
                </a:solidFill>
                <a:latin typeface="Vazirmatn"/>
              </a:rPr>
              <a:t>(سخت‌افزار و سرویس)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737" y="2848143"/>
            <a:ext cx="10859829" cy="1331865"/>
          </a:xfrm>
          <a:prstGeom prst="roundRect">
            <a:avLst>
              <a:gd name="adj" fmla="val 5384"/>
            </a:avLst>
          </a:prstGeom>
          <a:solidFill>
            <a:srgbClr val="F2F2F2"/>
          </a:solidFill>
          <a:ln w="1397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1050" b="0">
                <a:solidFill>
                  <a:srgbClr val="1F3864"/>
                </a:solidFill>
                <a:latin typeface="Vazirmatn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85542" y="3175987"/>
            <a:ext cx="2253926" cy="778629"/>
          </a:xfrm>
          <a:prstGeom prst="roundRect">
            <a:avLst>
              <a:gd name="adj" fmla="val 9210"/>
            </a:avLst>
          </a:prstGeom>
          <a:solidFill>
            <a:srgbClr val="DEEAF6"/>
          </a:solidFill>
          <a:ln w="1651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980" b="0">
                <a:solidFill>
                  <a:srgbClr val="1F3864"/>
                </a:solidFill>
                <a:latin typeface="Vazirmatn"/>
              </a:rPr>
              <a:t>کشف سرویس</a:t>
            </a:r>
          </a:p>
          <a:p>
            <a:pPr algn="ctr" rtl="1"/>
            <a:r>
              <a:rPr sz="980" b="0">
                <a:solidFill>
                  <a:srgbClr val="1F3864"/>
                </a:solidFill>
                <a:latin typeface="Vazirmatn"/>
              </a:rPr>
              <a:t>(Service Discovery)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8539" y="3175987"/>
            <a:ext cx="2561280" cy="778629"/>
          </a:xfrm>
          <a:prstGeom prst="roundRect">
            <a:avLst>
              <a:gd name="adj" fmla="val 9210"/>
            </a:avLst>
          </a:prstGeom>
          <a:solidFill>
            <a:srgbClr val="DEEAF6"/>
          </a:solidFill>
          <a:ln w="1651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980" b="0">
                <a:solidFill>
                  <a:srgbClr val="1F3864"/>
                </a:solidFill>
                <a:latin typeface="Vazirmatn"/>
              </a:rPr>
              <a:t>واکشی متریک</a:t>
            </a:r>
          </a:p>
          <a:p>
            <a:pPr algn="ctr" rtl="1"/>
            <a:r>
              <a:rPr sz="980" b="0">
                <a:solidFill>
                  <a:srgbClr val="1F3864"/>
                </a:solidFill>
                <a:latin typeface="Vazirmatn"/>
              </a:rPr>
              <a:t>(Pull / Scrape)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84721" y="3175987"/>
            <a:ext cx="2458829" cy="778629"/>
          </a:xfrm>
          <a:prstGeom prst="roundRect">
            <a:avLst>
              <a:gd name="adj" fmla="val 9210"/>
            </a:avLst>
          </a:prstGeom>
          <a:solidFill>
            <a:srgbClr val="DEEAF6"/>
          </a:solidFill>
          <a:ln w="1651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980" b="0">
                <a:solidFill>
                  <a:srgbClr val="1F3864"/>
                </a:solidFill>
                <a:latin typeface="Vazirmatn"/>
              </a:rPr>
              <a:t>پایگاه داده سری‌زمانی</a:t>
            </a:r>
          </a:p>
          <a:p>
            <a:pPr algn="ctr" rtl="1"/>
            <a:r>
              <a:rPr sz="980" b="0">
                <a:solidFill>
                  <a:srgbClr val="1F3864"/>
                </a:solidFill>
                <a:latin typeface="Vazirmatn"/>
              </a:rPr>
              <a:t>(TSDB)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48453" y="3175987"/>
            <a:ext cx="2079759" cy="778629"/>
          </a:xfrm>
          <a:prstGeom prst="roundRect">
            <a:avLst>
              <a:gd name="adj" fmla="val 9210"/>
            </a:avLst>
          </a:prstGeom>
          <a:solidFill>
            <a:srgbClr val="DEEAF6"/>
          </a:solidFill>
          <a:ln w="1651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900" b="0">
                <a:solidFill>
                  <a:srgbClr val="1F3864"/>
                </a:solidFill>
                <a:latin typeface="Vazirmatn"/>
              </a:rPr>
              <a:t>قواعد هشدار</a:t>
            </a:r>
          </a:p>
          <a:p>
            <a:pPr algn="ctr" rtl="1"/>
            <a:r>
              <a:rPr sz="900" b="0">
                <a:solidFill>
                  <a:srgbClr val="1F3864"/>
                </a:solidFill>
                <a:latin typeface="Vazirmatn"/>
              </a:rPr>
              <a:t>(Alerting Rules / PromQL)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5737" y="4528343"/>
            <a:ext cx="4405402" cy="717158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 w="1651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980" b="0">
                <a:solidFill>
                  <a:srgbClr val="1F3864"/>
                </a:solidFill>
                <a:latin typeface="Vazirmatn"/>
              </a:rPr>
              <a:t>Grafana</a:t>
            </a:r>
          </a:p>
          <a:p>
            <a:pPr algn="ctr" rtl="1"/>
            <a:r>
              <a:rPr sz="980" b="0">
                <a:solidFill>
                  <a:srgbClr val="1F3864"/>
                </a:solidFill>
                <a:latin typeface="Vazirmatn"/>
              </a:rPr>
              <a:t>(داشبورد عملیاتی)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0945" y="4528343"/>
            <a:ext cx="6044621" cy="717158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 w="1651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950" b="0">
                <a:solidFill>
                  <a:srgbClr val="1F3864"/>
                </a:solidFill>
                <a:latin typeface="Vazirmatn"/>
              </a:rPr>
              <a:t>Alertmanager</a:t>
            </a:r>
          </a:p>
          <a:p>
            <a:pPr algn="ctr" rtl="1"/>
            <a:r>
              <a:rPr sz="950" b="0">
                <a:solidFill>
                  <a:srgbClr val="1F3864"/>
                </a:solidFill>
                <a:latin typeface="Vazirmatn"/>
              </a:rPr>
              <a:t>(مسیریابی و خاموش‌سازی هشدار)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0945" y="5716778"/>
            <a:ext cx="6044621" cy="973286"/>
          </a:xfrm>
          <a:prstGeom prst="roundRect">
            <a:avLst>
              <a:gd name="adj" fmla="val 7368"/>
            </a:avLst>
          </a:prstGeom>
          <a:solidFill>
            <a:srgbClr val="FFF2CC"/>
          </a:solidFill>
          <a:ln w="1651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1050" b="1">
                <a:solidFill>
                  <a:srgbClr val="1F3864"/>
                </a:solidFill>
                <a:latin typeface="Vazirmatn"/>
              </a:rPr>
              <a:t>عامل هوشمند تصمیم‌یار</a:t>
            </a:r>
          </a:p>
          <a:p>
            <a:pPr algn="ctr" rtl="1"/>
            <a:r>
              <a:rPr sz="1050" b="1">
                <a:solidFill>
                  <a:srgbClr val="1F3864"/>
                </a:solidFill>
                <a:latin typeface="Vazirmatn"/>
              </a:rPr>
              <a:t>(ادراک – استدلال – اقدام)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5737" y="6915457"/>
            <a:ext cx="10859829" cy="594217"/>
          </a:xfrm>
          <a:prstGeom prst="roundRect">
            <a:avLst>
              <a:gd name="adj" fmla="val 12068"/>
            </a:avLst>
          </a:prstGeom>
          <a:solidFill>
            <a:srgbClr val="F2F2F2"/>
          </a:solidFill>
          <a:ln w="1651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" rIns="20000" tIns="10000" bIns="10000"/>
          <a:lstStyle/>
          <a:p>
            <a:pPr algn="ctr" rtl="1"/>
            <a:r>
              <a:rPr sz="1000" b="1">
                <a:solidFill>
                  <a:srgbClr val="1F3864"/>
                </a:solidFill>
                <a:latin typeface="Vazirmatn"/>
              </a:rPr>
              <a:t>اقدام اصلاحی، هشدار به تیم عملیات و بازخورد به سامانه مالی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25202" y="1229414"/>
            <a:ext cx="0" cy="409805"/>
          </a:xfrm>
          <a:prstGeom prst="line">
            <a:avLst/>
          </a:prstGeom>
          <a:ln w="2032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74917" y="1229414"/>
            <a:ext cx="0" cy="102451"/>
          </a:xfrm>
          <a:prstGeom prst="line">
            <a:avLst/>
          </a:prstGeom>
          <a:ln w="2032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278439" y="1331865"/>
            <a:ext cx="3196478" cy="0"/>
          </a:xfrm>
          <a:prstGeom prst="line">
            <a:avLst/>
          </a:prstGeom>
          <a:ln w="2032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78439" y="1331865"/>
            <a:ext cx="0" cy="307354"/>
          </a:xfrm>
          <a:prstGeom prst="line">
            <a:avLst/>
          </a:prstGeom>
          <a:ln w="2032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86102" y="1229414"/>
            <a:ext cx="0" cy="409805"/>
          </a:xfrm>
          <a:prstGeom prst="line">
            <a:avLst/>
          </a:prstGeom>
          <a:ln w="2032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25202" y="2417848"/>
            <a:ext cx="0" cy="758139"/>
          </a:xfrm>
          <a:prstGeom prst="line">
            <a:avLst/>
          </a:prstGeom>
          <a:ln w="2032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74917" y="2417848"/>
            <a:ext cx="0" cy="758139"/>
          </a:xfrm>
          <a:prstGeom prst="line">
            <a:avLst/>
          </a:prstGeom>
          <a:ln w="20320">
            <a:solidFill>
              <a:srgbClr val="2F559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286102" y="2417848"/>
            <a:ext cx="0" cy="758139"/>
          </a:xfrm>
          <a:prstGeom prst="line">
            <a:avLst/>
          </a:prstGeom>
          <a:ln w="2032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39469" y="3565302"/>
            <a:ext cx="379070" cy="0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679819" y="3565302"/>
            <a:ext cx="204902" cy="0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43551" y="3565302"/>
            <a:ext cx="204902" cy="0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114136" y="3954617"/>
            <a:ext cx="0" cy="368824"/>
          </a:xfrm>
          <a:prstGeom prst="line">
            <a:avLst/>
          </a:prstGeom>
          <a:ln w="2032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278439" y="4323441"/>
            <a:ext cx="4835697" cy="0"/>
          </a:xfrm>
          <a:prstGeom prst="line">
            <a:avLst/>
          </a:prstGeom>
          <a:ln w="2032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278439" y="4323441"/>
            <a:ext cx="0" cy="204902"/>
          </a:xfrm>
          <a:prstGeom prst="line">
            <a:avLst/>
          </a:prstGeom>
          <a:ln w="2032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588333" y="3954617"/>
            <a:ext cx="0" cy="368824"/>
          </a:xfrm>
          <a:prstGeom prst="line">
            <a:avLst/>
          </a:prstGeom>
          <a:ln w="2032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913256" y="4323441"/>
            <a:ext cx="1675077" cy="0"/>
          </a:xfrm>
          <a:prstGeom prst="line">
            <a:avLst/>
          </a:prstGeom>
          <a:ln w="2032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13256" y="4323441"/>
            <a:ext cx="0" cy="204902"/>
          </a:xfrm>
          <a:prstGeom prst="line">
            <a:avLst/>
          </a:prstGeom>
          <a:ln w="2032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913256" y="5245502"/>
            <a:ext cx="0" cy="471276"/>
          </a:xfrm>
          <a:prstGeom prst="line">
            <a:avLst/>
          </a:prstGeom>
          <a:ln w="2032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686042" y="6044621"/>
            <a:ext cx="204903" cy="0"/>
          </a:xfrm>
          <a:prstGeom prst="line">
            <a:avLst/>
          </a:prstGeom>
          <a:ln w="1778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686042" y="4180009"/>
            <a:ext cx="0" cy="1864612"/>
          </a:xfrm>
          <a:prstGeom prst="line">
            <a:avLst/>
          </a:prstGeom>
          <a:ln w="17780">
            <a:solidFill>
              <a:srgbClr val="2F559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913256" y="6690064"/>
            <a:ext cx="0" cy="225393"/>
          </a:xfrm>
          <a:prstGeom prst="line">
            <a:avLst/>
          </a:prstGeom>
          <a:ln w="2032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881080" y="7212565"/>
            <a:ext cx="194657" cy="0"/>
          </a:xfrm>
          <a:prstGeom prst="line">
            <a:avLst/>
          </a:prstGeom>
          <a:ln w="1778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81080" y="829854"/>
            <a:ext cx="0" cy="6382711"/>
          </a:xfrm>
          <a:prstGeom prst="line">
            <a:avLst/>
          </a:prstGeom>
          <a:ln w="1778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1080" y="829854"/>
            <a:ext cx="194657" cy="0"/>
          </a:xfrm>
          <a:prstGeom prst="line">
            <a:avLst/>
          </a:prstGeom>
          <a:ln w="17780">
            <a:solidFill>
              <a:srgbClr val="2F559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3431" y="1475297"/>
            <a:ext cx="11904832" cy="0"/>
          </a:xfrm>
          <a:prstGeom prst="line">
            <a:avLst/>
          </a:prstGeom>
          <a:ln w="13970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3431" y="5368443"/>
            <a:ext cx="11904832" cy="0"/>
          </a:xfrm>
          <a:prstGeom prst="line">
            <a:avLst/>
          </a:prstGeom>
          <a:ln w="13970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 rot="16200000">
            <a:off x="-425172" y="665932"/>
            <a:ext cx="1792896" cy="430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1">
                <a:solidFill>
                  <a:srgbClr val="1F3864"/>
                </a:solidFill>
                <a:latin typeface="Vazirmatn"/>
              </a:rPr>
              <a:t>۱.</a:t>
            </a:r>
          </a:p>
          <a:p>
            <a:pPr algn="ctr"/>
            <a:r>
              <a:rPr sz="919" b="1">
                <a:solidFill>
                  <a:srgbClr val="1F3864"/>
                </a:solidFill>
                <a:latin typeface="Vazirmatn"/>
              </a:rPr>
              <a:t>مشخصات سامانه</a:t>
            </a:r>
          </a:p>
        </p:txBody>
      </p:sp>
      <p:sp>
        <p:nvSpPr>
          <p:cNvPr id="44" name="TextBox 43"/>
          <p:cNvSpPr txBox="1"/>
          <p:nvPr/>
        </p:nvSpPr>
        <p:spPr>
          <a:xfrm rot="16200000">
            <a:off x="-425172" y="3165742"/>
            <a:ext cx="1792896" cy="430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1">
                <a:solidFill>
                  <a:srgbClr val="1F3864"/>
                </a:solidFill>
                <a:latin typeface="Vazirmatn"/>
              </a:rPr>
              <a:t>۲.</a:t>
            </a:r>
          </a:p>
          <a:p>
            <a:pPr algn="ctr"/>
            <a:r>
              <a:rPr sz="919" b="1">
                <a:solidFill>
                  <a:srgbClr val="1F3864"/>
                </a:solidFill>
                <a:latin typeface="Vazirmatn"/>
              </a:rPr>
              <a:t>طراحی معماری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-425172" y="6280259"/>
            <a:ext cx="1792896" cy="430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1">
                <a:solidFill>
                  <a:srgbClr val="1F3864"/>
                </a:solidFill>
                <a:latin typeface="Vazirmatn"/>
              </a:rPr>
              <a:t>۳.</a:t>
            </a:r>
          </a:p>
          <a:p>
            <a:pPr algn="ctr"/>
            <a:r>
              <a:rPr sz="919" b="1">
                <a:solidFill>
                  <a:srgbClr val="1F3864"/>
                </a:solidFill>
                <a:latin typeface="Vazirmatn"/>
              </a:rPr>
              <a:t>طراحی تفصیلی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93396" y="2796918"/>
            <a:ext cx="1024512" cy="4098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Vazirmatn"/>
              </a:rPr>
              <a:t>سرور پرومتئوس (Prometheus Server)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64231" y="2417848"/>
            <a:ext cx="1024512" cy="4098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2F5597"/>
                </a:solidFill>
                <a:latin typeface="Vazirmatn"/>
              </a:rPr>
              <a:t>remote write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35067" y="5286482"/>
            <a:ext cx="1024512" cy="4098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80" b="0">
                <a:solidFill>
                  <a:srgbClr val="2F5597"/>
                </a:solidFill>
                <a:latin typeface="Vazirmatn"/>
              </a:rPr>
              <a:t>هشدار</a:t>
            </a:r>
          </a:p>
        </p:txBody>
      </p:sp>
      <p:sp>
        <p:nvSpPr>
          <p:cNvPr id="49" name="TextBox 48"/>
          <p:cNvSpPr txBox="1"/>
          <p:nvPr/>
        </p:nvSpPr>
        <p:spPr>
          <a:xfrm rot="16200000">
            <a:off x="-251005" y="1936328"/>
            <a:ext cx="1792896" cy="430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60" b="0">
                <a:solidFill>
                  <a:srgbClr val="2F5597"/>
                </a:solidFill>
                <a:latin typeface="Vazirmatn"/>
              </a:rPr>
              <a:t>بازخورد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