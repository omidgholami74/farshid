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74861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74306" y="481251"/>
            <a:ext cx="3475702" cy="909029"/>
          </a:xfrm>
          <a:prstGeom prst="roundRect">
            <a:avLst>
              <a:gd name="adj" fmla="val 8235"/>
            </a:avLst>
          </a:prstGeom>
          <a:solidFill>
            <a:srgbClr val="DEEAF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سامانه مالی / ERP</a:t>
            </a:r>
          </a:p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(رویدادهای فرآیند)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31260" y="481251"/>
            <a:ext cx="3475702" cy="909029"/>
          </a:xfrm>
          <a:prstGeom prst="roundRect">
            <a:avLst>
              <a:gd name="adj" fmla="val 8235"/>
            </a:avLst>
          </a:prstGeom>
          <a:solidFill>
            <a:srgbClr val="DEEAF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پایگاه داده رویدادنگار</a:t>
            </a:r>
          </a:p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(BPI Challenge 2012)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88213" y="481251"/>
            <a:ext cx="3529174" cy="909029"/>
          </a:xfrm>
          <a:prstGeom prst="roundRect">
            <a:avLst>
              <a:gd name="adj" fmla="val 8235"/>
            </a:avLst>
          </a:prstGeom>
          <a:solidFill>
            <a:srgbClr val="DEEAF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سرویس پیش‌بینی</a:t>
            </a:r>
          </a:p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(مدل سه‌جریانه)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306" y="1839448"/>
            <a:ext cx="3475702" cy="855557"/>
          </a:xfrm>
          <a:prstGeom prst="roundRect">
            <a:avLst>
              <a:gd name="adj" fmla="val 8750"/>
            </a:avLst>
          </a:prstGeom>
          <a:solidFill>
            <a:srgbClr val="E2EFDA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صادرکننده متریک فرآیند</a:t>
            </a:r>
          </a:p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(exporter اختصاصی پایتون)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1260" y="1839448"/>
            <a:ext cx="3475702" cy="855557"/>
          </a:xfrm>
          <a:prstGeom prst="roundRect">
            <a:avLst>
              <a:gd name="adj" fmla="val 8750"/>
            </a:avLst>
          </a:prstGeom>
          <a:solidFill>
            <a:srgbClr val="FFF2CC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Prometheus Agent</a:t>
            </a:r>
          </a:p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(حالت عامل: حفظ کوتاه‌مدت)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88213" y="1839448"/>
            <a:ext cx="3529174" cy="855557"/>
          </a:xfrm>
          <a:prstGeom prst="roundRect">
            <a:avLst>
              <a:gd name="adj" fmla="val 8750"/>
            </a:avLst>
          </a:prstGeom>
          <a:solidFill>
            <a:srgbClr val="E2EFDA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node_exporter</a:t>
            </a:r>
          </a:p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>(سخت‌افزار و سرویس)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306" y="3154868"/>
            <a:ext cx="11443082" cy="1732504"/>
          </a:xfrm>
          <a:prstGeom prst="roundRect">
            <a:avLst>
              <a:gd name="adj" fmla="val 4320"/>
            </a:avLst>
          </a:prstGeom>
          <a:solidFill>
            <a:srgbClr val="F2F2F2"/>
          </a:solidFill>
          <a:ln w="13970">
            <a:solidFill>
              <a:srgbClr val="7F7F7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0">
                <a:solidFill>
                  <a:srgbClr val="1F3864"/>
                </a:solidFill>
                <a:latin typeface="Vazirmatn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5140" y="3689591"/>
            <a:ext cx="2299310" cy="876946"/>
          </a:xfrm>
          <a:prstGeom prst="roundRect">
            <a:avLst>
              <a:gd name="adj" fmla="val 8536"/>
            </a:avLst>
          </a:prstGeom>
          <a:solidFill>
            <a:srgbClr val="DEEAF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00" b="0">
                <a:solidFill>
                  <a:srgbClr val="1F3864"/>
                </a:solidFill>
                <a:latin typeface="Vazirmatn"/>
              </a:rPr>
              <a:t>کشف سرویس</a:t>
            </a:r>
          </a:p>
          <a:p>
            <a:pPr algn="ctr" rtl="1"/>
            <a:r>
              <a:rPr sz="1000" b="0">
                <a:solidFill>
                  <a:srgbClr val="1F3864"/>
                </a:solidFill>
                <a:latin typeface="Vazirmatn"/>
              </a:rPr>
              <a:t>(Service Discovery)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757" y="3689591"/>
            <a:ext cx="2513200" cy="876946"/>
          </a:xfrm>
          <a:prstGeom prst="roundRect">
            <a:avLst>
              <a:gd name="adj" fmla="val 8536"/>
            </a:avLst>
          </a:prstGeom>
          <a:solidFill>
            <a:srgbClr val="DEEAF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00" b="0">
                <a:solidFill>
                  <a:srgbClr val="1F3864"/>
                </a:solidFill>
                <a:latin typeface="Vazirmatn"/>
              </a:rPr>
              <a:t>واکشی متریک</a:t>
            </a:r>
          </a:p>
          <a:p>
            <a:pPr algn="ctr" rtl="1"/>
            <a:r>
              <a:rPr sz="1000" b="0">
                <a:solidFill>
                  <a:srgbClr val="1F3864"/>
                </a:solidFill>
                <a:latin typeface="Vazirmatn"/>
              </a:rPr>
              <a:t>(Pull / Scrape)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6264" y="3689591"/>
            <a:ext cx="2620145" cy="876946"/>
          </a:xfrm>
          <a:prstGeom prst="roundRect">
            <a:avLst>
              <a:gd name="adj" fmla="val 8536"/>
            </a:avLst>
          </a:prstGeom>
          <a:solidFill>
            <a:srgbClr val="DEEAF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00" b="0">
                <a:solidFill>
                  <a:srgbClr val="1F3864"/>
                </a:solidFill>
                <a:latin typeface="Vazirmatn"/>
              </a:rPr>
              <a:t>پایگاه داده سری‌زمانی</a:t>
            </a:r>
          </a:p>
          <a:p>
            <a:pPr algn="ctr" rtl="1"/>
            <a:r>
              <a:rPr sz="1000" b="0">
                <a:solidFill>
                  <a:srgbClr val="1F3864"/>
                </a:solidFill>
                <a:latin typeface="Vazirmatn"/>
              </a:rPr>
              <a:t>(TSDB)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0716" y="3689591"/>
            <a:ext cx="2245838" cy="876946"/>
          </a:xfrm>
          <a:prstGeom prst="roundRect">
            <a:avLst>
              <a:gd name="adj" fmla="val 8536"/>
            </a:avLst>
          </a:prstGeom>
          <a:solidFill>
            <a:srgbClr val="DEEAF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950" b="0">
                <a:solidFill>
                  <a:srgbClr val="1F3864"/>
                </a:solidFill>
                <a:latin typeface="Vazirmatn"/>
              </a:rPr>
              <a:t>قواعد هشدار</a:t>
            </a:r>
          </a:p>
          <a:p>
            <a:pPr algn="ctr" rtl="1"/>
            <a:r>
              <a:rPr sz="950" b="0">
                <a:solidFill>
                  <a:srgbClr val="1F3864"/>
                </a:solidFill>
                <a:latin typeface="Vazirmatn"/>
              </a:rPr>
              <a:t>(Alerting Rules / PromQL)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8195" y="5368623"/>
            <a:ext cx="3047923" cy="909029"/>
          </a:xfrm>
          <a:prstGeom prst="roundRect">
            <a:avLst>
              <a:gd name="adj" fmla="val 8235"/>
            </a:avLst>
          </a:prstGeom>
          <a:solidFill>
            <a:srgbClr val="FBE5D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950" b="0">
                <a:solidFill>
                  <a:srgbClr val="1F3864"/>
                </a:solidFill>
                <a:latin typeface="Vazirmatn"/>
              </a:rPr>
              <a:t>Alertmanager</a:t>
            </a:r>
          </a:p>
          <a:p>
            <a:pPr algn="ctr" rtl="1"/>
            <a:r>
              <a:rPr sz="950" b="0">
                <a:solidFill>
                  <a:srgbClr val="1F3864"/>
                </a:solidFill>
                <a:latin typeface="Vazirmatn"/>
              </a:rPr>
              <a:t>(مسیریابی و خاموش‌سازی هشدار)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10426" y="5368623"/>
            <a:ext cx="3154868" cy="909029"/>
          </a:xfrm>
          <a:prstGeom prst="roundRect">
            <a:avLst>
              <a:gd name="adj" fmla="val 8235"/>
            </a:avLst>
          </a:prstGeom>
          <a:solidFill>
            <a:srgbClr val="FBE5D6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00" b="0">
                <a:solidFill>
                  <a:srgbClr val="1F3864"/>
                </a:solidFill>
                <a:latin typeface="Vazirmatn"/>
              </a:rPr>
              <a:t>Grafana</a:t>
            </a:r>
          </a:p>
          <a:p>
            <a:pPr algn="ctr" rtl="1"/>
            <a:r>
              <a:rPr sz="1000" b="0">
                <a:solidFill>
                  <a:srgbClr val="1F3864"/>
                </a:solidFill>
                <a:latin typeface="Vazirmatn"/>
              </a:rPr>
              <a:t>(داشبورد عملیاتی)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39600" y="5293762"/>
            <a:ext cx="4277787" cy="1048058"/>
          </a:xfrm>
          <a:prstGeom prst="roundRect">
            <a:avLst>
              <a:gd name="adj" fmla="val 7142"/>
            </a:avLst>
          </a:prstGeom>
          <a:solidFill>
            <a:srgbClr val="FFF2CC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1">
                <a:solidFill>
                  <a:srgbClr val="1F3864"/>
                </a:solidFill>
                <a:latin typeface="Vazirmatn"/>
              </a:rPr>
              <a:t>عامل هوشمند تصمیم‌یار</a:t>
            </a:r>
          </a:p>
          <a:p>
            <a:pPr algn="ctr" rtl="1"/>
            <a:r>
              <a:rPr sz="1050" b="1">
                <a:solidFill>
                  <a:srgbClr val="1F3864"/>
                </a:solidFill>
                <a:latin typeface="Vazirmatn"/>
              </a:rPr>
              <a:t>(ادراک – استدلال – اقدام)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8195" y="6577098"/>
            <a:ext cx="11229192" cy="727223"/>
          </a:xfrm>
          <a:prstGeom prst="roundRect">
            <a:avLst>
              <a:gd name="adj" fmla="val 10294"/>
            </a:avLst>
          </a:prstGeom>
          <a:solidFill>
            <a:srgbClr val="F2F2F2"/>
          </a:solidFill>
          <a:ln w="16510"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10000" bIns="10000"/>
          <a:lstStyle/>
          <a:p>
            <a:pPr algn="ctr" rtl="1"/>
            <a:r>
              <a:rPr sz="1050" b="1">
                <a:solidFill>
                  <a:srgbClr val="1F3864"/>
                </a:solidFill>
                <a:latin typeface="Vazirmatn"/>
              </a:rPr>
              <a:t>اقدام اصلاحی، هشدار به تیم عملیات و بازخورد به سامانه مالی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12157" y="1390281"/>
            <a:ext cx="0" cy="449167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69111" y="1390281"/>
            <a:ext cx="0" cy="235278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700353" y="1625559"/>
            <a:ext cx="3368758" cy="0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00353" y="1625559"/>
            <a:ext cx="0" cy="213889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2801" y="1390281"/>
            <a:ext cx="0" cy="449167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12157" y="2695006"/>
            <a:ext cx="0" cy="213889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12157" y="2908895"/>
            <a:ext cx="53473" cy="0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65630" y="2908895"/>
            <a:ext cx="0" cy="780696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52801" y="2695006"/>
            <a:ext cx="0" cy="213889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5427443" y="2908895"/>
            <a:ext cx="4625358" cy="0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27443" y="2908895"/>
            <a:ext cx="0" cy="780696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69111" y="2695006"/>
            <a:ext cx="0" cy="213889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69111" y="2908895"/>
            <a:ext cx="1497226" cy="0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566337" y="2908895"/>
            <a:ext cx="0" cy="780696"/>
          </a:xfrm>
          <a:prstGeom prst="line">
            <a:avLst/>
          </a:prstGeom>
          <a:ln w="20320">
            <a:solidFill>
              <a:srgbClr val="2F559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373635" y="4566538"/>
            <a:ext cx="0" cy="417084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112157" y="4983622"/>
            <a:ext cx="8261478" cy="0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112157" y="4983622"/>
            <a:ext cx="0" cy="385001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192030" y="4566538"/>
            <a:ext cx="0" cy="245973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5587860" y="4812511"/>
            <a:ext cx="1604170" cy="0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587860" y="4812511"/>
            <a:ext cx="0" cy="556112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154532" y="4566538"/>
            <a:ext cx="0" cy="588196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154532" y="5154734"/>
            <a:ext cx="1523962" cy="0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678494" y="5154734"/>
            <a:ext cx="0" cy="139028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112157" y="6277653"/>
            <a:ext cx="0" cy="181806"/>
          </a:xfrm>
          <a:prstGeom prst="line">
            <a:avLst/>
          </a:prstGeom>
          <a:ln w="1778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112157" y="6459459"/>
            <a:ext cx="6336473" cy="0"/>
          </a:xfrm>
          <a:prstGeom prst="line">
            <a:avLst/>
          </a:prstGeom>
          <a:ln w="1778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448630" y="6341820"/>
            <a:ext cx="0" cy="117639"/>
          </a:xfrm>
          <a:prstGeom prst="line">
            <a:avLst/>
          </a:prstGeom>
          <a:ln w="1778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678494" y="6341820"/>
            <a:ext cx="0" cy="235278"/>
          </a:xfrm>
          <a:prstGeom prst="line">
            <a:avLst/>
          </a:prstGeom>
          <a:ln w="2032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28333" y="6940710"/>
            <a:ext cx="459862" cy="0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8333" y="935766"/>
            <a:ext cx="0" cy="6004944"/>
          </a:xfrm>
          <a:prstGeom prst="line">
            <a:avLst/>
          </a:prstGeom>
          <a:ln w="2032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28333" y="935766"/>
            <a:ext cx="245973" cy="0"/>
          </a:xfrm>
          <a:prstGeom prst="line">
            <a:avLst/>
          </a:prstGeom>
          <a:ln w="20320">
            <a:solidFill>
              <a:srgbClr val="2F559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61124" y="3165562"/>
            <a:ext cx="1069446" cy="4277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F3864"/>
                </a:solidFill>
                <a:latin typeface="Vazirmatn"/>
              </a:rPr>
              <a:t>سرور پرومتئوس (Prometheus Server)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31260" y="2844728"/>
            <a:ext cx="1069446" cy="4277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>
                <a:solidFill>
                  <a:srgbClr val="2F5597"/>
                </a:solidFill>
                <a:latin typeface="Vazirmatn"/>
              </a:rPr>
              <a:t>remote write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333" y="4983622"/>
            <a:ext cx="1069446" cy="4277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>
                <a:solidFill>
                  <a:srgbClr val="2F5597"/>
                </a:solidFill>
                <a:latin typeface="Vazirmatn"/>
              </a:rPr>
              <a:t>بازخورد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53356" y="6234875"/>
            <a:ext cx="1069446" cy="4277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0">
                <a:solidFill>
                  <a:srgbClr val="2F5597"/>
                </a:solidFill>
                <a:latin typeface="Vazirmatn"/>
              </a:rPr>
              <a:t>تصمیم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